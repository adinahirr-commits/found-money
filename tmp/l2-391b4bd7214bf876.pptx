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ערב טוב לכולן! שבוע שלם עבר מאז שנפגשנו, ואני יודעת שהוא לא היה שבוע רגיל.</a:t>
            </a:r>
          </a:p>
          <a:p>
            <a:r>
              <a:t>פתחתן אפליקציות של בנק שלא פתחתן שנים. חיפשתן קופות ישנות. התקשרתן לסלולר.</a:t>
            </a:r>
          </a:p>
          <a:p>
            <a:r>
              <a:t>ספרתן. ובדיוק בגלל זה הערב הוא הערב שחיכיתי לו.</a:t>
            </a:r>
          </a:p>
          <a:p>
            <a:r>
              <a:t>כי הערב כל שקל שספרת מקבל כתובת. יאללה, מתחילות.</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פותחות בצ'אט, מילה אחת: מה מצאת השבוע?</a:t>
            </a:r>
          </a:p>
          <a:p>
            <a:r>
              <a:t>קופה ישנה, מנוי שביטלת, 70 שקל מהאינטרנט, או פשוט "בלגן". הכל תשובה טובה.</a:t>
            </a:r>
          </a:p>
          <a:p>
            <a:r>
              <a:t>(להקריא 4-5 תשובות בקצב. מי שכתבה "בלגן": "בלגן זה השלב שלפני סדר. את בדיוק בזמן.")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רגע של סדר, בשביל מי שפספסה ובשביל כולנו.</a:t>
            </a:r>
          </a:p>
          <a:p>
            <a:r>
              <a:t>בלייב הראשון למדנו את שיטת המצפן: חזון, מטרות, נקודת מוצא, אסטרטגיה.</a:t>
            </a:r>
          </a:p>
          <a:p>
            <a:r>
              <a:t>פתחנו את החזון ואת לוח החזון. קיבלנו שלושה כלים לחיים: מעגל התודעה, סולם התודעה, ו"איך אפשר?".</a:t>
            </a:r>
          </a:p>
          <a:p>
            <a:r>
              <a:t>וירדנו לקרקע: נקודת המוצא. השווי הנקי, התזרים, וכמה הרמנו מהרצפה.</a:t>
            </a:r>
          </a:p>
          <a:p>
            <a:r>
              <a:t>הערב אנחנו ממשיכות בדיוק מאותה נקודה.</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ביקשתי שתגיעו עם שלושה מספרים. את השווי הנקי ואת התזרים לא צריך לכתוב בצ'אט, הם שלך.</a:t>
            </a:r>
          </a:p>
          <a:p>
            <a:r>
              <a:t>אבל את המספר השלישי אני רוצה לראות: כמה הרמת מהרצפה השבוע. כמה שקלים בחודש חזרו אלייך.</a:t>
            </a:r>
          </a:p>
          <a:p>
            <a:r>
              <a:t>מספר בצ'אט. גם 0 זה מספר, וגם 30 שקל.</a:t>
            </a:r>
          </a:p>
          <a:p>
            <a:r>
              <a:t>(להקריא. לחבר בקול: "יש לנו פה ביחד X שקלים בחודש שלפני שבוע לא היו." לעצור על זה שנייה.)</a:t>
            </a:r>
          </a:p>
          <a:p>
            <a:r>
              <a:t>תחזיקו את המספר הזה. הוא עוד יחזור הערב.</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מה עושים עם כל הכסף הזה שספרנו?</a:t>
            </a:r>
          </a:p>
          <a:p>
            <a:r>
              <a:t>השבוע, לכל שקל יש טווח ויש תפקיד.</a:t>
            </a:r>
          </a:p>
          <a:p>
            <a:r>
              <a:t>לא משנה אם זה כסף שיושב לך היום בעו"ש, כסף שמישהו מתכנן מתישהו להביא לך, או משכורת שתיכנס בעוד חודש.</a:t>
            </a:r>
          </a:p>
          <a:p>
            <a:r>
              <a:t>לכל שקל, גם זה שעוד לא הגיע, יש בית.</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ככה בנוי הערב, ארבעה חלקים.</a:t>
            </a:r>
          </a:p>
          <a:p>
            <a:r>
              <a:t>אחת, המטרות: כל חלום מהלייב הקודם מקבל סכום ותאריך.</a:t>
            </a:r>
          </a:p>
          <a:p>
            <a:r>
              <a:t>שתיים, ארבעה בתים: עו"ש, קרן חירום, טווח קצר, טווח ארוך. ואיך יודעים כמה נכנס לכל אחד.</a:t>
            </a:r>
          </a:p>
          <a:p>
            <a:r>
              <a:t>שלוש, מספר הזהב: כמה אני מפנה להשקעה כל חודש.</a:t>
            </a:r>
          </a:p>
          <a:p>
            <a:r>
              <a:t>וארבע, הבית שכבר קיים ולא מסתכלים עליו: הפנסיה והביטוחים.</a:t>
            </a:r>
          </a:p>
          <a:p>
            <a:r>
              <a:t>ובסוף הערב יש לך מפה אחת. על עמוד אחד.</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אנחנו בשבוע השני, מגינות.</a:t>
            </a:r>
          </a:p>
          <a:p>
            <a:r>
              <a:t>לפני שמשקיעות, בונות שכבת ביטחון. וזה לא "ביטחון" במובן של פחד. זה הפוך.</a:t>
            </a:r>
          </a:p>
          <a:p>
            <a:r>
              <a:t>הסדר הזה הוא בדיוק מה שמאפשר אחר כך להשקיע בלי פחד, כי את יודעת שהכסף שאת צריכה לחיים, שמור.</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לפני שנכנסות לבתים, המשפט שכל הערב נשען עליו.</a:t>
            </a:r>
          </a:p>
          <a:p>
            <a:r>
              <a:t>הכנסה מממנת לנו את החיים. לא משנה כמה נכניס, זה לא בהכרח יהפוך אותנו לחופשיות.</a:t>
            </a:r>
          </a:p>
          <a:p>
            <a:r>
              <a:t>נכסים מממנים את החופש. ככל שיש יותר נכסים, ככה גדל החופש.</a:t>
            </a:r>
          </a:p>
          <a:p>
            <a:r>
              <a:t>וזה בדיוק מה שאנחנו עושות הערב: לוקחות את ההכנסה, ומתחילות להפוך חלק ממנה לנכסים. ונכסים, לחופש.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בלייב הראשון שאלתי אתכן מי סולידית ומי הרפתקנית, ורובכן אמרתן סולידיות.</a:t>
            </a:r>
          </a:p>
          <a:p>
            <a:r>
              <a:t>הסולידית שומרת את רוב הכסף קרוב ללב. בעו"ש, אולי בפיקדון. "אולי אצטרך אותו בקרוב."</a:t>
            </a:r>
          </a:p>
          <a:p>
            <a:r>
              <a:t>ההרפתקנית הבינה שצריך להשקיע, וקפצה ישר לטווח הארוך. אבל קרן חירום, או מספיק כסף בעו"ש, היא לא בנתה.</a:t>
            </a:r>
          </a:p>
          <a:p>
            <a:r>
              <a:t>ואני רוצה שתשמעו משהו: שתיהן עושות חצי מהעבודה.</a:t>
            </a:r>
          </a:p>
          <a:p>
            <a:r>
              <a:t>הסולידית משלמת בזמן: הכסף שלה לא עובד. ההרפתקנית משלמת בלחץ: ביום שצריך כסף, היא מוכרת בהפסד.</a:t>
            </a:r>
          </a:p>
          <a:p>
            <a:r>
              <a:t>הערב עושות את כל העבודה. את שני החצאים.</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ואני רוצה לספר לכן על השנים שלי ושל בעלי לפני שהבנו את זה.</a:t>
            </a:r>
          </a:p>
          <a:p>
            <a:r>
              <a:t>היה לנו בממוצע 5,000 שקל חיסכון בכל חודש. ידענו לחסוך. שנינו באים מבתים שחוסכים, שחיים מתחת להוצאות. היינו על זה.</a:t>
            </a:r>
          </a:p>
          <a:p>
            <a:r>
              <a:t>אבל לימדו אותנו לחסוך, ולא לימדו אותנו למה. מה עושים עם זה. מה המטרה.</a:t>
            </a:r>
          </a:p>
          <a:p>
            <a:r>
              <a:t>ובמשך חמש שנים הכסף הזה פשוט ישב בעו"ש. החסכונות, מתנות מהחתונה, עזרה מסבא וסבתא. הכל ישב.</a:t>
            </a:r>
          </a:p>
          <a:p>
            <a:r>
              <a:t>ומה שלא ידענו: הכסף הזה איבד שלושה אחוז מהערך שלו כל שנה. צברנו, ובאותו זמן הלכנו אחורה, בלי לדעת.</a:t>
            </a:r>
          </a:p>
          <a:p>
            <a:r>
              <a:t>לא כי לא היה לנו כסף. כי לכסף לא היה בית.</a:t>
            </a:r>
          </a:p>
          <a:p>
            <a:r>
              <a:t>אני משתפת אתכן בזה כדי שלא תבזבזו חמש שנים כמוני. הערב כל שקל מקבל בית.</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חלק ראשון, המטרות. השלב השני במצפן.</a:t>
            </a:r>
          </a:p>
          <a:p>
            <a:r>
              <a:t>בלייב הקודם חלמנו בגדול, ואמרתי לכן שלחלום זה כלי עבודה. הערב רואות למה.</a:t>
            </a:r>
          </a:p>
          <a:p>
            <a:r>
              <a:t>כי חלום נשאר חלום עד שנותנים לו מספר.</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חלום בלי סכום ותאריך הוא משאלה.</a:t>
            </a:r>
          </a:p>
          <a:p>
            <a:r>
              <a:t>"בית גדול יותר", "לעבוד פחות", "טיול ארוך עם המשפחה". אלה חלומות מהממים, ואני רוצה שתשמרו אותם בדיוק ככה על לוח החזון.</a:t>
            </a:r>
          </a:p>
          <a:p>
            <a:r>
              <a:t>אבל כסף לא יודע ללכת ל"בית גדול יותר". כסף יודע ללכת ל-600 אלף שקל עד ספטמבר 2029.</a:t>
            </a:r>
          </a:p>
          <a:p>
            <a:r>
              <a:t>מטרה כלכלית, בצורה הכי פשוטה שיש: כמה, ומתי. יעד מספרי. זהו.</a:t>
            </a:r>
          </a:p>
          <a:p>
            <a:r>
              <a:t>וברגע שיש מטרה שנעצתי, אני יכולה לעבוד איתה: להבין אם היא ריאלית, לגזור ממנה צעד בדרך, להרחיק אותה קצת או לקרב. חלום בלי מספר, אי אפשר לעבוד איתו.</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נפוליון היל ניסח את זה במשפט אחד: מטרה היא חלום עם תאריך.</a:t>
            </a:r>
          </a:p>
          <a:p>
            <a:r>
              <a:t>זה כל ההבדל בין החלק של הלייב הקודם לחלק של הערב.</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תראו את ההבדל, כי הוא כל ההבדל.</a:t>
            </a:r>
          </a:p>
          <a:p>
            <a:r>
              <a:t>"אני רוצה להרגיש בטוחה". יפה, אבל מה עושים עם זה מחר בבוקר? לעומת: שלושה חודשי מחיה בקרן חירום, עד דצמבר. עכשיו יש משהו לעשות.</a:t>
            </a:r>
          </a:p>
          <a:p>
            <a:r>
              <a:t>"לחסוך לילדים". המשפט שכל אמא בישראל אומרת. לעומת: 500 שקל בחודש לכל ילד, מהחודש הבא, כדי שיהיה לו חצי מיליון. חישבתי אחורה, וזה הסכום.</a:t>
            </a:r>
          </a:p>
          <a:p>
            <a:r>
              <a:t>"שהכסף יעבוד בשבילי". מעולה, כולנו. אבל כמה את צריכה בנכסים כדי שלא תצטרכי לעבוד? כמה ומתי?</a:t>
            </a:r>
          </a:p>
          <a:p>
            <a:r>
              <a:t>ואני אגיד לכן משהו על החלום הכי גדול שלי: חצי שנה בתאילנד. זאת הייתה המטרה הראשונה שהתחלתי איתה להשקיע. וכשישבנו ובדקנו כמה זה באמת עולה, גילינו שהחיים שם עולים הרבה פחות מדירת שני חדרים בתל אביב. החלום היה הרבה יותר קרוב ממה שהרגיש.</a:t>
            </a:r>
          </a:p>
          <a:p>
            <a:r>
              <a:t>זה מה שמספר עושה: הוא מקרב.</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שלושה כללים למטרה, ושלושתם קלים.</a:t>
            </a:r>
          </a:p>
          <a:p>
            <a:r>
              <a:t>אחת, היא מהחלומות שלך. לא של אמא שלך, לא של השכנה, לא של אינסטגרם.</a:t>
            </a:r>
          </a:p>
          <a:p>
            <a:r>
              <a:t>שתיים, הסכום בעיפרון. בערך. לא צריך הצעת מחיר מקבלן. אפשר לשנות בעוד חודש.</a:t>
            </a:r>
          </a:p>
          <a:p>
            <a:r>
              <a:t>ושלוש, תאריך. גם אם הוא לא סופי. בכלי זה אפילו כתוב ככה: "תאריך יעד, לא סופי". תאריך לא סופי עדיף פי אלף מ"מתישהו".</a:t>
            </a:r>
          </a:p>
          <a:p>
            <a:r>
              <a:t>ושימו לב: הערב אנחנו לא פותרות "איך מגיעים". רק "מה המטרה". ה"איך" זה האסטרטגיה, וזה מגיע בלייבים הבאים.</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ועכשיו הכלל שהכי קשה לקבל: עד שלוש מטרות פעילות.</a:t>
            </a:r>
          </a:p>
          <a:p>
            <a:r>
              <a:t>לא כי אין לך יותר חלומות. יש, ולוח החזון מלא בהם.</a:t>
            </a:r>
          </a:p>
          <a:p>
            <a:r>
              <a:t>אלא כי כסף שמתפזר על עשר מטרות לא מגיע לאף אחת.</a:t>
            </a:r>
          </a:p>
          <a:p>
            <a:r>
              <a:t>שלוש מטרות פעילות, שאר החלומות מחכים בתור, ובכל פעם שמטרה מושלמת, הבאה נכנסת.</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בצ'אט: מטרה אחת. שם, סכום, תאריך.</a:t>
            </a:r>
          </a:p>
          <a:p>
            <a:r>
              <a:t>למשל: "דירה · 600,000 · 2029". או "רכב · 60,000 · 2027".</a:t>
            </a:r>
          </a:p>
          <a:p>
            <a:r>
              <a:t>(להקריא 5-6. לשקף: "שימו לב, כולן כתבו תאריך. ברגע שיש תאריך, המטרה כבר אומרת לכסף לאן ללכת. עוד רגע תבינו איך.")</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וזה בדיוק הגשר לחלק הבא.</a:t>
            </a:r>
          </a:p>
          <a:p>
            <a:r>
              <a:t>המטרה אומרת לכסף לאן ללכת. והתאריך אומר לו באיזה בית לגור.</a:t>
            </a:r>
          </a:p>
          <a:p>
            <a:r>
              <a:t>כי כסף שצריך בעוד שנה וכסף שצריך בעוד עשרים שנה, הם לא אותו כסף. הם גרים בבתים אחרים.</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חלק שני. לכל שקל טווח ותפקיד.</a:t>
            </a:r>
          </a:p>
          <a:p>
            <a:r>
              <a:t>זה המשפט של הערב. אם תזכרו רק דבר אחד, תזכרו את זה.</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ארבעה בתים. ראיתן אותם לרגע בלייב הקודם, הערב נכנסות לכל אחד.</a:t>
            </a:r>
          </a:p>
          <a:p>
            <a:r>
              <a:t>עו"ש: הכסף של החיים של החודש.</a:t>
            </a:r>
          </a:p>
          <a:p>
            <a:r>
              <a:t>קרן חירום: השקט שלך. כמה חודשים של ביטחון.</a:t>
            </a:r>
          </a:p>
          <a:p>
            <a:r>
              <a:t>טווח קצר: הכסף למטרות של השנים הקרובות.</a:t>
            </a:r>
          </a:p>
          <a:p>
            <a:r>
              <a:t>וטווח ארוך: כל מה שלא צריך את שאר הבתים. זה הכסף שיכול לעבוד בשבילך שנים.</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ועוד פעם, כי זה חשוב: זה נכון גם לכסף שעוד לא הגיע.</a:t>
            </a:r>
          </a:p>
          <a:p>
            <a:r>
              <a:t>משכורת של חודש הבא, בונוס, כסף מההורים שמחכה, החזר מס שבדרך.</a:t>
            </a:r>
          </a:p>
          <a:p>
            <a:r>
              <a:t>ברגע שיש לך ארבעה בתים, כל שקל שנכנס כבר יודע לאן הוא הולך. בלי להתלבט כל פעם מחדש.</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בית ראשון, העו"ש. הכסף של החיים של החודש.</a:t>
            </a:r>
          </a:p>
          <a:p>
            <a:r>
              <a:t>כמה צריך שם? בערך חודש של הוצאות. זה הבמפר: בתחילת החודש הרבה הוצאות יורדות עד שנכנסת המשכורת, ואני רוצה את המרחב הזה, כדי לא להיכנס למינוס ולא להיות ברשימה השחורה של הבנק.</a:t>
            </a:r>
          </a:p>
          <a:p>
            <a:r>
              <a:t>מי שיודעת שבחודשים הקרובים יהיו לה יותר הוצאות או פחות הכנסות, אפילו קצת יותר.</a:t>
            </a:r>
          </a:p>
          <a:p>
            <a:r>
              <a:t>אני מפסידה על הכסף הזה באינפלציה, אני לא מרוויחה עליו, ואני רואה אותו משתנה כל שנייה. ועדיין, הוא חייב להיות שם. עו"ש הוא תחנת מעבר, לא מקום לגור בו.</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וכל שקל מעבר לזה, שיושב בעו"ש, הוא שקל שלא עובד.</a:t>
            </a:r>
          </a:p>
          <a:p>
            <a:r>
              <a:t>אמרתי לכן בלייב הקודם: אם אני כל חודש בפלוס של 500 שקל, אין שום סיבה שאני אשמור את הכסף הזה אצלי בעו"ש. בואו ננתב אותו.</a:t>
            </a:r>
          </a:p>
          <a:p>
            <a:r>
              <a:t>השאלה היא רק לאן. ובשביל זה יש עוד שלושה בתים.</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בית שני. קרן החירום. השקט שלך.</a:t>
            </a:r>
          </a:p>
          <a:p>
            <a:r>
              <a:t>ביטחון זה בעצם שני דברים: הבמפר בעו"ש, וקרן חירום. את כל מגדל הקלפים של ההשקעות בונים על הקרקע הזאת, והיא חייבת להיות יציבה לפני כל השקעה.</a:t>
            </a:r>
          </a:p>
          <a:p>
            <a:r>
              <a:t>בשאלוני הכניסה שלכן, כמעט לאף אחת אין קרן חירום מוגדרת. יש "כסף בצד", יש "משהו בפיקדון", אבל מספר, אין.</a:t>
            </a:r>
          </a:p>
          <a:p>
            <a:r>
              <a:t>הערב כל אחת יוצאת עם מספר.</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בשביל מה היא? חופשת לידה. תקופה בין עבודות. הרכב שנתקע, השיניים, המקרר.</a:t>
            </a:r>
          </a:p>
          <a:p>
            <a:r>
              <a:t>ובעיקר, בשביל דבר אחד שאולי לא חשבתן עליו: כדי שההשקעות שלך לא ייגעו.</a:t>
            </a:r>
          </a:p>
          <a:p>
            <a:r>
              <a:t>כי ביום שאין קרן חירום ויש מקרה, מאיפה לוקחים? מההשקעה. בדיוק ביום הלא נכון.</a:t>
            </a:r>
          </a:p>
          <a:p>
            <a:r>
              <a:t>אנחנו מכינות את התשתית לתקופות האלה מראש. ואז התזרים, אני לא חיה רק ממנו. יש לי קרן שמיועדת בדיוק לזה.</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וזה למה הקרן היא לא "הדבר המשעמם שעושים לפני". היא מה שמאפשר להשקיע בלי פחד.</a:t>
            </a:r>
          </a:p>
          <a:p>
            <a:r>
              <a:t>כשיש שקט בבית השני, הבית הרביעי יכול לעבוד בשקט. גם כשהשוק יורד, גם כשיש חודש קשה.</a:t>
            </a:r>
          </a:p>
          <a:p>
            <a:r>
              <a:t>את לא נוגעת, כי לא צריך.</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איך מגיעים למספר? הכי פשוט שיש.</a:t>
            </a:r>
          </a:p>
          <a:p>
            <a:r>
              <a:t>ההוצאות החיוניות שלך בחודש. רק מה שחייבים: דיור, מזון, חשבונות, ביטוחים, תחבורה, חינוך. בכלי של שבוע שעבר סימנת את זה כ"חובה". בלי בילויים, בלי קניות.</a:t>
            </a:r>
          </a:p>
          <a:p>
            <a:r>
              <a:t>כפול מספר חודשי הביטחון שאת בוחרת.</a:t>
            </a:r>
          </a:p>
          <a:p>
            <a:r>
              <a:t>וזה המספר של קרן החירום שלך.</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וכמה חודשים? אני אתן לכן את הכלל שלי, וההחלטה היא שלך.</a:t>
            </a:r>
          </a:p>
          <a:p>
            <a:r>
              <a:t>שלושה עד שישה חודשי מחיה.</a:t>
            </a:r>
          </a:p>
          <a:p>
            <a:r>
              <a:t>מי שאין אצלה משהו מיוחד, בערך שלושה זה מעולה.</a:t>
            </a:r>
          </a:p>
          <a:p>
            <a:r>
              <a:t>שישה, למי שמאוד שמרנית, או למי שיודעת שבחודשים הקרובים יהיו פחות הכנסות: חופשת לידה, לימודים, מעבר דירה, שינוי בעבודה. ומי שמתחילה תקופה כזאת ורוצה לחיות אותה בכיף ולא לוותר על החיים, אולי אפילו יותר.</a:t>
            </a:r>
          </a:p>
          <a:p>
            <a:r>
              <a:t>ואז השאלות: יש בבית שתי הכנסות יציבות, או אחת? שכירה או עצמאית? ילדים, משכנתא, הורים?</a:t>
            </a:r>
          </a:p>
          <a:p>
            <a:r>
              <a:t>ובסוף, איזה מספר באמת מרגיע אותך. לא על הנייר.</a:t>
            </a:r>
          </a:p>
          <a:p>
            <a:r>
              <a:t>[[עדי: כמה חודשים אצלך, ולמה. דוגמה אישית במשפט.]]</a:t>
            </a:r>
          </a:p>
          <a:p>
            <a:r>
              <a:t>אין מספר נכון. יש מספר שלך.</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מה זה חודשי מחיה? כל אחת יודעת כמה היא מוציאה בחודש, זה הנתון שהוצאתן שבוע שעבר. בכלי לוקחים את ה"חובה", ההוצאות החיוניות.</a:t>
            </a:r>
          </a:p>
          <a:p>
            <a:r>
              <a:t>אחת מוציאה 10 אלף, אחת 20, אחת 40. מי שמוציאה 10 אלף ובחרה שלושה חודשים: 30 אלף שקל. מי שמוציאה 40 אלף: 120 אלף.</a:t>
            </a:r>
          </a:p>
          <a:p>
            <a:r>
              <a:t>יש לך כבר 14 אלף בפיקדון ישן? מעולה, הפער הוא 16 אלף. עכשיו יש מספר, יש פער, ואפשר לתכנן.</a:t>
            </a:r>
          </a:p>
          <a:p>
            <a:r>
              <a:t>המספר שלך נגזר מהנתון שלך. לכן ביקשתי שתבואו עם המספרים.</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ומה אם הקרן עדיין חסרה? כי אצל רובכן היא תהיה חסרה, וזה לא כישלון, זה נקודת מוצא.</a:t>
            </a:r>
          </a:p>
          <a:p>
            <a:r>
              <a:t>יש שלוש דרכים, ובכלי את מסמנת אחת.</a:t>
            </a:r>
          </a:p>
          <a:p>
            <a:r>
              <a:t>להשלים אותה קודם, לפני שמשקיעות לטווח ארוך.</a:t>
            </a:r>
          </a:p>
          <a:p>
            <a:r>
              <a:t>לבנות אותה במקביל: חלק מהכסף החודשי לקרן, חלק להשקעה, לפי תוכנית שאת קובעת.</a:t>
            </a:r>
          </a:p>
          <a:p>
            <a:r>
              <a:t>או לסמן "אני צריכה עזרה בהחלטה", ואנחנו מדברות על זה. בלי שאף מערכת תחליט בשבילך.</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ואיפה היא גרה? קודם כל, חשוב להבין: זאת לא השקעה. זה חיסכון לשעת חירום.</a:t>
            </a:r>
          </a:p>
          <a:p>
            <a:r>
              <a:t>ועדיין, לא בחזיר ולא בעו"ש, כי שם היא מפסידה שלושה אחוז בשנה.</a:t>
            </a:r>
          </a:p>
          <a:p>
            <a:r>
              <a:t>יש בגדול כמה אופציות, כולן אחלה ודי דומות, ואני לא רוצה שתתעכבו על "מה הכי הכי טובה". מה שנגיש ונוח לך.</a:t>
            </a:r>
          </a:p>
          <a:p>
            <a:r>
              <a:t>פיקדון בבנק: אני נותנת לבנק את הכסף, הוא משתמש בו, ומבטיח לי ריבית מראש. יומי, חודשי, לפי מה שנוח. וקרן כספית, שגם עליה נדבר בלייב 3.</a:t>
            </a:r>
          </a:p>
          <a:p>
            <a:r>
              <a:t>[[עדי: האופציה השלישית שאת מציגה, אם יש.]]</a:t>
            </a:r>
          </a:p>
          <a:p>
            <a:r>
              <a:t>ולאזרחיות ארצות הברית: קופת גמל להשקעה לא כדאית לכן בגלל מס כפול. יהיה לכן תוכן ייעודי עם מה לשים לב.</a:t>
            </a:r>
          </a:p>
          <a:p>
            <a:r>
              <a:t>שלושה כללים, וזהו: נזילה, מופרדת מהעו"ש, לא בסיכון.</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בצ'אט: כמה חודשי ביטחון בחרת? רק המספר.</a:t>
            </a:r>
          </a:p>
          <a:p>
            <a:r>
              <a:t>(להקריא. אם רואים טווח רחב: "תראו, 3 ו-12 באותו צ'אט. שתיהן צודקות. זה בדיוק 'המספר שלך'.")</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בית שלישי ובית רביעי. ופה נכנסים הכדים.</a:t>
            </a:r>
          </a:p>
          <a:p>
            <a:r>
              <a:t>הכסף שנשאר אחרי העו"ש ואחרי קרן החירום, זה הכסף שהולך למטרות. ואת המטרות כבר כתבתן לפני עשר דקות.</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שלושה כדים, לפי טווח.</a:t>
            </a:r>
          </a:p>
          <a:p>
            <a:r>
              <a:t>כד קרוב: עד שלוש שנים. רכב, חופשה, אירוע משפחתי. הכסף הזה נשאר זמין ויציב.</a:t>
            </a:r>
          </a:p>
          <a:p>
            <a:r>
              <a:t>כד בינוני: שלוש עד שמונה שנים. מקדמה לדירה, לימודים, שיפוץ.</a:t>
            </a:r>
          </a:p>
          <a:p>
            <a:r>
              <a:t>וכד ארוך: מעל שמונה שנים. עתיד הילדים, חופש כלכלי, פרישה. זה ההון שהופך למנגנון השקעה.</a:t>
            </a:r>
          </a:p>
          <a:p>
            <a:r>
              <a:t>בכלי באזור האישי, הטווח הקצר מהבית השלישי מתחלק לשניים: קרוב ובינוני. ככה יותר מדויק.</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ועכשיו הרגע שאני הכי אוהבת בלייב הזה.</a:t>
            </a:r>
          </a:p>
          <a:p>
            <a:r>
              <a:t>המטרות שלך כבר יודעות לאיזה כד הן הולכות. את לא צריכה להחליט.</a:t>
            </a:r>
          </a:p>
          <a:p>
            <a:r>
              <a:t>התאריך של המטרה הוא הכתובת של הכסף. רכב ב-2027? כד קרוב. מקדמה לדירה ב-2031? כד בינוני. חופש כלכלי ב-2045? כד ארוך.</a:t>
            </a:r>
          </a:p>
          <a:p>
            <a:r>
              <a:t>זה למה התעקשתי על תאריך. התאריך הוא לא פרט. הוא מה שמסדר הכל.</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והכלל הכי חשוב של הערב.</a:t>
            </a:r>
          </a:p>
          <a:p>
            <a:r>
              <a:t>טווח ארוך זה כל מה שלא צריך את שאר הבתים.</a:t>
            </a:r>
          </a:p>
          <a:p>
            <a:r>
              <a:t>לא "מה שנשאר", אלא כל מה שנשאר אחרי שהעו"ש מלא, קרן החירום מוגדרת, והכדים הקרובים קיבלו את שלהם.</a:t>
            </a:r>
          </a:p>
          <a:p>
            <a:r>
              <a:t>הכד הזה מנותק מהתזרים החודשי. אני לא נוגעת בו בשביל החודש. הוא צומח, ובעזרתו אני בונה את החופש.</a:t>
            </a:r>
          </a:p>
          <a:p>
            <a:r>
              <a:t>זה הכסף שיכול לעבוד בשבילך עשרים שנה בלי שתצטרכי אותו. ואליו מגיעות רק אחרי שלושת הבתים הראשונים.</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ולמה הטווח כל כך חשוב? כי הטווח קובע הכל.</a:t>
            </a:r>
          </a:p>
          <a:p>
            <a:r>
              <a:t>כסף שצריך בעוד שנה חייב להישאר יציב. כסף שצריך בעוד חמש שנים יכול לזוז קצת. כסף שצריך בעוד עשרים שנה יכול לעבוד קשה.</a:t>
            </a:r>
          </a:p>
          <a:p>
            <a:r>
              <a:t>לא ההשקעה קובעת את הטווח. הטווח קובע את ההשקעה.</a:t>
            </a:r>
          </a:p>
          <a:p>
            <a:r>
              <a:t>איזו השקעה מתאימה לאיזה כד? זה בדיוק לייב 3.</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ועוד כלל קטן שהכלי שומר בשבילך: הכדים לא מדברים זה עם זה.</a:t>
            </a:r>
          </a:p>
          <a:p>
            <a:r>
              <a:t>כסף שסימנת לקרן החירום לא מופיע שוב ככסף פנוי להשקעה. מטרה קרובה לא עוברת לבד לכד הארוך.</a:t>
            </a:r>
          </a:p>
          <a:p>
            <a:r>
              <a:t>כל שקל מופיע פעם אחת, בבית אחד. ככה לא "משקיעים" פעמיים את אותם 20 אלף.</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רגע של מאחורי הקלעים שלי, כי זה מראה לאן זה הולך.</a:t>
            </a:r>
          </a:p>
          <a:p>
            <a:r>
              <a:t>סיפרתי לכן בלייב הקודם על ההלוואה מהקיבוץ. ריבית כמעט אפסית. לקחנו את הכסף, שמנו אותו בהשקעות, והחזרנו כל חודש את ההלוואה.</a:t>
            </a:r>
          </a:p>
          <a:p>
            <a:r>
              <a:t>השקענו כסף שלא היה לנו, ועשינו ממנו עוד כסף.</a:t>
            </a:r>
          </a:p>
          <a:p>
            <a:r>
              <a:t>אבל מה אפשר את זה? לא אומץ. הבתים. היה לנו עו"ש מסודר, הייתה קרן חירום, והיה תזרים חיובי שהחזיר את ההלוואה בלי להיכנס למינוס.</a:t>
            </a:r>
          </a:p>
          <a:p>
            <a:r>
              <a:t>בלי שלושת הבתים הראשונים, אותה הלוואה הייתה סיכון. איתם, היא הייתה כלי.</a:t>
            </a:r>
          </a:p>
          <a:p>
            <a:r>
              <a:t>[[עדי: לדייק את הסיפור במילים שלך, סכומים אם את רוצה.]]</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ועכשיו בזוגות, שמונה דקות בחדרים.</a:t>
            </a:r>
          </a:p>
          <a:p>
            <a:r>
              <a:t>המציגה מספרת לבת הזוג את המפה שלה, בעיפרון: כמה בעו"ש, כמה חודשי ביטחון בחרה, והמטרה הראשונה שלה עם הכד שלה. ארבע דקות.</a:t>
            </a:r>
          </a:p>
          <a:p>
            <a:r>
              <a:t>בת הזוג עושה דבר אחד: שואלת "למה דווקא המספר הזה של חודשים?", ואז משקפת במשפט אחד מה שמעה.</a:t>
            </a:r>
          </a:p>
          <a:p>
            <a:r>
              <a:t>ומתחלפות.</a:t>
            </a:r>
          </a:p>
          <a:p>
            <a:r>
              <a:t>בלי להסביר יותר מדי, בלי להתנצל על המספרים. זה אימון.</a:t>
            </a:r>
          </a:p>
          <a:p>
            <a:r>
              <a:t>(חדרים, טיימר 8 דק'.)</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בחזרה מהחדרים. מילה בצ'אט: מה הבנת על המספר שלך?</a:t>
            </a:r>
          </a:p>
          <a:p>
            <a:r>
              <a:t>(להקריא 4-5. מי שכתבה ששינתה את מספר החודשים: "זה בדיוק מה ששיקוף עושה. מה ששקוף לך, בולט למי שמולך.")</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חלק שלישי. מספר הזהב.</a:t>
            </a:r>
          </a:p>
          <a:p>
            <a:r>
              <a:t>עד עכשיו דיברנו על הכסף שיש. עכשיו על הכסף שנכנס כל חודש.</a:t>
            </a:r>
          </a:p>
          <a:p>
            <a:r>
              <a:t>מספר הזהב הוא תשובה לשאלה אחת: כמה אני מפנה להשקעה, כל חודש, בלי לחשוב.</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זוכרות "קודם אני" מהלייב הקודם?</a:t>
            </a:r>
          </a:p>
          <a:p>
            <a:r>
              <a:t>ההשקעה החודשית היא ההוצאה הקבועה הראשונה. לא מה שנשאר בסוף החודש.</a:t>
            </a:r>
          </a:p>
          <a:p>
            <a:r>
              <a:t>כי מה שנשאר בסוף החודש, אנחנו יודעות מה קורה לו. הוא לא נשאר.</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ותשמעו את זה טוב, כי זה הופך את כל הסיפור: המטרה היא לא להרוויח יותר.</a:t>
            </a:r>
          </a:p>
          <a:p>
            <a:r>
              <a:t>כן, אם ארוויח יותר יהיה לי יותר חופש. אבל המטרה היא שחלק מההכנסה שלנו יפסיק לממן רק את ההוצאות, ויתחיל לבנות את החופש.</a:t>
            </a:r>
          </a:p>
          <a:p>
            <a:r>
              <a:t>זה מספר הזהב. החלק מההכנסה שעובד בשבילך, ולא בשביל החודש.</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ומאיפה המספר? הוא כבר כתוב אצלך, בשלושת המספרים שהבאת הערב.</a:t>
            </a:r>
          </a:p>
          <a:p>
            <a:r>
              <a:t>כל התורה כולה של העולם הפיננסי מושתתת על משפט אחד: להוציא פחות, להכניס יותר, ולקחת את הפער הזה ולהשקיע אותו. יש תוכניות שמלמדות לחסוך, ויש שמלמדות להכניס יותר. אבל בלי לקחת את הפער ולהשקיע אותו, זה רק עוד חסכונות שנאכלים.</a:t>
            </a:r>
          </a:p>
          <a:p>
            <a:r>
              <a:t>אז: התזרים שלך, המספר השני. ועוד מה שאטמת השבוע, המספר השלישי. חיברת? זה מספר הזהב שלך. או לפחות נקודת הפתיחה שלו.</a:t>
            </a:r>
          </a:p>
          <a:p>
            <a:r>
              <a:t>ואם התזרים עדיין לא חיובי? אז מספר הזהב שלך הוא בדיוק מה שאטמת. ה-70 מהאינטרנט וה-100 מהסלולר. זה מתחיל משם.</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ובואו נראה מה זה עושה. 300 שקל בחודש, עשרים שנה, תשואה ממוצעת של 7%. בערך 156 אלף שקל.</a:t>
            </a:r>
          </a:p>
          <a:p>
            <a:r>
              <a:t>500 בחודש? בערך 260 אלף. 1,000 בחודש? בערך 520 אלף.</a:t>
            </a:r>
          </a:p>
          <a:p>
            <a:r>
              <a:t>להמחשה בלבד, בלי הבטחת תשואה. אבל תסתכלו על הפער בין 300 ל-1,000: זה לא פער של "אין לי". זה פער של סדר.</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ולמי שעכשיו אומרת לעצמה "אצלי זה יהיה 200": מספר הזהב עובד גם ב-200. אפשר להתחיל גם עם 20 שקל של פער בתזרים.</a:t>
            </a:r>
          </a:p>
          <a:p>
            <a:r>
              <a:t>המספר לא צריך להיות גדול. הוא צריך להיות קבוע.</a:t>
            </a:r>
          </a:p>
          <a:p>
            <a:r>
              <a:t>200 שקל שיוצאים כל חודש, שלוש שנים ברצף, עושים יותר מ-2,000 שיוצאים פעם אחת "כשיהיה".</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ואיך דואגים שהוא יהיה קבוע? הוראת קבע. הכסף זז לפני שאת מספיקה להתלבט.</a:t>
            </a:r>
          </a:p>
          <a:p>
            <a:r>
              <a:t>זה בדיוק היעד של הליווי: הוראת קבע להשקעות, וכל הכסף הפנוי מחולק נכון.</a:t>
            </a:r>
          </a:p>
          <a:p>
            <a:r>
              <a:t>בלייב 4 עושות את זה ביחד, בפועל. הערב רק מחליטות על המספר.</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בצ'אט: מספר הזהב שלך. גם אם זה 200. גם אם 150.</a:t>
            </a:r>
          </a:p>
          <a:p>
            <a:r>
              <a:t>(להקריא כולן. לסכם בקול: "ביחד יש פה X שקל בחודש שמתחילים לעבוד." לחבר למספר מתחילת הערב, "כמה הרמנו מהרצפה".)</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וורן באפט ניסח את "קודם אני" במשפט אחד:</a:t>
            </a:r>
          </a:p>
          <a:p>
            <a:r>
              <a:t>אל תחסכי את מה שנשאר אחרי ההוצאות. תוציאי את מה שנשאר אחרי החיסכון.</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חלק רביעי, והוא קצר, אבל הוא אולי הכסף הכי גדול שיש לך.</a:t>
            </a:r>
          </a:p>
          <a:p>
            <a:r>
              <a:t>הבית שכבר קיים: הפנסיה, קרן ההשתלמות, הביטוחים.</a:t>
            </a:r>
          </a:p>
          <a:p>
            <a:r>
              <a:t>זה כסף שלך. אבל מישהו אחר מנהל אותו, גובה עליו דמי ניהול, ואת כנראה לא יודעת כמה.</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מה קורה בבדיקה? שלושה צעדים.</a:t>
            </a:r>
          </a:p>
          <a:p>
            <a:r>
              <a:t>אחת, את מאשרת. באזור האישי, בכרטיס עם המגן, יש אישור להזמנת מידע פנסיוני מהמסלקה. לוקח שתי דקות.</a:t>
            </a:r>
          </a:p>
          <a:p>
            <a:r>
              <a:t>שתיים, הסוכן מושך את הדוח: כל הקופות, כל הביטוחים, כל דמי הניהול. על עמוד אחד.</a:t>
            </a:r>
          </a:p>
          <a:p>
            <a:r>
              <a:t>שלוש, פגישה אישית, אחת על אחת, בזום. ובה שלוש רשימות: מה משאירות, מה משנות, ומה בודקות.</a:t>
            </a:r>
          </a:p>
          <a:p>
            <a:r>
              <a:t>ובן הזוג? יש כפתור נפרד גם בשבילו. הבדיקה הכי משתלמת היא של שניכם ביחד.</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ולמה זה שווה את שתי הדקות? אחת מכן סיפרה בלייב הקודם, במילים שלה.</a:t>
            </a:r>
          </a:p>
          <a:p>
            <a:r>
              <a:t>1,600 שקל בחודש על ביטוחים. חיים, בריאות, של ההורים ושל הילדים. אחרי בדיקה: 400 שקל.</a:t>
            </a:r>
          </a:p>
          <a:p>
            <a:r>
              <a:t>אותן פוליסות, אותם תנאים. 1,200 שקל בחודש חזרו הביתה.</a:t>
            </a:r>
          </a:p>
          <a:p>
            <a:r>
              <a:t>זה לא "חיסכון". זה מספר זהב שלם, שהיה שם כל הזמן.</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ותחשבו על זה רגע: ההוצאה הקבועה הכי גדולה שלך היא כנראה זו שאת הכי פחות מכירה.</a:t>
            </a:r>
          </a:p>
          <a:p>
            <a:r>
              <a:t>דמי ניהול של אחוז על הפנסיה, לאורך שלושים שנה, יכולים להצטבר למאות אלפי שקלים. להמחשה, המספר המדויק תלוי בקופה ובסכום.</a:t>
            </a:r>
          </a:p>
          <a:p>
            <a:r>
              <a:t>אף אחת לא בודקת את זה לבד. לכן זה חלק מהליווי.</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הערב, שלוש דקות, שלוש פעולות.</a:t>
            </a:r>
          </a:p>
          <a:p>
            <a:r>
              <a:t>לאשר באזור האישי. לשלוח לבן הזוג את הקישור שלו. ולקבוע זמן לפגישה כשהיומן של הסוכן נפתח.</a:t>
            </a:r>
          </a:p>
          <a:p>
            <a:r>
              <a:t>[[עדי: מתי נפתח היומן של עמית, ומה עם מי שמשויכת לרות. כרגע הכרטיס מוצג רק למי שאצל עמית.]]</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לפני שמסכמות, שלושה כלים מהערב. לא לשיעור. לחיים.</a:t>
            </a:r>
          </a:p>
          <a:p>
            <a:r>
              <a:t>"קודם אני": ההשקעה היא ההוצאה הראשונה, לא האחרונה.</a:t>
            </a:r>
          </a:p>
          <a:p>
            <a:r>
              <a:t>"בעיפרון": כל מספר שכתבת הערב הוא גרסה ראשונה. מותר לשנות. חובה להתחיל.</a:t>
            </a:r>
          </a:p>
          <a:p>
            <a:r>
              <a:t>ו"הטווח קובע": לפני כל החלטת כסף, שאלה אחת. מתי אצטרך אותו?</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ועוד משהו, לפני המשימה. אין פה מרוץ.</a:t>
            </a:r>
          </a:p>
          <a:p>
            <a:r>
              <a:t>יש מי שתצא הערב עם קרן חירום מלאה, ארבע מטרות וכדים מסודרים. ויש מי שתצא עם מספר אחד: כמה חודשי ביטחון.</a:t>
            </a:r>
          </a:p>
          <a:p>
            <a:r>
              <a:t>שתיהן במקום הנכון. כל אחת מתחילה מנקודה אחרת, ומה שבנית הערב, אף אחד לא לוקח ממך.</a:t>
            </a:r>
          </a:p>
          <a:p>
            <a:r>
              <a:t>ועוד דבר שחשוב לי שתשמעו: אם את סובלת בדרך למטרה, היא לא שווה את זה. גם וגם. גם ליהנות מהדרך וגם להגיע. השאלה היחידה היא "איך אפשר?".</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אז מה היה לנו הערב?</a:t>
            </a:r>
          </a:p>
          <a:p>
            <a:r>
              <a:t>המטרות: כל חלום קיבל סכום ותאריך.</a:t>
            </a:r>
          </a:p>
          <a:p>
            <a:r>
              <a:t>ארבעה בתים: עו"ש, קרן חירום, הכדים הקרובים, והטווח הארוך.</a:t>
            </a:r>
          </a:p>
          <a:p>
            <a:r>
              <a:t>מספר הזהב: כמה אני מפנה להשקעה כל חודש.</a:t>
            </a:r>
          </a:p>
          <a:p>
            <a:r>
              <a:t>והבדיקה הפנסיונית: הבית שכבר קיים.</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המשימה לשבוע, באזור האישי. תוצר אחד: מפת המצפן שלך, על עמוד אחד.</a:t>
            </a:r>
          </a:p>
          <a:p>
            <a:r>
              <a:t>ארבע תחנות, בערך עשרים דקות.</a:t>
            </a:r>
          </a:p>
          <a:p>
            <a:r>
              <a:t>עד שלוש מטרות, עם סכום ותאריך. קרן החירום: המספר שלי. שלושת הכדים. ואישור הבדיקה הפנסיונית.</a:t>
            </a:r>
          </a:p>
          <a:p>
            <a:r>
              <a:t>בעיפרון. לא מושלם. ומגיעות ללייב 3 עם מספר הזהב כתוב.</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וכמו שפתחנו, נסגור. מילה אחת בצ'אט: מה את לוקחת מהערב.</a:t>
            </a:r>
          </a:p>
          <a:p>
            <a:r>
              <a:t>(להקריא את כולן, לאט. זה השיא. אם חוזרת מילה מהפתיחה, לעצור עליה.)</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ובשבוע הבא, לייב 3, מחלקות.</a:t>
            </a:r>
          </a:p>
          <a:p>
            <a:r>
              <a:t>עכשיו, כשלכל שקל יש בית, פותחות את עולם ההשקעות מלמעלה: למה חייבים להשקיע, אילו סוגים יש, ולאיזה טווח כל אחד מתאים. שוק ההון בשפה פשוטה, מנוהל מול עצמאי.</a:t>
            </a:r>
          </a:p>
          <a:p>
            <a:r>
              <a:t>נתראה ביום שני. גאה בכל אחת מכן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8.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9.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01</a:t>
            </a:r>
          </a:p>
        </p:txBody>
      </p:sp>
      <p:pic>
        <p:nvPicPr>
          <p:cNvPr id="4" name="Picture 3" descr="hero_gift.jpg"/>
          <p:cNvPicPr>
            <a:picLocks noChangeAspect="1"/>
          </p:cNvPicPr>
          <p:nvPr/>
        </p:nvPicPr>
        <p:blipFill>
          <a:blip r:embed="rId3"/>
          <a:stretch>
            <a:fillRect/>
          </a:stretch>
        </p:blipFill>
        <p:spPr>
          <a:xfrm>
            <a:off x="914400" y="838200"/>
            <a:ext cx="4876800" cy="4876800"/>
          </a:xfrm>
          <a:prstGeom prst="roundRect">
            <a:avLst>
              <a:gd name="adj" fmla="val 8000"/>
            </a:avLst>
          </a:prstGeom>
        </p:spPr>
      </p:pic>
      <p:sp>
        <p:nvSpPr>
          <p:cNvPr id="5" name="TextBox 4"/>
          <p:cNvSpPr txBox="1"/>
          <p:nvPr/>
        </p:nvSpPr>
        <p:spPr>
          <a:xfrm>
            <a:off x="6248400" y="1295400"/>
            <a:ext cx="5029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ליווי אמא משקיעה · מחזור אוקטובר</a:t>
            </a:r>
          </a:p>
        </p:txBody>
      </p:sp>
      <p:sp>
        <p:nvSpPr>
          <p:cNvPr id="6" name="TextBox 5"/>
          <p:cNvSpPr txBox="1"/>
          <p:nvPr/>
        </p:nvSpPr>
        <p:spPr>
          <a:xfrm>
            <a:off x="6248400" y="1638300"/>
            <a:ext cx="5029200" cy="2514600"/>
          </a:xfrm>
          <a:prstGeom prst="rect">
            <a:avLst/>
          </a:prstGeom>
          <a:noFill/>
        </p:spPr>
        <p:txBody>
          <a:bodyPr wrap="square" lIns="0" rIns="0" tIns="0" bIns="0" anchor="t">
            <a:spAutoFit/>
          </a:bodyPr>
          <a:lstStyle/>
          <a:p>
            <a:pPr algn="r" rtl="1">
              <a:lnSpc>
                <a:spcPct val="95000"/>
              </a:lnSpc>
            </a:pPr>
            <a:r>
              <a:rPr sz="6959" b="1" lang="he-IL">
                <a:solidFill>
                  <a:srgbClr val="191A2E"/>
                </a:solidFill>
                <a:latin typeface="Heebo"/>
                <a:ea typeface="Heebo"/>
                <a:cs typeface="Heebo"/>
              </a:rPr>
              <a:t>ברוכות</a:t>
            </a:r>
          </a:p>
          <a:p>
            <a:pPr algn="r" rtl="1">
              <a:lnSpc>
                <a:spcPct val="95000"/>
              </a:lnSpc>
            </a:pPr>
            <a:r>
              <a:rPr sz="6959" b="1" lang="he-IL">
                <a:solidFill>
                  <a:srgbClr val="EF55A5"/>
                </a:solidFill>
                <a:latin typeface="Heebo"/>
                <a:ea typeface="Heebo"/>
                <a:cs typeface="Heebo"/>
              </a:rPr>
              <a:t>השבות!</a:t>
            </a:r>
          </a:p>
        </p:txBody>
      </p:sp>
      <p:sp>
        <p:nvSpPr>
          <p:cNvPr id="7" name="TextBox 6"/>
          <p:cNvSpPr txBox="1"/>
          <p:nvPr/>
        </p:nvSpPr>
        <p:spPr>
          <a:xfrm>
            <a:off x="6248400" y="4267200"/>
            <a:ext cx="5029200" cy="762000"/>
          </a:xfrm>
          <a:prstGeom prst="rect">
            <a:avLst/>
          </a:prstGeom>
          <a:noFill/>
        </p:spPr>
        <p:txBody>
          <a:bodyPr wrap="square" lIns="0" rIns="0" tIns="0" bIns="0" anchor="t">
            <a:spAutoFit/>
          </a:bodyPr>
          <a:lstStyle/>
          <a:p>
            <a:pPr algn="r" rtl="1">
              <a:lnSpc>
                <a:spcPct val="130000"/>
              </a:lnSpc>
            </a:pPr>
            <a:r>
              <a:rPr sz="1920" b="0" lang="he-IL">
                <a:solidFill>
                  <a:srgbClr val="191A2E"/>
                </a:solidFill>
                <a:latin typeface="Heebo"/>
                <a:ea typeface="Heebo"/>
                <a:cs typeface="Heebo"/>
              </a:rPr>
              <a:t>לייב 2 · מגינות · לכל שקל טווח ותפקיד</a:t>
            </a:r>
          </a:p>
        </p:txBody>
      </p:sp>
      <p:sp>
        <p:nvSpPr>
          <p:cNvPr id="8" name="Rounded Rectangle 7"/>
          <p:cNvSpPr/>
          <p:nvPr/>
        </p:nvSpPr>
        <p:spPr>
          <a:xfrm>
            <a:off x="10850880" y="5303520"/>
            <a:ext cx="426720" cy="45720"/>
          </a:xfrm>
          <a:prstGeom prst="roundRect">
            <a:avLst>
              <a:gd name="adj" fmla="val 5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248400" y="5196840"/>
            <a:ext cx="4450080" cy="304800"/>
          </a:xfrm>
          <a:prstGeom prst="rect">
            <a:avLst/>
          </a:prstGeom>
          <a:noFill/>
        </p:spPr>
        <p:txBody>
          <a:bodyPr wrap="square" lIns="0" rIns="0" tIns="0" bIns="0" anchor="t">
            <a:spAutoFit/>
          </a:bodyPr>
          <a:lstStyle/>
          <a:p>
            <a:pPr algn="r" rtl="1">
              <a:lnSpc>
                <a:spcPct val="115000"/>
              </a:lnSpc>
            </a:pPr>
            <a:r>
              <a:rPr sz="1439" b="1" lang="he-IL">
                <a:solidFill>
                  <a:srgbClr val="6B6B7B"/>
                </a:solidFill>
                <a:latin typeface="Heebo"/>
                <a:ea typeface="Heebo"/>
                <a:cs typeface="Heebo"/>
              </a:rPr>
              <a:t>עדי סומך · אמא משקיעה</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02</a:t>
            </a:r>
          </a:p>
        </p:txBody>
      </p:sp>
      <p:pic>
        <p:nvPicPr>
          <p:cNvPr id="4" name="Picture 3" descr="s21_coins.jpg"/>
          <p:cNvPicPr>
            <a:picLocks noChangeAspect="1"/>
          </p:cNvPicPr>
          <p:nvPr/>
        </p:nvPicPr>
        <p:blipFill>
          <a:blip r:embed="rId3"/>
          <a:stretch>
            <a:fillRect/>
          </a:stretch>
        </p:blipFill>
        <p:spPr>
          <a:xfrm>
            <a:off x="914400" y="1447800"/>
            <a:ext cx="3657600" cy="3657600"/>
          </a:xfrm>
          <a:prstGeom prst="roundRect">
            <a:avLst>
              <a:gd name="adj" fmla="val 8000"/>
            </a:avLst>
          </a:prstGeom>
        </p:spPr>
      </p:pic>
      <p:sp>
        <p:nvSpPr>
          <p:cNvPr id="5" name="Rounded Rectangle 4"/>
          <p:cNvSpPr/>
          <p:nvPr/>
        </p:nvSpPr>
        <p:spPr>
          <a:xfrm>
            <a:off x="5029200" y="1905000"/>
            <a:ext cx="6248400" cy="2895600"/>
          </a:xfrm>
          <a:prstGeom prst="roundRect">
            <a:avLst>
              <a:gd name="adj" fmla="val 9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577840" y="2438400"/>
            <a:ext cx="51511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מילה אחת בצ'אט · ציד האוצר 🔍</a:t>
            </a:r>
          </a:p>
        </p:txBody>
      </p:sp>
      <p:sp>
        <p:nvSpPr>
          <p:cNvPr id="7" name="TextBox 6"/>
          <p:cNvSpPr txBox="1"/>
          <p:nvPr/>
        </p:nvSpPr>
        <p:spPr>
          <a:xfrm>
            <a:off x="5577840" y="2834640"/>
            <a:ext cx="5151120" cy="1752600"/>
          </a:xfrm>
          <a:prstGeom prst="rect">
            <a:avLst/>
          </a:prstGeom>
          <a:noFill/>
        </p:spPr>
        <p:txBody>
          <a:bodyPr wrap="square" lIns="0" rIns="0" tIns="0" bIns="0" anchor="t">
            <a:spAutoFit/>
          </a:bodyPr>
          <a:lstStyle/>
          <a:p>
            <a:pPr algn="r" rtl="1">
              <a:lnSpc>
                <a:spcPct val="115000"/>
              </a:lnSpc>
            </a:pPr>
            <a:r>
              <a:rPr sz="3600" b="1" lang="he-IL">
                <a:solidFill>
                  <a:srgbClr val="191A2E"/>
                </a:solidFill>
                <a:latin typeface="Heebo"/>
                <a:ea typeface="Heebo"/>
                <a:cs typeface="Heebo"/>
              </a:rPr>
              <a:t>מה מצאת השבוע?</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03</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 שבוע שעבר</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מה היה לנו בלייב 1</a:t>
            </a:r>
          </a:p>
        </p:txBody>
      </p:sp>
      <p:sp>
        <p:nvSpPr>
          <p:cNvPr id="6" name="Oval 5"/>
          <p:cNvSpPr/>
          <p:nvPr/>
        </p:nvSpPr>
        <p:spPr>
          <a:xfrm>
            <a:off x="10850880" y="22860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7" name="TextBox 6"/>
          <p:cNvSpPr txBox="1"/>
          <p:nvPr/>
        </p:nvSpPr>
        <p:spPr>
          <a:xfrm>
            <a:off x="914400" y="23012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שיטת המצפן: חזון, מטרות, נקודת מוצא, אסטרטגיה</a:t>
            </a:r>
          </a:p>
        </p:txBody>
      </p:sp>
      <p:sp>
        <p:nvSpPr>
          <p:cNvPr id="8" name="Oval 7"/>
          <p:cNvSpPr/>
          <p:nvPr/>
        </p:nvSpPr>
        <p:spPr>
          <a:xfrm>
            <a:off x="10850880" y="31623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9" name="TextBox 8"/>
          <p:cNvSpPr txBox="1"/>
          <p:nvPr/>
        </p:nvSpPr>
        <p:spPr>
          <a:xfrm>
            <a:off x="914400" y="31775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החזון ולוח החזון</a:t>
            </a:r>
          </a:p>
        </p:txBody>
      </p:sp>
      <p:sp>
        <p:nvSpPr>
          <p:cNvPr id="10" name="Oval 9"/>
          <p:cNvSpPr/>
          <p:nvPr/>
        </p:nvSpPr>
        <p:spPr>
          <a:xfrm>
            <a:off x="10850880" y="40386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1" name="TextBox 10"/>
          <p:cNvSpPr txBox="1"/>
          <p:nvPr/>
        </p:nvSpPr>
        <p:spPr>
          <a:xfrm>
            <a:off x="914400" y="40538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שלושה כלים לחיים: מעגל, סולם, ו”איך אפשר?“</a:t>
            </a:r>
          </a:p>
        </p:txBody>
      </p:sp>
      <p:sp>
        <p:nvSpPr>
          <p:cNvPr id="12" name="Oval 11"/>
          <p:cNvSpPr/>
          <p:nvPr/>
        </p:nvSpPr>
        <p:spPr>
          <a:xfrm>
            <a:off x="10850880" y="49149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4</a:t>
            </a:r>
          </a:p>
        </p:txBody>
      </p:sp>
      <p:sp>
        <p:nvSpPr>
          <p:cNvPr id="13" name="TextBox 12"/>
          <p:cNvSpPr txBox="1"/>
          <p:nvPr/>
        </p:nvSpPr>
        <p:spPr>
          <a:xfrm>
            <a:off x="914400" y="49301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נקודת המוצא: שווי נקי, תזרים, וכמה הרמתי מהרצפה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04</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הבאת 3 מספרים</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5000"/>
              </a:lnSpc>
            </a:pPr>
            <a:r>
              <a:rPr sz="3960" b="1" lang="he-IL">
                <a:solidFill>
                  <a:srgbClr val="191A2E"/>
                </a:solidFill>
                <a:latin typeface="Heebo"/>
                <a:ea typeface="Heebo"/>
                <a:cs typeface="Heebo"/>
              </a:rPr>
              <a:t>כמה הרמת מהרצפה?</a:t>
            </a:r>
          </a:p>
        </p:txBody>
      </p:sp>
      <p:sp>
        <p:nvSpPr>
          <p:cNvPr id="6" name="Rounded Rectangle 5"/>
          <p:cNvSpPr/>
          <p:nvPr/>
        </p:nvSpPr>
        <p:spPr>
          <a:xfrm>
            <a:off x="7955280" y="2286000"/>
            <a:ext cx="3322320" cy="27432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0" y="2590800"/>
            <a:ext cx="2773680" cy="457200"/>
          </a:xfrm>
          <a:prstGeom prst="rect">
            <a:avLst/>
          </a:prstGeom>
          <a:noFill/>
        </p:spPr>
        <p:txBody>
          <a:bodyPr wrap="square" lIns="0" rIns="0" tIns="0" bIns="0" anchor="t">
            <a:spAutoFit/>
          </a:bodyPr>
          <a:lstStyle/>
          <a:p>
            <a:pPr algn="r" rtl="1">
              <a:lnSpc>
                <a:spcPct val="115000"/>
              </a:lnSpc>
            </a:pPr>
            <a:r>
              <a:rPr sz="2280" b="1" lang="he-IL">
                <a:solidFill>
                  <a:srgbClr val="191A2E"/>
                </a:solidFill>
                <a:latin typeface="Heebo"/>
                <a:ea typeface="Heebo"/>
                <a:cs typeface="Heebo"/>
              </a:rPr>
              <a:t>השווי הנקי</a:t>
            </a:r>
          </a:p>
        </p:txBody>
      </p:sp>
      <p:sp>
        <p:nvSpPr>
          <p:cNvPr id="8" name="TextBox 7"/>
          <p:cNvSpPr txBox="1"/>
          <p:nvPr/>
        </p:nvSpPr>
        <p:spPr>
          <a:xfrm>
            <a:off x="8229600" y="3581400"/>
            <a:ext cx="2773680" cy="762000"/>
          </a:xfrm>
          <a:prstGeom prst="rect">
            <a:avLst/>
          </a:prstGeom>
          <a:noFill/>
        </p:spPr>
        <p:txBody>
          <a:bodyPr wrap="square" lIns="0" rIns="0" tIns="0" bIns="0" anchor="t">
            <a:spAutoFit/>
          </a:bodyPr>
          <a:lstStyle/>
          <a:p>
            <a:pPr algn="r" rtl="1">
              <a:lnSpc>
                <a:spcPct val="115000"/>
              </a:lnSpc>
            </a:pPr>
            <a:r>
              <a:rPr sz="2400" b="1" lang="he-IL">
                <a:solidFill>
                  <a:srgbClr val="191A2E"/>
                </a:solidFill>
                <a:latin typeface="Heebo"/>
                <a:ea typeface="Heebo"/>
                <a:cs typeface="Heebo"/>
              </a:rPr>
              <a:t>שלך. לא בצ'אט.</a:t>
            </a:r>
          </a:p>
        </p:txBody>
      </p:sp>
      <p:sp>
        <p:nvSpPr>
          <p:cNvPr id="9" name="Rounded Rectangle 8"/>
          <p:cNvSpPr/>
          <p:nvPr/>
        </p:nvSpPr>
        <p:spPr>
          <a:xfrm>
            <a:off x="4434840" y="2286000"/>
            <a:ext cx="3322320" cy="27432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709160" y="2590800"/>
            <a:ext cx="2773680" cy="457200"/>
          </a:xfrm>
          <a:prstGeom prst="rect">
            <a:avLst/>
          </a:prstGeom>
          <a:noFill/>
        </p:spPr>
        <p:txBody>
          <a:bodyPr wrap="square" lIns="0" rIns="0" tIns="0" bIns="0" anchor="t">
            <a:spAutoFit/>
          </a:bodyPr>
          <a:lstStyle/>
          <a:p>
            <a:pPr algn="r" rtl="1">
              <a:lnSpc>
                <a:spcPct val="115000"/>
              </a:lnSpc>
            </a:pPr>
            <a:r>
              <a:rPr sz="2280" b="1" lang="he-IL">
                <a:solidFill>
                  <a:srgbClr val="191A2E"/>
                </a:solidFill>
                <a:latin typeface="Heebo"/>
                <a:ea typeface="Heebo"/>
                <a:cs typeface="Heebo"/>
              </a:rPr>
              <a:t>התזרים</a:t>
            </a:r>
          </a:p>
        </p:txBody>
      </p:sp>
      <p:sp>
        <p:nvSpPr>
          <p:cNvPr id="11" name="TextBox 10"/>
          <p:cNvSpPr txBox="1"/>
          <p:nvPr/>
        </p:nvSpPr>
        <p:spPr>
          <a:xfrm>
            <a:off x="4709160" y="3581400"/>
            <a:ext cx="2773680" cy="762000"/>
          </a:xfrm>
          <a:prstGeom prst="rect">
            <a:avLst/>
          </a:prstGeom>
          <a:noFill/>
        </p:spPr>
        <p:txBody>
          <a:bodyPr wrap="square" lIns="0" rIns="0" tIns="0" bIns="0" anchor="t">
            <a:spAutoFit/>
          </a:bodyPr>
          <a:lstStyle/>
          <a:p>
            <a:pPr algn="r" rtl="1">
              <a:lnSpc>
                <a:spcPct val="115000"/>
              </a:lnSpc>
            </a:pPr>
            <a:r>
              <a:rPr sz="2400" b="1" lang="he-IL">
                <a:solidFill>
                  <a:srgbClr val="191A2E"/>
                </a:solidFill>
                <a:latin typeface="Heebo"/>
                <a:ea typeface="Heebo"/>
                <a:cs typeface="Heebo"/>
              </a:rPr>
              <a:t>שלך. לא בצ'אט.</a:t>
            </a:r>
          </a:p>
        </p:txBody>
      </p:sp>
      <p:sp>
        <p:nvSpPr>
          <p:cNvPr id="12" name="Rounded Rectangle 11"/>
          <p:cNvSpPr/>
          <p:nvPr/>
        </p:nvSpPr>
        <p:spPr>
          <a:xfrm>
            <a:off x="914400" y="2286000"/>
            <a:ext cx="3322320" cy="27432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188720" y="2590800"/>
            <a:ext cx="2773680" cy="457200"/>
          </a:xfrm>
          <a:prstGeom prst="rect">
            <a:avLst/>
          </a:prstGeom>
          <a:noFill/>
        </p:spPr>
        <p:txBody>
          <a:bodyPr wrap="square" lIns="0" rIns="0" tIns="0" bIns="0" anchor="t">
            <a:spAutoFit/>
          </a:bodyPr>
          <a:lstStyle/>
          <a:p>
            <a:pPr algn="r" rtl="1">
              <a:lnSpc>
                <a:spcPct val="115000"/>
              </a:lnSpc>
            </a:pPr>
            <a:r>
              <a:rPr sz="2280" b="1" lang="he-IL">
                <a:solidFill>
                  <a:srgbClr val="191A2E"/>
                </a:solidFill>
                <a:latin typeface="Heebo"/>
                <a:ea typeface="Heebo"/>
                <a:cs typeface="Heebo"/>
              </a:rPr>
              <a:t>הרמתי מהרצפה</a:t>
            </a:r>
          </a:p>
        </p:txBody>
      </p:sp>
      <p:sp>
        <p:nvSpPr>
          <p:cNvPr id="14" name="TextBox 13"/>
          <p:cNvSpPr txBox="1"/>
          <p:nvPr/>
        </p:nvSpPr>
        <p:spPr>
          <a:xfrm>
            <a:off x="1188720" y="3581400"/>
            <a:ext cx="2773680" cy="762000"/>
          </a:xfrm>
          <a:prstGeom prst="rect">
            <a:avLst/>
          </a:prstGeom>
          <a:noFill/>
        </p:spPr>
        <p:txBody>
          <a:bodyPr wrap="square" lIns="0" rIns="0" tIns="0" bIns="0" anchor="t">
            <a:spAutoFit/>
          </a:bodyPr>
          <a:lstStyle/>
          <a:p>
            <a:pPr algn="r" rtl="1">
              <a:lnSpc>
                <a:spcPct val="115000"/>
              </a:lnSpc>
            </a:pPr>
            <a:r>
              <a:rPr sz="2400" b="1" lang="he-IL">
                <a:solidFill>
                  <a:srgbClr val="191A2E"/>
                </a:solidFill>
                <a:latin typeface="Heebo"/>
                <a:ea typeface="Heebo"/>
                <a:cs typeface="Heebo"/>
              </a:rPr>
              <a:t>מספר בצ'אט 💬</a:t>
            </a:r>
          </a:p>
        </p:txBody>
      </p:sp>
      <p:sp>
        <p:nvSpPr>
          <p:cNvPr id="15" name="TextBox 14"/>
          <p:cNvSpPr txBox="1"/>
          <p:nvPr/>
        </p:nvSpPr>
        <p:spPr>
          <a:xfrm>
            <a:off x="914400" y="53340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גם 0 זה מספר. וגם 30 ₪ בחודש.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05</a:t>
            </a:r>
          </a:p>
        </p:txBody>
      </p:sp>
      <p:sp>
        <p:nvSpPr>
          <p:cNvPr id="4" name="TextBox 3"/>
          <p:cNvSpPr txBox="1"/>
          <p:nvPr/>
        </p:nvSpPr>
        <p:spPr>
          <a:xfrm>
            <a:off x="914400" y="123444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לייב 2 · מגינות</a:t>
            </a:r>
          </a:p>
        </p:txBody>
      </p:sp>
      <p:sp>
        <p:nvSpPr>
          <p:cNvPr id="5" name="TextBox 4"/>
          <p:cNvSpPr txBox="1"/>
          <p:nvPr/>
        </p:nvSpPr>
        <p:spPr>
          <a:xfrm>
            <a:off x="914400" y="1691640"/>
            <a:ext cx="10363200" cy="2255520"/>
          </a:xfrm>
          <a:prstGeom prst="rect">
            <a:avLst/>
          </a:prstGeom>
          <a:noFill/>
        </p:spPr>
        <p:txBody>
          <a:bodyPr wrap="square" lIns="0" rIns="0" tIns="0" bIns="0" anchor="t">
            <a:spAutoFit/>
          </a:bodyPr>
          <a:lstStyle/>
          <a:p>
            <a:pPr algn="r" rtl="1">
              <a:lnSpc>
                <a:spcPct val="110000"/>
              </a:lnSpc>
            </a:pPr>
            <a:r>
              <a:rPr sz="7200" b="1" lang="he-IL">
                <a:solidFill>
                  <a:srgbClr val="191A2E"/>
                </a:solidFill>
                <a:latin typeface="Heebo"/>
                <a:ea typeface="Heebo"/>
                <a:cs typeface="Heebo"/>
              </a:rPr>
              <a:t>לכל שקל</a:t>
            </a:r>
          </a:p>
          <a:p>
            <a:pPr algn="r" rtl="1">
              <a:lnSpc>
                <a:spcPct val="110000"/>
              </a:lnSpc>
            </a:pPr>
            <a:r>
              <a:rPr sz="7200" b="1" lang="he-IL">
                <a:solidFill>
                  <a:srgbClr val="EF55A5"/>
                </a:solidFill>
                <a:latin typeface="Heebo"/>
                <a:ea typeface="Heebo"/>
                <a:cs typeface="Heebo"/>
              </a:rPr>
              <a:t>טווח ותפקיד.</a:t>
            </a:r>
          </a:p>
        </p:txBody>
      </p:sp>
      <p:sp>
        <p:nvSpPr>
          <p:cNvPr id="6" name="TextBox 5"/>
          <p:cNvSpPr txBox="1"/>
          <p:nvPr/>
        </p:nvSpPr>
        <p:spPr>
          <a:xfrm>
            <a:off x="914400" y="409956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גם לשקל שכבר בעו"ש, גם לשקל שעוד בדרך.</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06</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 ארבעה חלקים, מפה אחת</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מה מחכה לנו הערב</a:t>
            </a:r>
          </a:p>
        </p:txBody>
      </p:sp>
      <p:sp>
        <p:nvSpPr>
          <p:cNvPr id="6" name="Oval 5"/>
          <p:cNvSpPr/>
          <p:nvPr/>
        </p:nvSpPr>
        <p:spPr>
          <a:xfrm>
            <a:off x="10850880" y="22860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7" name="TextBox 6"/>
          <p:cNvSpPr txBox="1"/>
          <p:nvPr/>
        </p:nvSpPr>
        <p:spPr>
          <a:xfrm>
            <a:off x="914400" y="23012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המטרות: כל חלום מקבל סכום ותאריך</a:t>
            </a:r>
          </a:p>
        </p:txBody>
      </p:sp>
      <p:sp>
        <p:nvSpPr>
          <p:cNvPr id="8" name="Oval 7"/>
          <p:cNvSpPr/>
          <p:nvPr/>
        </p:nvSpPr>
        <p:spPr>
          <a:xfrm>
            <a:off x="10850880" y="31623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9" name="TextBox 8"/>
          <p:cNvSpPr txBox="1"/>
          <p:nvPr/>
        </p:nvSpPr>
        <p:spPr>
          <a:xfrm>
            <a:off x="914400" y="31775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ארבעה בתים: עו"ש, קרן חירום, טווח קצר, טווח ארוך</a:t>
            </a:r>
          </a:p>
        </p:txBody>
      </p:sp>
      <p:sp>
        <p:nvSpPr>
          <p:cNvPr id="10" name="Oval 9"/>
          <p:cNvSpPr/>
          <p:nvPr/>
        </p:nvSpPr>
        <p:spPr>
          <a:xfrm>
            <a:off x="10850880" y="40386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1" name="TextBox 10"/>
          <p:cNvSpPr txBox="1"/>
          <p:nvPr/>
        </p:nvSpPr>
        <p:spPr>
          <a:xfrm>
            <a:off x="914400" y="40538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מספר הזהב: כמה אני מפנה להשקעה כל חודש</a:t>
            </a:r>
          </a:p>
        </p:txBody>
      </p:sp>
      <p:sp>
        <p:nvSpPr>
          <p:cNvPr id="12" name="Oval 11"/>
          <p:cNvSpPr/>
          <p:nvPr/>
        </p:nvSpPr>
        <p:spPr>
          <a:xfrm>
            <a:off x="10850880" y="49149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4</a:t>
            </a:r>
          </a:p>
        </p:txBody>
      </p:sp>
      <p:sp>
        <p:nvSpPr>
          <p:cNvPr id="13" name="TextBox 12"/>
          <p:cNvSpPr txBox="1"/>
          <p:nvPr/>
        </p:nvSpPr>
        <p:spPr>
          <a:xfrm>
            <a:off x="914400" y="49301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הבית שכבר קיים: הבדיקה הפנסיונית</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07</a:t>
            </a:r>
          </a:p>
        </p:txBody>
      </p:sp>
      <p:sp>
        <p:nvSpPr>
          <p:cNvPr id="4" name="TextBox 3"/>
          <p:cNvSpPr txBox="1"/>
          <p:nvPr/>
        </p:nvSpPr>
        <p:spPr>
          <a:xfrm>
            <a:off x="914400" y="11430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שבוע 2 · מגינות</a:t>
            </a:r>
          </a:p>
        </p:txBody>
      </p:sp>
      <p:sp>
        <p:nvSpPr>
          <p:cNvPr id="5" name="Rectangle 4"/>
          <p:cNvSpPr/>
          <p:nvPr/>
        </p:nvSpPr>
        <p:spPr>
          <a:xfrm>
            <a:off x="2286000" y="2453640"/>
            <a:ext cx="7620000" cy="30480"/>
          </a:xfrm>
          <a:prstGeom prst="rect">
            <a:avLst/>
          </a:prstGeom>
          <a:solidFill>
            <a:srgbClr val="ECE7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val 5"/>
          <p:cNvSpPr/>
          <p:nvPr/>
        </p:nvSpPr>
        <p:spPr>
          <a:xfrm>
            <a:off x="10104120" y="1981200"/>
            <a:ext cx="975360" cy="975360"/>
          </a:xfrm>
          <a:prstGeom prst="ellipse">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191A2E"/>
                </a:solidFill>
                <a:latin typeface="Heebo"/>
                <a:ea typeface="Heebo"/>
                <a:cs typeface="Heebo"/>
              </a:rPr>
              <a:t>1</a:t>
            </a:r>
          </a:p>
        </p:txBody>
      </p:sp>
      <p:sp>
        <p:nvSpPr>
          <p:cNvPr id="7" name="TextBox 6"/>
          <p:cNvSpPr txBox="1"/>
          <p:nvPr/>
        </p:nvSpPr>
        <p:spPr>
          <a:xfrm>
            <a:off x="944880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191A2E"/>
                </a:solidFill>
                <a:latin typeface="Heebo"/>
                <a:ea typeface="Heebo"/>
                <a:cs typeface="Heebo"/>
              </a:rPr>
              <a:t>שבוע 1 · ממפות</a:t>
            </a:r>
          </a:p>
        </p:txBody>
      </p:sp>
      <p:sp>
        <p:nvSpPr>
          <p:cNvPr id="8" name="Oval 7"/>
          <p:cNvSpPr/>
          <p:nvPr/>
        </p:nvSpPr>
        <p:spPr>
          <a:xfrm>
            <a:off x="7018020" y="1889760"/>
            <a:ext cx="1158240" cy="1158240"/>
          </a:xfrm>
          <a:prstGeom prst="ellipse">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Oval 8"/>
          <p:cNvSpPr/>
          <p:nvPr/>
        </p:nvSpPr>
        <p:spPr>
          <a:xfrm>
            <a:off x="7109460" y="1981200"/>
            <a:ext cx="975360" cy="97536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191A2E"/>
                </a:solidFill>
                <a:latin typeface="Heebo"/>
                <a:ea typeface="Heebo"/>
                <a:cs typeface="Heebo"/>
              </a:rPr>
              <a:t>2</a:t>
            </a:r>
          </a:p>
        </p:txBody>
      </p:sp>
      <p:sp>
        <p:nvSpPr>
          <p:cNvPr id="10" name="TextBox 9"/>
          <p:cNvSpPr txBox="1"/>
          <p:nvPr/>
        </p:nvSpPr>
        <p:spPr>
          <a:xfrm>
            <a:off x="645414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191A2E"/>
                </a:solidFill>
                <a:latin typeface="Heebo"/>
                <a:ea typeface="Heebo"/>
                <a:cs typeface="Heebo"/>
              </a:rPr>
              <a:t>שבוע 2 · מגינות</a:t>
            </a:r>
          </a:p>
        </p:txBody>
      </p:sp>
      <p:sp>
        <p:nvSpPr>
          <p:cNvPr id="11" name="Oval 10"/>
          <p:cNvSpPr/>
          <p:nvPr/>
        </p:nvSpPr>
        <p:spPr>
          <a:xfrm>
            <a:off x="4114800" y="1981200"/>
            <a:ext cx="975360" cy="975360"/>
          </a:xfrm>
          <a:prstGeom prst="ellipse">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9A9AA6"/>
                </a:solidFill>
                <a:latin typeface="Heebo"/>
                <a:ea typeface="Heebo"/>
                <a:cs typeface="Heebo"/>
              </a:rPr>
              <a:t>3</a:t>
            </a:r>
          </a:p>
        </p:txBody>
      </p:sp>
      <p:sp>
        <p:nvSpPr>
          <p:cNvPr id="12" name="TextBox 11"/>
          <p:cNvSpPr txBox="1"/>
          <p:nvPr/>
        </p:nvSpPr>
        <p:spPr>
          <a:xfrm>
            <a:off x="345948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9A9AA6"/>
                </a:solidFill>
                <a:latin typeface="Heebo"/>
                <a:ea typeface="Heebo"/>
                <a:cs typeface="Heebo"/>
              </a:rPr>
              <a:t>שבוע 3 · מחלקות</a:t>
            </a:r>
          </a:p>
        </p:txBody>
      </p:sp>
      <p:sp>
        <p:nvSpPr>
          <p:cNvPr id="13" name="Oval 12"/>
          <p:cNvSpPr/>
          <p:nvPr/>
        </p:nvSpPr>
        <p:spPr>
          <a:xfrm>
            <a:off x="1120140" y="1981200"/>
            <a:ext cx="975360" cy="975360"/>
          </a:xfrm>
          <a:prstGeom prst="ellipse">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9A9AA6"/>
                </a:solidFill>
                <a:latin typeface="Heebo"/>
                <a:ea typeface="Heebo"/>
                <a:cs typeface="Heebo"/>
              </a:rPr>
              <a:t>4</a:t>
            </a:r>
          </a:p>
        </p:txBody>
      </p:sp>
      <p:sp>
        <p:nvSpPr>
          <p:cNvPr id="14" name="TextBox 13"/>
          <p:cNvSpPr txBox="1"/>
          <p:nvPr/>
        </p:nvSpPr>
        <p:spPr>
          <a:xfrm>
            <a:off x="46482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9A9AA6"/>
                </a:solidFill>
                <a:latin typeface="Heebo"/>
                <a:ea typeface="Heebo"/>
                <a:cs typeface="Heebo"/>
              </a:rPr>
              <a:t>שבוע 4 · מפעילות</a:t>
            </a:r>
          </a:p>
        </p:txBody>
      </p:sp>
      <p:sp>
        <p:nvSpPr>
          <p:cNvPr id="15" name="TextBox 14"/>
          <p:cNvSpPr txBox="1"/>
          <p:nvPr/>
        </p:nvSpPr>
        <p:spPr>
          <a:xfrm>
            <a:off x="914400" y="3962400"/>
            <a:ext cx="10363200" cy="1295400"/>
          </a:xfrm>
          <a:prstGeom prst="rect">
            <a:avLst/>
          </a:prstGeom>
          <a:noFill/>
        </p:spPr>
        <p:txBody>
          <a:bodyPr wrap="square" lIns="0" rIns="0" tIns="0" bIns="0" anchor="t">
            <a:spAutoFit/>
          </a:bodyPr>
          <a:lstStyle/>
          <a:p>
            <a:pPr algn="r" rtl="1">
              <a:lnSpc>
                <a:spcPct val="120000"/>
              </a:lnSpc>
            </a:pPr>
            <a:r>
              <a:rPr sz="3240" b="1" lang="he-IL">
                <a:solidFill>
                  <a:srgbClr val="191A2E"/>
                </a:solidFill>
                <a:latin typeface="Heebo"/>
                <a:ea typeface="Heebo"/>
                <a:cs typeface="Heebo"/>
              </a:rPr>
              <a:t>לפני שמשקיעות, בונות שכבת ביטחון.</a:t>
            </a:r>
          </a:p>
        </p:txBody>
      </p:sp>
      <p:sp>
        <p:nvSpPr>
          <p:cNvPr id="16" name="TextBox 15"/>
          <p:cNvSpPr txBox="1"/>
          <p:nvPr/>
        </p:nvSpPr>
        <p:spPr>
          <a:xfrm>
            <a:off x="914400" y="5334000"/>
            <a:ext cx="10363200" cy="762000"/>
          </a:xfrm>
          <a:prstGeom prst="rect">
            <a:avLst/>
          </a:prstGeom>
          <a:noFill/>
        </p:spPr>
        <p:txBody>
          <a:bodyPr wrap="square" lIns="0" rIns="0" tIns="0" bIns="0" anchor="t">
            <a:spAutoFit/>
          </a:bodyPr>
          <a:lstStyle/>
          <a:p>
            <a:pPr algn="r" rtl="1">
              <a:lnSpc>
                <a:spcPct val="145000"/>
              </a:lnSpc>
            </a:pPr>
            <a:r>
              <a:rPr sz="1680" b="0" lang="he-IL">
                <a:solidFill>
                  <a:srgbClr val="6B6B7B"/>
                </a:solidFill>
                <a:latin typeface="Heebo"/>
                <a:ea typeface="Heebo"/>
                <a:cs typeface="Heebo"/>
              </a:rPr>
              <a:t>הסדר הזה הוא מה שמאפשר אחר כך להשקיע בלי פחד.</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08</a:t>
            </a:r>
          </a:p>
        </p:txBody>
      </p:sp>
      <p:sp>
        <p:nvSpPr>
          <p:cNvPr id="4" name="TextBox 3"/>
          <p:cNvSpPr txBox="1"/>
          <p:nvPr/>
        </p:nvSpPr>
        <p:spPr>
          <a:xfrm>
            <a:off x="914400" y="9906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להפוך הכנסות לנכסים, ונכסים לחופש</a:t>
            </a:r>
          </a:p>
        </p:txBody>
      </p:sp>
      <p:sp>
        <p:nvSpPr>
          <p:cNvPr id="5" name="TextBox 4"/>
          <p:cNvSpPr txBox="1"/>
          <p:nvPr/>
        </p:nvSpPr>
        <p:spPr>
          <a:xfrm>
            <a:off x="914400" y="1371600"/>
            <a:ext cx="10363200" cy="685800"/>
          </a:xfrm>
          <a:prstGeom prst="rect">
            <a:avLst/>
          </a:prstGeom>
          <a:noFill/>
        </p:spPr>
        <p:txBody>
          <a:bodyPr wrap="square" lIns="0" rIns="0" tIns="0" bIns="0" anchor="t">
            <a:spAutoFit/>
          </a:bodyPr>
          <a:lstStyle/>
          <a:p>
            <a:pPr algn="r" rtl="1">
              <a:lnSpc>
                <a:spcPct val="115000"/>
              </a:lnSpc>
            </a:pPr>
            <a:r>
              <a:rPr sz="3840" b="1" lang="he-IL">
                <a:solidFill>
                  <a:srgbClr val="191A2E"/>
                </a:solidFill>
                <a:latin typeface="Heebo"/>
                <a:ea typeface="Heebo"/>
                <a:cs typeface="Heebo"/>
              </a:rPr>
              <a:t>המשפט של הערב</a:t>
            </a:r>
          </a:p>
        </p:txBody>
      </p:sp>
      <p:sp>
        <p:nvSpPr>
          <p:cNvPr id="6" name="Rounded Rectangle 5"/>
          <p:cNvSpPr/>
          <p:nvPr/>
        </p:nvSpPr>
        <p:spPr>
          <a:xfrm>
            <a:off x="8056880" y="2895600"/>
            <a:ext cx="3220720" cy="1600200"/>
          </a:xfrm>
          <a:prstGeom prst="roundRect">
            <a:avLst>
              <a:gd name="adj" fmla="val 14285"/>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הכנסה מממנת את החיים</a:t>
            </a:r>
          </a:p>
        </p:txBody>
      </p:sp>
      <p:sp>
        <p:nvSpPr>
          <p:cNvPr id="7" name="TextBox 6"/>
          <p:cNvSpPr txBox="1"/>
          <p:nvPr/>
        </p:nvSpPr>
        <p:spPr>
          <a:xfrm>
            <a:off x="770636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8" name="Rounded Rectangle 7"/>
          <p:cNvSpPr/>
          <p:nvPr/>
        </p:nvSpPr>
        <p:spPr>
          <a:xfrm>
            <a:off x="4485640" y="2895600"/>
            <a:ext cx="3220720" cy="1600200"/>
          </a:xfrm>
          <a:prstGeom prst="roundRect">
            <a:avLst>
              <a:gd name="adj" fmla="val 14285"/>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נכסים מממנים את החופש</a:t>
            </a:r>
          </a:p>
        </p:txBody>
      </p:sp>
      <p:sp>
        <p:nvSpPr>
          <p:cNvPr id="9" name="TextBox 8"/>
          <p:cNvSpPr txBox="1"/>
          <p:nvPr/>
        </p:nvSpPr>
        <p:spPr>
          <a:xfrm>
            <a:off x="413512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0" name="Rounded Rectangle 9"/>
          <p:cNvSpPr/>
          <p:nvPr/>
        </p:nvSpPr>
        <p:spPr>
          <a:xfrm>
            <a:off x="914400" y="2895600"/>
            <a:ext cx="3220720" cy="1600200"/>
          </a:xfrm>
          <a:prstGeom prst="roundRect">
            <a:avLst>
              <a:gd name="adj" fmla="val 14285"/>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הערב: הכנסה ← נכסים</a:t>
            </a:r>
          </a:p>
        </p:txBody>
      </p:sp>
      <p:sp>
        <p:nvSpPr>
          <p:cNvPr id="11" name="TextBox 10"/>
          <p:cNvSpPr txBox="1"/>
          <p:nvPr/>
        </p:nvSpPr>
        <p:spPr>
          <a:xfrm>
            <a:off x="914400" y="4953000"/>
            <a:ext cx="10363200" cy="9144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לא משנה כמה נכניס. משנה כמה מזה הופך לנכסים.</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09</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מהצ'אט של לייב 1</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סולידית או הרפתקנית?</a:t>
            </a:r>
          </a:p>
        </p:txBody>
      </p:sp>
      <p:sp>
        <p:nvSpPr>
          <p:cNvPr id="6" name="Rounded Rectangle 5"/>
          <p:cNvSpPr/>
          <p:nvPr/>
        </p:nvSpPr>
        <p:spPr>
          <a:xfrm>
            <a:off x="6202680" y="2247900"/>
            <a:ext cx="507492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477000" y="2552700"/>
            <a:ext cx="4526280" cy="838200"/>
          </a:xfrm>
          <a:prstGeom prst="rect">
            <a:avLst/>
          </a:prstGeom>
          <a:noFill/>
        </p:spPr>
        <p:txBody>
          <a:bodyPr wrap="square" lIns="0" rIns="0" tIns="0" bIns="0" anchor="t">
            <a:spAutoFit/>
          </a:bodyPr>
          <a:lstStyle/>
          <a:p>
            <a:pPr algn="r" rtl="1">
              <a:lnSpc>
                <a:spcPct val="110000"/>
              </a:lnSpc>
            </a:pPr>
            <a:r>
              <a:rPr sz="2879" b="1" lang="he-IL">
                <a:solidFill>
                  <a:srgbClr val="191A2E"/>
                </a:solidFill>
                <a:latin typeface="Heebo"/>
                <a:ea typeface="Heebo"/>
                <a:cs typeface="Heebo"/>
              </a:rPr>
              <a:t>הסולידית</a:t>
            </a:r>
          </a:p>
        </p:txBody>
      </p:sp>
      <p:sp>
        <p:nvSpPr>
          <p:cNvPr id="8" name="TextBox 7"/>
          <p:cNvSpPr txBox="1"/>
          <p:nvPr/>
        </p:nvSpPr>
        <p:spPr>
          <a:xfrm>
            <a:off x="6477000" y="3162300"/>
            <a:ext cx="452628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רוב הכסף קרוב ללב: עו"ש, פיקדון. ”אולי אצטרך אותו בקרוב“. משלמת בזמן: הכסף לא עובד.</a:t>
            </a:r>
          </a:p>
        </p:txBody>
      </p:sp>
      <p:sp>
        <p:nvSpPr>
          <p:cNvPr id="9" name="Rounded Rectangle 8"/>
          <p:cNvSpPr/>
          <p:nvPr/>
        </p:nvSpPr>
        <p:spPr>
          <a:xfrm>
            <a:off x="914400" y="2247900"/>
            <a:ext cx="507492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188720" y="2552700"/>
            <a:ext cx="4526280" cy="838200"/>
          </a:xfrm>
          <a:prstGeom prst="rect">
            <a:avLst/>
          </a:prstGeom>
          <a:noFill/>
        </p:spPr>
        <p:txBody>
          <a:bodyPr wrap="square" lIns="0" rIns="0" tIns="0" bIns="0" anchor="t">
            <a:spAutoFit/>
          </a:bodyPr>
          <a:lstStyle/>
          <a:p>
            <a:pPr algn="r" rtl="1">
              <a:lnSpc>
                <a:spcPct val="110000"/>
              </a:lnSpc>
            </a:pPr>
            <a:r>
              <a:rPr sz="2879" b="1" lang="he-IL">
                <a:solidFill>
                  <a:srgbClr val="191A2E"/>
                </a:solidFill>
                <a:latin typeface="Heebo"/>
                <a:ea typeface="Heebo"/>
                <a:cs typeface="Heebo"/>
              </a:rPr>
              <a:t>ההרפתקנית</a:t>
            </a:r>
          </a:p>
        </p:txBody>
      </p:sp>
      <p:sp>
        <p:nvSpPr>
          <p:cNvPr id="11" name="TextBox 10"/>
          <p:cNvSpPr txBox="1"/>
          <p:nvPr/>
        </p:nvSpPr>
        <p:spPr>
          <a:xfrm>
            <a:off x="1188720" y="3162300"/>
            <a:ext cx="452628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קפצה ישר לטווח הארוך. קרן חירום ועו"ש מסודר, לא בנתה. משלמת בלחץ: ביום שצריך, מוכרת בהפסד.</a:t>
            </a:r>
          </a:p>
        </p:txBody>
      </p:sp>
      <p:sp>
        <p:nvSpPr>
          <p:cNvPr id="12" name="TextBox 11"/>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שתיהן עושות חצי מהעבודה. הערב עושות את כולה.</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10</a:t>
            </a:r>
          </a:p>
        </p:txBody>
      </p:sp>
      <p:pic>
        <p:nvPicPr>
          <p:cNvPr id="4" name="Picture 3" descr="s21_coins.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1812798"/>
            <a:ext cx="5943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מאחורי הקלעים שלי</a:t>
            </a:r>
          </a:p>
        </p:txBody>
      </p:sp>
      <p:sp>
        <p:nvSpPr>
          <p:cNvPr id="6" name="TextBox 5"/>
          <p:cNvSpPr txBox="1"/>
          <p:nvPr/>
        </p:nvSpPr>
        <p:spPr>
          <a:xfrm>
            <a:off x="5334000" y="2269998"/>
            <a:ext cx="5943600" cy="1098804"/>
          </a:xfrm>
          <a:prstGeom prst="rect">
            <a:avLst/>
          </a:prstGeom>
          <a:noFill/>
        </p:spPr>
        <p:txBody>
          <a:bodyPr wrap="square" lIns="0" rIns="0" tIns="0" bIns="0" anchor="t">
            <a:spAutoFit/>
          </a:bodyPr>
          <a:lstStyle/>
          <a:p>
            <a:pPr algn="r" rtl="1">
              <a:lnSpc>
                <a:spcPct val="110000"/>
              </a:lnSpc>
            </a:pPr>
            <a:r>
              <a:rPr sz="3240" b="1" lang="he-IL">
                <a:solidFill>
                  <a:srgbClr val="191A2E"/>
                </a:solidFill>
                <a:latin typeface="Heebo"/>
                <a:ea typeface="Heebo"/>
                <a:cs typeface="Heebo"/>
              </a:rPr>
              <a:t>5,000 ₪ בחודש. חמש שנים.</a:t>
            </a:r>
          </a:p>
          <a:p>
            <a:pPr algn="r" rtl="1">
              <a:lnSpc>
                <a:spcPct val="110000"/>
              </a:lnSpc>
            </a:pPr>
            <a:r>
              <a:rPr sz="3240" b="1" lang="he-IL">
                <a:solidFill>
                  <a:srgbClr val="EF55A5"/>
                </a:solidFill>
                <a:latin typeface="Heebo"/>
                <a:ea typeface="Heebo"/>
                <a:cs typeface="Heebo"/>
              </a:rPr>
              <a:t>הכל ישב בעו"ש.</a:t>
            </a:r>
          </a:p>
        </p:txBody>
      </p:sp>
      <p:sp>
        <p:nvSpPr>
          <p:cNvPr id="7" name="TextBox 6"/>
          <p:cNvSpPr txBox="1"/>
          <p:nvPr/>
        </p:nvSpPr>
        <p:spPr>
          <a:xfrm>
            <a:off x="5334000" y="3521202"/>
            <a:ext cx="59436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לימדו אותנו לחסוך. לא לימדו אותנו למה. הכסף איבד 3% בשנה, ולא ידענו. לא כי לא היה כסף. כי לכסף לא היה בית.</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11</a:t>
            </a:r>
          </a:p>
        </p:txBody>
      </p:sp>
      <p:sp>
        <p:nvSpPr>
          <p:cNvPr id="4" name="Rounded Rectangle 3"/>
          <p:cNvSpPr/>
          <p:nvPr/>
        </p:nvSpPr>
        <p:spPr>
          <a:xfrm>
            <a:off x="914400" y="1143000"/>
            <a:ext cx="4572000" cy="4572000"/>
          </a:xfrm>
          <a:prstGeom prst="roundRect">
            <a:avLst>
              <a:gd name="adj" fmla="val 8000"/>
            </a:avLst>
          </a:prstGeom>
          <a:solidFill>
            <a:srgbClr val="0B1B3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 name="Picture 4" descr="מצפן-שלב-2-מטרות.png"/>
          <p:cNvPicPr>
            <a:picLocks noChangeAspect="1"/>
          </p:cNvPicPr>
          <p:nvPr/>
        </p:nvPicPr>
        <p:blipFill>
          <a:blip r:embed="rId3"/>
          <a:stretch>
            <a:fillRect/>
          </a:stretch>
        </p:blipFill>
        <p:spPr>
          <a:xfrm>
            <a:off x="1188720" y="1417320"/>
            <a:ext cx="4023360" cy="4023360"/>
          </a:xfrm>
          <a:prstGeom prst="rect">
            <a:avLst/>
          </a:prstGeom>
        </p:spPr>
      </p:pic>
      <p:sp>
        <p:nvSpPr>
          <p:cNvPr id="6" name="TextBox 5"/>
          <p:cNvSpPr txBox="1"/>
          <p:nvPr/>
        </p:nvSpPr>
        <p:spPr>
          <a:xfrm>
            <a:off x="6096000" y="2133600"/>
            <a:ext cx="5181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חלק 1 · המטרות</a:t>
            </a:r>
          </a:p>
        </p:txBody>
      </p:sp>
      <p:sp>
        <p:nvSpPr>
          <p:cNvPr id="7" name="TextBox 6"/>
          <p:cNvSpPr txBox="1"/>
          <p:nvPr/>
        </p:nvSpPr>
        <p:spPr>
          <a:xfrm>
            <a:off x="6096000" y="2514600"/>
            <a:ext cx="5181600" cy="1676400"/>
          </a:xfrm>
          <a:prstGeom prst="rect">
            <a:avLst/>
          </a:prstGeom>
          <a:noFill/>
        </p:spPr>
        <p:txBody>
          <a:bodyPr wrap="square" lIns="0" rIns="0" tIns="0" bIns="0" anchor="t">
            <a:spAutoFit/>
          </a:bodyPr>
          <a:lstStyle/>
          <a:p>
            <a:pPr algn="r" rtl="1">
              <a:lnSpc>
                <a:spcPct val="100000"/>
              </a:lnSpc>
            </a:pPr>
            <a:r>
              <a:rPr sz="5759" b="1" lang="he-IL">
                <a:solidFill>
                  <a:srgbClr val="191A2E"/>
                </a:solidFill>
                <a:latin typeface="Heebo"/>
                <a:ea typeface="Heebo"/>
                <a:cs typeface="Heebo"/>
              </a:rPr>
              <a:t>מהחלום,</a:t>
            </a:r>
          </a:p>
          <a:p>
            <a:pPr algn="r" rtl="1">
              <a:lnSpc>
                <a:spcPct val="100000"/>
              </a:lnSpc>
            </a:pPr>
            <a:r>
              <a:rPr sz="5759" b="1" lang="he-IL">
                <a:solidFill>
                  <a:srgbClr val="EF55A5"/>
                </a:solidFill>
                <a:latin typeface="Heebo"/>
                <a:ea typeface="Heebo"/>
                <a:cs typeface="Heebo"/>
              </a:rPr>
              <a:t>למספר.</a:t>
            </a:r>
          </a:p>
        </p:txBody>
      </p:sp>
      <p:sp>
        <p:nvSpPr>
          <p:cNvPr id="8" name="TextBox 7"/>
          <p:cNvSpPr txBox="1"/>
          <p:nvPr/>
        </p:nvSpPr>
        <p:spPr>
          <a:xfrm>
            <a:off x="6096000" y="4267200"/>
            <a:ext cx="5181600" cy="1219200"/>
          </a:xfrm>
          <a:prstGeom prst="rect">
            <a:avLst/>
          </a:prstGeom>
          <a:noFill/>
        </p:spPr>
        <p:txBody>
          <a:bodyPr wrap="square" lIns="0" rIns="0" tIns="0" bIns="0" anchor="t">
            <a:spAutoFit/>
          </a:bodyPr>
          <a:lstStyle/>
          <a:p>
            <a:pPr algn="r" rtl="1">
              <a:lnSpc>
                <a:spcPct val="140000"/>
              </a:lnSpc>
            </a:pPr>
            <a:r>
              <a:rPr sz="1920" b="0" lang="he-IL">
                <a:solidFill>
                  <a:srgbClr val="6B6B7B"/>
                </a:solidFill>
                <a:latin typeface="Heebo"/>
                <a:ea typeface="Heebo"/>
                <a:cs typeface="Heebo"/>
              </a:rPr>
              <a:t>כל חלום מקבל סכום ותאריך.</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12</a:t>
            </a:r>
          </a:p>
        </p:txBody>
      </p:sp>
      <p:pic>
        <p:nvPicPr>
          <p:cNvPr id="4" name="Picture 3" descr="s30_bloom.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2417064"/>
            <a:ext cx="5943600" cy="1414272"/>
          </a:xfrm>
          <a:prstGeom prst="rect">
            <a:avLst/>
          </a:prstGeom>
          <a:noFill/>
        </p:spPr>
        <p:txBody>
          <a:bodyPr wrap="square" lIns="0" rIns="0" tIns="0" bIns="0" anchor="t">
            <a:spAutoFit/>
          </a:bodyPr>
          <a:lstStyle/>
          <a:p>
            <a:pPr algn="r" rtl="1">
              <a:lnSpc>
                <a:spcPct val="110000"/>
              </a:lnSpc>
            </a:pPr>
            <a:r>
              <a:rPr sz="4320" b="1" lang="he-IL">
                <a:solidFill>
                  <a:srgbClr val="191A2E"/>
                </a:solidFill>
                <a:latin typeface="Heebo"/>
                <a:ea typeface="Heebo"/>
                <a:cs typeface="Heebo"/>
              </a:rPr>
              <a:t>חלום בלי סכום ותאריך</a:t>
            </a:r>
          </a:p>
          <a:p>
            <a:pPr algn="r" rtl="1">
              <a:lnSpc>
                <a:spcPct val="110000"/>
              </a:lnSpc>
            </a:pPr>
            <a:r>
              <a:rPr sz="4320" b="1" lang="he-IL">
                <a:solidFill>
                  <a:srgbClr val="EF55A5"/>
                </a:solidFill>
                <a:latin typeface="Heebo"/>
                <a:ea typeface="Heebo"/>
                <a:cs typeface="Heebo"/>
              </a:rPr>
              <a:t>הוא משאלה.</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13</a:t>
            </a:r>
          </a:p>
        </p:txBody>
      </p:sp>
      <p:sp>
        <p:nvSpPr>
          <p:cNvPr id="4" name="TextBox 3"/>
          <p:cNvSpPr txBox="1"/>
          <p:nvPr/>
        </p:nvSpPr>
        <p:spPr>
          <a:xfrm>
            <a:off x="10515600" y="1143000"/>
            <a:ext cx="762000" cy="914400"/>
          </a:xfrm>
          <a:prstGeom prst="rect">
            <a:avLst/>
          </a:prstGeom>
          <a:noFill/>
        </p:spPr>
        <p:txBody>
          <a:bodyPr wrap="square" lIns="0" rIns="0" tIns="0" bIns="0" anchor="t">
            <a:spAutoFit/>
          </a:bodyPr>
          <a:lstStyle/>
          <a:p>
            <a:pPr algn="r" rtl="1">
              <a:lnSpc>
                <a:spcPct val="80000"/>
              </a:lnSpc>
            </a:pPr>
            <a:r>
              <a:rPr sz="10200" b="1" lang="he-IL">
                <a:solidFill>
                  <a:srgbClr val="EF55A5"/>
                </a:solidFill>
                <a:latin typeface="Heebo"/>
                <a:ea typeface="Heebo"/>
                <a:cs typeface="Heebo"/>
              </a:rPr>
              <a:t>”</a:t>
            </a:r>
          </a:p>
        </p:txBody>
      </p:sp>
      <p:sp>
        <p:nvSpPr>
          <p:cNvPr id="5" name="TextBox 4"/>
          <p:cNvSpPr txBox="1"/>
          <p:nvPr/>
        </p:nvSpPr>
        <p:spPr>
          <a:xfrm>
            <a:off x="914400" y="2286000"/>
            <a:ext cx="10363200" cy="2286000"/>
          </a:xfrm>
          <a:prstGeom prst="rect">
            <a:avLst/>
          </a:prstGeom>
          <a:noFill/>
        </p:spPr>
        <p:txBody>
          <a:bodyPr wrap="square" lIns="0" rIns="0" tIns="0" bIns="0" anchor="t">
            <a:spAutoFit/>
          </a:bodyPr>
          <a:lstStyle/>
          <a:p>
            <a:pPr algn="r" rtl="1">
              <a:lnSpc>
                <a:spcPct val="130000"/>
              </a:lnSpc>
            </a:pPr>
            <a:r>
              <a:rPr sz="3719" b="1" lang="he-IL">
                <a:solidFill>
                  <a:srgbClr val="191A2E"/>
                </a:solidFill>
                <a:latin typeface="Heebo"/>
                <a:ea typeface="Heebo"/>
                <a:cs typeface="Heebo"/>
              </a:rPr>
              <a:t>מטרה היא חלום עם תאריך.</a:t>
            </a:r>
          </a:p>
        </p:txBody>
      </p:sp>
      <p:sp>
        <p:nvSpPr>
          <p:cNvPr id="6" name="Rounded Rectangle 5"/>
          <p:cNvSpPr/>
          <p:nvPr/>
        </p:nvSpPr>
        <p:spPr>
          <a:xfrm>
            <a:off x="10942320" y="5029200"/>
            <a:ext cx="335280" cy="30480"/>
          </a:xfrm>
          <a:prstGeom prst="roundRect">
            <a:avLst>
              <a:gd name="adj" fmla="val 5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48400" y="4892040"/>
            <a:ext cx="4541520" cy="304800"/>
          </a:xfrm>
          <a:prstGeom prst="rect">
            <a:avLst/>
          </a:prstGeom>
          <a:noFill/>
        </p:spPr>
        <p:txBody>
          <a:bodyPr wrap="square" lIns="0" rIns="0" tIns="0" bIns="0" anchor="t">
            <a:spAutoFit/>
          </a:bodyPr>
          <a:lstStyle/>
          <a:p>
            <a:pPr algn="r" rtl="1">
              <a:lnSpc>
                <a:spcPct val="115000"/>
              </a:lnSpc>
            </a:pPr>
            <a:r>
              <a:rPr sz="1560" b="1" lang="he-IL">
                <a:solidFill>
                  <a:srgbClr val="191A2E"/>
                </a:solidFill>
                <a:latin typeface="Heebo"/>
                <a:ea typeface="Heebo"/>
                <a:cs typeface="Heebo"/>
              </a:rPr>
              <a:t>נפוליון היל</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14</a:t>
            </a:r>
          </a:p>
        </p:txBody>
      </p:sp>
      <p:sp>
        <p:nvSpPr>
          <p:cNvPr id="4" name="TextBox 3"/>
          <p:cNvSpPr txBox="1"/>
          <p:nvPr/>
        </p:nvSpPr>
        <p:spPr>
          <a:xfrm>
            <a:off x="914400" y="838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רך מול חד</a:t>
            </a:r>
          </a:p>
        </p:txBody>
      </p:sp>
      <p:sp>
        <p:nvSpPr>
          <p:cNvPr id="5" name="Rounded Rectangle 4"/>
          <p:cNvSpPr/>
          <p:nvPr/>
        </p:nvSpPr>
        <p:spPr>
          <a:xfrm>
            <a:off x="6202680" y="2057400"/>
            <a:ext cx="5074920" cy="3048000"/>
          </a:xfrm>
          <a:prstGeom prst="roundRect">
            <a:avLst>
              <a:gd name="adj" fmla="val 8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77000" y="2362200"/>
            <a:ext cx="4526280" cy="838200"/>
          </a:xfrm>
          <a:prstGeom prst="rect">
            <a:avLst/>
          </a:prstGeom>
          <a:noFill/>
        </p:spPr>
        <p:txBody>
          <a:bodyPr wrap="square" lIns="0" rIns="0" tIns="0" bIns="0" anchor="t">
            <a:spAutoFit/>
          </a:bodyPr>
          <a:lstStyle/>
          <a:p>
            <a:pPr algn="r" rtl="1">
              <a:lnSpc>
                <a:spcPct val="110000"/>
              </a:lnSpc>
            </a:pPr>
            <a:r>
              <a:rPr sz="2879" b="1" lang="he-IL">
                <a:solidFill>
                  <a:srgbClr val="191A2E"/>
                </a:solidFill>
                <a:latin typeface="Heebo"/>
                <a:ea typeface="Heebo"/>
                <a:cs typeface="Heebo"/>
              </a:rPr>
              <a:t>❌ רך</a:t>
            </a:r>
          </a:p>
        </p:txBody>
      </p:sp>
      <p:sp>
        <p:nvSpPr>
          <p:cNvPr id="7" name="TextBox 6"/>
          <p:cNvSpPr txBox="1"/>
          <p:nvPr/>
        </p:nvSpPr>
        <p:spPr>
          <a:xfrm>
            <a:off x="6477000" y="2971800"/>
            <a:ext cx="452628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”אני רוצה להרגיש בטוחה“
”לחסוך לילדים“
”שהכסף יעבוד בשבילי“</a:t>
            </a:r>
          </a:p>
        </p:txBody>
      </p:sp>
      <p:sp>
        <p:nvSpPr>
          <p:cNvPr id="8" name="Rounded Rectangle 7"/>
          <p:cNvSpPr/>
          <p:nvPr/>
        </p:nvSpPr>
        <p:spPr>
          <a:xfrm>
            <a:off x="914400" y="2057400"/>
            <a:ext cx="507492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188720" y="2362200"/>
            <a:ext cx="4526280" cy="838200"/>
          </a:xfrm>
          <a:prstGeom prst="rect">
            <a:avLst/>
          </a:prstGeom>
          <a:noFill/>
        </p:spPr>
        <p:txBody>
          <a:bodyPr wrap="square" lIns="0" rIns="0" tIns="0" bIns="0" anchor="t">
            <a:spAutoFit/>
          </a:bodyPr>
          <a:lstStyle/>
          <a:p>
            <a:pPr algn="r" rtl="1">
              <a:lnSpc>
                <a:spcPct val="110000"/>
              </a:lnSpc>
            </a:pPr>
            <a:r>
              <a:rPr sz="2879" b="1" lang="he-IL">
                <a:solidFill>
                  <a:srgbClr val="191A2E"/>
                </a:solidFill>
                <a:latin typeface="Heebo"/>
                <a:ea typeface="Heebo"/>
                <a:cs typeface="Heebo"/>
              </a:rPr>
              <a:t>✅ חד</a:t>
            </a:r>
          </a:p>
        </p:txBody>
      </p:sp>
      <p:sp>
        <p:nvSpPr>
          <p:cNvPr id="10" name="TextBox 9"/>
          <p:cNvSpPr txBox="1"/>
          <p:nvPr/>
        </p:nvSpPr>
        <p:spPr>
          <a:xfrm>
            <a:off x="1188720" y="2971800"/>
            <a:ext cx="452628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3 חודשי מחיה בקרן חירום, עד דצמבר
500 ₪ בחודש לכל ילד, מהחודש הבא
___ ₪ בנכסים, עד ___. כמה ומתי</a:t>
            </a:r>
          </a:p>
        </p:txBody>
      </p:sp>
      <p:sp>
        <p:nvSpPr>
          <p:cNvPr id="11" name="TextBox 10"/>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המספרים להמחשה. את מכניסה את שלך.</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15</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הערב: מה המטרה. לא איך מגיעים</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3 כללים למטרה</a:t>
            </a:r>
          </a:p>
        </p:txBody>
      </p:sp>
      <p:sp>
        <p:nvSpPr>
          <p:cNvPr id="6" name="Oval 5"/>
          <p:cNvSpPr/>
          <p:nvPr/>
        </p:nvSpPr>
        <p:spPr>
          <a:xfrm>
            <a:off x="10850880" y="246888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7" name="TextBox 6"/>
          <p:cNvSpPr txBox="1"/>
          <p:nvPr/>
        </p:nvSpPr>
        <p:spPr>
          <a:xfrm>
            <a:off x="914400" y="2484120"/>
            <a:ext cx="9723120" cy="944880"/>
          </a:xfrm>
          <a:prstGeom prst="rect">
            <a:avLst/>
          </a:prstGeom>
          <a:noFill/>
        </p:spPr>
        <p:txBody>
          <a:bodyPr wrap="square" lIns="0" rIns="0" tIns="0" bIns="0" anchor="t">
            <a:spAutoFit/>
          </a:bodyPr>
          <a:lstStyle/>
          <a:p>
            <a:pPr algn="r" rtl="1">
              <a:lnSpc>
                <a:spcPct val="130000"/>
              </a:lnSpc>
            </a:pPr>
            <a:r>
              <a:rPr sz="2400" b="0" lang="he-IL">
                <a:solidFill>
                  <a:srgbClr val="191A2E"/>
                </a:solidFill>
                <a:latin typeface="Heebo"/>
                <a:ea typeface="Heebo"/>
                <a:cs typeface="Heebo"/>
              </a:rPr>
              <a:t>מהחלומות שלך. לא של אף אחת אחרת</a:t>
            </a:r>
          </a:p>
        </p:txBody>
      </p:sp>
      <p:sp>
        <p:nvSpPr>
          <p:cNvPr id="8" name="Oval 7"/>
          <p:cNvSpPr/>
          <p:nvPr/>
        </p:nvSpPr>
        <p:spPr>
          <a:xfrm>
            <a:off x="10850880" y="341376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9" name="TextBox 8"/>
          <p:cNvSpPr txBox="1"/>
          <p:nvPr/>
        </p:nvSpPr>
        <p:spPr>
          <a:xfrm>
            <a:off x="914400" y="3429000"/>
            <a:ext cx="9723120" cy="944880"/>
          </a:xfrm>
          <a:prstGeom prst="rect">
            <a:avLst/>
          </a:prstGeom>
          <a:noFill/>
        </p:spPr>
        <p:txBody>
          <a:bodyPr wrap="square" lIns="0" rIns="0" tIns="0" bIns="0" anchor="t">
            <a:spAutoFit/>
          </a:bodyPr>
          <a:lstStyle/>
          <a:p>
            <a:pPr algn="r" rtl="1">
              <a:lnSpc>
                <a:spcPct val="130000"/>
              </a:lnSpc>
            </a:pPr>
            <a:r>
              <a:rPr sz="2400" b="0" lang="he-IL">
                <a:solidFill>
                  <a:srgbClr val="191A2E"/>
                </a:solidFill>
                <a:latin typeface="Heebo"/>
                <a:ea typeface="Heebo"/>
                <a:cs typeface="Heebo"/>
              </a:rPr>
              <a:t>סכום בעיפרון: בערך, ואפשר לשנות</a:t>
            </a:r>
          </a:p>
        </p:txBody>
      </p:sp>
      <p:sp>
        <p:nvSpPr>
          <p:cNvPr id="10" name="Oval 9"/>
          <p:cNvSpPr/>
          <p:nvPr/>
        </p:nvSpPr>
        <p:spPr>
          <a:xfrm>
            <a:off x="10850880" y="435864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1" name="TextBox 10"/>
          <p:cNvSpPr txBox="1"/>
          <p:nvPr/>
        </p:nvSpPr>
        <p:spPr>
          <a:xfrm>
            <a:off x="914400" y="4373880"/>
            <a:ext cx="9723120" cy="944880"/>
          </a:xfrm>
          <a:prstGeom prst="rect">
            <a:avLst/>
          </a:prstGeom>
          <a:noFill/>
        </p:spPr>
        <p:txBody>
          <a:bodyPr wrap="square" lIns="0" rIns="0" tIns="0" bIns="0" anchor="t">
            <a:spAutoFit/>
          </a:bodyPr>
          <a:lstStyle/>
          <a:p>
            <a:pPr algn="r" rtl="1">
              <a:lnSpc>
                <a:spcPct val="130000"/>
              </a:lnSpc>
            </a:pPr>
            <a:r>
              <a:rPr sz="2400" b="0" lang="he-IL">
                <a:solidFill>
                  <a:srgbClr val="191A2E"/>
                </a:solidFill>
                <a:latin typeface="Heebo"/>
                <a:ea typeface="Heebo"/>
                <a:cs typeface="Heebo"/>
              </a:rPr>
              <a:t>תאריך, גם אם לא סופי. ”מתישהו“ זה לא תאריך</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16</a:t>
            </a:r>
          </a:p>
        </p:txBody>
      </p:sp>
      <p:sp>
        <p:nvSpPr>
          <p:cNvPr id="4" name="TextBox 3"/>
          <p:cNvSpPr txBox="1"/>
          <p:nvPr/>
        </p:nvSpPr>
        <p:spPr>
          <a:xfrm>
            <a:off x="914400" y="1779270"/>
            <a:ext cx="10363200" cy="2080260"/>
          </a:xfrm>
          <a:prstGeom prst="rect">
            <a:avLst/>
          </a:prstGeom>
          <a:noFill/>
        </p:spPr>
        <p:txBody>
          <a:bodyPr wrap="square" lIns="0" rIns="0" tIns="0" bIns="0" anchor="t">
            <a:spAutoFit/>
          </a:bodyPr>
          <a:lstStyle/>
          <a:p>
            <a:pPr algn="r" rtl="1">
              <a:lnSpc>
                <a:spcPct val="110000"/>
              </a:lnSpc>
            </a:pPr>
            <a:r>
              <a:rPr sz="6600" b="1" lang="he-IL">
                <a:solidFill>
                  <a:srgbClr val="191A2E"/>
                </a:solidFill>
                <a:latin typeface="Heebo"/>
                <a:ea typeface="Heebo"/>
                <a:cs typeface="Heebo"/>
              </a:rPr>
              <a:t>עד</a:t>
            </a:r>
          </a:p>
          <a:p>
            <a:pPr algn="r" rtl="1">
              <a:lnSpc>
                <a:spcPct val="110000"/>
              </a:lnSpc>
            </a:pPr>
            <a:r>
              <a:rPr sz="6600" b="1" lang="he-IL">
                <a:solidFill>
                  <a:srgbClr val="EF55A5"/>
                </a:solidFill>
                <a:latin typeface="Heebo"/>
                <a:ea typeface="Heebo"/>
                <a:cs typeface="Heebo"/>
              </a:rPr>
              <a:t>3 מטרות פעילות.</a:t>
            </a:r>
          </a:p>
        </p:txBody>
      </p:sp>
      <p:sp>
        <p:nvSpPr>
          <p:cNvPr id="5" name="TextBox 4"/>
          <p:cNvSpPr txBox="1"/>
          <p:nvPr/>
        </p:nvSpPr>
        <p:spPr>
          <a:xfrm>
            <a:off x="914400" y="401193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לא כי אין יותר חלומות. כי כסף שמתפזר על עשר מטרות לא מגיע לאף אחת.</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17</a:t>
            </a:r>
          </a:p>
        </p:txBody>
      </p:sp>
      <p:sp>
        <p:nvSpPr>
          <p:cNvPr id="4" name="Rounded Rectangle 3"/>
          <p:cNvSpPr/>
          <p:nvPr/>
        </p:nvSpPr>
        <p:spPr>
          <a:xfrm>
            <a:off x="914400" y="1905000"/>
            <a:ext cx="10363200" cy="2895600"/>
          </a:xfrm>
          <a:prstGeom prst="roundRect">
            <a:avLst>
              <a:gd name="adj" fmla="val 9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463040" y="2438400"/>
            <a:ext cx="92659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בצ'אט · למשל ”דירה · 600,000 · 2029“</a:t>
            </a:r>
          </a:p>
        </p:txBody>
      </p:sp>
      <p:sp>
        <p:nvSpPr>
          <p:cNvPr id="6" name="TextBox 5"/>
          <p:cNvSpPr txBox="1"/>
          <p:nvPr/>
        </p:nvSpPr>
        <p:spPr>
          <a:xfrm>
            <a:off x="1463040" y="2834640"/>
            <a:ext cx="9265920" cy="1752600"/>
          </a:xfrm>
          <a:prstGeom prst="rect">
            <a:avLst/>
          </a:prstGeom>
          <a:noFill/>
        </p:spPr>
        <p:txBody>
          <a:bodyPr wrap="square" lIns="0" rIns="0" tIns="0" bIns="0" anchor="t">
            <a:spAutoFit/>
          </a:bodyPr>
          <a:lstStyle/>
          <a:p>
            <a:pPr algn="r" rtl="1">
              <a:lnSpc>
                <a:spcPct val="115000"/>
              </a:lnSpc>
            </a:pPr>
            <a:r>
              <a:rPr sz="4440" b="1" lang="he-IL">
                <a:solidFill>
                  <a:srgbClr val="191A2E"/>
                </a:solidFill>
                <a:latin typeface="Heebo"/>
                <a:ea typeface="Heebo"/>
                <a:cs typeface="Heebo"/>
              </a:rPr>
              <a:t>מטרה אחת: שם · סכום · תאריך</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18</a:t>
            </a:r>
          </a:p>
        </p:txBody>
      </p:sp>
      <p:pic>
        <p:nvPicPr>
          <p:cNvPr id="4" name="Picture 3" descr="s59_path.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1959864"/>
            <a:ext cx="5943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הגשר</a:t>
            </a:r>
          </a:p>
        </p:txBody>
      </p:sp>
      <p:sp>
        <p:nvSpPr>
          <p:cNvPr id="6" name="TextBox 5"/>
          <p:cNvSpPr txBox="1"/>
          <p:nvPr/>
        </p:nvSpPr>
        <p:spPr>
          <a:xfrm>
            <a:off x="5334000" y="2417064"/>
            <a:ext cx="5943600" cy="1414272"/>
          </a:xfrm>
          <a:prstGeom prst="rect">
            <a:avLst/>
          </a:prstGeom>
          <a:noFill/>
        </p:spPr>
        <p:txBody>
          <a:bodyPr wrap="square" lIns="0" rIns="0" tIns="0" bIns="0" anchor="t">
            <a:spAutoFit/>
          </a:bodyPr>
          <a:lstStyle/>
          <a:p>
            <a:pPr algn="r" rtl="1">
              <a:lnSpc>
                <a:spcPct val="110000"/>
              </a:lnSpc>
            </a:pPr>
            <a:r>
              <a:rPr sz="4320" b="1" lang="he-IL">
                <a:solidFill>
                  <a:srgbClr val="191A2E"/>
                </a:solidFill>
                <a:latin typeface="Heebo"/>
                <a:ea typeface="Heebo"/>
                <a:cs typeface="Heebo"/>
              </a:rPr>
              <a:t>המטרה אומרת לכסף לאן ללכת.</a:t>
            </a:r>
          </a:p>
          <a:p>
            <a:pPr algn="r" rtl="1">
              <a:lnSpc>
                <a:spcPct val="110000"/>
              </a:lnSpc>
            </a:pPr>
            <a:r>
              <a:rPr sz="4320" b="1" lang="he-IL">
                <a:solidFill>
                  <a:srgbClr val="EF55A5"/>
                </a:solidFill>
                <a:latin typeface="Heebo"/>
                <a:ea typeface="Heebo"/>
                <a:cs typeface="Heebo"/>
              </a:rPr>
              <a:t>התאריך אומר לו איפה לגור.</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19</a:t>
            </a:r>
          </a:p>
        </p:txBody>
      </p:sp>
      <p:sp>
        <p:nvSpPr>
          <p:cNvPr id="4" name="TextBox 3"/>
          <p:cNvSpPr txBox="1"/>
          <p:nvPr/>
        </p:nvSpPr>
        <p:spPr>
          <a:xfrm>
            <a:off x="914400" y="145161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חלק 2 · ארבעה בתים</a:t>
            </a:r>
          </a:p>
        </p:txBody>
      </p:sp>
      <p:sp>
        <p:nvSpPr>
          <p:cNvPr id="5" name="TextBox 4"/>
          <p:cNvSpPr txBox="1"/>
          <p:nvPr/>
        </p:nvSpPr>
        <p:spPr>
          <a:xfrm>
            <a:off x="914400" y="1908810"/>
            <a:ext cx="10363200" cy="2430780"/>
          </a:xfrm>
          <a:prstGeom prst="rect">
            <a:avLst/>
          </a:prstGeom>
          <a:noFill/>
        </p:spPr>
        <p:txBody>
          <a:bodyPr wrap="square" lIns="0" rIns="0" tIns="0" bIns="0" anchor="t">
            <a:spAutoFit/>
          </a:bodyPr>
          <a:lstStyle/>
          <a:p>
            <a:pPr algn="r" rtl="1">
              <a:lnSpc>
                <a:spcPct val="110000"/>
              </a:lnSpc>
            </a:pPr>
            <a:r>
              <a:rPr sz="7800" b="1" lang="he-IL">
                <a:solidFill>
                  <a:srgbClr val="191A2E"/>
                </a:solidFill>
                <a:latin typeface="Heebo"/>
                <a:ea typeface="Heebo"/>
                <a:cs typeface="Heebo"/>
              </a:rPr>
              <a:t>לכל שקל</a:t>
            </a:r>
          </a:p>
          <a:p>
            <a:pPr algn="r" rtl="1">
              <a:lnSpc>
                <a:spcPct val="110000"/>
              </a:lnSpc>
            </a:pPr>
            <a:r>
              <a:rPr sz="7800" b="1" lang="he-IL">
                <a:solidFill>
                  <a:srgbClr val="EF55A5"/>
                </a:solidFill>
                <a:latin typeface="Heebo"/>
                <a:ea typeface="Heebo"/>
                <a:cs typeface="Heebo"/>
              </a:rPr>
              <a:t>טווח ותפקיד.</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20</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ארבעה בתים</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לכל שקל יש בית</a:t>
            </a:r>
          </a:p>
        </p:txBody>
      </p:sp>
      <p:sp>
        <p:nvSpPr>
          <p:cNvPr id="6" name="Rounded Rectangle 5"/>
          <p:cNvSpPr/>
          <p:nvPr/>
        </p:nvSpPr>
        <p:spPr>
          <a:xfrm>
            <a:off x="8846820" y="2514600"/>
            <a:ext cx="2430780" cy="3048000"/>
          </a:xfrm>
          <a:prstGeom prst="roundRect">
            <a:avLst>
              <a:gd name="adj" fmla="val 8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121140" y="2819400"/>
            <a:ext cx="1882140" cy="838200"/>
          </a:xfrm>
          <a:prstGeom prst="rect">
            <a:avLst/>
          </a:prstGeom>
          <a:noFill/>
        </p:spPr>
        <p:txBody>
          <a:bodyPr wrap="square" lIns="0" rIns="0" tIns="0" bIns="0" anchor="t">
            <a:spAutoFit/>
          </a:bodyPr>
          <a:lstStyle/>
          <a:p>
            <a:pPr algn="r" rtl="1">
              <a:lnSpc>
                <a:spcPct val="110000"/>
              </a:lnSpc>
            </a:pPr>
            <a:r>
              <a:rPr sz="2400" b="1" lang="he-IL">
                <a:solidFill>
                  <a:srgbClr val="191A2E"/>
                </a:solidFill>
                <a:latin typeface="Heebo"/>
                <a:ea typeface="Heebo"/>
                <a:cs typeface="Heebo"/>
              </a:rPr>
              <a:t>עו"ש</a:t>
            </a:r>
          </a:p>
        </p:txBody>
      </p:sp>
      <p:sp>
        <p:nvSpPr>
          <p:cNvPr id="8" name="TextBox 7"/>
          <p:cNvSpPr txBox="1"/>
          <p:nvPr/>
        </p:nvSpPr>
        <p:spPr>
          <a:xfrm>
            <a:off x="9121140" y="3429000"/>
            <a:ext cx="188214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מה שצריך לחיים של החודש.</a:t>
            </a:r>
          </a:p>
        </p:txBody>
      </p:sp>
      <p:sp>
        <p:nvSpPr>
          <p:cNvPr id="9" name="Rounded Rectangle 8"/>
          <p:cNvSpPr/>
          <p:nvPr/>
        </p:nvSpPr>
        <p:spPr>
          <a:xfrm>
            <a:off x="6202680" y="2514600"/>
            <a:ext cx="243078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477000" y="2819400"/>
            <a:ext cx="1882140" cy="838200"/>
          </a:xfrm>
          <a:prstGeom prst="rect">
            <a:avLst/>
          </a:prstGeom>
          <a:noFill/>
        </p:spPr>
        <p:txBody>
          <a:bodyPr wrap="square" lIns="0" rIns="0" tIns="0" bIns="0" anchor="t">
            <a:spAutoFit/>
          </a:bodyPr>
          <a:lstStyle/>
          <a:p>
            <a:pPr algn="r" rtl="1">
              <a:lnSpc>
                <a:spcPct val="110000"/>
              </a:lnSpc>
            </a:pPr>
            <a:r>
              <a:rPr sz="2400" b="1" lang="he-IL">
                <a:solidFill>
                  <a:srgbClr val="191A2E"/>
                </a:solidFill>
                <a:latin typeface="Heebo"/>
                <a:ea typeface="Heebo"/>
                <a:cs typeface="Heebo"/>
              </a:rPr>
              <a:t>קרן חירום</a:t>
            </a:r>
          </a:p>
        </p:txBody>
      </p:sp>
      <p:sp>
        <p:nvSpPr>
          <p:cNvPr id="11" name="TextBox 10"/>
          <p:cNvSpPr txBox="1"/>
          <p:nvPr/>
        </p:nvSpPr>
        <p:spPr>
          <a:xfrm>
            <a:off x="6477000" y="3429000"/>
            <a:ext cx="188214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השקט: כמה חודשים של ביטחון.</a:t>
            </a:r>
          </a:p>
        </p:txBody>
      </p:sp>
      <p:sp>
        <p:nvSpPr>
          <p:cNvPr id="12" name="Rounded Rectangle 11"/>
          <p:cNvSpPr/>
          <p:nvPr/>
        </p:nvSpPr>
        <p:spPr>
          <a:xfrm>
            <a:off x="3558540" y="2514600"/>
            <a:ext cx="243078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3832860" y="2819400"/>
            <a:ext cx="1882140" cy="838200"/>
          </a:xfrm>
          <a:prstGeom prst="rect">
            <a:avLst/>
          </a:prstGeom>
          <a:noFill/>
        </p:spPr>
        <p:txBody>
          <a:bodyPr wrap="square" lIns="0" rIns="0" tIns="0" bIns="0" anchor="t">
            <a:spAutoFit/>
          </a:bodyPr>
          <a:lstStyle/>
          <a:p>
            <a:pPr algn="r" rtl="1">
              <a:lnSpc>
                <a:spcPct val="110000"/>
              </a:lnSpc>
            </a:pPr>
            <a:r>
              <a:rPr sz="2400" b="1" lang="he-IL">
                <a:solidFill>
                  <a:srgbClr val="191A2E"/>
                </a:solidFill>
                <a:latin typeface="Heebo"/>
                <a:ea typeface="Heebo"/>
                <a:cs typeface="Heebo"/>
              </a:rPr>
              <a:t>טווח קצר</a:t>
            </a:r>
          </a:p>
        </p:txBody>
      </p:sp>
      <p:sp>
        <p:nvSpPr>
          <p:cNvPr id="14" name="TextBox 13"/>
          <p:cNvSpPr txBox="1"/>
          <p:nvPr/>
        </p:nvSpPr>
        <p:spPr>
          <a:xfrm>
            <a:off x="3832860" y="3429000"/>
            <a:ext cx="188214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מטרות של השנים הקרובות.</a:t>
            </a:r>
          </a:p>
        </p:txBody>
      </p:sp>
      <p:sp>
        <p:nvSpPr>
          <p:cNvPr id="15" name="Rounded Rectangle 14"/>
          <p:cNvSpPr/>
          <p:nvPr/>
        </p:nvSpPr>
        <p:spPr>
          <a:xfrm>
            <a:off x="914400" y="2514600"/>
            <a:ext cx="243078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188720" y="2819400"/>
            <a:ext cx="1882140" cy="838200"/>
          </a:xfrm>
          <a:prstGeom prst="rect">
            <a:avLst/>
          </a:prstGeom>
          <a:noFill/>
        </p:spPr>
        <p:txBody>
          <a:bodyPr wrap="square" lIns="0" rIns="0" tIns="0" bIns="0" anchor="t">
            <a:spAutoFit/>
          </a:bodyPr>
          <a:lstStyle/>
          <a:p>
            <a:pPr algn="r" rtl="1">
              <a:lnSpc>
                <a:spcPct val="110000"/>
              </a:lnSpc>
            </a:pPr>
            <a:r>
              <a:rPr sz="2400" b="1" lang="he-IL">
                <a:solidFill>
                  <a:srgbClr val="191A2E"/>
                </a:solidFill>
                <a:latin typeface="Heebo"/>
                <a:ea typeface="Heebo"/>
                <a:cs typeface="Heebo"/>
              </a:rPr>
              <a:t>טווח ארוך</a:t>
            </a:r>
          </a:p>
        </p:txBody>
      </p:sp>
      <p:sp>
        <p:nvSpPr>
          <p:cNvPr id="17" name="TextBox 16"/>
          <p:cNvSpPr txBox="1"/>
          <p:nvPr/>
        </p:nvSpPr>
        <p:spPr>
          <a:xfrm>
            <a:off x="1188720" y="3429000"/>
            <a:ext cx="188214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כל מה שלא צריך את שאר הבתים. הכסף שעובד בשבילך.</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21</a:t>
            </a:r>
          </a:p>
        </p:txBody>
      </p:sp>
      <p:sp>
        <p:nvSpPr>
          <p:cNvPr id="4" name="TextBox 3"/>
          <p:cNvSpPr txBox="1"/>
          <p:nvPr/>
        </p:nvSpPr>
        <p:spPr>
          <a:xfrm>
            <a:off x="914400" y="1779270"/>
            <a:ext cx="10363200" cy="2080260"/>
          </a:xfrm>
          <a:prstGeom prst="rect">
            <a:avLst/>
          </a:prstGeom>
          <a:noFill/>
        </p:spPr>
        <p:txBody>
          <a:bodyPr wrap="square" lIns="0" rIns="0" tIns="0" bIns="0" anchor="t">
            <a:spAutoFit/>
          </a:bodyPr>
          <a:lstStyle/>
          <a:p>
            <a:pPr algn="r" rtl="1">
              <a:lnSpc>
                <a:spcPct val="110000"/>
              </a:lnSpc>
            </a:pPr>
            <a:r>
              <a:rPr sz="6600" b="1" lang="he-IL">
                <a:solidFill>
                  <a:srgbClr val="191A2E"/>
                </a:solidFill>
                <a:latin typeface="Heebo"/>
                <a:ea typeface="Heebo"/>
                <a:cs typeface="Heebo"/>
              </a:rPr>
              <a:t>גם לכסף</a:t>
            </a:r>
          </a:p>
          <a:p>
            <a:pPr algn="r" rtl="1">
              <a:lnSpc>
                <a:spcPct val="110000"/>
              </a:lnSpc>
            </a:pPr>
            <a:r>
              <a:rPr sz="6600" b="1" lang="he-IL">
                <a:solidFill>
                  <a:srgbClr val="EF55A5"/>
                </a:solidFill>
                <a:latin typeface="Heebo"/>
                <a:ea typeface="Heebo"/>
                <a:cs typeface="Heebo"/>
              </a:rPr>
              <a:t>שעוד לא הגיע.</a:t>
            </a:r>
          </a:p>
        </p:txBody>
      </p:sp>
      <p:sp>
        <p:nvSpPr>
          <p:cNvPr id="5" name="TextBox 4"/>
          <p:cNvSpPr txBox="1"/>
          <p:nvPr/>
        </p:nvSpPr>
        <p:spPr>
          <a:xfrm>
            <a:off x="914400" y="401193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משכורת של חודש הבא, בונוס, כסף מההורים שמחכה, החזר מס בדרך. כל שקל שנכנס כבר יודע לאן.</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22</a:t>
            </a:r>
          </a:p>
        </p:txBody>
      </p:sp>
      <p:pic>
        <p:nvPicPr>
          <p:cNvPr id="4" name="Picture 3" descr="s26_scale.jpg"/>
          <p:cNvPicPr>
            <a:picLocks noChangeAspect="1"/>
          </p:cNvPicPr>
          <p:nvPr/>
        </p:nvPicPr>
        <p:blipFill>
          <a:blip r:embed="rId3"/>
          <a:stretch>
            <a:fillRect/>
          </a:stretch>
        </p:blipFill>
        <p:spPr>
          <a:xfrm>
            <a:off x="914400" y="1524000"/>
            <a:ext cx="3505200" cy="3505200"/>
          </a:xfrm>
          <a:prstGeom prst="roundRect">
            <a:avLst>
              <a:gd name="adj" fmla="val 8000"/>
            </a:avLst>
          </a:prstGeom>
        </p:spPr>
      </p:pic>
      <p:sp>
        <p:nvSpPr>
          <p:cNvPr id="5" name="TextBox 4"/>
          <p:cNvSpPr txBox="1"/>
          <p:nvPr/>
        </p:nvSpPr>
        <p:spPr>
          <a:xfrm>
            <a:off x="4876800" y="838200"/>
            <a:ext cx="64008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הבית הראשון</a:t>
            </a:r>
          </a:p>
        </p:txBody>
      </p:sp>
      <p:sp>
        <p:nvSpPr>
          <p:cNvPr id="6" name="TextBox 5"/>
          <p:cNvSpPr txBox="1"/>
          <p:nvPr/>
        </p:nvSpPr>
        <p:spPr>
          <a:xfrm>
            <a:off x="4876800" y="1219200"/>
            <a:ext cx="6400800" cy="685800"/>
          </a:xfrm>
          <a:prstGeom prst="rect">
            <a:avLst/>
          </a:prstGeom>
          <a:noFill/>
        </p:spPr>
        <p:txBody>
          <a:bodyPr wrap="square" lIns="0" rIns="0" tIns="0" bIns="0" anchor="t">
            <a:spAutoFit/>
          </a:bodyPr>
          <a:lstStyle/>
          <a:p>
            <a:pPr algn="r" rtl="1">
              <a:lnSpc>
                <a:spcPct val="110000"/>
              </a:lnSpc>
            </a:pPr>
            <a:r>
              <a:rPr sz="3240" b="1" lang="he-IL">
                <a:solidFill>
                  <a:srgbClr val="191A2E"/>
                </a:solidFill>
                <a:latin typeface="Heebo"/>
                <a:ea typeface="Heebo"/>
                <a:cs typeface="Heebo"/>
              </a:rPr>
              <a:t>בית 1 · העו"ש</a:t>
            </a:r>
          </a:p>
        </p:txBody>
      </p:sp>
      <p:sp>
        <p:nvSpPr>
          <p:cNvPr id="7" name="Oval 6"/>
          <p:cNvSpPr/>
          <p:nvPr/>
        </p:nvSpPr>
        <p:spPr>
          <a:xfrm>
            <a:off x="11155680" y="24231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876800" y="2286000"/>
            <a:ext cx="6065520" cy="87630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הכסף של החיים של החודש</a:t>
            </a:r>
          </a:p>
        </p:txBody>
      </p:sp>
      <p:sp>
        <p:nvSpPr>
          <p:cNvPr id="9" name="Oval 8"/>
          <p:cNvSpPr/>
          <p:nvPr/>
        </p:nvSpPr>
        <p:spPr>
          <a:xfrm>
            <a:off x="11155680" y="32994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876800" y="3162300"/>
            <a:ext cx="6065520" cy="87630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כמה? בערך חודש של הוצאות: הבמפר של תחילת החודש</a:t>
            </a:r>
          </a:p>
        </p:txBody>
      </p:sp>
      <p:sp>
        <p:nvSpPr>
          <p:cNvPr id="11" name="Oval 10"/>
          <p:cNvSpPr/>
          <p:nvPr/>
        </p:nvSpPr>
        <p:spPr>
          <a:xfrm>
            <a:off x="11155680" y="41757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876800" y="4038600"/>
            <a:ext cx="6065520" cy="87630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יותר הוצאות או פחות הכנסות בקרוב? קצת יותר</a:t>
            </a:r>
          </a:p>
        </p:txBody>
      </p:sp>
      <p:sp>
        <p:nvSpPr>
          <p:cNvPr id="13" name="Oval 12"/>
          <p:cNvSpPr/>
          <p:nvPr/>
        </p:nvSpPr>
        <p:spPr>
          <a:xfrm>
            <a:off x="11155680" y="50520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76800" y="4914900"/>
            <a:ext cx="6065520" cy="87630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לא ריק, ולא מלא מדי. תחנת מעבר, לא מקום לגור בו</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23</a:t>
            </a:r>
          </a:p>
        </p:txBody>
      </p:sp>
      <p:sp>
        <p:nvSpPr>
          <p:cNvPr id="4" name="TextBox 3"/>
          <p:cNvSpPr txBox="1"/>
          <p:nvPr/>
        </p:nvSpPr>
        <p:spPr>
          <a:xfrm>
            <a:off x="914400" y="2042160"/>
            <a:ext cx="10363200" cy="1554480"/>
          </a:xfrm>
          <a:prstGeom prst="rect">
            <a:avLst/>
          </a:prstGeom>
          <a:noFill/>
        </p:spPr>
        <p:txBody>
          <a:bodyPr wrap="square" lIns="0" rIns="0" tIns="0" bIns="0" anchor="t">
            <a:spAutoFit/>
          </a:bodyPr>
          <a:lstStyle/>
          <a:p>
            <a:pPr algn="r" rtl="1">
              <a:lnSpc>
                <a:spcPct val="110000"/>
              </a:lnSpc>
            </a:pPr>
            <a:r>
              <a:rPr sz="4800" b="1" lang="he-IL">
                <a:solidFill>
                  <a:srgbClr val="191A2E"/>
                </a:solidFill>
                <a:latin typeface="Heebo"/>
                <a:ea typeface="Heebo"/>
                <a:cs typeface="Heebo"/>
              </a:rPr>
              <a:t>כל שקל מעבר לזה בעו"ש,</a:t>
            </a:r>
          </a:p>
          <a:p>
            <a:pPr algn="r" rtl="1">
              <a:lnSpc>
                <a:spcPct val="110000"/>
              </a:lnSpc>
            </a:pPr>
            <a:r>
              <a:rPr sz="4800" b="1" lang="he-IL">
                <a:solidFill>
                  <a:srgbClr val="EF55A5"/>
                </a:solidFill>
                <a:latin typeface="Heebo"/>
                <a:ea typeface="Heebo"/>
                <a:cs typeface="Heebo"/>
              </a:rPr>
              <a:t>הוא שקל שלא עובד.</a:t>
            </a:r>
          </a:p>
        </p:txBody>
      </p:sp>
      <p:sp>
        <p:nvSpPr>
          <p:cNvPr id="5" name="TextBox 4"/>
          <p:cNvSpPr txBox="1"/>
          <p:nvPr/>
        </p:nvSpPr>
        <p:spPr>
          <a:xfrm>
            <a:off x="914400" y="374904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”אין סיבה שאני אשמור את הכסף הזה אצלי. בואו ננתב אותו.“</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24</a:t>
            </a:r>
          </a:p>
        </p:txBody>
      </p:sp>
      <p:sp>
        <p:nvSpPr>
          <p:cNvPr id="4" name="TextBox 3"/>
          <p:cNvSpPr txBox="1"/>
          <p:nvPr/>
        </p:nvSpPr>
        <p:spPr>
          <a:xfrm>
            <a:off x="914400" y="149733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ביטחון = הבמפר בעו"ש + קרן חירום</a:t>
            </a:r>
          </a:p>
        </p:txBody>
      </p:sp>
      <p:sp>
        <p:nvSpPr>
          <p:cNvPr id="5" name="TextBox 4"/>
          <p:cNvSpPr txBox="1"/>
          <p:nvPr/>
        </p:nvSpPr>
        <p:spPr>
          <a:xfrm>
            <a:off x="914400" y="1954530"/>
            <a:ext cx="10363200" cy="1729740"/>
          </a:xfrm>
          <a:prstGeom prst="rect">
            <a:avLst/>
          </a:prstGeom>
          <a:noFill/>
        </p:spPr>
        <p:txBody>
          <a:bodyPr wrap="square" lIns="0" rIns="0" tIns="0" bIns="0" anchor="t">
            <a:spAutoFit/>
          </a:bodyPr>
          <a:lstStyle/>
          <a:p>
            <a:pPr algn="r" rtl="1">
              <a:lnSpc>
                <a:spcPct val="110000"/>
              </a:lnSpc>
            </a:pPr>
            <a:r>
              <a:rPr sz="5400" b="1" lang="he-IL">
                <a:solidFill>
                  <a:srgbClr val="191A2E"/>
                </a:solidFill>
                <a:latin typeface="Heebo"/>
                <a:ea typeface="Heebo"/>
                <a:cs typeface="Heebo"/>
              </a:rPr>
              <a:t>בית 2 · קרן החירום:</a:t>
            </a:r>
          </a:p>
          <a:p>
            <a:pPr algn="r" rtl="1">
              <a:lnSpc>
                <a:spcPct val="110000"/>
              </a:lnSpc>
            </a:pPr>
            <a:r>
              <a:rPr sz="5400" b="1" lang="he-IL">
                <a:solidFill>
                  <a:srgbClr val="EF55A5"/>
                </a:solidFill>
                <a:latin typeface="Heebo"/>
                <a:ea typeface="Heebo"/>
                <a:cs typeface="Heebo"/>
              </a:rPr>
              <a:t>השקט שלך.</a:t>
            </a:r>
          </a:p>
        </p:txBody>
      </p:sp>
      <p:sp>
        <p:nvSpPr>
          <p:cNvPr id="6" name="TextBox 5"/>
          <p:cNvSpPr txBox="1"/>
          <p:nvPr/>
        </p:nvSpPr>
        <p:spPr>
          <a:xfrm>
            <a:off x="914400" y="383667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בשאלוני הכניסה: כמעט לאף אחת אין מספר. הערב לכולן יש.</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25</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קרן החירום</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בשביל מה היא</a:t>
            </a:r>
          </a:p>
        </p:txBody>
      </p:sp>
      <p:sp>
        <p:nvSpPr>
          <p:cNvPr id="6" name="Oval 5"/>
          <p:cNvSpPr/>
          <p:nvPr/>
        </p:nvSpPr>
        <p:spPr>
          <a:xfrm>
            <a:off x="11155680" y="260604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14400" y="2468880"/>
            <a:ext cx="10027920" cy="944880"/>
          </a:xfrm>
          <a:prstGeom prst="rect">
            <a:avLst/>
          </a:prstGeom>
          <a:noFill/>
        </p:spPr>
        <p:txBody>
          <a:bodyPr wrap="square" lIns="0" rIns="0" tIns="0" bIns="0" anchor="t">
            <a:spAutoFit/>
          </a:bodyPr>
          <a:lstStyle/>
          <a:p>
            <a:pPr algn="r" rtl="1">
              <a:lnSpc>
                <a:spcPct val="130000"/>
              </a:lnSpc>
            </a:pPr>
            <a:r>
              <a:rPr sz="2400" b="0" lang="he-IL">
                <a:solidFill>
                  <a:srgbClr val="191A2E"/>
                </a:solidFill>
                <a:latin typeface="Heebo"/>
                <a:ea typeface="Heebo"/>
                <a:cs typeface="Heebo"/>
              </a:rPr>
              <a:t>חופשת לידה · בין עבודות · הרכב, השיניים, המקרר</a:t>
            </a:r>
          </a:p>
        </p:txBody>
      </p:sp>
      <p:sp>
        <p:nvSpPr>
          <p:cNvPr id="8" name="Oval 7"/>
          <p:cNvSpPr/>
          <p:nvPr/>
        </p:nvSpPr>
        <p:spPr>
          <a:xfrm>
            <a:off x="11155680" y="355092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14400" y="3413760"/>
            <a:ext cx="10027920" cy="944880"/>
          </a:xfrm>
          <a:prstGeom prst="rect">
            <a:avLst/>
          </a:prstGeom>
          <a:noFill/>
        </p:spPr>
        <p:txBody>
          <a:bodyPr wrap="square" lIns="0" rIns="0" tIns="0" bIns="0" anchor="t">
            <a:spAutoFit/>
          </a:bodyPr>
          <a:lstStyle/>
          <a:p>
            <a:pPr algn="r" rtl="1">
              <a:lnSpc>
                <a:spcPct val="130000"/>
              </a:lnSpc>
            </a:pPr>
            <a:r>
              <a:rPr sz="2400" b="0" lang="he-IL">
                <a:solidFill>
                  <a:srgbClr val="191A2E"/>
                </a:solidFill>
                <a:latin typeface="Heebo"/>
                <a:ea typeface="Heebo"/>
                <a:cs typeface="Heebo"/>
              </a:rPr>
              <a:t>ובעיקר: כדי שההשקעות שלך לא ייגעו</a:t>
            </a:r>
          </a:p>
        </p:txBody>
      </p:sp>
      <p:sp>
        <p:nvSpPr>
          <p:cNvPr id="10" name="Oval 9"/>
          <p:cNvSpPr/>
          <p:nvPr/>
        </p:nvSpPr>
        <p:spPr>
          <a:xfrm>
            <a:off x="11155680" y="449580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914400" y="4358640"/>
            <a:ext cx="10027920" cy="944880"/>
          </a:xfrm>
          <a:prstGeom prst="rect">
            <a:avLst/>
          </a:prstGeom>
          <a:noFill/>
        </p:spPr>
        <p:txBody>
          <a:bodyPr wrap="square" lIns="0" rIns="0" tIns="0" bIns="0" anchor="t">
            <a:spAutoFit/>
          </a:bodyPr>
          <a:lstStyle/>
          <a:p>
            <a:pPr algn="r" rtl="1">
              <a:lnSpc>
                <a:spcPct val="130000"/>
              </a:lnSpc>
            </a:pPr>
            <a:r>
              <a:rPr sz="2400" b="0" lang="he-IL">
                <a:solidFill>
                  <a:srgbClr val="191A2E"/>
                </a:solidFill>
                <a:latin typeface="Heebo"/>
                <a:ea typeface="Heebo"/>
                <a:cs typeface="Heebo"/>
              </a:rPr>
              <a:t>מכינות את התשתית לתקופות האלה מראש</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26</a:t>
            </a:r>
          </a:p>
        </p:txBody>
      </p:sp>
      <p:pic>
        <p:nvPicPr>
          <p:cNvPr id="4" name="Picture 3" descr="s27_light.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2112264"/>
            <a:ext cx="5943600" cy="1414272"/>
          </a:xfrm>
          <a:prstGeom prst="rect">
            <a:avLst/>
          </a:prstGeom>
          <a:noFill/>
        </p:spPr>
        <p:txBody>
          <a:bodyPr wrap="square" lIns="0" rIns="0" tIns="0" bIns="0" anchor="t">
            <a:spAutoFit/>
          </a:bodyPr>
          <a:lstStyle/>
          <a:p>
            <a:pPr algn="r" rtl="1">
              <a:lnSpc>
                <a:spcPct val="110000"/>
              </a:lnSpc>
            </a:pPr>
            <a:r>
              <a:rPr sz="4320" b="1" lang="he-IL">
                <a:solidFill>
                  <a:srgbClr val="191A2E"/>
                </a:solidFill>
                <a:latin typeface="Heebo"/>
                <a:ea typeface="Heebo"/>
                <a:cs typeface="Heebo"/>
              </a:rPr>
              <a:t>הקרן היא מה שמאפשר</a:t>
            </a:r>
          </a:p>
          <a:p>
            <a:pPr algn="r" rtl="1">
              <a:lnSpc>
                <a:spcPct val="110000"/>
              </a:lnSpc>
            </a:pPr>
            <a:r>
              <a:rPr sz="4320" b="1" lang="he-IL">
                <a:solidFill>
                  <a:srgbClr val="EF55A5"/>
                </a:solidFill>
                <a:latin typeface="Heebo"/>
                <a:ea typeface="Heebo"/>
                <a:cs typeface="Heebo"/>
              </a:rPr>
              <a:t>להשקיע בלי פחד.</a:t>
            </a:r>
          </a:p>
        </p:txBody>
      </p:sp>
      <p:sp>
        <p:nvSpPr>
          <p:cNvPr id="6" name="TextBox 5"/>
          <p:cNvSpPr txBox="1"/>
          <p:nvPr/>
        </p:nvSpPr>
        <p:spPr>
          <a:xfrm>
            <a:off x="5334000" y="3678936"/>
            <a:ext cx="59436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כשיש שקט בבית 2, בית 4 יכול לעבוד בשקט.</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27</a:t>
            </a:r>
          </a:p>
        </p:txBody>
      </p:sp>
      <p:sp>
        <p:nvSpPr>
          <p:cNvPr id="4" name="TextBox 3"/>
          <p:cNvSpPr txBox="1"/>
          <p:nvPr/>
        </p:nvSpPr>
        <p:spPr>
          <a:xfrm>
            <a:off x="914400" y="9906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חשבון של שורה אחת</a:t>
            </a:r>
          </a:p>
        </p:txBody>
      </p:sp>
      <p:sp>
        <p:nvSpPr>
          <p:cNvPr id="5" name="TextBox 4"/>
          <p:cNvSpPr txBox="1"/>
          <p:nvPr/>
        </p:nvSpPr>
        <p:spPr>
          <a:xfrm>
            <a:off x="914400" y="1371600"/>
            <a:ext cx="10363200" cy="685800"/>
          </a:xfrm>
          <a:prstGeom prst="rect">
            <a:avLst/>
          </a:prstGeom>
          <a:noFill/>
        </p:spPr>
        <p:txBody>
          <a:bodyPr wrap="square" lIns="0" rIns="0" tIns="0" bIns="0" anchor="t">
            <a:spAutoFit/>
          </a:bodyPr>
          <a:lstStyle/>
          <a:p>
            <a:pPr algn="r" rtl="1">
              <a:lnSpc>
                <a:spcPct val="115000"/>
              </a:lnSpc>
            </a:pPr>
            <a:r>
              <a:rPr sz="3840" b="1" lang="he-IL">
                <a:solidFill>
                  <a:srgbClr val="191A2E"/>
                </a:solidFill>
                <a:latin typeface="Heebo"/>
                <a:ea typeface="Heebo"/>
                <a:cs typeface="Heebo"/>
              </a:rPr>
              <a:t>המספר שלך</a:t>
            </a:r>
          </a:p>
        </p:txBody>
      </p:sp>
      <p:sp>
        <p:nvSpPr>
          <p:cNvPr id="6" name="Rounded Rectangle 5"/>
          <p:cNvSpPr/>
          <p:nvPr/>
        </p:nvSpPr>
        <p:spPr>
          <a:xfrm>
            <a:off x="8056880" y="2895600"/>
            <a:ext cx="3220720" cy="1600200"/>
          </a:xfrm>
          <a:prstGeom prst="roundRect">
            <a:avLst>
              <a:gd name="adj" fmla="val 14285"/>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הוצאות חיוניות בחודש</a:t>
            </a:r>
          </a:p>
        </p:txBody>
      </p:sp>
      <p:sp>
        <p:nvSpPr>
          <p:cNvPr id="7" name="TextBox 6"/>
          <p:cNvSpPr txBox="1"/>
          <p:nvPr/>
        </p:nvSpPr>
        <p:spPr>
          <a:xfrm>
            <a:off x="770636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8" name="Rounded Rectangle 7"/>
          <p:cNvSpPr/>
          <p:nvPr/>
        </p:nvSpPr>
        <p:spPr>
          <a:xfrm>
            <a:off x="4485640" y="2895600"/>
            <a:ext cx="3220720" cy="1600200"/>
          </a:xfrm>
          <a:prstGeom prst="roundRect">
            <a:avLst>
              <a:gd name="adj" fmla="val 14285"/>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 חודשי ביטחון</a:t>
            </a:r>
          </a:p>
        </p:txBody>
      </p:sp>
      <p:sp>
        <p:nvSpPr>
          <p:cNvPr id="9" name="TextBox 8"/>
          <p:cNvSpPr txBox="1"/>
          <p:nvPr/>
        </p:nvSpPr>
        <p:spPr>
          <a:xfrm>
            <a:off x="413512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0" name="Rounded Rectangle 9"/>
          <p:cNvSpPr/>
          <p:nvPr/>
        </p:nvSpPr>
        <p:spPr>
          <a:xfrm>
            <a:off x="914400" y="2895600"/>
            <a:ext cx="3220720" cy="1600200"/>
          </a:xfrm>
          <a:prstGeom prst="roundRect">
            <a:avLst>
              <a:gd name="adj" fmla="val 14285"/>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 קרן החירום שלי</a:t>
            </a:r>
          </a:p>
        </p:txBody>
      </p:sp>
      <p:sp>
        <p:nvSpPr>
          <p:cNvPr id="11" name="TextBox 10"/>
          <p:cNvSpPr txBox="1"/>
          <p:nvPr/>
        </p:nvSpPr>
        <p:spPr>
          <a:xfrm>
            <a:off x="914400" y="4953000"/>
            <a:ext cx="10363200" cy="9144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הוצאות חיוניות: רק ה”חובה“ מהכלי של שבוע שעבר. בלי בילויים, בלי קניות.</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28</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הכלל שלי. ההחלטה שלך</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כמה חודשים? 3 עד 6 חודשי מחיה</a:t>
            </a:r>
          </a:p>
        </p:txBody>
      </p:sp>
      <p:sp>
        <p:nvSpPr>
          <p:cNvPr id="6" name="Oval 5"/>
          <p:cNvSpPr/>
          <p:nvPr/>
        </p:nvSpPr>
        <p:spPr>
          <a:xfrm>
            <a:off x="11155680" y="24231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14400" y="2286000"/>
            <a:ext cx="10027920" cy="87630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בלי משהו מיוחד: בערך 3</a:t>
            </a:r>
          </a:p>
        </p:txBody>
      </p:sp>
      <p:sp>
        <p:nvSpPr>
          <p:cNvPr id="8" name="Oval 7"/>
          <p:cNvSpPr/>
          <p:nvPr/>
        </p:nvSpPr>
        <p:spPr>
          <a:xfrm>
            <a:off x="11155680" y="32994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14400" y="3162300"/>
            <a:ext cx="10027920" cy="87630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שמרנית, או פחות הכנסות בקרוב (לידה, לימודים, מעבר): 6, ולפעמים יותר</a:t>
            </a:r>
          </a:p>
        </p:txBody>
      </p:sp>
      <p:sp>
        <p:nvSpPr>
          <p:cNvPr id="10" name="Oval 9"/>
          <p:cNvSpPr/>
          <p:nvPr/>
        </p:nvSpPr>
        <p:spPr>
          <a:xfrm>
            <a:off x="11155680" y="41757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914400" y="4038600"/>
            <a:ext cx="10027920" cy="87630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שתי הכנסות או אחת? שכירה או עצמאית? ילדים, משכנתא?</a:t>
            </a:r>
          </a:p>
        </p:txBody>
      </p:sp>
      <p:sp>
        <p:nvSpPr>
          <p:cNvPr id="12" name="Oval 11"/>
          <p:cNvSpPr/>
          <p:nvPr/>
        </p:nvSpPr>
        <p:spPr>
          <a:xfrm>
            <a:off x="11155680" y="50520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914400" y="4914900"/>
            <a:ext cx="10027920" cy="87630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ואיזה מספר באמת מרגיע אותך</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29</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איך זה נראה</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5000"/>
              </a:lnSpc>
            </a:pPr>
            <a:r>
              <a:rPr sz="3719" b="1" lang="he-IL">
                <a:solidFill>
                  <a:srgbClr val="191A2E"/>
                </a:solidFill>
                <a:latin typeface="Heebo"/>
                <a:ea typeface="Heebo"/>
                <a:cs typeface="Heebo"/>
              </a:rPr>
              <a:t>דוגמה</a:t>
            </a:r>
          </a:p>
        </p:txBody>
      </p:sp>
      <p:sp>
        <p:nvSpPr>
          <p:cNvPr id="6" name="Rounded Rectangle 5"/>
          <p:cNvSpPr/>
          <p:nvPr/>
        </p:nvSpPr>
        <p:spPr>
          <a:xfrm>
            <a:off x="4876800" y="2209800"/>
            <a:ext cx="6400800" cy="53340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181600" y="2316480"/>
            <a:ext cx="3962400" cy="33528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הוצאות חודש (ה”חובה“)</a:t>
            </a:r>
          </a:p>
        </p:txBody>
      </p:sp>
      <p:sp>
        <p:nvSpPr>
          <p:cNvPr id="8" name="TextBox 7"/>
          <p:cNvSpPr txBox="1"/>
          <p:nvPr/>
        </p:nvSpPr>
        <p:spPr>
          <a:xfrm>
            <a:off x="5181600" y="2316480"/>
            <a:ext cx="5791200" cy="335280"/>
          </a:xfrm>
          <a:prstGeom prst="rect">
            <a:avLst/>
          </a:prstGeom>
          <a:noFill/>
        </p:spPr>
        <p:txBody>
          <a:bodyPr wrap="square" lIns="0" rIns="0" tIns="0" bIns="0" anchor="t">
            <a:spAutoFit/>
          </a:bodyPr>
          <a:lstStyle/>
          <a:p>
            <a:pPr algn="l" rtl="1">
              <a:lnSpc>
                <a:spcPct val="115000"/>
              </a:lnSpc>
            </a:pPr>
            <a:r>
              <a:rPr sz="1920" b="1" lang="he-IL">
                <a:solidFill>
                  <a:srgbClr val="EF55A5"/>
                </a:solidFill>
                <a:latin typeface="Heebo"/>
                <a:ea typeface="Heebo"/>
                <a:cs typeface="Heebo"/>
              </a:rPr>
              <a:t>10,000 ₪</a:t>
            </a:r>
          </a:p>
        </p:txBody>
      </p:sp>
      <p:sp>
        <p:nvSpPr>
          <p:cNvPr id="9" name="Rounded Rectangle 8"/>
          <p:cNvSpPr/>
          <p:nvPr/>
        </p:nvSpPr>
        <p:spPr>
          <a:xfrm>
            <a:off x="4876800" y="2849880"/>
            <a:ext cx="6400800" cy="533400"/>
          </a:xfrm>
          <a:prstGeom prst="roundRect">
            <a:avLst>
              <a:gd name="adj" fmla="val 30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5181600" y="2956560"/>
            <a:ext cx="3962400" cy="335280"/>
          </a:xfrm>
          <a:prstGeom prst="rect">
            <a:avLst/>
          </a:prstGeom>
          <a:noFill/>
        </p:spPr>
        <p:txBody>
          <a:bodyPr wrap="square" lIns="0" rIns="0" tIns="0" bIns="0" anchor="t">
            <a:spAutoFit/>
          </a:bodyPr>
          <a:lstStyle/>
          <a:p>
            <a:pPr algn="r" rtl="1">
              <a:lnSpc>
                <a:spcPct val="115000"/>
              </a:lnSpc>
            </a:pPr>
            <a:r>
              <a:rPr sz="1920" b="1" lang="he-IL">
                <a:solidFill>
                  <a:srgbClr val="191A2E"/>
                </a:solidFill>
                <a:latin typeface="Heebo"/>
                <a:ea typeface="Heebo"/>
                <a:cs typeface="Heebo"/>
              </a:rPr>
              <a:t>חודשי ביטחון</a:t>
            </a:r>
          </a:p>
        </p:txBody>
      </p:sp>
      <p:sp>
        <p:nvSpPr>
          <p:cNvPr id="11" name="TextBox 10"/>
          <p:cNvSpPr txBox="1"/>
          <p:nvPr/>
        </p:nvSpPr>
        <p:spPr>
          <a:xfrm>
            <a:off x="5181600" y="2956560"/>
            <a:ext cx="5791200" cy="335280"/>
          </a:xfrm>
          <a:prstGeom prst="rect">
            <a:avLst/>
          </a:prstGeom>
          <a:noFill/>
        </p:spPr>
        <p:txBody>
          <a:bodyPr wrap="square" lIns="0" rIns="0" tIns="0" bIns="0" anchor="t">
            <a:spAutoFit/>
          </a:bodyPr>
          <a:lstStyle/>
          <a:p>
            <a:pPr algn="l" rtl="1">
              <a:lnSpc>
                <a:spcPct val="115000"/>
              </a:lnSpc>
            </a:pPr>
            <a:r>
              <a:rPr sz="1920" b="1" lang="he-IL">
                <a:solidFill>
                  <a:srgbClr val="EF55A5"/>
                </a:solidFill>
                <a:latin typeface="Heebo"/>
                <a:ea typeface="Heebo"/>
                <a:cs typeface="Heebo"/>
              </a:rPr>
              <a:t>× 3</a:t>
            </a:r>
          </a:p>
        </p:txBody>
      </p:sp>
      <p:sp>
        <p:nvSpPr>
          <p:cNvPr id="12" name="Rounded Rectangle 11"/>
          <p:cNvSpPr/>
          <p:nvPr/>
        </p:nvSpPr>
        <p:spPr>
          <a:xfrm>
            <a:off x="914400" y="2209800"/>
            <a:ext cx="3657600" cy="2286000"/>
          </a:xfrm>
          <a:prstGeom prst="roundRect">
            <a:avLst>
              <a:gd name="adj" fmla="val 1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228600" rIns="228600" tIns="137160" bIns="137160"/>
          <a:lstStyle/>
          <a:p>
            <a:pPr algn="ctr" rtl="1">
              <a:lnSpc>
                <a:spcPct val="115000"/>
              </a:lnSpc>
            </a:pPr>
            <a:r>
              <a:rPr sz="3000" b="1" lang="he-IL">
                <a:solidFill>
                  <a:srgbClr val="191A2E"/>
                </a:solidFill>
                <a:latin typeface="Heebo"/>
                <a:ea typeface="Heebo"/>
                <a:cs typeface="Heebo"/>
              </a:rPr>
              <a:t>30,000 ₪</a:t>
            </a:r>
          </a:p>
          <a:p>
            <a:pPr algn="ctr" rtl="1">
              <a:lnSpc>
                <a:spcPct val="115000"/>
              </a:lnSpc>
            </a:pPr>
            <a:r>
              <a:rPr sz="3000" b="1" lang="he-IL">
                <a:solidFill>
                  <a:srgbClr val="EF55A5"/>
                </a:solidFill>
                <a:latin typeface="Heebo"/>
                <a:ea typeface="Heebo"/>
                <a:cs typeface="Heebo"/>
              </a:rPr>
              <a:t>קרן החירום שלי</a:t>
            </a:r>
          </a:p>
        </p:txBody>
      </p:sp>
      <p:sp>
        <p:nvSpPr>
          <p:cNvPr id="13" name="TextBox 12"/>
          <p:cNvSpPr txBox="1"/>
          <p:nvPr/>
        </p:nvSpPr>
        <p:spPr>
          <a:xfrm>
            <a:off x="914400" y="4724400"/>
            <a:ext cx="3657600" cy="914400"/>
          </a:xfrm>
          <a:prstGeom prst="rect">
            <a:avLst/>
          </a:prstGeom>
          <a:noFill/>
        </p:spPr>
        <p:txBody>
          <a:bodyPr wrap="square" lIns="0" rIns="0" tIns="0" bIns="0" anchor="t">
            <a:spAutoFit/>
          </a:bodyPr>
          <a:lstStyle/>
          <a:p>
            <a:pPr algn="ctr" rtl="1">
              <a:lnSpc>
                <a:spcPct val="140000"/>
              </a:lnSpc>
            </a:pPr>
            <a:r>
              <a:rPr sz="1439" b="0" lang="he-IL">
                <a:solidFill>
                  <a:srgbClr val="6B6B7B"/>
                </a:solidFill>
                <a:latin typeface="Heebo"/>
                <a:ea typeface="Heebo"/>
                <a:cs typeface="Heebo"/>
              </a:rPr>
              <a:t>מוציאה 40,000 בחודש? 120,000 ₪. יש כבר 14,000 בפיקדון ישן? הפער 16,000. המספר שלך נגזר מהנתון שלך.</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30</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נקודת מוצא, לא כישלון</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הקרן עדיין חסרה? 3 דרכים</a:t>
            </a:r>
          </a:p>
        </p:txBody>
      </p:sp>
      <p:sp>
        <p:nvSpPr>
          <p:cNvPr id="6" name="Rounded Rectangle 5"/>
          <p:cNvSpPr/>
          <p:nvPr/>
        </p:nvSpPr>
        <p:spPr>
          <a:xfrm>
            <a:off x="7965440" y="2514600"/>
            <a:ext cx="331216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39760" y="2819400"/>
            <a:ext cx="2763520" cy="838200"/>
          </a:xfrm>
          <a:prstGeom prst="rect">
            <a:avLst/>
          </a:prstGeom>
          <a:noFill/>
        </p:spPr>
        <p:txBody>
          <a:bodyPr wrap="square" lIns="0" rIns="0" tIns="0" bIns="0" anchor="t">
            <a:spAutoFit/>
          </a:bodyPr>
          <a:lstStyle/>
          <a:p>
            <a:pPr algn="r" rtl="1">
              <a:lnSpc>
                <a:spcPct val="110000"/>
              </a:lnSpc>
            </a:pPr>
            <a:r>
              <a:rPr sz="2520" b="1" lang="he-IL">
                <a:solidFill>
                  <a:srgbClr val="191A2E"/>
                </a:solidFill>
                <a:latin typeface="Heebo"/>
                <a:ea typeface="Heebo"/>
                <a:cs typeface="Heebo"/>
              </a:rPr>
              <a:t>להשלים קודם</a:t>
            </a:r>
          </a:p>
        </p:txBody>
      </p:sp>
      <p:sp>
        <p:nvSpPr>
          <p:cNvPr id="8" name="TextBox 7"/>
          <p:cNvSpPr txBox="1"/>
          <p:nvPr/>
        </p:nvSpPr>
        <p:spPr>
          <a:xfrm>
            <a:off x="8239760" y="3429000"/>
            <a:ext cx="276352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לפני השקעה לטווח ארוך.</a:t>
            </a:r>
          </a:p>
        </p:txBody>
      </p:sp>
      <p:sp>
        <p:nvSpPr>
          <p:cNvPr id="9" name="Rounded Rectangle 8"/>
          <p:cNvSpPr/>
          <p:nvPr/>
        </p:nvSpPr>
        <p:spPr>
          <a:xfrm>
            <a:off x="4439920" y="2514600"/>
            <a:ext cx="331216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714240" y="2819400"/>
            <a:ext cx="2763520" cy="838200"/>
          </a:xfrm>
          <a:prstGeom prst="rect">
            <a:avLst/>
          </a:prstGeom>
          <a:noFill/>
        </p:spPr>
        <p:txBody>
          <a:bodyPr wrap="square" lIns="0" rIns="0" tIns="0" bIns="0" anchor="t">
            <a:spAutoFit/>
          </a:bodyPr>
          <a:lstStyle/>
          <a:p>
            <a:pPr algn="r" rtl="1">
              <a:lnSpc>
                <a:spcPct val="110000"/>
              </a:lnSpc>
            </a:pPr>
            <a:r>
              <a:rPr sz="2520" b="1" lang="he-IL">
                <a:solidFill>
                  <a:srgbClr val="191A2E"/>
                </a:solidFill>
                <a:latin typeface="Heebo"/>
                <a:ea typeface="Heebo"/>
                <a:cs typeface="Heebo"/>
              </a:rPr>
              <a:t>במקביל</a:t>
            </a:r>
          </a:p>
        </p:txBody>
      </p:sp>
      <p:sp>
        <p:nvSpPr>
          <p:cNvPr id="11" name="TextBox 10"/>
          <p:cNvSpPr txBox="1"/>
          <p:nvPr/>
        </p:nvSpPr>
        <p:spPr>
          <a:xfrm>
            <a:off x="4714240" y="3429000"/>
            <a:ext cx="276352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חלק לקרן, חלק להשקעה. לפי תוכנית שאת קובעת.</a:t>
            </a:r>
          </a:p>
        </p:txBody>
      </p:sp>
      <p:sp>
        <p:nvSpPr>
          <p:cNvPr id="12" name="Rounded Rectangle 11"/>
          <p:cNvSpPr/>
          <p:nvPr/>
        </p:nvSpPr>
        <p:spPr>
          <a:xfrm>
            <a:off x="914400" y="2514600"/>
            <a:ext cx="331216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188720" y="2819400"/>
            <a:ext cx="2763520" cy="838200"/>
          </a:xfrm>
          <a:prstGeom prst="rect">
            <a:avLst/>
          </a:prstGeom>
          <a:noFill/>
        </p:spPr>
        <p:txBody>
          <a:bodyPr wrap="square" lIns="0" rIns="0" tIns="0" bIns="0" anchor="t">
            <a:spAutoFit/>
          </a:bodyPr>
          <a:lstStyle/>
          <a:p>
            <a:pPr algn="r" rtl="1">
              <a:lnSpc>
                <a:spcPct val="110000"/>
              </a:lnSpc>
            </a:pPr>
            <a:r>
              <a:rPr sz="2520" b="1" lang="he-IL">
                <a:solidFill>
                  <a:srgbClr val="191A2E"/>
                </a:solidFill>
                <a:latin typeface="Heebo"/>
                <a:ea typeface="Heebo"/>
                <a:cs typeface="Heebo"/>
              </a:rPr>
              <a:t>עזרה בהחלטה</a:t>
            </a:r>
          </a:p>
        </p:txBody>
      </p:sp>
      <p:sp>
        <p:nvSpPr>
          <p:cNvPr id="14" name="TextBox 13"/>
          <p:cNvSpPr txBox="1"/>
          <p:nvPr/>
        </p:nvSpPr>
        <p:spPr>
          <a:xfrm>
            <a:off x="1188720" y="3429000"/>
            <a:ext cx="276352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מסמנות בכלי, ומדברות. אף מערכת לא מחליטה בשבילך.</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31</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כולן אחלה. לא להתעכב על ”מה הכי טובה“</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איפה היא גרה?</a:t>
            </a:r>
          </a:p>
        </p:txBody>
      </p:sp>
      <p:sp>
        <p:nvSpPr>
          <p:cNvPr id="6" name="Oval 5"/>
          <p:cNvSpPr/>
          <p:nvPr/>
        </p:nvSpPr>
        <p:spPr>
          <a:xfrm>
            <a:off x="11155680" y="24231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14400" y="2286000"/>
            <a:ext cx="10027920" cy="87630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לא השקעה. חיסכון לשעת חירום</a:t>
            </a:r>
          </a:p>
        </p:txBody>
      </p:sp>
      <p:sp>
        <p:nvSpPr>
          <p:cNvPr id="8" name="Oval 7"/>
          <p:cNvSpPr/>
          <p:nvPr/>
        </p:nvSpPr>
        <p:spPr>
          <a:xfrm>
            <a:off x="11155680" y="32994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14400" y="3162300"/>
            <a:ext cx="10027920" cy="87630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לא בחזיר ולא בעו"ש: שם היא מפסידה 3% בשנה</a:t>
            </a:r>
          </a:p>
        </p:txBody>
      </p:sp>
      <p:sp>
        <p:nvSpPr>
          <p:cNvPr id="10" name="Oval 9"/>
          <p:cNvSpPr/>
          <p:nvPr/>
        </p:nvSpPr>
        <p:spPr>
          <a:xfrm>
            <a:off x="11155680" y="41757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914400" y="4038600"/>
            <a:ext cx="10027920" cy="87630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פיקדון בבנק (יומי / חודשי) · קרן כספית. מה שנגיש ונוח לך</a:t>
            </a:r>
          </a:p>
        </p:txBody>
      </p:sp>
      <p:sp>
        <p:nvSpPr>
          <p:cNvPr id="12" name="Oval 11"/>
          <p:cNvSpPr/>
          <p:nvPr/>
        </p:nvSpPr>
        <p:spPr>
          <a:xfrm>
            <a:off x="11155680" y="5052060"/>
            <a:ext cx="121920" cy="12192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914400" y="4914900"/>
            <a:ext cx="10027920" cy="876300"/>
          </a:xfrm>
          <a:prstGeom prst="rect">
            <a:avLst/>
          </a:prstGeom>
          <a:noFill/>
        </p:spPr>
        <p:txBody>
          <a:bodyPr wrap="square" lIns="0" rIns="0" tIns="0" bIns="0" anchor="t">
            <a:spAutoFit/>
          </a:bodyPr>
          <a:lstStyle/>
          <a:p>
            <a:pPr algn="r" rtl="1">
              <a:lnSpc>
                <a:spcPct val="130000"/>
              </a:lnSpc>
            </a:pPr>
            <a:r>
              <a:rPr sz="2160" b="0" lang="he-IL">
                <a:solidFill>
                  <a:srgbClr val="191A2E"/>
                </a:solidFill>
                <a:latin typeface="Heebo"/>
                <a:ea typeface="Heebo"/>
                <a:cs typeface="Heebo"/>
              </a:rPr>
              <a:t>נזילה · מופרדת מהעו"ש · לא בסיכון</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32</a:t>
            </a:r>
          </a:p>
        </p:txBody>
      </p:sp>
      <p:sp>
        <p:nvSpPr>
          <p:cNvPr id="4" name="Rounded Rectangle 3"/>
          <p:cNvSpPr/>
          <p:nvPr/>
        </p:nvSpPr>
        <p:spPr>
          <a:xfrm>
            <a:off x="914400" y="1905000"/>
            <a:ext cx="10363200" cy="2895600"/>
          </a:xfrm>
          <a:prstGeom prst="roundRect">
            <a:avLst>
              <a:gd name="adj" fmla="val 9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463040" y="2438400"/>
            <a:ext cx="92659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בצ'אט · רק המספר</a:t>
            </a:r>
          </a:p>
        </p:txBody>
      </p:sp>
      <p:sp>
        <p:nvSpPr>
          <p:cNvPr id="6" name="TextBox 5"/>
          <p:cNvSpPr txBox="1"/>
          <p:nvPr/>
        </p:nvSpPr>
        <p:spPr>
          <a:xfrm>
            <a:off x="1463040" y="2834640"/>
            <a:ext cx="9265920" cy="1752600"/>
          </a:xfrm>
          <a:prstGeom prst="rect">
            <a:avLst/>
          </a:prstGeom>
          <a:noFill/>
        </p:spPr>
        <p:txBody>
          <a:bodyPr wrap="square" lIns="0" rIns="0" tIns="0" bIns="0" anchor="t">
            <a:spAutoFit/>
          </a:bodyPr>
          <a:lstStyle/>
          <a:p>
            <a:pPr algn="r" rtl="1">
              <a:lnSpc>
                <a:spcPct val="115000"/>
              </a:lnSpc>
            </a:pPr>
            <a:r>
              <a:rPr sz="4440" b="1" lang="he-IL">
                <a:solidFill>
                  <a:srgbClr val="191A2E"/>
                </a:solidFill>
                <a:latin typeface="Heebo"/>
                <a:ea typeface="Heebo"/>
                <a:cs typeface="Heebo"/>
              </a:rPr>
              <a:t>כמה חודשי ביטחון בחרת?</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33</a:t>
            </a:r>
          </a:p>
        </p:txBody>
      </p:sp>
      <p:sp>
        <p:nvSpPr>
          <p:cNvPr id="4" name="TextBox 3"/>
          <p:cNvSpPr txBox="1"/>
          <p:nvPr/>
        </p:nvSpPr>
        <p:spPr>
          <a:xfrm>
            <a:off x="914400" y="153924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מה שנשאר אחרי העו"ש וקרן החירום הולך למטרות</a:t>
            </a:r>
          </a:p>
        </p:txBody>
      </p:sp>
      <p:sp>
        <p:nvSpPr>
          <p:cNvPr id="5" name="TextBox 4"/>
          <p:cNvSpPr txBox="1"/>
          <p:nvPr/>
        </p:nvSpPr>
        <p:spPr>
          <a:xfrm>
            <a:off x="914400" y="1996440"/>
            <a:ext cx="10363200" cy="2255520"/>
          </a:xfrm>
          <a:prstGeom prst="rect">
            <a:avLst/>
          </a:prstGeom>
          <a:noFill/>
        </p:spPr>
        <p:txBody>
          <a:bodyPr wrap="square" lIns="0" rIns="0" tIns="0" bIns="0" anchor="t">
            <a:spAutoFit/>
          </a:bodyPr>
          <a:lstStyle/>
          <a:p>
            <a:pPr algn="r" rtl="1">
              <a:lnSpc>
                <a:spcPct val="110000"/>
              </a:lnSpc>
            </a:pPr>
            <a:r>
              <a:rPr sz="7200" b="1" lang="he-IL">
                <a:solidFill>
                  <a:srgbClr val="191A2E"/>
                </a:solidFill>
                <a:latin typeface="Heebo"/>
                <a:ea typeface="Heebo"/>
                <a:cs typeface="Heebo"/>
              </a:rPr>
              <a:t>בית 3 ובית 4:</a:t>
            </a:r>
          </a:p>
          <a:p>
            <a:pPr algn="r" rtl="1">
              <a:lnSpc>
                <a:spcPct val="110000"/>
              </a:lnSpc>
            </a:pPr>
            <a:r>
              <a:rPr sz="7200" b="1" lang="he-IL">
                <a:solidFill>
                  <a:srgbClr val="EF55A5"/>
                </a:solidFill>
                <a:latin typeface="Heebo"/>
                <a:ea typeface="Heebo"/>
                <a:cs typeface="Heebo"/>
              </a:rPr>
              <a:t>הכדים.</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34</a:t>
            </a:r>
          </a:p>
        </p:txBody>
      </p:sp>
      <p:sp>
        <p:nvSpPr>
          <p:cNvPr id="4" name="TextBox 3"/>
          <p:cNvSpPr txBox="1"/>
          <p:nvPr/>
        </p:nvSpPr>
        <p:spPr>
          <a:xfrm>
            <a:off x="914400" y="838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שלושה כדים, לפי טווח</a:t>
            </a:r>
          </a:p>
        </p:txBody>
      </p:sp>
      <p:sp>
        <p:nvSpPr>
          <p:cNvPr id="5" name="Rounded Rectangle 4"/>
          <p:cNvSpPr/>
          <p:nvPr/>
        </p:nvSpPr>
        <p:spPr>
          <a:xfrm>
            <a:off x="7965440" y="2057400"/>
            <a:ext cx="331216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8239760" y="2362200"/>
            <a:ext cx="2763520" cy="838200"/>
          </a:xfrm>
          <a:prstGeom prst="rect">
            <a:avLst/>
          </a:prstGeom>
          <a:noFill/>
        </p:spPr>
        <p:txBody>
          <a:bodyPr wrap="square" lIns="0" rIns="0" tIns="0" bIns="0" anchor="t">
            <a:spAutoFit/>
          </a:bodyPr>
          <a:lstStyle/>
          <a:p>
            <a:pPr algn="r" rtl="1">
              <a:lnSpc>
                <a:spcPct val="110000"/>
              </a:lnSpc>
            </a:pPr>
            <a:r>
              <a:rPr sz="2640" b="1" lang="he-IL">
                <a:solidFill>
                  <a:srgbClr val="191A2E"/>
                </a:solidFill>
                <a:latin typeface="Heebo"/>
                <a:ea typeface="Heebo"/>
                <a:cs typeface="Heebo"/>
              </a:rPr>
              <a:t>כד קרוב</a:t>
            </a:r>
          </a:p>
        </p:txBody>
      </p:sp>
      <p:sp>
        <p:nvSpPr>
          <p:cNvPr id="7" name="TextBox 6"/>
          <p:cNvSpPr txBox="1"/>
          <p:nvPr/>
        </p:nvSpPr>
        <p:spPr>
          <a:xfrm>
            <a:off x="8239760" y="29718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עד 3 שנים. רכב, חופשה, אירוע משפחתי. נשאר זמין ויציב.</a:t>
            </a:r>
          </a:p>
        </p:txBody>
      </p:sp>
      <p:sp>
        <p:nvSpPr>
          <p:cNvPr id="8" name="Rounded Rectangle 7"/>
          <p:cNvSpPr/>
          <p:nvPr/>
        </p:nvSpPr>
        <p:spPr>
          <a:xfrm>
            <a:off x="4439920" y="2057400"/>
            <a:ext cx="331216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14240" y="2362200"/>
            <a:ext cx="2763520" cy="838200"/>
          </a:xfrm>
          <a:prstGeom prst="rect">
            <a:avLst/>
          </a:prstGeom>
          <a:noFill/>
        </p:spPr>
        <p:txBody>
          <a:bodyPr wrap="square" lIns="0" rIns="0" tIns="0" bIns="0" anchor="t">
            <a:spAutoFit/>
          </a:bodyPr>
          <a:lstStyle/>
          <a:p>
            <a:pPr algn="r" rtl="1">
              <a:lnSpc>
                <a:spcPct val="110000"/>
              </a:lnSpc>
            </a:pPr>
            <a:r>
              <a:rPr sz="2640" b="1" lang="he-IL">
                <a:solidFill>
                  <a:srgbClr val="191A2E"/>
                </a:solidFill>
                <a:latin typeface="Heebo"/>
                <a:ea typeface="Heebo"/>
                <a:cs typeface="Heebo"/>
              </a:rPr>
              <a:t>כד בינוני</a:t>
            </a:r>
          </a:p>
        </p:txBody>
      </p:sp>
      <p:sp>
        <p:nvSpPr>
          <p:cNvPr id="10" name="TextBox 9"/>
          <p:cNvSpPr txBox="1"/>
          <p:nvPr/>
        </p:nvSpPr>
        <p:spPr>
          <a:xfrm>
            <a:off x="4714240" y="29718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3 עד 8 שנים. מקדמה לדירה, לימודים, שיפוץ.</a:t>
            </a:r>
          </a:p>
        </p:txBody>
      </p:sp>
      <p:sp>
        <p:nvSpPr>
          <p:cNvPr id="11" name="Rounded Rectangle 10"/>
          <p:cNvSpPr/>
          <p:nvPr/>
        </p:nvSpPr>
        <p:spPr>
          <a:xfrm>
            <a:off x="914400" y="2057400"/>
            <a:ext cx="331216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188720" y="2362200"/>
            <a:ext cx="2763520" cy="838200"/>
          </a:xfrm>
          <a:prstGeom prst="rect">
            <a:avLst/>
          </a:prstGeom>
          <a:noFill/>
        </p:spPr>
        <p:txBody>
          <a:bodyPr wrap="square" lIns="0" rIns="0" tIns="0" bIns="0" anchor="t">
            <a:spAutoFit/>
          </a:bodyPr>
          <a:lstStyle/>
          <a:p>
            <a:pPr algn="r" rtl="1">
              <a:lnSpc>
                <a:spcPct val="110000"/>
              </a:lnSpc>
            </a:pPr>
            <a:r>
              <a:rPr sz="2640" b="1" lang="he-IL">
                <a:solidFill>
                  <a:srgbClr val="191A2E"/>
                </a:solidFill>
                <a:latin typeface="Heebo"/>
                <a:ea typeface="Heebo"/>
                <a:cs typeface="Heebo"/>
              </a:rPr>
              <a:t>כד ארוך</a:t>
            </a:r>
          </a:p>
        </p:txBody>
      </p:sp>
      <p:sp>
        <p:nvSpPr>
          <p:cNvPr id="13" name="TextBox 12"/>
          <p:cNvSpPr txBox="1"/>
          <p:nvPr/>
        </p:nvSpPr>
        <p:spPr>
          <a:xfrm>
            <a:off x="1188720" y="2971800"/>
            <a:ext cx="2763520" cy="1905000"/>
          </a:xfrm>
          <a:prstGeom prst="rect">
            <a:avLst/>
          </a:prstGeom>
          <a:noFill/>
        </p:spPr>
        <p:txBody>
          <a:bodyPr wrap="square" lIns="0" rIns="0" tIns="0" bIns="0" anchor="t">
            <a:spAutoFit/>
          </a:bodyPr>
          <a:lstStyle/>
          <a:p>
            <a:pPr algn="r" rtl="1">
              <a:lnSpc>
                <a:spcPct val="140000"/>
              </a:lnSpc>
            </a:pPr>
            <a:r>
              <a:rPr sz="1680" b="0" lang="he-IL">
                <a:solidFill>
                  <a:srgbClr val="191A2E"/>
                </a:solidFill>
                <a:latin typeface="Heebo"/>
                <a:ea typeface="Heebo"/>
                <a:cs typeface="Heebo"/>
              </a:rPr>
              <a:t>מעל 8 שנים. עתיד הילדים, חופש כלכלי, פרישה. ההון שהופך למנגנון השקעה.</a:t>
            </a:r>
          </a:p>
        </p:txBody>
      </p:sp>
      <p:sp>
        <p:nvSpPr>
          <p:cNvPr id="14" name="TextBox 13"/>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בכלי באזור האישי, הטווח הקצר מתחלק לקרוב ובינוני.</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35</a:t>
            </a:r>
          </a:p>
        </p:txBody>
      </p:sp>
      <p:sp>
        <p:nvSpPr>
          <p:cNvPr id="4" name="TextBox 3"/>
          <p:cNvSpPr txBox="1"/>
          <p:nvPr/>
        </p:nvSpPr>
        <p:spPr>
          <a:xfrm>
            <a:off x="914400" y="1954530"/>
            <a:ext cx="10363200" cy="1729740"/>
          </a:xfrm>
          <a:prstGeom prst="rect">
            <a:avLst/>
          </a:prstGeom>
          <a:noFill/>
        </p:spPr>
        <p:txBody>
          <a:bodyPr wrap="square" lIns="0" rIns="0" tIns="0" bIns="0" anchor="t">
            <a:spAutoFit/>
          </a:bodyPr>
          <a:lstStyle/>
          <a:p>
            <a:pPr algn="r" rtl="1">
              <a:lnSpc>
                <a:spcPct val="110000"/>
              </a:lnSpc>
            </a:pPr>
            <a:r>
              <a:rPr sz="5400" b="1" lang="he-IL">
                <a:solidFill>
                  <a:srgbClr val="191A2E"/>
                </a:solidFill>
                <a:latin typeface="Heebo"/>
                <a:ea typeface="Heebo"/>
                <a:cs typeface="Heebo"/>
              </a:rPr>
              <a:t>המטרות שלך</a:t>
            </a:r>
          </a:p>
          <a:p>
            <a:pPr algn="r" rtl="1">
              <a:lnSpc>
                <a:spcPct val="110000"/>
              </a:lnSpc>
            </a:pPr>
            <a:r>
              <a:rPr sz="5400" b="1" lang="he-IL">
                <a:solidFill>
                  <a:srgbClr val="EF55A5"/>
                </a:solidFill>
                <a:latin typeface="Heebo"/>
                <a:ea typeface="Heebo"/>
                <a:cs typeface="Heebo"/>
              </a:rPr>
              <a:t>כבר יודעות לאיזה כד.</a:t>
            </a:r>
          </a:p>
        </p:txBody>
      </p:sp>
      <p:sp>
        <p:nvSpPr>
          <p:cNvPr id="5" name="TextBox 4"/>
          <p:cNvSpPr txBox="1"/>
          <p:nvPr/>
        </p:nvSpPr>
        <p:spPr>
          <a:xfrm>
            <a:off x="914400" y="383667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רכב ב-2027? כד קרוב. מקדמה לדירה ב-2031? בינוני. חופש כלכלי ב-2045? ארוך. התאריך הוא הכתובת.</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36</a:t>
            </a:r>
          </a:p>
        </p:txBody>
      </p:sp>
      <p:sp>
        <p:nvSpPr>
          <p:cNvPr id="4" name="TextBox 3"/>
          <p:cNvSpPr txBox="1"/>
          <p:nvPr/>
        </p:nvSpPr>
        <p:spPr>
          <a:xfrm>
            <a:off x="914400" y="1655064"/>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הכלל הכי חשוב של הערב</a:t>
            </a:r>
          </a:p>
        </p:txBody>
      </p:sp>
      <p:sp>
        <p:nvSpPr>
          <p:cNvPr id="5" name="TextBox 4"/>
          <p:cNvSpPr txBox="1"/>
          <p:nvPr/>
        </p:nvSpPr>
        <p:spPr>
          <a:xfrm>
            <a:off x="914400" y="2112264"/>
            <a:ext cx="10363200" cy="1414272"/>
          </a:xfrm>
          <a:prstGeom prst="rect">
            <a:avLst/>
          </a:prstGeom>
          <a:noFill/>
        </p:spPr>
        <p:txBody>
          <a:bodyPr wrap="square" lIns="0" rIns="0" tIns="0" bIns="0" anchor="t">
            <a:spAutoFit/>
          </a:bodyPr>
          <a:lstStyle/>
          <a:p>
            <a:pPr algn="r" rtl="1">
              <a:lnSpc>
                <a:spcPct val="110000"/>
              </a:lnSpc>
            </a:pPr>
            <a:r>
              <a:rPr sz="4320" b="1" lang="he-IL">
                <a:solidFill>
                  <a:srgbClr val="191A2E"/>
                </a:solidFill>
                <a:latin typeface="Heebo"/>
                <a:ea typeface="Heebo"/>
                <a:cs typeface="Heebo"/>
              </a:rPr>
              <a:t>טווח ארוך =</a:t>
            </a:r>
          </a:p>
          <a:p>
            <a:pPr algn="r" rtl="1">
              <a:lnSpc>
                <a:spcPct val="110000"/>
              </a:lnSpc>
            </a:pPr>
            <a:r>
              <a:rPr sz="4320" b="1" lang="he-IL">
                <a:solidFill>
                  <a:srgbClr val="EF55A5"/>
                </a:solidFill>
                <a:latin typeface="Heebo"/>
                <a:ea typeface="Heebo"/>
                <a:cs typeface="Heebo"/>
              </a:rPr>
              <a:t>כל מה שלא צריך את שאר הבתים.</a:t>
            </a:r>
          </a:p>
        </p:txBody>
      </p:sp>
      <p:sp>
        <p:nvSpPr>
          <p:cNvPr id="6" name="TextBox 5"/>
          <p:cNvSpPr txBox="1"/>
          <p:nvPr/>
        </p:nvSpPr>
        <p:spPr>
          <a:xfrm>
            <a:off x="914400" y="3678936"/>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הכסף שיכול לעבוד בשבילך עשרים שנה. ואליו מגיעות רק אחרי שלושת הבתים הראשונים.</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37</a:t>
            </a:r>
          </a:p>
        </p:txBody>
      </p:sp>
      <p:sp>
        <p:nvSpPr>
          <p:cNvPr id="4" name="TextBox 3"/>
          <p:cNvSpPr txBox="1"/>
          <p:nvPr/>
        </p:nvSpPr>
        <p:spPr>
          <a:xfrm>
            <a:off x="914400" y="9906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לא ההשקעה קובעת את הטווח. הטווח קובע את ההשקעה</a:t>
            </a:r>
          </a:p>
        </p:txBody>
      </p:sp>
      <p:sp>
        <p:nvSpPr>
          <p:cNvPr id="5" name="TextBox 4"/>
          <p:cNvSpPr txBox="1"/>
          <p:nvPr/>
        </p:nvSpPr>
        <p:spPr>
          <a:xfrm>
            <a:off x="914400" y="1371600"/>
            <a:ext cx="10363200" cy="685800"/>
          </a:xfrm>
          <a:prstGeom prst="rect">
            <a:avLst/>
          </a:prstGeom>
          <a:noFill/>
        </p:spPr>
        <p:txBody>
          <a:bodyPr wrap="square" lIns="0" rIns="0" tIns="0" bIns="0" anchor="t">
            <a:spAutoFit/>
          </a:bodyPr>
          <a:lstStyle/>
          <a:p>
            <a:pPr algn="r" rtl="1">
              <a:lnSpc>
                <a:spcPct val="115000"/>
              </a:lnSpc>
            </a:pPr>
            <a:r>
              <a:rPr sz="3840" b="1" lang="he-IL">
                <a:solidFill>
                  <a:srgbClr val="191A2E"/>
                </a:solidFill>
                <a:latin typeface="Heebo"/>
                <a:ea typeface="Heebo"/>
                <a:cs typeface="Heebo"/>
              </a:rPr>
              <a:t>הטווח קובע הכל</a:t>
            </a:r>
          </a:p>
        </p:txBody>
      </p:sp>
      <p:sp>
        <p:nvSpPr>
          <p:cNvPr id="6" name="Rounded Rectangle 5"/>
          <p:cNvSpPr/>
          <p:nvPr/>
        </p:nvSpPr>
        <p:spPr>
          <a:xfrm>
            <a:off x="8056880" y="2895600"/>
            <a:ext cx="3220720" cy="1600200"/>
          </a:xfrm>
          <a:prstGeom prst="roundRect">
            <a:avLst>
              <a:gd name="adj" fmla="val 14285"/>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כסף לשנה: נשאר יציב</a:t>
            </a:r>
          </a:p>
        </p:txBody>
      </p:sp>
      <p:sp>
        <p:nvSpPr>
          <p:cNvPr id="7" name="TextBox 6"/>
          <p:cNvSpPr txBox="1"/>
          <p:nvPr/>
        </p:nvSpPr>
        <p:spPr>
          <a:xfrm>
            <a:off x="770636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8" name="Rounded Rectangle 7"/>
          <p:cNvSpPr/>
          <p:nvPr/>
        </p:nvSpPr>
        <p:spPr>
          <a:xfrm>
            <a:off x="4485640" y="2895600"/>
            <a:ext cx="3220720" cy="1600200"/>
          </a:xfrm>
          <a:prstGeom prst="roundRect">
            <a:avLst>
              <a:gd name="adj" fmla="val 14285"/>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כסף ל-5 שנים: יכול לזוז קצת</a:t>
            </a:r>
          </a:p>
        </p:txBody>
      </p:sp>
      <p:sp>
        <p:nvSpPr>
          <p:cNvPr id="9" name="TextBox 8"/>
          <p:cNvSpPr txBox="1"/>
          <p:nvPr/>
        </p:nvSpPr>
        <p:spPr>
          <a:xfrm>
            <a:off x="413512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0" name="Rounded Rectangle 9"/>
          <p:cNvSpPr/>
          <p:nvPr/>
        </p:nvSpPr>
        <p:spPr>
          <a:xfrm>
            <a:off x="914400" y="2895600"/>
            <a:ext cx="3220720" cy="1600200"/>
          </a:xfrm>
          <a:prstGeom prst="roundRect">
            <a:avLst>
              <a:gd name="adj" fmla="val 14285"/>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כסף ל-20 שנה: יכול לעבוד קשה</a:t>
            </a:r>
          </a:p>
        </p:txBody>
      </p:sp>
      <p:sp>
        <p:nvSpPr>
          <p:cNvPr id="11" name="TextBox 10"/>
          <p:cNvSpPr txBox="1"/>
          <p:nvPr/>
        </p:nvSpPr>
        <p:spPr>
          <a:xfrm>
            <a:off x="914400" y="4953000"/>
            <a:ext cx="10363200" cy="9144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איזו השקעה לאיזה כד? לייב 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38</a:t>
            </a:r>
          </a:p>
        </p:txBody>
      </p:sp>
      <p:sp>
        <p:nvSpPr>
          <p:cNvPr id="4" name="TextBox 3"/>
          <p:cNvSpPr txBox="1"/>
          <p:nvPr/>
        </p:nvSpPr>
        <p:spPr>
          <a:xfrm>
            <a:off x="914400" y="1901952"/>
            <a:ext cx="10363200" cy="1834896"/>
          </a:xfrm>
          <a:prstGeom prst="rect">
            <a:avLst/>
          </a:prstGeom>
          <a:noFill/>
        </p:spPr>
        <p:txBody>
          <a:bodyPr wrap="square" lIns="0" rIns="0" tIns="0" bIns="0" anchor="t">
            <a:spAutoFit/>
          </a:bodyPr>
          <a:lstStyle/>
          <a:p>
            <a:pPr algn="r" rtl="1">
              <a:lnSpc>
                <a:spcPct val="110000"/>
              </a:lnSpc>
            </a:pPr>
            <a:r>
              <a:rPr sz="5759" b="1" lang="he-IL">
                <a:solidFill>
                  <a:srgbClr val="191A2E"/>
                </a:solidFill>
                <a:latin typeface="Heebo"/>
                <a:ea typeface="Heebo"/>
                <a:cs typeface="Heebo"/>
              </a:rPr>
              <a:t>הכדים</a:t>
            </a:r>
          </a:p>
          <a:p>
            <a:pPr algn="r" rtl="1">
              <a:lnSpc>
                <a:spcPct val="110000"/>
              </a:lnSpc>
            </a:pPr>
            <a:r>
              <a:rPr sz="5759" b="1" lang="he-IL">
                <a:solidFill>
                  <a:srgbClr val="EF55A5"/>
                </a:solidFill>
                <a:latin typeface="Heebo"/>
                <a:ea typeface="Heebo"/>
                <a:cs typeface="Heebo"/>
              </a:rPr>
              <a:t>לא מדברים זה עם זה.</a:t>
            </a:r>
          </a:p>
        </p:txBody>
      </p:sp>
      <p:sp>
        <p:nvSpPr>
          <p:cNvPr id="5" name="TextBox 4"/>
          <p:cNvSpPr txBox="1"/>
          <p:nvPr/>
        </p:nvSpPr>
        <p:spPr>
          <a:xfrm>
            <a:off x="914400" y="3889248"/>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כסף שסומן לקרן החירום לא מופיע שוב ככסף פנוי. מטרה קרובה לא עוברת לבד לכד הארוך. כל שקל, פעם אחת, בבית אחד.</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39</a:t>
            </a:r>
          </a:p>
        </p:txBody>
      </p:sp>
      <p:pic>
        <p:nvPicPr>
          <p:cNvPr id="4" name="Picture 3" descr="s19_door.jpg"/>
          <p:cNvPicPr>
            <a:picLocks noChangeAspect="1"/>
          </p:cNvPicPr>
          <p:nvPr/>
        </p:nvPicPr>
        <p:blipFill>
          <a:blip r:embed="rId3"/>
          <a:stretch>
            <a:fillRect/>
          </a:stretch>
        </p:blipFill>
        <p:spPr>
          <a:xfrm>
            <a:off x="914400" y="1295400"/>
            <a:ext cx="3810000" cy="3810000"/>
          </a:xfrm>
          <a:prstGeom prst="roundRect">
            <a:avLst>
              <a:gd name="adj" fmla="val 8000"/>
            </a:avLst>
          </a:prstGeom>
        </p:spPr>
      </p:pic>
      <p:sp>
        <p:nvSpPr>
          <p:cNvPr id="5" name="TextBox 4"/>
          <p:cNvSpPr txBox="1"/>
          <p:nvPr/>
        </p:nvSpPr>
        <p:spPr>
          <a:xfrm>
            <a:off x="5334000" y="1725168"/>
            <a:ext cx="59436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מאחורי הקלעים שלי · ההלוואה מהקיבוץ</a:t>
            </a:r>
          </a:p>
        </p:txBody>
      </p:sp>
      <p:sp>
        <p:nvSpPr>
          <p:cNvPr id="6" name="TextBox 5"/>
          <p:cNvSpPr txBox="1"/>
          <p:nvPr/>
        </p:nvSpPr>
        <p:spPr>
          <a:xfrm>
            <a:off x="5334000" y="2182368"/>
            <a:ext cx="5943600" cy="1274064"/>
          </a:xfrm>
          <a:prstGeom prst="rect">
            <a:avLst/>
          </a:prstGeom>
          <a:noFill/>
        </p:spPr>
        <p:txBody>
          <a:bodyPr wrap="square" lIns="0" rIns="0" tIns="0" bIns="0" anchor="t">
            <a:spAutoFit/>
          </a:bodyPr>
          <a:lstStyle/>
          <a:p>
            <a:pPr algn="r" rtl="1">
              <a:lnSpc>
                <a:spcPct val="110000"/>
              </a:lnSpc>
            </a:pPr>
            <a:r>
              <a:rPr sz="3840" b="1" lang="he-IL">
                <a:solidFill>
                  <a:srgbClr val="191A2E"/>
                </a:solidFill>
                <a:latin typeface="Heebo"/>
                <a:ea typeface="Heebo"/>
                <a:cs typeface="Heebo"/>
              </a:rPr>
              <a:t>”השקענו כסף שלא היה לנו,</a:t>
            </a:r>
          </a:p>
          <a:p>
            <a:pPr algn="r" rtl="1">
              <a:lnSpc>
                <a:spcPct val="110000"/>
              </a:lnSpc>
            </a:pPr>
            <a:r>
              <a:rPr sz="3840" b="1" lang="he-IL">
                <a:solidFill>
                  <a:srgbClr val="191A2E"/>
                </a:solidFill>
                <a:latin typeface="Heebo"/>
                <a:ea typeface="Heebo"/>
                <a:cs typeface="Heebo"/>
              </a:rPr>
              <a:t>ועשינו ממנו עוד כסף.“</a:t>
            </a:r>
          </a:p>
        </p:txBody>
      </p:sp>
      <p:sp>
        <p:nvSpPr>
          <p:cNvPr id="7" name="TextBox 6"/>
          <p:cNvSpPr txBox="1"/>
          <p:nvPr/>
        </p:nvSpPr>
        <p:spPr>
          <a:xfrm>
            <a:off x="5334000" y="3608832"/>
            <a:ext cx="5943600" cy="1524000"/>
          </a:xfrm>
          <a:prstGeom prst="rect">
            <a:avLst/>
          </a:prstGeom>
          <a:noFill/>
        </p:spPr>
        <p:txBody>
          <a:bodyPr wrap="square" lIns="0" rIns="0" tIns="0" bIns="0" anchor="t">
            <a:spAutoFit/>
          </a:bodyPr>
          <a:lstStyle/>
          <a:p>
            <a:pPr algn="r" rtl="1">
              <a:lnSpc>
                <a:spcPct val="145000"/>
              </a:lnSpc>
            </a:pPr>
            <a:r>
              <a:rPr sz="1800" b="0" lang="he-IL">
                <a:solidFill>
                  <a:srgbClr val="EF55A5"/>
                </a:solidFill>
                <a:latin typeface="Heebo"/>
                <a:ea typeface="Heebo"/>
                <a:cs typeface="Heebo"/>
              </a:rPr>
              <a:t>מה אפשר את זה? לא אומץ. הבתים: עו"ש מסודר, קרן חירום, ותזרים חיובי. בלעדיהם זה סיכון. איתם, זה כלי.</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40</a:t>
            </a:r>
          </a:p>
        </p:txBody>
      </p:sp>
      <p:pic>
        <p:nvPicPr>
          <p:cNvPr id="4" name="Picture 3" descr="s46_talk.jpg"/>
          <p:cNvPicPr>
            <a:picLocks noChangeAspect="1"/>
          </p:cNvPicPr>
          <p:nvPr/>
        </p:nvPicPr>
        <p:blipFill>
          <a:blip r:embed="rId3"/>
          <a:stretch>
            <a:fillRect/>
          </a:stretch>
        </p:blipFill>
        <p:spPr>
          <a:xfrm>
            <a:off x="914400" y="1524000"/>
            <a:ext cx="3505200" cy="3505200"/>
          </a:xfrm>
          <a:prstGeom prst="roundRect">
            <a:avLst>
              <a:gd name="adj" fmla="val 8000"/>
            </a:avLst>
          </a:prstGeom>
        </p:spPr>
      </p:pic>
      <p:sp>
        <p:nvSpPr>
          <p:cNvPr id="5" name="TextBox 4"/>
          <p:cNvSpPr txBox="1"/>
          <p:nvPr/>
        </p:nvSpPr>
        <p:spPr>
          <a:xfrm>
            <a:off x="4876800" y="838200"/>
            <a:ext cx="64008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 בלי להסביר, בלי להתנצל</a:t>
            </a:r>
          </a:p>
        </p:txBody>
      </p:sp>
      <p:sp>
        <p:nvSpPr>
          <p:cNvPr id="6" name="TextBox 5"/>
          <p:cNvSpPr txBox="1"/>
          <p:nvPr/>
        </p:nvSpPr>
        <p:spPr>
          <a:xfrm>
            <a:off x="4876800" y="1219200"/>
            <a:ext cx="6400800" cy="685800"/>
          </a:xfrm>
          <a:prstGeom prst="rect">
            <a:avLst/>
          </a:prstGeom>
          <a:noFill/>
        </p:spPr>
        <p:txBody>
          <a:bodyPr wrap="square" lIns="0" rIns="0" tIns="0" bIns="0" anchor="t">
            <a:spAutoFit/>
          </a:bodyPr>
          <a:lstStyle/>
          <a:p>
            <a:pPr algn="r" rtl="1">
              <a:lnSpc>
                <a:spcPct val="110000"/>
              </a:lnSpc>
            </a:pPr>
            <a:r>
              <a:rPr sz="3240" b="1" lang="he-IL">
                <a:solidFill>
                  <a:srgbClr val="191A2E"/>
                </a:solidFill>
                <a:latin typeface="Heebo"/>
                <a:ea typeface="Heebo"/>
                <a:cs typeface="Heebo"/>
              </a:rPr>
              <a:t>בזוגות, 8 דקות בחדרים</a:t>
            </a:r>
          </a:p>
        </p:txBody>
      </p:sp>
      <p:sp>
        <p:nvSpPr>
          <p:cNvPr id="7" name="Oval 6"/>
          <p:cNvSpPr/>
          <p:nvPr/>
        </p:nvSpPr>
        <p:spPr>
          <a:xfrm>
            <a:off x="10850880" y="246888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8" name="TextBox 7"/>
          <p:cNvSpPr txBox="1"/>
          <p:nvPr/>
        </p:nvSpPr>
        <p:spPr>
          <a:xfrm>
            <a:off x="4876800" y="2484120"/>
            <a:ext cx="5760720" cy="94488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המציגה: המפה שלי בעיפרון. עו"ש, חודשי ביטחון, המטרה הראשונה והכד שלה (4 דק')</a:t>
            </a:r>
          </a:p>
        </p:txBody>
      </p:sp>
      <p:sp>
        <p:nvSpPr>
          <p:cNvPr id="9" name="Oval 8"/>
          <p:cNvSpPr/>
          <p:nvPr/>
        </p:nvSpPr>
        <p:spPr>
          <a:xfrm>
            <a:off x="10850880" y="341376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10" name="TextBox 9"/>
          <p:cNvSpPr txBox="1"/>
          <p:nvPr/>
        </p:nvSpPr>
        <p:spPr>
          <a:xfrm>
            <a:off x="4876800" y="3429000"/>
            <a:ext cx="5760720" cy="94488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בת הזוג: שאלה אחת. ”למה דווקא המספר הזה של חודשים?“ ומשקפת במשפט</a:t>
            </a:r>
          </a:p>
        </p:txBody>
      </p:sp>
      <p:sp>
        <p:nvSpPr>
          <p:cNvPr id="11" name="Oval 10"/>
          <p:cNvSpPr/>
          <p:nvPr/>
        </p:nvSpPr>
        <p:spPr>
          <a:xfrm>
            <a:off x="10850880" y="435864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2" name="TextBox 11"/>
          <p:cNvSpPr txBox="1"/>
          <p:nvPr/>
        </p:nvSpPr>
        <p:spPr>
          <a:xfrm>
            <a:off x="4876800" y="4373880"/>
            <a:ext cx="5760720" cy="944880"/>
          </a:xfrm>
          <a:prstGeom prst="rect">
            <a:avLst/>
          </a:prstGeom>
          <a:noFill/>
        </p:spPr>
        <p:txBody>
          <a:bodyPr wrap="square" lIns="0" rIns="0" tIns="0" bIns="0" anchor="t">
            <a:spAutoFit/>
          </a:bodyPr>
          <a:lstStyle/>
          <a:p>
            <a:pPr algn="r" rtl="1">
              <a:lnSpc>
                <a:spcPct val="130000"/>
              </a:lnSpc>
            </a:pPr>
            <a:r>
              <a:rPr sz="1859" b="0" lang="he-IL">
                <a:solidFill>
                  <a:srgbClr val="191A2E"/>
                </a:solidFill>
                <a:latin typeface="Heebo"/>
                <a:ea typeface="Heebo"/>
                <a:cs typeface="Heebo"/>
              </a:rPr>
              <a:t>מתחלפות</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41</a:t>
            </a:r>
          </a:p>
        </p:txBody>
      </p:sp>
      <p:sp>
        <p:nvSpPr>
          <p:cNvPr id="4" name="Rounded Rectangle 3"/>
          <p:cNvSpPr/>
          <p:nvPr/>
        </p:nvSpPr>
        <p:spPr>
          <a:xfrm>
            <a:off x="914400" y="1905000"/>
            <a:ext cx="10363200" cy="2895600"/>
          </a:xfrm>
          <a:prstGeom prst="roundRect">
            <a:avLst>
              <a:gd name="adj" fmla="val 9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463040" y="2438400"/>
            <a:ext cx="92659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בחזרה מהחדרים · מילה בצ'אט</a:t>
            </a:r>
          </a:p>
        </p:txBody>
      </p:sp>
      <p:sp>
        <p:nvSpPr>
          <p:cNvPr id="6" name="TextBox 5"/>
          <p:cNvSpPr txBox="1"/>
          <p:nvPr/>
        </p:nvSpPr>
        <p:spPr>
          <a:xfrm>
            <a:off x="1463040" y="2834640"/>
            <a:ext cx="9265920" cy="1752600"/>
          </a:xfrm>
          <a:prstGeom prst="rect">
            <a:avLst/>
          </a:prstGeom>
          <a:noFill/>
        </p:spPr>
        <p:txBody>
          <a:bodyPr wrap="square" lIns="0" rIns="0" tIns="0" bIns="0" anchor="t">
            <a:spAutoFit/>
          </a:bodyPr>
          <a:lstStyle/>
          <a:p>
            <a:pPr algn="r" rtl="1">
              <a:lnSpc>
                <a:spcPct val="115000"/>
              </a:lnSpc>
            </a:pPr>
            <a:r>
              <a:rPr sz="4440" b="1" lang="he-IL">
                <a:solidFill>
                  <a:srgbClr val="191A2E"/>
                </a:solidFill>
                <a:latin typeface="Heebo"/>
                <a:ea typeface="Heebo"/>
                <a:cs typeface="Heebo"/>
              </a:rPr>
              <a:t>מה הבנת על המספר שלך?</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42</a:t>
            </a:r>
          </a:p>
        </p:txBody>
      </p:sp>
      <p:sp>
        <p:nvSpPr>
          <p:cNvPr id="4" name="TextBox 3"/>
          <p:cNvSpPr txBox="1"/>
          <p:nvPr/>
        </p:nvSpPr>
        <p:spPr>
          <a:xfrm>
            <a:off x="914400" y="1749552"/>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חלק 3 · מספר הזהב</a:t>
            </a:r>
          </a:p>
        </p:txBody>
      </p:sp>
      <p:sp>
        <p:nvSpPr>
          <p:cNvPr id="5" name="TextBox 4"/>
          <p:cNvSpPr txBox="1"/>
          <p:nvPr/>
        </p:nvSpPr>
        <p:spPr>
          <a:xfrm>
            <a:off x="914400" y="2206752"/>
            <a:ext cx="10363200" cy="1834896"/>
          </a:xfrm>
          <a:prstGeom prst="rect">
            <a:avLst/>
          </a:prstGeom>
          <a:noFill/>
        </p:spPr>
        <p:txBody>
          <a:bodyPr wrap="square" lIns="0" rIns="0" tIns="0" bIns="0" anchor="t">
            <a:spAutoFit/>
          </a:bodyPr>
          <a:lstStyle/>
          <a:p>
            <a:pPr algn="r" rtl="1">
              <a:lnSpc>
                <a:spcPct val="110000"/>
              </a:lnSpc>
            </a:pPr>
            <a:r>
              <a:rPr sz="5759" b="1" lang="he-IL">
                <a:solidFill>
                  <a:srgbClr val="191A2E"/>
                </a:solidFill>
                <a:latin typeface="Heebo"/>
                <a:ea typeface="Heebo"/>
                <a:cs typeface="Heebo"/>
              </a:rPr>
              <a:t>כמה אני מפנה</a:t>
            </a:r>
          </a:p>
          <a:p>
            <a:pPr algn="r" rtl="1">
              <a:lnSpc>
                <a:spcPct val="110000"/>
              </a:lnSpc>
            </a:pPr>
            <a:r>
              <a:rPr sz="5759" b="1" lang="he-IL">
                <a:solidFill>
                  <a:srgbClr val="EF55A5"/>
                </a:solidFill>
                <a:latin typeface="Heebo"/>
                <a:ea typeface="Heebo"/>
                <a:cs typeface="Heebo"/>
              </a:rPr>
              <a:t>להשקעה, כל חודש.</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43</a:t>
            </a:r>
          </a:p>
        </p:txBody>
      </p:sp>
      <p:sp>
        <p:nvSpPr>
          <p:cNvPr id="4" name="TextBox 3"/>
          <p:cNvSpPr txBox="1"/>
          <p:nvPr/>
        </p:nvSpPr>
        <p:spPr>
          <a:xfrm>
            <a:off x="914400" y="1516380"/>
            <a:ext cx="10363200" cy="2606040"/>
          </a:xfrm>
          <a:prstGeom prst="rect">
            <a:avLst/>
          </a:prstGeom>
          <a:noFill/>
        </p:spPr>
        <p:txBody>
          <a:bodyPr wrap="square" lIns="0" rIns="0" tIns="0" bIns="0" anchor="t">
            <a:spAutoFit/>
          </a:bodyPr>
          <a:lstStyle/>
          <a:p>
            <a:pPr algn="r" rtl="1">
              <a:lnSpc>
                <a:spcPct val="110000"/>
              </a:lnSpc>
            </a:pPr>
            <a:r>
              <a:rPr sz="8400" b="1" lang="he-IL">
                <a:solidFill>
                  <a:srgbClr val="191A2E"/>
                </a:solidFill>
                <a:latin typeface="Heebo"/>
                <a:ea typeface="Heebo"/>
                <a:cs typeface="Heebo"/>
              </a:rPr>
              <a:t>קודם</a:t>
            </a:r>
          </a:p>
          <a:p>
            <a:pPr algn="r" rtl="1">
              <a:lnSpc>
                <a:spcPct val="110000"/>
              </a:lnSpc>
            </a:pPr>
            <a:r>
              <a:rPr sz="8400" b="1" lang="he-IL">
                <a:solidFill>
                  <a:srgbClr val="EF55A5"/>
                </a:solidFill>
                <a:latin typeface="Heebo"/>
                <a:ea typeface="Heebo"/>
                <a:cs typeface="Heebo"/>
              </a:rPr>
              <a:t>אני.</a:t>
            </a:r>
          </a:p>
        </p:txBody>
      </p:sp>
      <p:sp>
        <p:nvSpPr>
          <p:cNvPr id="5" name="TextBox 4"/>
          <p:cNvSpPr txBox="1"/>
          <p:nvPr/>
        </p:nvSpPr>
        <p:spPr>
          <a:xfrm>
            <a:off x="914400" y="427482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ההשקעה החודשית היא ההוצאה הקבועה הראשונה. לא מה שנשאר בסוף.</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44</a:t>
            </a:r>
          </a:p>
        </p:txBody>
      </p:sp>
      <p:sp>
        <p:nvSpPr>
          <p:cNvPr id="4" name="TextBox 3"/>
          <p:cNvSpPr txBox="1"/>
          <p:nvPr/>
        </p:nvSpPr>
        <p:spPr>
          <a:xfrm>
            <a:off x="914400" y="2504694"/>
            <a:ext cx="10363200" cy="1239012"/>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המטרה היא לא להרוויח יותר.</a:t>
            </a:r>
          </a:p>
          <a:p>
            <a:pPr algn="r" rtl="1">
              <a:lnSpc>
                <a:spcPct val="110000"/>
              </a:lnSpc>
            </a:pPr>
            <a:r>
              <a:rPr sz="3719" b="1" lang="he-IL">
                <a:solidFill>
                  <a:srgbClr val="EF55A5"/>
                </a:solidFill>
                <a:latin typeface="Heebo"/>
                <a:ea typeface="Heebo"/>
                <a:cs typeface="Heebo"/>
              </a:rPr>
              <a:t>המטרה: שחלק מההכנסה יפסיק לממן הוצאות, ויתחיל לבנות חופש.</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45</a:t>
            </a:r>
          </a:p>
        </p:txBody>
      </p:sp>
      <p:sp>
        <p:nvSpPr>
          <p:cNvPr id="4" name="TextBox 3"/>
          <p:cNvSpPr txBox="1"/>
          <p:nvPr/>
        </p:nvSpPr>
        <p:spPr>
          <a:xfrm>
            <a:off x="914400" y="9906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הוא כבר כתוב בשלושת המספרים שהבאת</a:t>
            </a:r>
          </a:p>
        </p:txBody>
      </p:sp>
      <p:sp>
        <p:nvSpPr>
          <p:cNvPr id="5" name="TextBox 4"/>
          <p:cNvSpPr txBox="1"/>
          <p:nvPr/>
        </p:nvSpPr>
        <p:spPr>
          <a:xfrm>
            <a:off x="914400" y="1371600"/>
            <a:ext cx="10363200" cy="685800"/>
          </a:xfrm>
          <a:prstGeom prst="rect">
            <a:avLst/>
          </a:prstGeom>
          <a:noFill/>
        </p:spPr>
        <p:txBody>
          <a:bodyPr wrap="square" lIns="0" rIns="0" tIns="0" bIns="0" anchor="t">
            <a:spAutoFit/>
          </a:bodyPr>
          <a:lstStyle/>
          <a:p>
            <a:pPr algn="r" rtl="1">
              <a:lnSpc>
                <a:spcPct val="115000"/>
              </a:lnSpc>
            </a:pPr>
            <a:r>
              <a:rPr sz="3840" b="1" lang="he-IL">
                <a:solidFill>
                  <a:srgbClr val="191A2E"/>
                </a:solidFill>
                <a:latin typeface="Heebo"/>
                <a:ea typeface="Heebo"/>
                <a:cs typeface="Heebo"/>
              </a:rPr>
              <a:t>מאיפה המספר</a:t>
            </a:r>
          </a:p>
        </p:txBody>
      </p:sp>
      <p:sp>
        <p:nvSpPr>
          <p:cNvPr id="6" name="Rounded Rectangle 5"/>
          <p:cNvSpPr/>
          <p:nvPr/>
        </p:nvSpPr>
        <p:spPr>
          <a:xfrm>
            <a:off x="8056880" y="2895600"/>
            <a:ext cx="3220720" cy="1600200"/>
          </a:xfrm>
          <a:prstGeom prst="roundRect">
            <a:avLst>
              <a:gd name="adj" fmla="val 14285"/>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התזרים שלי</a:t>
            </a:r>
          </a:p>
        </p:txBody>
      </p:sp>
      <p:sp>
        <p:nvSpPr>
          <p:cNvPr id="7" name="TextBox 6"/>
          <p:cNvSpPr txBox="1"/>
          <p:nvPr/>
        </p:nvSpPr>
        <p:spPr>
          <a:xfrm>
            <a:off x="770636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8" name="Rounded Rectangle 7"/>
          <p:cNvSpPr/>
          <p:nvPr/>
        </p:nvSpPr>
        <p:spPr>
          <a:xfrm>
            <a:off x="4485640" y="2895600"/>
            <a:ext cx="3220720" cy="1600200"/>
          </a:xfrm>
          <a:prstGeom prst="roundRect">
            <a:avLst>
              <a:gd name="adj" fmla="val 14285"/>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 מה שאטמתי השבוע</a:t>
            </a:r>
          </a:p>
        </p:txBody>
      </p:sp>
      <p:sp>
        <p:nvSpPr>
          <p:cNvPr id="9" name="TextBox 8"/>
          <p:cNvSpPr txBox="1"/>
          <p:nvPr/>
        </p:nvSpPr>
        <p:spPr>
          <a:xfrm>
            <a:off x="4135120" y="3467100"/>
            <a:ext cx="350520" cy="457200"/>
          </a:xfrm>
          <a:prstGeom prst="rect">
            <a:avLst/>
          </a:prstGeom>
          <a:noFill/>
        </p:spPr>
        <p:txBody>
          <a:bodyPr wrap="square" lIns="0" rIns="0" tIns="0" bIns="0" anchor="t">
            <a:spAutoFit/>
          </a:bodyPr>
          <a:lstStyle/>
          <a:p>
            <a:pPr algn="ctr" rtl="1">
              <a:lnSpc>
                <a:spcPct val="115000"/>
              </a:lnSpc>
            </a:pPr>
            <a:r>
              <a:rPr sz="2400" b="1" lang="he-IL">
                <a:solidFill>
                  <a:srgbClr val="191A2E"/>
                </a:solidFill>
                <a:latin typeface="Heebo"/>
                <a:ea typeface="Heebo"/>
                <a:cs typeface="Heebo"/>
              </a:rPr>
              <a:t>←</a:t>
            </a:r>
          </a:p>
        </p:txBody>
      </p:sp>
      <p:sp>
        <p:nvSpPr>
          <p:cNvPr id="10" name="Rounded Rectangle 9"/>
          <p:cNvSpPr/>
          <p:nvPr/>
        </p:nvSpPr>
        <p:spPr>
          <a:xfrm>
            <a:off x="914400" y="2895600"/>
            <a:ext cx="3220720" cy="1600200"/>
          </a:xfrm>
          <a:prstGeom prst="roundRect">
            <a:avLst>
              <a:gd name="adj" fmla="val 14285"/>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52400" rIns="152400" tIns="91440" bIns="91440"/>
          <a:lstStyle/>
          <a:p>
            <a:pPr algn="ctr" rtl="1">
              <a:lnSpc>
                <a:spcPct val="115000"/>
              </a:lnSpc>
            </a:pPr>
            <a:r>
              <a:rPr sz="2400" b="1" lang="he-IL">
                <a:solidFill>
                  <a:srgbClr val="191A2E"/>
                </a:solidFill>
                <a:latin typeface="Heebo"/>
                <a:ea typeface="Heebo"/>
                <a:cs typeface="Heebo"/>
              </a:rPr>
              <a:t>= מספר הזהב</a:t>
            </a:r>
          </a:p>
        </p:txBody>
      </p:sp>
      <p:sp>
        <p:nvSpPr>
          <p:cNvPr id="11" name="TextBox 10"/>
          <p:cNvSpPr txBox="1"/>
          <p:nvPr/>
        </p:nvSpPr>
        <p:spPr>
          <a:xfrm>
            <a:off x="914400" y="4953000"/>
            <a:ext cx="10363200" cy="9144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התזרים עדיין לא חיובי? מספר הזהב שלך הוא בדיוק מה שאטמת. משם מתחילים.</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46</a:t>
            </a:r>
          </a:p>
        </p:txBody>
      </p:sp>
      <p:sp>
        <p:nvSpPr>
          <p:cNvPr id="4" name="TextBox 3"/>
          <p:cNvSpPr txBox="1"/>
          <p:nvPr/>
        </p:nvSpPr>
        <p:spPr>
          <a:xfrm>
            <a:off x="914400" y="838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מה המספר עושה ב-20 שנה</a:t>
            </a:r>
          </a:p>
        </p:txBody>
      </p:sp>
      <p:sp>
        <p:nvSpPr>
          <p:cNvPr id="5" name="Rounded Rectangle 4"/>
          <p:cNvSpPr/>
          <p:nvPr/>
        </p:nvSpPr>
        <p:spPr>
          <a:xfrm>
            <a:off x="7965440" y="2057400"/>
            <a:ext cx="3312160" cy="3048000"/>
          </a:xfrm>
          <a:prstGeom prst="roundRect">
            <a:avLst>
              <a:gd name="adj" fmla="val 8000"/>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8239760" y="2362200"/>
            <a:ext cx="2763520" cy="838200"/>
          </a:xfrm>
          <a:prstGeom prst="rect">
            <a:avLst/>
          </a:prstGeom>
          <a:noFill/>
        </p:spPr>
        <p:txBody>
          <a:bodyPr wrap="square" lIns="0" rIns="0" tIns="0" bIns="0" anchor="t">
            <a:spAutoFit/>
          </a:bodyPr>
          <a:lstStyle/>
          <a:p>
            <a:pPr algn="r" rtl="1">
              <a:lnSpc>
                <a:spcPct val="110000"/>
              </a:lnSpc>
            </a:pPr>
            <a:r>
              <a:rPr sz="2400" b="1" lang="he-IL">
                <a:solidFill>
                  <a:srgbClr val="191A2E"/>
                </a:solidFill>
                <a:latin typeface="Heebo"/>
                <a:ea typeface="Heebo"/>
                <a:cs typeface="Heebo"/>
              </a:rPr>
              <a:t>300 ₪ בחודש</a:t>
            </a:r>
          </a:p>
        </p:txBody>
      </p:sp>
      <p:sp>
        <p:nvSpPr>
          <p:cNvPr id="7" name="TextBox 6"/>
          <p:cNvSpPr txBox="1"/>
          <p:nvPr/>
        </p:nvSpPr>
        <p:spPr>
          <a:xfrm>
            <a:off x="8239760" y="2971800"/>
            <a:ext cx="2763520" cy="1905000"/>
          </a:xfrm>
          <a:prstGeom prst="rect">
            <a:avLst/>
          </a:prstGeom>
          <a:noFill/>
        </p:spPr>
        <p:txBody>
          <a:bodyPr wrap="square" lIns="0" rIns="0" tIns="0" bIns="0" anchor="t">
            <a:spAutoFit/>
          </a:bodyPr>
          <a:lstStyle/>
          <a:p>
            <a:pPr algn="r" rtl="1">
              <a:lnSpc>
                <a:spcPct val="140000"/>
              </a:lnSpc>
            </a:pPr>
            <a:r>
              <a:rPr sz="2640" b="0" lang="he-IL">
                <a:solidFill>
                  <a:srgbClr val="191A2E"/>
                </a:solidFill>
                <a:latin typeface="Heebo"/>
                <a:ea typeface="Heebo"/>
                <a:cs typeface="Heebo"/>
              </a:rPr>
              <a:t>כ-156,000 ₪</a:t>
            </a:r>
          </a:p>
        </p:txBody>
      </p:sp>
      <p:sp>
        <p:nvSpPr>
          <p:cNvPr id="8" name="Rounded Rectangle 7"/>
          <p:cNvSpPr/>
          <p:nvPr/>
        </p:nvSpPr>
        <p:spPr>
          <a:xfrm>
            <a:off x="4439920" y="2057400"/>
            <a:ext cx="331216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14240" y="2362200"/>
            <a:ext cx="2763520" cy="838200"/>
          </a:xfrm>
          <a:prstGeom prst="rect">
            <a:avLst/>
          </a:prstGeom>
          <a:noFill/>
        </p:spPr>
        <p:txBody>
          <a:bodyPr wrap="square" lIns="0" rIns="0" tIns="0" bIns="0" anchor="t">
            <a:spAutoFit/>
          </a:bodyPr>
          <a:lstStyle/>
          <a:p>
            <a:pPr algn="r" rtl="1">
              <a:lnSpc>
                <a:spcPct val="110000"/>
              </a:lnSpc>
            </a:pPr>
            <a:r>
              <a:rPr sz="2400" b="1" lang="he-IL">
                <a:solidFill>
                  <a:srgbClr val="191A2E"/>
                </a:solidFill>
                <a:latin typeface="Heebo"/>
                <a:ea typeface="Heebo"/>
                <a:cs typeface="Heebo"/>
              </a:rPr>
              <a:t>500 ₪ בחודש</a:t>
            </a:r>
          </a:p>
        </p:txBody>
      </p:sp>
      <p:sp>
        <p:nvSpPr>
          <p:cNvPr id="10" name="TextBox 9"/>
          <p:cNvSpPr txBox="1"/>
          <p:nvPr/>
        </p:nvSpPr>
        <p:spPr>
          <a:xfrm>
            <a:off x="4714240" y="2971800"/>
            <a:ext cx="2763520" cy="1905000"/>
          </a:xfrm>
          <a:prstGeom prst="rect">
            <a:avLst/>
          </a:prstGeom>
          <a:noFill/>
        </p:spPr>
        <p:txBody>
          <a:bodyPr wrap="square" lIns="0" rIns="0" tIns="0" bIns="0" anchor="t">
            <a:spAutoFit/>
          </a:bodyPr>
          <a:lstStyle/>
          <a:p>
            <a:pPr algn="r" rtl="1">
              <a:lnSpc>
                <a:spcPct val="140000"/>
              </a:lnSpc>
            </a:pPr>
            <a:r>
              <a:rPr sz="2640" b="0" lang="he-IL">
                <a:solidFill>
                  <a:srgbClr val="191A2E"/>
                </a:solidFill>
                <a:latin typeface="Heebo"/>
                <a:ea typeface="Heebo"/>
                <a:cs typeface="Heebo"/>
              </a:rPr>
              <a:t>כ-260,000 ₪</a:t>
            </a:r>
          </a:p>
        </p:txBody>
      </p:sp>
      <p:sp>
        <p:nvSpPr>
          <p:cNvPr id="11" name="Rounded Rectangle 10"/>
          <p:cNvSpPr/>
          <p:nvPr/>
        </p:nvSpPr>
        <p:spPr>
          <a:xfrm>
            <a:off x="914400" y="2057400"/>
            <a:ext cx="331216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188720" y="2362200"/>
            <a:ext cx="2763520" cy="838200"/>
          </a:xfrm>
          <a:prstGeom prst="rect">
            <a:avLst/>
          </a:prstGeom>
          <a:noFill/>
        </p:spPr>
        <p:txBody>
          <a:bodyPr wrap="square" lIns="0" rIns="0" tIns="0" bIns="0" anchor="t">
            <a:spAutoFit/>
          </a:bodyPr>
          <a:lstStyle/>
          <a:p>
            <a:pPr algn="r" rtl="1">
              <a:lnSpc>
                <a:spcPct val="110000"/>
              </a:lnSpc>
            </a:pPr>
            <a:r>
              <a:rPr sz="2400" b="1" lang="he-IL">
                <a:solidFill>
                  <a:srgbClr val="191A2E"/>
                </a:solidFill>
                <a:latin typeface="Heebo"/>
                <a:ea typeface="Heebo"/>
                <a:cs typeface="Heebo"/>
              </a:rPr>
              <a:t>1,000 ₪ בחודש</a:t>
            </a:r>
          </a:p>
        </p:txBody>
      </p:sp>
      <p:sp>
        <p:nvSpPr>
          <p:cNvPr id="13" name="TextBox 12"/>
          <p:cNvSpPr txBox="1"/>
          <p:nvPr/>
        </p:nvSpPr>
        <p:spPr>
          <a:xfrm>
            <a:off x="1188720" y="2971800"/>
            <a:ext cx="2763520" cy="1905000"/>
          </a:xfrm>
          <a:prstGeom prst="rect">
            <a:avLst/>
          </a:prstGeom>
          <a:noFill/>
        </p:spPr>
        <p:txBody>
          <a:bodyPr wrap="square" lIns="0" rIns="0" tIns="0" bIns="0" anchor="t">
            <a:spAutoFit/>
          </a:bodyPr>
          <a:lstStyle/>
          <a:p>
            <a:pPr algn="r" rtl="1">
              <a:lnSpc>
                <a:spcPct val="140000"/>
              </a:lnSpc>
            </a:pPr>
            <a:r>
              <a:rPr sz="2640" b="0" lang="he-IL">
                <a:solidFill>
                  <a:srgbClr val="191A2E"/>
                </a:solidFill>
                <a:latin typeface="Heebo"/>
                <a:ea typeface="Heebo"/>
                <a:cs typeface="Heebo"/>
              </a:rPr>
              <a:t>כ-520,000 ₪</a:t>
            </a:r>
          </a:p>
        </p:txBody>
      </p:sp>
      <p:sp>
        <p:nvSpPr>
          <p:cNvPr id="14" name="TextBox 13"/>
          <p:cNvSpPr txBox="1"/>
          <p:nvPr/>
        </p:nvSpPr>
        <p:spPr>
          <a:xfrm>
            <a:off x="914400" y="5562600"/>
            <a:ext cx="10363200" cy="457200"/>
          </a:xfrm>
          <a:prstGeom prst="rect">
            <a:avLst/>
          </a:prstGeom>
          <a:noFill/>
        </p:spPr>
        <p:txBody>
          <a:bodyPr wrap="square" lIns="0" rIns="0" tIns="0" bIns="0" anchor="t">
            <a:spAutoFit/>
          </a:bodyPr>
          <a:lstStyle/>
          <a:p>
            <a:pPr algn="r" rtl="1">
              <a:lnSpc>
                <a:spcPct val="115000"/>
              </a:lnSpc>
            </a:pPr>
            <a:r>
              <a:rPr sz="1680" b="1" lang="he-IL">
                <a:solidFill>
                  <a:srgbClr val="EF55A5"/>
                </a:solidFill>
                <a:latin typeface="Heebo"/>
                <a:ea typeface="Heebo"/>
                <a:cs typeface="Heebo"/>
              </a:rPr>
              <a:t>בתשואה שנתית ממוצעת של 7%. להמחשה בלבד, ללא הבטחת תשואה.</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47</a:t>
            </a:r>
          </a:p>
        </p:txBody>
      </p:sp>
      <p:sp>
        <p:nvSpPr>
          <p:cNvPr id="4" name="TextBox 3"/>
          <p:cNvSpPr txBox="1"/>
          <p:nvPr/>
        </p:nvSpPr>
        <p:spPr>
          <a:xfrm>
            <a:off x="914400" y="1866900"/>
            <a:ext cx="10363200" cy="1905000"/>
          </a:xfrm>
          <a:prstGeom prst="rect">
            <a:avLst/>
          </a:prstGeom>
          <a:noFill/>
        </p:spPr>
        <p:txBody>
          <a:bodyPr wrap="square" lIns="0" rIns="0" tIns="0" bIns="0" anchor="t">
            <a:spAutoFit/>
          </a:bodyPr>
          <a:lstStyle/>
          <a:p>
            <a:pPr algn="r" rtl="1">
              <a:lnSpc>
                <a:spcPct val="110000"/>
              </a:lnSpc>
            </a:pPr>
            <a:r>
              <a:rPr sz="6000" b="1" lang="he-IL">
                <a:solidFill>
                  <a:srgbClr val="191A2E"/>
                </a:solidFill>
                <a:latin typeface="Heebo"/>
                <a:ea typeface="Heebo"/>
                <a:cs typeface="Heebo"/>
              </a:rPr>
              <a:t>מספר הזהב עובד</a:t>
            </a:r>
          </a:p>
          <a:p>
            <a:pPr algn="r" rtl="1">
              <a:lnSpc>
                <a:spcPct val="110000"/>
              </a:lnSpc>
            </a:pPr>
            <a:r>
              <a:rPr sz="6000" b="1" lang="he-IL">
                <a:solidFill>
                  <a:srgbClr val="EF55A5"/>
                </a:solidFill>
                <a:latin typeface="Heebo"/>
                <a:ea typeface="Heebo"/>
                <a:cs typeface="Heebo"/>
              </a:rPr>
              <a:t>גם ב-200 ₪.</a:t>
            </a:r>
          </a:p>
        </p:txBody>
      </p:sp>
      <p:sp>
        <p:nvSpPr>
          <p:cNvPr id="5" name="TextBox 4"/>
          <p:cNvSpPr txBox="1"/>
          <p:nvPr/>
        </p:nvSpPr>
        <p:spPr>
          <a:xfrm>
            <a:off x="914400" y="392430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אפשר להתחיל גם עם 20 ₪ של פער. המספר לא צריך להיות גדול. הוא צריך להיות קבוע.</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48</a:t>
            </a:r>
          </a:p>
        </p:txBody>
      </p:sp>
      <p:sp>
        <p:nvSpPr>
          <p:cNvPr id="4" name="TextBox 3"/>
          <p:cNvSpPr txBox="1"/>
          <p:nvPr/>
        </p:nvSpPr>
        <p:spPr>
          <a:xfrm>
            <a:off x="914400" y="1655064"/>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לאן זה הולך</a:t>
            </a:r>
          </a:p>
        </p:txBody>
      </p:sp>
      <p:sp>
        <p:nvSpPr>
          <p:cNvPr id="5" name="TextBox 4"/>
          <p:cNvSpPr txBox="1"/>
          <p:nvPr/>
        </p:nvSpPr>
        <p:spPr>
          <a:xfrm>
            <a:off x="914400" y="2112264"/>
            <a:ext cx="10363200" cy="1414272"/>
          </a:xfrm>
          <a:prstGeom prst="rect">
            <a:avLst/>
          </a:prstGeom>
          <a:noFill/>
        </p:spPr>
        <p:txBody>
          <a:bodyPr wrap="square" lIns="0" rIns="0" tIns="0" bIns="0" anchor="t">
            <a:spAutoFit/>
          </a:bodyPr>
          <a:lstStyle/>
          <a:p>
            <a:pPr algn="r" rtl="1">
              <a:lnSpc>
                <a:spcPct val="110000"/>
              </a:lnSpc>
            </a:pPr>
            <a:r>
              <a:rPr sz="4320" b="1" lang="he-IL">
                <a:solidFill>
                  <a:srgbClr val="191A2E"/>
                </a:solidFill>
                <a:latin typeface="Heebo"/>
                <a:ea typeface="Heebo"/>
                <a:cs typeface="Heebo"/>
              </a:rPr>
              <a:t>הוראת קבע:</a:t>
            </a:r>
          </a:p>
          <a:p>
            <a:pPr algn="r" rtl="1">
              <a:lnSpc>
                <a:spcPct val="110000"/>
              </a:lnSpc>
            </a:pPr>
            <a:r>
              <a:rPr sz="4320" b="1" lang="he-IL">
                <a:solidFill>
                  <a:srgbClr val="EF55A5"/>
                </a:solidFill>
                <a:latin typeface="Heebo"/>
                <a:ea typeface="Heebo"/>
                <a:cs typeface="Heebo"/>
              </a:rPr>
              <a:t>הכסף זז לפני שאת מספיקה להתלבט.</a:t>
            </a:r>
          </a:p>
        </p:txBody>
      </p:sp>
      <p:sp>
        <p:nvSpPr>
          <p:cNvPr id="6" name="TextBox 5"/>
          <p:cNvSpPr txBox="1"/>
          <p:nvPr/>
        </p:nvSpPr>
        <p:spPr>
          <a:xfrm>
            <a:off x="914400" y="3678936"/>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היעד של הליווי. בלייב 4 עושות את זה ביחד. הערב רק מחליטות על המספר.</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49</a:t>
            </a:r>
          </a:p>
        </p:txBody>
      </p:sp>
      <p:sp>
        <p:nvSpPr>
          <p:cNvPr id="4" name="Rounded Rectangle 3"/>
          <p:cNvSpPr/>
          <p:nvPr/>
        </p:nvSpPr>
        <p:spPr>
          <a:xfrm>
            <a:off x="914400" y="1905000"/>
            <a:ext cx="10363200" cy="2895600"/>
          </a:xfrm>
          <a:prstGeom prst="roundRect">
            <a:avLst>
              <a:gd name="adj" fmla="val 9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463040" y="2438400"/>
            <a:ext cx="92659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בצ'אט · גם אם 200</a:t>
            </a:r>
          </a:p>
        </p:txBody>
      </p:sp>
      <p:sp>
        <p:nvSpPr>
          <p:cNvPr id="6" name="TextBox 5"/>
          <p:cNvSpPr txBox="1"/>
          <p:nvPr/>
        </p:nvSpPr>
        <p:spPr>
          <a:xfrm>
            <a:off x="1463040" y="2834640"/>
            <a:ext cx="9265920" cy="1752600"/>
          </a:xfrm>
          <a:prstGeom prst="rect">
            <a:avLst/>
          </a:prstGeom>
          <a:noFill/>
        </p:spPr>
        <p:txBody>
          <a:bodyPr wrap="square" lIns="0" rIns="0" tIns="0" bIns="0" anchor="t">
            <a:spAutoFit/>
          </a:bodyPr>
          <a:lstStyle/>
          <a:p>
            <a:pPr algn="r" rtl="1">
              <a:lnSpc>
                <a:spcPct val="115000"/>
              </a:lnSpc>
            </a:pPr>
            <a:r>
              <a:rPr sz="4440" b="1" lang="he-IL">
                <a:solidFill>
                  <a:srgbClr val="191A2E"/>
                </a:solidFill>
                <a:latin typeface="Heebo"/>
                <a:ea typeface="Heebo"/>
                <a:cs typeface="Heebo"/>
              </a:rPr>
              <a:t>מספר הזהב שלך?</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50</a:t>
            </a:r>
          </a:p>
        </p:txBody>
      </p:sp>
      <p:sp>
        <p:nvSpPr>
          <p:cNvPr id="4" name="TextBox 3"/>
          <p:cNvSpPr txBox="1"/>
          <p:nvPr/>
        </p:nvSpPr>
        <p:spPr>
          <a:xfrm>
            <a:off x="10515600" y="1143000"/>
            <a:ext cx="762000" cy="914400"/>
          </a:xfrm>
          <a:prstGeom prst="rect">
            <a:avLst/>
          </a:prstGeom>
          <a:noFill/>
        </p:spPr>
        <p:txBody>
          <a:bodyPr wrap="square" lIns="0" rIns="0" tIns="0" bIns="0" anchor="t">
            <a:spAutoFit/>
          </a:bodyPr>
          <a:lstStyle/>
          <a:p>
            <a:pPr algn="r" rtl="1">
              <a:lnSpc>
                <a:spcPct val="80000"/>
              </a:lnSpc>
            </a:pPr>
            <a:r>
              <a:rPr sz="10200" b="1" lang="he-IL">
                <a:solidFill>
                  <a:srgbClr val="EF55A5"/>
                </a:solidFill>
                <a:latin typeface="Heebo"/>
                <a:ea typeface="Heebo"/>
                <a:cs typeface="Heebo"/>
              </a:rPr>
              <a:t>”</a:t>
            </a:r>
          </a:p>
        </p:txBody>
      </p:sp>
      <p:sp>
        <p:nvSpPr>
          <p:cNvPr id="5" name="TextBox 4"/>
          <p:cNvSpPr txBox="1"/>
          <p:nvPr/>
        </p:nvSpPr>
        <p:spPr>
          <a:xfrm>
            <a:off x="914400" y="2286000"/>
            <a:ext cx="10363200" cy="2286000"/>
          </a:xfrm>
          <a:prstGeom prst="rect">
            <a:avLst/>
          </a:prstGeom>
          <a:noFill/>
        </p:spPr>
        <p:txBody>
          <a:bodyPr wrap="square" lIns="0" rIns="0" tIns="0" bIns="0" anchor="t">
            <a:spAutoFit/>
          </a:bodyPr>
          <a:lstStyle/>
          <a:p>
            <a:pPr algn="r" rtl="1">
              <a:lnSpc>
                <a:spcPct val="130000"/>
              </a:lnSpc>
            </a:pPr>
            <a:r>
              <a:rPr sz="3719" b="1" lang="he-IL">
                <a:solidFill>
                  <a:srgbClr val="191A2E"/>
                </a:solidFill>
                <a:latin typeface="Heebo"/>
                <a:ea typeface="Heebo"/>
                <a:cs typeface="Heebo"/>
              </a:rPr>
              <a:t>אל תחסכי את מה שנשאר אחרי ההוצאות. תוציאי את מה שנשאר אחרי החיסכון.</a:t>
            </a:r>
          </a:p>
        </p:txBody>
      </p:sp>
      <p:sp>
        <p:nvSpPr>
          <p:cNvPr id="6" name="Rounded Rectangle 5"/>
          <p:cNvSpPr/>
          <p:nvPr/>
        </p:nvSpPr>
        <p:spPr>
          <a:xfrm>
            <a:off x="10942320" y="5029200"/>
            <a:ext cx="335280" cy="30480"/>
          </a:xfrm>
          <a:prstGeom prst="roundRect">
            <a:avLst>
              <a:gd name="adj" fmla="val 50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48400" y="4892040"/>
            <a:ext cx="4541520" cy="304800"/>
          </a:xfrm>
          <a:prstGeom prst="rect">
            <a:avLst/>
          </a:prstGeom>
          <a:noFill/>
        </p:spPr>
        <p:txBody>
          <a:bodyPr wrap="square" lIns="0" rIns="0" tIns="0" bIns="0" anchor="t">
            <a:spAutoFit/>
          </a:bodyPr>
          <a:lstStyle/>
          <a:p>
            <a:pPr algn="r" rtl="1">
              <a:lnSpc>
                <a:spcPct val="115000"/>
              </a:lnSpc>
            </a:pPr>
            <a:r>
              <a:rPr sz="1560" b="1" lang="he-IL">
                <a:solidFill>
                  <a:srgbClr val="191A2E"/>
                </a:solidFill>
                <a:latin typeface="Heebo"/>
                <a:ea typeface="Heebo"/>
                <a:cs typeface="Heebo"/>
              </a:rPr>
              <a:t>וורן באפט</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51</a:t>
            </a:r>
          </a:p>
        </p:txBody>
      </p:sp>
      <p:sp>
        <p:nvSpPr>
          <p:cNvPr id="4" name="TextBox 3"/>
          <p:cNvSpPr txBox="1"/>
          <p:nvPr/>
        </p:nvSpPr>
        <p:spPr>
          <a:xfrm>
            <a:off x="914400" y="2012442"/>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חלק 4 · הבית שכבר קיים</a:t>
            </a:r>
          </a:p>
        </p:txBody>
      </p:sp>
      <p:sp>
        <p:nvSpPr>
          <p:cNvPr id="5" name="TextBox 4"/>
          <p:cNvSpPr txBox="1"/>
          <p:nvPr/>
        </p:nvSpPr>
        <p:spPr>
          <a:xfrm>
            <a:off x="914400" y="2469642"/>
            <a:ext cx="10363200" cy="1309116"/>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הפנסיה, ההשתלמות והביטוחים:</a:t>
            </a:r>
          </a:p>
          <a:p>
            <a:pPr algn="r" rtl="1">
              <a:lnSpc>
                <a:spcPct val="110000"/>
              </a:lnSpc>
            </a:pPr>
            <a:r>
              <a:rPr sz="3960" b="1" lang="he-IL">
                <a:solidFill>
                  <a:srgbClr val="EF55A5"/>
                </a:solidFill>
                <a:latin typeface="Heebo"/>
                <a:ea typeface="Heebo"/>
                <a:cs typeface="Heebo"/>
              </a:rPr>
              <a:t>כסף שלך, שמישהו אחר מנהל.</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52</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שלושה צעדים · גם לבן הזוג, בכפתור נפרד</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מה קורה בבדיקה</a:t>
            </a:r>
          </a:p>
        </p:txBody>
      </p:sp>
      <p:sp>
        <p:nvSpPr>
          <p:cNvPr id="6" name="Oval 5"/>
          <p:cNvSpPr/>
          <p:nvPr/>
        </p:nvSpPr>
        <p:spPr>
          <a:xfrm>
            <a:off x="10850880" y="246888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7" name="TextBox 6"/>
          <p:cNvSpPr txBox="1"/>
          <p:nvPr/>
        </p:nvSpPr>
        <p:spPr>
          <a:xfrm>
            <a:off x="914400" y="2484120"/>
            <a:ext cx="9723120" cy="944880"/>
          </a:xfrm>
          <a:prstGeom prst="rect">
            <a:avLst/>
          </a:prstGeom>
          <a:noFill/>
        </p:spPr>
        <p:txBody>
          <a:bodyPr wrap="square" lIns="0" rIns="0" tIns="0" bIns="0" anchor="t">
            <a:spAutoFit/>
          </a:bodyPr>
          <a:lstStyle/>
          <a:p>
            <a:pPr algn="r" rtl="1">
              <a:lnSpc>
                <a:spcPct val="130000"/>
              </a:lnSpc>
            </a:pPr>
            <a:r>
              <a:rPr sz="2039" b="0" lang="he-IL">
                <a:solidFill>
                  <a:srgbClr val="191A2E"/>
                </a:solidFill>
                <a:latin typeface="Heebo"/>
                <a:ea typeface="Heebo"/>
                <a:cs typeface="Heebo"/>
              </a:rPr>
              <a:t>את מאשרת: באזור האישי, כרטיס 🛡️, הזמנת מידע פנסיוני מהמסלקה. 2 דקות</a:t>
            </a:r>
          </a:p>
        </p:txBody>
      </p:sp>
      <p:sp>
        <p:nvSpPr>
          <p:cNvPr id="8" name="Oval 7"/>
          <p:cNvSpPr/>
          <p:nvPr/>
        </p:nvSpPr>
        <p:spPr>
          <a:xfrm>
            <a:off x="10850880" y="341376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9" name="TextBox 8"/>
          <p:cNvSpPr txBox="1"/>
          <p:nvPr/>
        </p:nvSpPr>
        <p:spPr>
          <a:xfrm>
            <a:off x="914400" y="3429000"/>
            <a:ext cx="9723120" cy="944880"/>
          </a:xfrm>
          <a:prstGeom prst="rect">
            <a:avLst/>
          </a:prstGeom>
          <a:noFill/>
        </p:spPr>
        <p:txBody>
          <a:bodyPr wrap="square" lIns="0" rIns="0" tIns="0" bIns="0" anchor="t">
            <a:spAutoFit/>
          </a:bodyPr>
          <a:lstStyle/>
          <a:p>
            <a:pPr algn="r" rtl="1">
              <a:lnSpc>
                <a:spcPct val="130000"/>
              </a:lnSpc>
            </a:pPr>
            <a:r>
              <a:rPr sz="2039" b="0" lang="he-IL">
                <a:solidFill>
                  <a:srgbClr val="191A2E"/>
                </a:solidFill>
                <a:latin typeface="Heebo"/>
                <a:ea typeface="Heebo"/>
                <a:cs typeface="Heebo"/>
              </a:rPr>
              <a:t>הסוכן מושך את הדוח: כל הקופות, הביטוחים ודמי הניהול, על עמוד אחד</a:t>
            </a:r>
          </a:p>
        </p:txBody>
      </p:sp>
      <p:sp>
        <p:nvSpPr>
          <p:cNvPr id="10" name="Oval 9"/>
          <p:cNvSpPr/>
          <p:nvPr/>
        </p:nvSpPr>
        <p:spPr>
          <a:xfrm>
            <a:off x="10850880" y="435864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1" name="TextBox 10"/>
          <p:cNvSpPr txBox="1"/>
          <p:nvPr/>
        </p:nvSpPr>
        <p:spPr>
          <a:xfrm>
            <a:off x="914400" y="4373880"/>
            <a:ext cx="9723120" cy="944880"/>
          </a:xfrm>
          <a:prstGeom prst="rect">
            <a:avLst/>
          </a:prstGeom>
          <a:noFill/>
        </p:spPr>
        <p:txBody>
          <a:bodyPr wrap="square" lIns="0" rIns="0" tIns="0" bIns="0" anchor="t">
            <a:spAutoFit/>
          </a:bodyPr>
          <a:lstStyle/>
          <a:p>
            <a:pPr algn="r" rtl="1">
              <a:lnSpc>
                <a:spcPct val="130000"/>
              </a:lnSpc>
            </a:pPr>
            <a:r>
              <a:rPr sz="2039" b="0" lang="he-IL">
                <a:solidFill>
                  <a:srgbClr val="191A2E"/>
                </a:solidFill>
                <a:latin typeface="Heebo"/>
                <a:ea typeface="Heebo"/>
                <a:cs typeface="Heebo"/>
              </a:rPr>
              <a:t>פגישה 1:1 בזום: משאירות · משנות · בודקות</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53</a:t>
            </a:r>
          </a:p>
        </p:txBody>
      </p:sp>
      <p:sp>
        <p:nvSpPr>
          <p:cNvPr id="4" name="TextBox 3"/>
          <p:cNvSpPr txBox="1"/>
          <p:nvPr/>
        </p:nvSpPr>
        <p:spPr>
          <a:xfrm>
            <a:off x="914400" y="1655064"/>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משתתפת סיפרה בלייב 1</a:t>
            </a:r>
          </a:p>
        </p:txBody>
      </p:sp>
      <p:sp>
        <p:nvSpPr>
          <p:cNvPr id="5" name="TextBox 4"/>
          <p:cNvSpPr txBox="1"/>
          <p:nvPr/>
        </p:nvSpPr>
        <p:spPr>
          <a:xfrm>
            <a:off x="914400" y="2112264"/>
            <a:ext cx="10363200" cy="1414272"/>
          </a:xfrm>
          <a:prstGeom prst="rect">
            <a:avLst/>
          </a:prstGeom>
          <a:noFill/>
        </p:spPr>
        <p:txBody>
          <a:bodyPr wrap="square" lIns="0" rIns="0" tIns="0" bIns="0" anchor="t">
            <a:spAutoFit/>
          </a:bodyPr>
          <a:lstStyle/>
          <a:p>
            <a:pPr algn="r" rtl="1">
              <a:lnSpc>
                <a:spcPct val="110000"/>
              </a:lnSpc>
            </a:pPr>
            <a:r>
              <a:rPr sz="4320" b="1" lang="he-IL">
                <a:solidFill>
                  <a:srgbClr val="191A2E"/>
                </a:solidFill>
                <a:latin typeface="Heebo"/>
                <a:ea typeface="Heebo"/>
                <a:cs typeface="Heebo"/>
              </a:rPr>
              <a:t>1,600 ₪ בחודש על ביטוחים.</a:t>
            </a:r>
          </a:p>
          <a:p>
            <a:pPr algn="r" rtl="1">
              <a:lnSpc>
                <a:spcPct val="110000"/>
              </a:lnSpc>
            </a:pPr>
            <a:r>
              <a:rPr sz="4320" b="1" lang="he-IL">
                <a:solidFill>
                  <a:srgbClr val="EF55A5"/>
                </a:solidFill>
                <a:latin typeface="Heebo"/>
                <a:ea typeface="Heebo"/>
                <a:cs typeface="Heebo"/>
              </a:rPr>
              <a:t>אחרי הבדיקה: 400 ₪.</a:t>
            </a:r>
          </a:p>
        </p:txBody>
      </p:sp>
      <p:sp>
        <p:nvSpPr>
          <p:cNvPr id="6" name="TextBox 5"/>
          <p:cNvSpPr txBox="1"/>
          <p:nvPr/>
        </p:nvSpPr>
        <p:spPr>
          <a:xfrm>
            <a:off x="914400" y="3678936"/>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אותן פוליסות, אותם תנאים. 1,200 ₪ בחודש חזרו הביתה. זה מספר זהב שלם.</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54</a:t>
            </a:r>
          </a:p>
        </p:txBody>
      </p:sp>
      <p:sp>
        <p:nvSpPr>
          <p:cNvPr id="4" name="TextBox 3"/>
          <p:cNvSpPr txBox="1"/>
          <p:nvPr/>
        </p:nvSpPr>
        <p:spPr>
          <a:xfrm>
            <a:off x="914400" y="2164842"/>
            <a:ext cx="10363200" cy="1309116"/>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ההוצאה הקבועה הכי גדולה שלך</a:t>
            </a:r>
          </a:p>
          <a:p>
            <a:pPr algn="r" rtl="1">
              <a:lnSpc>
                <a:spcPct val="110000"/>
              </a:lnSpc>
            </a:pPr>
            <a:r>
              <a:rPr sz="3960" b="1" lang="he-IL">
                <a:solidFill>
                  <a:srgbClr val="EF55A5"/>
                </a:solidFill>
                <a:latin typeface="Heebo"/>
                <a:ea typeface="Heebo"/>
                <a:cs typeface="Heebo"/>
              </a:rPr>
              <a:t>היא כנראה זו שאת הכי פחות מכירה.</a:t>
            </a:r>
          </a:p>
        </p:txBody>
      </p:sp>
      <p:sp>
        <p:nvSpPr>
          <p:cNvPr id="5" name="TextBox 4"/>
          <p:cNvSpPr txBox="1"/>
          <p:nvPr/>
        </p:nvSpPr>
        <p:spPr>
          <a:xfrm>
            <a:off x="914400" y="3626358"/>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דמי ניהול של 1% על הפנסיה, לאורך 30 שנה, יכולים להצטבר למאות אלפי שקלים. להמחשה.</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55</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שלוש פעולות</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הערב, 3 דקות</a:t>
            </a:r>
          </a:p>
        </p:txBody>
      </p:sp>
      <p:sp>
        <p:nvSpPr>
          <p:cNvPr id="6" name="Oval 5"/>
          <p:cNvSpPr/>
          <p:nvPr/>
        </p:nvSpPr>
        <p:spPr>
          <a:xfrm>
            <a:off x="10850880" y="246888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7" name="TextBox 6"/>
          <p:cNvSpPr txBox="1"/>
          <p:nvPr/>
        </p:nvSpPr>
        <p:spPr>
          <a:xfrm>
            <a:off x="914400" y="2484120"/>
            <a:ext cx="9723120" cy="944880"/>
          </a:xfrm>
          <a:prstGeom prst="rect">
            <a:avLst/>
          </a:prstGeom>
          <a:noFill/>
        </p:spPr>
        <p:txBody>
          <a:bodyPr wrap="square" lIns="0" rIns="0" tIns="0" bIns="0" anchor="t">
            <a:spAutoFit/>
          </a:bodyPr>
          <a:lstStyle/>
          <a:p>
            <a:pPr algn="r" rtl="1">
              <a:lnSpc>
                <a:spcPct val="130000"/>
              </a:lnSpc>
            </a:pPr>
            <a:r>
              <a:rPr sz="2640" b="0" lang="he-IL">
                <a:solidFill>
                  <a:srgbClr val="191A2E"/>
                </a:solidFill>
                <a:latin typeface="Heebo"/>
                <a:ea typeface="Heebo"/>
                <a:cs typeface="Heebo"/>
              </a:rPr>
              <a:t>לאשר באזור האישי 🛡️</a:t>
            </a:r>
          </a:p>
        </p:txBody>
      </p:sp>
      <p:sp>
        <p:nvSpPr>
          <p:cNvPr id="8" name="Oval 7"/>
          <p:cNvSpPr/>
          <p:nvPr/>
        </p:nvSpPr>
        <p:spPr>
          <a:xfrm>
            <a:off x="10850880" y="341376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9" name="TextBox 8"/>
          <p:cNvSpPr txBox="1"/>
          <p:nvPr/>
        </p:nvSpPr>
        <p:spPr>
          <a:xfrm>
            <a:off x="914400" y="3429000"/>
            <a:ext cx="9723120" cy="944880"/>
          </a:xfrm>
          <a:prstGeom prst="rect">
            <a:avLst/>
          </a:prstGeom>
          <a:noFill/>
        </p:spPr>
        <p:txBody>
          <a:bodyPr wrap="square" lIns="0" rIns="0" tIns="0" bIns="0" anchor="t">
            <a:spAutoFit/>
          </a:bodyPr>
          <a:lstStyle/>
          <a:p>
            <a:pPr algn="r" rtl="1">
              <a:lnSpc>
                <a:spcPct val="130000"/>
              </a:lnSpc>
            </a:pPr>
            <a:r>
              <a:rPr sz="2640" b="0" lang="he-IL">
                <a:solidFill>
                  <a:srgbClr val="191A2E"/>
                </a:solidFill>
                <a:latin typeface="Heebo"/>
                <a:ea typeface="Heebo"/>
                <a:cs typeface="Heebo"/>
              </a:rPr>
              <a:t>לשלוח לבן הזוג את הקישור שלו</a:t>
            </a:r>
          </a:p>
        </p:txBody>
      </p:sp>
      <p:sp>
        <p:nvSpPr>
          <p:cNvPr id="10" name="Oval 9"/>
          <p:cNvSpPr/>
          <p:nvPr/>
        </p:nvSpPr>
        <p:spPr>
          <a:xfrm>
            <a:off x="10850880" y="435864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1" name="TextBox 10"/>
          <p:cNvSpPr txBox="1"/>
          <p:nvPr/>
        </p:nvSpPr>
        <p:spPr>
          <a:xfrm>
            <a:off x="914400" y="4373880"/>
            <a:ext cx="9723120" cy="944880"/>
          </a:xfrm>
          <a:prstGeom prst="rect">
            <a:avLst/>
          </a:prstGeom>
          <a:noFill/>
        </p:spPr>
        <p:txBody>
          <a:bodyPr wrap="square" lIns="0" rIns="0" tIns="0" bIns="0" anchor="t">
            <a:spAutoFit/>
          </a:bodyPr>
          <a:lstStyle/>
          <a:p>
            <a:pPr algn="r" rtl="1">
              <a:lnSpc>
                <a:spcPct val="130000"/>
              </a:lnSpc>
            </a:pPr>
            <a:r>
              <a:rPr sz="2640" b="0" lang="he-IL">
                <a:solidFill>
                  <a:srgbClr val="191A2E"/>
                </a:solidFill>
                <a:latin typeface="Heebo"/>
                <a:ea typeface="Heebo"/>
                <a:cs typeface="Heebo"/>
              </a:rPr>
              <a:t>לקבוע זמן לפגישה כשהיומן נפתח</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56</a:t>
            </a:r>
          </a:p>
        </p:txBody>
      </p:sp>
      <p:sp>
        <p:nvSpPr>
          <p:cNvPr id="4" name="TextBox 3"/>
          <p:cNvSpPr txBox="1"/>
          <p:nvPr/>
        </p:nvSpPr>
        <p:spPr>
          <a:xfrm>
            <a:off x="914400" y="838200"/>
            <a:ext cx="10363200" cy="685800"/>
          </a:xfrm>
          <a:prstGeom prst="rect">
            <a:avLst/>
          </a:prstGeom>
          <a:noFill/>
        </p:spPr>
        <p:txBody>
          <a:bodyPr wrap="square" lIns="0" rIns="0" tIns="0" bIns="0" anchor="t">
            <a:spAutoFit/>
          </a:bodyPr>
          <a:lstStyle/>
          <a:p>
            <a:pPr algn="r" rtl="1">
              <a:lnSpc>
                <a:spcPct val="110000"/>
              </a:lnSpc>
            </a:pPr>
            <a:r>
              <a:rPr sz="3719" b="1" lang="he-IL">
                <a:solidFill>
                  <a:srgbClr val="191A2E"/>
                </a:solidFill>
                <a:latin typeface="Heebo"/>
                <a:ea typeface="Heebo"/>
                <a:cs typeface="Heebo"/>
              </a:rPr>
              <a:t>שלושה כלים. לא לשיעור. לחיים.</a:t>
            </a:r>
          </a:p>
        </p:txBody>
      </p:sp>
      <p:sp>
        <p:nvSpPr>
          <p:cNvPr id="5" name="Rounded Rectangle 4"/>
          <p:cNvSpPr/>
          <p:nvPr/>
        </p:nvSpPr>
        <p:spPr>
          <a:xfrm>
            <a:off x="7965440" y="2324100"/>
            <a:ext cx="3312160" cy="3048000"/>
          </a:xfrm>
          <a:prstGeom prst="roundRect">
            <a:avLst>
              <a:gd name="adj" fmla="val 8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8239760" y="2628900"/>
            <a:ext cx="2763520" cy="838200"/>
          </a:xfrm>
          <a:prstGeom prst="rect">
            <a:avLst/>
          </a:prstGeom>
          <a:noFill/>
        </p:spPr>
        <p:txBody>
          <a:bodyPr wrap="square" lIns="0" rIns="0" tIns="0" bIns="0" anchor="t">
            <a:spAutoFit/>
          </a:bodyPr>
          <a:lstStyle/>
          <a:p>
            <a:pPr algn="r" rtl="1">
              <a:lnSpc>
                <a:spcPct val="110000"/>
              </a:lnSpc>
            </a:pPr>
            <a:r>
              <a:rPr sz="2760" b="1" lang="he-IL">
                <a:solidFill>
                  <a:srgbClr val="191A2E"/>
                </a:solidFill>
                <a:latin typeface="Heebo"/>
                <a:ea typeface="Heebo"/>
                <a:cs typeface="Heebo"/>
              </a:rPr>
              <a:t>קודם אני</a:t>
            </a:r>
          </a:p>
        </p:txBody>
      </p:sp>
      <p:sp>
        <p:nvSpPr>
          <p:cNvPr id="7" name="TextBox 6"/>
          <p:cNvSpPr txBox="1"/>
          <p:nvPr/>
        </p:nvSpPr>
        <p:spPr>
          <a:xfrm>
            <a:off x="8239760" y="3238500"/>
            <a:ext cx="276352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ההשקעה היא ההוצאה הראשונה, לא האחרונה.</a:t>
            </a:r>
          </a:p>
        </p:txBody>
      </p:sp>
      <p:sp>
        <p:nvSpPr>
          <p:cNvPr id="8" name="Rounded Rectangle 7"/>
          <p:cNvSpPr/>
          <p:nvPr/>
        </p:nvSpPr>
        <p:spPr>
          <a:xfrm>
            <a:off x="4439920" y="2324100"/>
            <a:ext cx="3312160" cy="3048000"/>
          </a:xfrm>
          <a:prstGeom prst="roundRect">
            <a:avLst>
              <a:gd name="adj" fmla="val 8000"/>
            </a:avLst>
          </a:prstGeom>
          <a:solidFill>
            <a:srgbClr val="BEE0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14240" y="2628900"/>
            <a:ext cx="2763520" cy="838200"/>
          </a:xfrm>
          <a:prstGeom prst="rect">
            <a:avLst/>
          </a:prstGeom>
          <a:noFill/>
        </p:spPr>
        <p:txBody>
          <a:bodyPr wrap="square" lIns="0" rIns="0" tIns="0" bIns="0" anchor="t">
            <a:spAutoFit/>
          </a:bodyPr>
          <a:lstStyle/>
          <a:p>
            <a:pPr algn="r" rtl="1">
              <a:lnSpc>
                <a:spcPct val="110000"/>
              </a:lnSpc>
            </a:pPr>
            <a:r>
              <a:rPr sz="2760" b="1" lang="he-IL">
                <a:solidFill>
                  <a:srgbClr val="191A2E"/>
                </a:solidFill>
                <a:latin typeface="Heebo"/>
                <a:ea typeface="Heebo"/>
                <a:cs typeface="Heebo"/>
              </a:rPr>
              <a:t>בעיפרון</a:t>
            </a:r>
          </a:p>
        </p:txBody>
      </p:sp>
      <p:sp>
        <p:nvSpPr>
          <p:cNvPr id="10" name="TextBox 9"/>
          <p:cNvSpPr txBox="1"/>
          <p:nvPr/>
        </p:nvSpPr>
        <p:spPr>
          <a:xfrm>
            <a:off x="4714240" y="3238500"/>
            <a:ext cx="276352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כל מספר מהערב הוא גרסה ראשונה. מותר לשנות. חובה להתחיל.</a:t>
            </a:r>
          </a:p>
        </p:txBody>
      </p:sp>
      <p:sp>
        <p:nvSpPr>
          <p:cNvPr id="11" name="Rounded Rectangle 10"/>
          <p:cNvSpPr/>
          <p:nvPr/>
        </p:nvSpPr>
        <p:spPr>
          <a:xfrm>
            <a:off x="914400" y="2324100"/>
            <a:ext cx="3312160" cy="3048000"/>
          </a:xfrm>
          <a:prstGeom prst="roundRect">
            <a:avLst>
              <a:gd name="adj" fmla="val 8000"/>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188720" y="2628900"/>
            <a:ext cx="2763520" cy="838200"/>
          </a:xfrm>
          <a:prstGeom prst="rect">
            <a:avLst/>
          </a:prstGeom>
          <a:noFill/>
        </p:spPr>
        <p:txBody>
          <a:bodyPr wrap="square" lIns="0" rIns="0" tIns="0" bIns="0" anchor="t">
            <a:spAutoFit/>
          </a:bodyPr>
          <a:lstStyle/>
          <a:p>
            <a:pPr algn="r" rtl="1">
              <a:lnSpc>
                <a:spcPct val="110000"/>
              </a:lnSpc>
            </a:pPr>
            <a:r>
              <a:rPr sz="2760" b="1" lang="he-IL">
                <a:solidFill>
                  <a:srgbClr val="191A2E"/>
                </a:solidFill>
                <a:latin typeface="Heebo"/>
                <a:ea typeface="Heebo"/>
                <a:cs typeface="Heebo"/>
              </a:rPr>
              <a:t>הטווח קובע</a:t>
            </a:r>
          </a:p>
        </p:txBody>
      </p:sp>
      <p:sp>
        <p:nvSpPr>
          <p:cNvPr id="13" name="TextBox 12"/>
          <p:cNvSpPr txBox="1"/>
          <p:nvPr/>
        </p:nvSpPr>
        <p:spPr>
          <a:xfrm>
            <a:off x="1188720" y="3238500"/>
            <a:ext cx="2763520" cy="1905000"/>
          </a:xfrm>
          <a:prstGeom prst="rect">
            <a:avLst/>
          </a:prstGeom>
          <a:noFill/>
        </p:spPr>
        <p:txBody>
          <a:bodyPr wrap="square" lIns="0" rIns="0" tIns="0" bIns="0" anchor="t">
            <a:spAutoFit/>
          </a:bodyPr>
          <a:lstStyle/>
          <a:p>
            <a:pPr algn="r" rtl="1">
              <a:lnSpc>
                <a:spcPct val="140000"/>
              </a:lnSpc>
            </a:pPr>
            <a:r>
              <a:rPr sz="1800" b="0" lang="he-IL">
                <a:solidFill>
                  <a:srgbClr val="191A2E"/>
                </a:solidFill>
                <a:latin typeface="Heebo"/>
                <a:ea typeface="Heebo"/>
                <a:cs typeface="Heebo"/>
              </a:rPr>
              <a:t>לפני כל החלטת כסף: מתי אצטרך אותו?</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57</a:t>
            </a:r>
          </a:p>
        </p:txBody>
      </p:sp>
      <p:sp>
        <p:nvSpPr>
          <p:cNvPr id="4" name="TextBox 3"/>
          <p:cNvSpPr txBox="1"/>
          <p:nvPr/>
        </p:nvSpPr>
        <p:spPr>
          <a:xfrm>
            <a:off x="914400" y="1516380"/>
            <a:ext cx="10363200" cy="2606040"/>
          </a:xfrm>
          <a:prstGeom prst="rect">
            <a:avLst/>
          </a:prstGeom>
          <a:noFill/>
        </p:spPr>
        <p:txBody>
          <a:bodyPr wrap="square" lIns="0" rIns="0" tIns="0" bIns="0" anchor="t">
            <a:spAutoFit/>
          </a:bodyPr>
          <a:lstStyle/>
          <a:p>
            <a:pPr algn="r" rtl="1">
              <a:lnSpc>
                <a:spcPct val="110000"/>
              </a:lnSpc>
            </a:pPr>
            <a:r>
              <a:rPr sz="8400" b="1" lang="he-IL">
                <a:solidFill>
                  <a:srgbClr val="191A2E"/>
                </a:solidFill>
                <a:latin typeface="Heebo"/>
                <a:ea typeface="Heebo"/>
                <a:cs typeface="Heebo"/>
              </a:rPr>
              <a:t>אין פה</a:t>
            </a:r>
          </a:p>
          <a:p>
            <a:pPr algn="r" rtl="1">
              <a:lnSpc>
                <a:spcPct val="110000"/>
              </a:lnSpc>
            </a:pPr>
            <a:r>
              <a:rPr sz="8400" b="1" lang="he-IL">
                <a:solidFill>
                  <a:srgbClr val="EF55A5"/>
                </a:solidFill>
                <a:latin typeface="Heebo"/>
                <a:ea typeface="Heebo"/>
                <a:cs typeface="Heebo"/>
              </a:rPr>
              <a:t>מרוץ.</a:t>
            </a:r>
          </a:p>
        </p:txBody>
      </p:sp>
      <p:sp>
        <p:nvSpPr>
          <p:cNvPr id="5" name="TextBox 4"/>
          <p:cNvSpPr txBox="1"/>
          <p:nvPr/>
        </p:nvSpPr>
        <p:spPr>
          <a:xfrm>
            <a:off x="914400" y="4274820"/>
            <a:ext cx="10363200" cy="1524000"/>
          </a:xfrm>
          <a:prstGeom prst="rect">
            <a:avLst/>
          </a:prstGeom>
          <a:noFill/>
        </p:spPr>
        <p:txBody>
          <a:bodyPr wrap="square" lIns="0" rIns="0" tIns="0" bIns="0" anchor="t">
            <a:spAutoFit/>
          </a:bodyPr>
          <a:lstStyle/>
          <a:p>
            <a:pPr algn="r" rtl="1">
              <a:lnSpc>
                <a:spcPct val="145000"/>
              </a:lnSpc>
            </a:pPr>
            <a:r>
              <a:rPr sz="1800" b="0" lang="he-IL">
                <a:solidFill>
                  <a:srgbClr val="6B6B7B"/>
                </a:solidFill>
                <a:latin typeface="Heebo"/>
                <a:ea typeface="Heebo"/>
                <a:cs typeface="Heebo"/>
              </a:rPr>
              <a:t>יש מי שתצא עם קרן חירום מלאה וארבע מטרות, ויש מי שתצא עם מספר אחד: כמה חודשים. שתיהן במקום הנכון.</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58</a:t>
            </a:r>
          </a:p>
        </p:txBody>
      </p:sp>
      <p:sp>
        <p:nvSpPr>
          <p:cNvPr id="4" name="TextBox 3"/>
          <p:cNvSpPr txBox="1"/>
          <p:nvPr/>
        </p:nvSpPr>
        <p:spPr>
          <a:xfrm>
            <a:off x="914400" y="838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מה היה לנו הערב</a:t>
            </a:r>
          </a:p>
        </p:txBody>
      </p:sp>
      <p:sp>
        <p:nvSpPr>
          <p:cNvPr id="5" name="Oval 4"/>
          <p:cNvSpPr/>
          <p:nvPr/>
        </p:nvSpPr>
        <p:spPr>
          <a:xfrm>
            <a:off x="10850880" y="19050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6" name="TextBox 5"/>
          <p:cNvSpPr txBox="1"/>
          <p:nvPr/>
        </p:nvSpPr>
        <p:spPr>
          <a:xfrm>
            <a:off x="914400" y="1920240"/>
            <a:ext cx="9723120" cy="944880"/>
          </a:xfrm>
          <a:prstGeom prst="rect">
            <a:avLst/>
          </a:prstGeom>
          <a:noFill/>
        </p:spPr>
        <p:txBody>
          <a:bodyPr wrap="square" lIns="0" rIns="0" tIns="0" bIns="0" anchor="t">
            <a:spAutoFit/>
          </a:bodyPr>
          <a:lstStyle/>
          <a:p>
            <a:pPr algn="r" rtl="1">
              <a:lnSpc>
                <a:spcPct val="130000"/>
              </a:lnSpc>
            </a:pPr>
            <a:r>
              <a:rPr sz="2640" b="0" lang="he-IL">
                <a:solidFill>
                  <a:srgbClr val="191A2E"/>
                </a:solidFill>
                <a:latin typeface="Heebo"/>
                <a:ea typeface="Heebo"/>
                <a:cs typeface="Heebo"/>
              </a:rPr>
              <a:t>המטרות: סכום ותאריך</a:t>
            </a:r>
          </a:p>
        </p:txBody>
      </p:sp>
      <p:sp>
        <p:nvSpPr>
          <p:cNvPr id="7" name="Oval 6"/>
          <p:cNvSpPr/>
          <p:nvPr/>
        </p:nvSpPr>
        <p:spPr>
          <a:xfrm>
            <a:off x="10850880" y="284988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8" name="TextBox 7"/>
          <p:cNvSpPr txBox="1"/>
          <p:nvPr/>
        </p:nvSpPr>
        <p:spPr>
          <a:xfrm>
            <a:off x="914400" y="2865120"/>
            <a:ext cx="9723120" cy="944880"/>
          </a:xfrm>
          <a:prstGeom prst="rect">
            <a:avLst/>
          </a:prstGeom>
          <a:noFill/>
        </p:spPr>
        <p:txBody>
          <a:bodyPr wrap="square" lIns="0" rIns="0" tIns="0" bIns="0" anchor="t">
            <a:spAutoFit/>
          </a:bodyPr>
          <a:lstStyle/>
          <a:p>
            <a:pPr algn="r" rtl="1">
              <a:lnSpc>
                <a:spcPct val="130000"/>
              </a:lnSpc>
            </a:pPr>
            <a:r>
              <a:rPr sz="2640" b="0" lang="he-IL">
                <a:solidFill>
                  <a:srgbClr val="191A2E"/>
                </a:solidFill>
                <a:latin typeface="Heebo"/>
                <a:ea typeface="Heebo"/>
                <a:cs typeface="Heebo"/>
              </a:rPr>
              <a:t>ארבעה בתים</a:t>
            </a:r>
          </a:p>
        </p:txBody>
      </p:sp>
      <p:sp>
        <p:nvSpPr>
          <p:cNvPr id="9" name="Oval 8"/>
          <p:cNvSpPr/>
          <p:nvPr/>
        </p:nvSpPr>
        <p:spPr>
          <a:xfrm>
            <a:off x="10850880" y="379476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0" name="TextBox 9"/>
          <p:cNvSpPr txBox="1"/>
          <p:nvPr/>
        </p:nvSpPr>
        <p:spPr>
          <a:xfrm>
            <a:off x="914400" y="3810000"/>
            <a:ext cx="9723120" cy="944880"/>
          </a:xfrm>
          <a:prstGeom prst="rect">
            <a:avLst/>
          </a:prstGeom>
          <a:noFill/>
        </p:spPr>
        <p:txBody>
          <a:bodyPr wrap="square" lIns="0" rIns="0" tIns="0" bIns="0" anchor="t">
            <a:spAutoFit/>
          </a:bodyPr>
          <a:lstStyle/>
          <a:p>
            <a:pPr algn="r" rtl="1">
              <a:lnSpc>
                <a:spcPct val="130000"/>
              </a:lnSpc>
            </a:pPr>
            <a:r>
              <a:rPr sz="2640" b="0" lang="he-IL">
                <a:solidFill>
                  <a:srgbClr val="191A2E"/>
                </a:solidFill>
                <a:latin typeface="Heebo"/>
                <a:ea typeface="Heebo"/>
                <a:cs typeface="Heebo"/>
              </a:rPr>
              <a:t>מספר הזהב</a:t>
            </a:r>
          </a:p>
        </p:txBody>
      </p:sp>
      <p:sp>
        <p:nvSpPr>
          <p:cNvPr id="11" name="Oval 10"/>
          <p:cNvSpPr/>
          <p:nvPr/>
        </p:nvSpPr>
        <p:spPr>
          <a:xfrm>
            <a:off x="10850880" y="473964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4</a:t>
            </a:r>
          </a:p>
        </p:txBody>
      </p:sp>
      <p:sp>
        <p:nvSpPr>
          <p:cNvPr id="12" name="TextBox 11"/>
          <p:cNvSpPr txBox="1"/>
          <p:nvPr/>
        </p:nvSpPr>
        <p:spPr>
          <a:xfrm>
            <a:off x="914400" y="4754880"/>
            <a:ext cx="9723120" cy="944880"/>
          </a:xfrm>
          <a:prstGeom prst="rect">
            <a:avLst/>
          </a:prstGeom>
          <a:noFill/>
        </p:spPr>
        <p:txBody>
          <a:bodyPr wrap="square" lIns="0" rIns="0" tIns="0" bIns="0" anchor="t">
            <a:spAutoFit/>
          </a:bodyPr>
          <a:lstStyle/>
          <a:p>
            <a:pPr algn="r" rtl="1">
              <a:lnSpc>
                <a:spcPct val="130000"/>
              </a:lnSpc>
            </a:pPr>
            <a:r>
              <a:rPr sz="2640" b="0" lang="he-IL">
                <a:solidFill>
                  <a:srgbClr val="191A2E"/>
                </a:solidFill>
                <a:latin typeface="Heebo"/>
                <a:ea typeface="Heebo"/>
                <a:cs typeface="Heebo"/>
              </a:rPr>
              <a:t>הבדיקה הפנסיונית</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59</a:t>
            </a:r>
          </a:p>
        </p:txBody>
      </p:sp>
      <p:sp>
        <p:nvSpPr>
          <p:cNvPr id="4" name="TextBox 3"/>
          <p:cNvSpPr txBox="1"/>
          <p:nvPr/>
        </p:nvSpPr>
        <p:spPr>
          <a:xfrm>
            <a:off x="914400" y="8382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באזור האישי · 4 תחנות, ~20 דקות · תוצר אחד: המפה על עמוד אחד</a:t>
            </a:r>
          </a:p>
        </p:txBody>
      </p:sp>
      <p:sp>
        <p:nvSpPr>
          <p:cNvPr id="5" name="TextBox 4"/>
          <p:cNvSpPr txBox="1"/>
          <p:nvPr/>
        </p:nvSpPr>
        <p:spPr>
          <a:xfrm>
            <a:off x="914400" y="1219200"/>
            <a:ext cx="10363200" cy="685800"/>
          </a:xfrm>
          <a:prstGeom prst="rect">
            <a:avLst/>
          </a:prstGeom>
          <a:noFill/>
        </p:spPr>
        <p:txBody>
          <a:bodyPr wrap="square" lIns="0" rIns="0" tIns="0" bIns="0" anchor="t">
            <a:spAutoFit/>
          </a:bodyPr>
          <a:lstStyle/>
          <a:p>
            <a:pPr algn="r" rtl="1">
              <a:lnSpc>
                <a:spcPct val="110000"/>
              </a:lnSpc>
            </a:pPr>
            <a:r>
              <a:rPr sz="3960" b="1" lang="he-IL">
                <a:solidFill>
                  <a:srgbClr val="191A2E"/>
                </a:solidFill>
                <a:latin typeface="Heebo"/>
                <a:ea typeface="Heebo"/>
                <a:cs typeface="Heebo"/>
              </a:rPr>
              <a:t>המשימה לשבוע: מפת המצפן שלי 🧭</a:t>
            </a:r>
          </a:p>
        </p:txBody>
      </p:sp>
      <p:sp>
        <p:nvSpPr>
          <p:cNvPr id="6" name="Oval 5"/>
          <p:cNvSpPr/>
          <p:nvPr/>
        </p:nvSpPr>
        <p:spPr>
          <a:xfrm>
            <a:off x="10850880" y="22860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1</a:t>
            </a:r>
          </a:p>
        </p:txBody>
      </p:sp>
      <p:sp>
        <p:nvSpPr>
          <p:cNvPr id="7" name="TextBox 6"/>
          <p:cNvSpPr txBox="1"/>
          <p:nvPr/>
        </p:nvSpPr>
        <p:spPr>
          <a:xfrm>
            <a:off x="914400" y="23012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עד 3 מטרות, עם סכום ותאריך</a:t>
            </a:r>
          </a:p>
        </p:txBody>
      </p:sp>
      <p:sp>
        <p:nvSpPr>
          <p:cNvPr id="8" name="Oval 7"/>
          <p:cNvSpPr/>
          <p:nvPr/>
        </p:nvSpPr>
        <p:spPr>
          <a:xfrm>
            <a:off x="10850880" y="31623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2</a:t>
            </a:r>
          </a:p>
        </p:txBody>
      </p:sp>
      <p:sp>
        <p:nvSpPr>
          <p:cNvPr id="9" name="TextBox 8"/>
          <p:cNvSpPr txBox="1"/>
          <p:nvPr/>
        </p:nvSpPr>
        <p:spPr>
          <a:xfrm>
            <a:off x="914400" y="31775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קרן החירום: המספר שלי</a:t>
            </a:r>
          </a:p>
        </p:txBody>
      </p:sp>
      <p:sp>
        <p:nvSpPr>
          <p:cNvPr id="10" name="Oval 9"/>
          <p:cNvSpPr/>
          <p:nvPr/>
        </p:nvSpPr>
        <p:spPr>
          <a:xfrm>
            <a:off x="10850880" y="40386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3</a:t>
            </a:r>
          </a:p>
        </p:txBody>
      </p:sp>
      <p:sp>
        <p:nvSpPr>
          <p:cNvPr id="11" name="TextBox 10"/>
          <p:cNvSpPr txBox="1"/>
          <p:nvPr/>
        </p:nvSpPr>
        <p:spPr>
          <a:xfrm>
            <a:off x="914400" y="40538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שלושת הכדים</a:t>
            </a:r>
          </a:p>
        </p:txBody>
      </p:sp>
      <p:sp>
        <p:nvSpPr>
          <p:cNvPr id="12" name="Oval 11"/>
          <p:cNvSpPr/>
          <p:nvPr/>
        </p:nvSpPr>
        <p:spPr>
          <a:xfrm>
            <a:off x="10850880" y="4914900"/>
            <a:ext cx="426720" cy="426720"/>
          </a:xfrm>
          <a:prstGeom prst="ellipse">
            <a:avLst/>
          </a:prstGeom>
          <a:solidFill>
            <a:srgbClr val="191A2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1439" b="1" lang="he-IL">
                <a:solidFill>
                  <a:srgbClr val="FFFFFF"/>
                </a:solidFill>
                <a:latin typeface="Heebo"/>
                <a:ea typeface="Heebo"/>
                <a:cs typeface="Heebo"/>
              </a:rPr>
              <a:t>4</a:t>
            </a:r>
          </a:p>
        </p:txBody>
      </p:sp>
      <p:sp>
        <p:nvSpPr>
          <p:cNvPr id="13" name="TextBox 12"/>
          <p:cNvSpPr txBox="1"/>
          <p:nvPr/>
        </p:nvSpPr>
        <p:spPr>
          <a:xfrm>
            <a:off x="914400" y="4930140"/>
            <a:ext cx="9723120" cy="876300"/>
          </a:xfrm>
          <a:prstGeom prst="rect">
            <a:avLst/>
          </a:prstGeom>
          <a:noFill/>
        </p:spPr>
        <p:txBody>
          <a:bodyPr wrap="square" lIns="0" rIns="0" tIns="0" bIns="0" anchor="t">
            <a:spAutoFit/>
          </a:bodyPr>
          <a:lstStyle/>
          <a:p>
            <a:pPr algn="r" rtl="1">
              <a:lnSpc>
                <a:spcPct val="130000"/>
              </a:lnSpc>
            </a:pPr>
            <a:r>
              <a:rPr sz="2280" b="0" lang="he-IL">
                <a:solidFill>
                  <a:srgbClr val="191A2E"/>
                </a:solidFill>
                <a:latin typeface="Heebo"/>
                <a:ea typeface="Heebo"/>
                <a:cs typeface="Heebo"/>
              </a:rPr>
              <a:t>✓ אישור הבדיקה הפנסיונית</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60</a:t>
            </a:r>
          </a:p>
        </p:txBody>
      </p:sp>
      <p:sp>
        <p:nvSpPr>
          <p:cNvPr id="4" name="Rounded Rectangle 3"/>
          <p:cNvSpPr/>
          <p:nvPr/>
        </p:nvSpPr>
        <p:spPr>
          <a:xfrm>
            <a:off x="914400" y="1905000"/>
            <a:ext cx="10363200" cy="2895600"/>
          </a:xfrm>
          <a:prstGeom prst="roundRect">
            <a:avLst>
              <a:gd name="adj" fmla="val 9000"/>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463040" y="2438400"/>
            <a:ext cx="9265920" cy="259080"/>
          </a:xfrm>
          <a:prstGeom prst="rect">
            <a:avLst/>
          </a:prstGeom>
          <a:noFill/>
        </p:spPr>
        <p:txBody>
          <a:bodyPr wrap="square" lIns="0" rIns="0" tIns="0" bIns="0" anchor="t">
            <a:spAutoFit/>
          </a:bodyPr>
          <a:lstStyle/>
          <a:p>
            <a:pPr algn="r" rtl="1">
              <a:lnSpc>
                <a:spcPct val="115000"/>
              </a:lnSpc>
            </a:pPr>
            <a:r>
              <a:rPr sz="1140" b="1" lang="he-IL">
                <a:solidFill>
                  <a:srgbClr val="191A2E"/>
                </a:solidFill>
                <a:latin typeface="Heebo"/>
                <a:ea typeface="Heebo"/>
                <a:cs typeface="Heebo"/>
              </a:rPr>
              <a:t>בצ'אט</a:t>
            </a:r>
          </a:p>
        </p:txBody>
      </p:sp>
      <p:sp>
        <p:nvSpPr>
          <p:cNvPr id="6" name="TextBox 5"/>
          <p:cNvSpPr txBox="1"/>
          <p:nvPr/>
        </p:nvSpPr>
        <p:spPr>
          <a:xfrm>
            <a:off x="1463040" y="2834640"/>
            <a:ext cx="9265920" cy="1752600"/>
          </a:xfrm>
          <a:prstGeom prst="rect">
            <a:avLst/>
          </a:prstGeom>
          <a:noFill/>
        </p:spPr>
        <p:txBody>
          <a:bodyPr wrap="square" lIns="0" rIns="0" tIns="0" bIns="0" anchor="t">
            <a:spAutoFit/>
          </a:bodyPr>
          <a:lstStyle/>
          <a:p>
            <a:pPr algn="r" rtl="1">
              <a:lnSpc>
                <a:spcPct val="115000"/>
              </a:lnSpc>
            </a:pPr>
            <a:r>
              <a:rPr sz="4440" b="1" lang="he-IL">
                <a:solidFill>
                  <a:srgbClr val="191A2E"/>
                </a:solidFill>
                <a:latin typeface="Heebo"/>
                <a:ea typeface="Heebo"/>
                <a:cs typeface="Heebo"/>
              </a:rPr>
              <a:t>מילה אחת שאת לוקחת מהערב</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6858000" y="6385560"/>
            <a:ext cx="4419600" cy="228600"/>
          </a:xfrm>
          <a:prstGeom prst="rect">
            <a:avLst/>
          </a:prstGeom>
          <a:noFill/>
        </p:spPr>
        <p:txBody>
          <a:bodyPr wrap="square" lIns="0" rIns="0" tIns="0" bIns="0" anchor="t">
            <a:spAutoFit/>
          </a:bodyPr>
          <a:lstStyle/>
          <a:p>
            <a:pPr algn="r" rtl="1">
              <a:lnSpc>
                <a:spcPct val="115000"/>
              </a:lnSpc>
            </a:pPr>
            <a:r>
              <a:rPr sz="960" b="0" lang="he-IL">
                <a:solidFill>
                  <a:srgbClr val="6B6B7B"/>
                </a:solidFill>
                <a:latin typeface="Heebo"/>
                <a:ea typeface="Heebo"/>
                <a:cs typeface="Heebo"/>
              </a:rPr>
              <a:t>ליווי אמא משקיעה · לייב 2 · מגינות</a:t>
            </a:r>
          </a:p>
        </p:txBody>
      </p:sp>
      <p:sp>
        <p:nvSpPr>
          <p:cNvPr id="3" name="TextBox 2"/>
          <p:cNvSpPr txBox="1"/>
          <p:nvPr/>
        </p:nvSpPr>
        <p:spPr>
          <a:xfrm>
            <a:off x="914400" y="6385560"/>
            <a:ext cx="1524000" cy="228600"/>
          </a:xfrm>
          <a:prstGeom prst="rect">
            <a:avLst/>
          </a:prstGeom>
          <a:noFill/>
        </p:spPr>
        <p:txBody>
          <a:bodyPr wrap="square" lIns="0" rIns="0" tIns="0" bIns="0" anchor="t">
            <a:spAutoFit/>
          </a:bodyPr>
          <a:lstStyle/>
          <a:p>
            <a:pPr algn="l" rtl="1">
              <a:lnSpc>
                <a:spcPct val="115000"/>
              </a:lnSpc>
            </a:pPr>
            <a:r>
              <a:rPr sz="960" b="0" lang="he-IL">
                <a:solidFill>
                  <a:srgbClr val="6B6B7B"/>
                </a:solidFill>
                <a:latin typeface="Heebo"/>
                <a:ea typeface="Heebo"/>
                <a:cs typeface="Heebo"/>
              </a:rPr>
              <a:t>61</a:t>
            </a:r>
          </a:p>
        </p:txBody>
      </p:sp>
      <p:sp>
        <p:nvSpPr>
          <p:cNvPr id="4" name="TextBox 3"/>
          <p:cNvSpPr txBox="1"/>
          <p:nvPr/>
        </p:nvSpPr>
        <p:spPr>
          <a:xfrm>
            <a:off x="914400" y="1143000"/>
            <a:ext cx="10363200" cy="259080"/>
          </a:xfrm>
          <a:prstGeom prst="rect">
            <a:avLst/>
          </a:prstGeom>
          <a:noFill/>
        </p:spPr>
        <p:txBody>
          <a:bodyPr wrap="square" lIns="0" rIns="0" tIns="0" bIns="0" anchor="t">
            <a:spAutoFit/>
          </a:bodyPr>
          <a:lstStyle/>
          <a:p>
            <a:pPr algn="r" rtl="1">
              <a:lnSpc>
                <a:spcPct val="115000"/>
              </a:lnSpc>
            </a:pPr>
            <a:r>
              <a:rPr sz="1140" b="1" lang="he-IL">
                <a:solidFill>
                  <a:srgbClr val="EF55A5"/>
                </a:solidFill>
                <a:latin typeface="Heebo"/>
                <a:ea typeface="Heebo"/>
                <a:cs typeface="Heebo"/>
              </a:rPr>
              <a:t>בשבוע הבא</a:t>
            </a:r>
          </a:p>
        </p:txBody>
      </p:sp>
      <p:sp>
        <p:nvSpPr>
          <p:cNvPr id="5" name="Rectangle 4"/>
          <p:cNvSpPr/>
          <p:nvPr/>
        </p:nvSpPr>
        <p:spPr>
          <a:xfrm>
            <a:off x="2286000" y="2453640"/>
            <a:ext cx="7620000" cy="30480"/>
          </a:xfrm>
          <a:prstGeom prst="rect">
            <a:avLst/>
          </a:prstGeom>
          <a:solidFill>
            <a:srgbClr val="ECE7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val 5"/>
          <p:cNvSpPr/>
          <p:nvPr/>
        </p:nvSpPr>
        <p:spPr>
          <a:xfrm>
            <a:off x="10104120" y="1981200"/>
            <a:ext cx="975360" cy="975360"/>
          </a:xfrm>
          <a:prstGeom prst="ellipse">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191A2E"/>
                </a:solidFill>
                <a:latin typeface="Heebo"/>
                <a:ea typeface="Heebo"/>
                <a:cs typeface="Heebo"/>
              </a:rPr>
              <a:t>1</a:t>
            </a:r>
          </a:p>
        </p:txBody>
      </p:sp>
      <p:sp>
        <p:nvSpPr>
          <p:cNvPr id="7" name="TextBox 6"/>
          <p:cNvSpPr txBox="1"/>
          <p:nvPr/>
        </p:nvSpPr>
        <p:spPr>
          <a:xfrm>
            <a:off x="944880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191A2E"/>
                </a:solidFill>
                <a:latin typeface="Heebo"/>
                <a:ea typeface="Heebo"/>
                <a:cs typeface="Heebo"/>
              </a:rPr>
              <a:t>שבוע 1 · ממפות</a:t>
            </a:r>
          </a:p>
        </p:txBody>
      </p:sp>
      <p:sp>
        <p:nvSpPr>
          <p:cNvPr id="8" name="Oval 7"/>
          <p:cNvSpPr/>
          <p:nvPr/>
        </p:nvSpPr>
        <p:spPr>
          <a:xfrm>
            <a:off x="7109460" y="1981200"/>
            <a:ext cx="975360" cy="975360"/>
          </a:xfrm>
          <a:prstGeom prst="ellipse">
            <a:avLst/>
          </a:prstGeom>
          <a:solidFill>
            <a:srgbClr val="CCD537"/>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191A2E"/>
                </a:solidFill>
                <a:latin typeface="Heebo"/>
                <a:ea typeface="Heebo"/>
                <a:cs typeface="Heebo"/>
              </a:rPr>
              <a:t>2</a:t>
            </a:r>
          </a:p>
        </p:txBody>
      </p:sp>
      <p:sp>
        <p:nvSpPr>
          <p:cNvPr id="9" name="TextBox 8"/>
          <p:cNvSpPr txBox="1"/>
          <p:nvPr/>
        </p:nvSpPr>
        <p:spPr>
          <a:xfrm>
            <a:off x="645414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191A2E"/>
                </a:solidFill>
                <a:latin typeface="Heebo"/>
                <a:ea typeface="Heebo"/>
                <a:cs typeface="Heebo"/>
              </a:rPr>
              <a:t>שבוע 2 · מגינות</a:t>
            </a:r>
          </a:p>
        </p:txBody>
      </p:sp>
      <p:sp>
        <p:nvSpPr>
          <p:cNvPr id="10" name="Oval 9"/>
          <p:cNvSpPr/>
          <p:nvPr/>
        </p:nvSpPr>
        <p:spPr>
          <a:xfrm>
            <a:off x="4023360" y="1889760"/>
            <a:ext cx="1158240" cy="1158240"/>
          </a:xfrm>
          <a:prstGeom prst="ellipse">
            <a:avLst/>
          </a:prstGeom>
          <a:solidFill>
            <a:srgbClr val="FCE1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Oval 10"/>
          <p:cNvSpPr/>
          <p:nvPr/>
        </p:nvSpPr>
        <p:spPr>
          <a:xfrm>
            <a:off x="4114800" y="1981200"/>
            <a:ext cx="975360" cy="975360"/>
          </a:xfrm>
          <a:prstGeom prst="ellipse">
            <a:avLst/>
          </a:prstGeom>
          <a:solidFill>
            <a:srgbClr val="EF55A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191A2E"/>
                </a:solidFill>
                <a:latin typeface="Heebo"/>
                <a:ea typeface="Heebo"/>
                <a:cs typeface="Heebo"/>
              </a:rPr>
              <a:t>3</a:t>
            </a:r>
          </a:p>
        </p:txBody>
      </p:sp>
      <p:sp>
        <p:nvSpPr>
          <p:cNvPr id="12" name="TextBox 11"/>
          <p:cNvSpPr txBox="1"/>
          <p:nvPr/>
        </p:nvSpPr>
        <p:spPr>
          <a:xfrm>
            <a:off x="345948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191A2E"/>
                </a:solidFill>
                <a:latin typeface="Heebo"/>
                <a:ea typeface="Heebo"/>
                <a:cs typeface="Heebo"/>
              </a:rPr>
              <a:t>שבוע 3 · מחלקות</a:t>
            </a:r>
          </a:p>
        </p:txBody>
      </p:sp>
      <p:sp>
        <p:nvSpPr>
          <p:cNvPr id="13" name="Oval 12"/>
          <p:cNvSpPr/>
          <p:nvPr/>
        </p:nvSpPr>
        <p:spPr>
          <a:xfrm>
            <a:off x="1120140" y="1981200"/>
            <a:ext cx="975360" cy="975360"/>
          </a:xfrm>
          <a:prstGeom prst="ellipse">
            <a:avLst/>
          </a:prstGeom>
          <a:solidFill>
            <a:srgbClr val="F4F1E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rtl="1">
              <a:lnSpc>
                <a:spcPct val="115000"/>
              </a:lnSpc>
            </a:pPr>
            <a:r>
              <a:rPr sz="3240" b="1" lang="he-IL">
                <a:solidFill>
                  <a:srgbClr val="9A9AA6"/>
                </a:solidFill>
                <a:latin typeface="Heebo"/>
                <a:ea typeface="Heebo"/>
                <a:cs typeface="Heebo"/>
              </a:rPr>
              <a:t>4</a:t>
            </a:r>
          </a:p>
        </p:txBody>
      </p:sp>
      <p:sp>
        <p:nvSpPr>
          <p:cNvPr id="14" name="TextBox 13"/>
          <p:cNvSpPr txBox="1"/>
          <p:nvPr/>
        </p:nvSpPr>
        <p:spPr>
          <a:xfrm>
            <a:off x="464820" y="3169920"/>
            <a:ext cx="2286000" cy="304800"/>
          </a:xfrm>
          <a:prstGeom prst="rect">
            <a:avLst/>
          </a:prstGeom>
          <a:noFill/>
        </p:spPr>
        <p:txBody>
          <a:bodyPr wrap="square" lIns="0" rIns="0" tIns="0" bIns="0" anchor="t">
            <a:spAutoFit/>
          </a:bodyPr>
          <a:lstStyle/>
          <a:p>
            <a:pPr algn="ctr" rtl="1">
              <a:lnSpc>
                <a:spcPct val="115000"/>
              </a:lnSpc>
            </a:pPr>
            <a:r>
              <a:rPr sz="1620" b="1" lang="he-IL">
                <a:solidFill>
                  <a:srgbClr val="9A9AA6"/>
                </a:solidFill>
                <a:latin typeface="Heebo"/>
                <a:ea typeface="Heebo"/>
                <a:cs typeface="Heebo"/>
              </a:rPr>
              <a:t>שבוע 4 · מפעילות</a:t>
            </a:r>
          </a:p>
        </p:txBody>
      </p:sp>
      <p:sp>
        <p:nvSpPr>
          <p:cNvPr id="15" name="TextBox 14"/>
          <p:cNvSpPr txBox="1"/>
          <p:nvPr/>
        </p:nvSpPr>
        <p:spPr>
          <a:xfrm>
            <a:off x="914400" y="3962400"/>
            <a:ext cx="10363200" cy="1295400"/>
          </a:xfrm>
          <a:prstGeom prst="rect">
            <a:avLst/>
          </a:prstGeom>
          <a:noFill/>
        </p:spPr>
        <p:txBody>
          <a:bodyPr wrap="square" lIns="0" rIns="0" tIns="0" bIns="0" anchor="t">
            <a:spAutoFit/>
          </a:bodyPr>
          <a:lstStyle/>
          <a:p>
            <a:pPr algn="r" rtl="1">
              <a:lnSpc>
                <a:spcPct val="120000"/>
              </a:lnSpc>
            </a:pPr>
            <a:r>
              <a:rPr sz="3240" b="1" lang="he-IL">
                <a:solidFill>
                  <a:srgbClr val="191A2E"/>
                </a:solidFill>
                <a:latin typeface="Heebo"/>
                <a:ea typeface="Heebo"/>
                <a:cs typeface="Heebo"/>
              </a:rPr>
              <a:t>לייב 3 · מחלקות: עולם ההשקעות, מלמעלה.</a:t>
            </a:r>
          </a:p>
        </p:txBody>
      </p:sp>
      <p:sp>
        <p:nvSpPr>
          <p:cNvPr id="16" name="TextBox 15"/>
          <p:cNvSpPr txBox="1"/>
          <p:nvPr/>
        </p:nvSpPr>
        <p:spPr>
          <a:xfrm>
            <a:off x="914400" y="5334000"/>
            <a:ext cx="10363200" cy="762000"/>
          </a:xfrm>
          <a:prstGeom prst="rect">
            <a:avLst/>
          </a:prstGeom>
          <a:noFill/>
        </p:spPr>
        <p:txBody>
          <a:bodyPr wrap="square" lIns="0" rIns="0" tIns="0" bIns="0" anchor="t">
            <a:spAutoFit/>
          </a:bodyPr>
          <a:lstStyle/>
          <a:p>
            <a:pPr algn="r" rtl="1">
              <a:lnSpc>
                <a:spcPct val="145000"/>
              </a:lnSpc>
            </a:pPr>
            <a:r>
              <a:rPr sz="1680" b="0" lang="he-IL">
                <a:solidFill>
                  <a:srgbClr val="6B6B7B"/>
                </a:solidFill>
                <a:latin typeface="Heebo"/>
                <a:ea typeface="Heebo"/>
                <a:cs typeface="Heebo"/>
              </a:rPr>
              <a:t>למה חייבים להשקיע, אילו סוגים יש, ולאיזה טווח כל אחד מתאים. שוק ההון בשפה פשוטה, מנוהל מול עצמאי.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