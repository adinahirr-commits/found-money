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ערב טוב לכולם! שבוע שלם עבר מאז שנפגשנו, ואני יודעת שהוא לא היה שבוע רגיל.</a:t>
            </a:r>
          </a:p>
          <a:p>
            <a:r>
              <a:t>פתחתם אפליקציות של בנק שלא פתחתם שנים. חיפשתם קופות ישנות. התקשרתם לסלולר. ספרתם.</a:t>
            </a:r>
          </a:p>
          <a:p>
            <a:r>
              <a:t>ובדיוק בגלל זה הערב הוא הערב שחיכיתי לו. כי הערב כל שקל שספרתם מקבל תפקיד.</a:t>
            </a:r>
          </a:p>
          <a:p>
            <a:r>
              <a:t>ובסוף הערב תדעו גם משהו שאף אחד לא סיפר לנו בבית: למה בכלל עושים את זה. יאללה, מתחילים.</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פותחים בצ'אט, מילה אחת: מה מצאתם השבוע?</a:t>
            </a:r>
          </a:p>
          <a:p>
            <a:r>
              <a:t>קופה ישנה, מנוי שביטלתם, 70 שקל מהאינטרנט, או פשוט "בלגן". הכל תשובה טובה.</a:t>
            </a:r>
          </a:p>
          <a:p>
            <a:r>
              <a:t>(להקריא 4-5 תשובות בקצב. מי שכתב "בלגן": "בלגן זה השלב שלפני סדר. אתם בדיוק בזמן.")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רגע של סדר, בשביל מי שפספס ובשביל כולנו.</a:t>
            </a:r>
          </a:p>
          <a:p>
            <a:r>
              <a:t>בלייב הראשון למדנו את שיטת המצפן: חזון, מטרות, נקודת מוצא, אסטרטגיה.</a:t>
            </a:r>
          </a:p>
          <a:p>
            <a:r>
              <a:t>פתחנו את החזון ואת לוח החזון. קיבלנו שלושה כלים לחיים: מעגל התודעה, סולם התודעה, ו"איך אפשר?".</a:t>
            </a:r>
          </a:p>
          <a:p>
            <a:r>
              <a:t>וירדנו לקרקע: נקודת המוצא. השווי הנקי, התזרים, וכמה הרמנו מהרצפה.</a:t>
            </a:r>
          </a:p>
          <a:p>
            <a:r>
              <a:t>הערב ממשיכים בדיוק מאותה נקודה.</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ביקשתי שתגיעו עם שלושה מספרים. את השווי הנקי ואת התזרים לא צריך לכתוב בצ'אט, הם שלכם.</a:t>
            </a:r>
          </a:p>
          <a:p>
            <a:r>
              <a:t>אבל את המספר השלישי אני רוצה לראות: כמה הרמתם מהרצפה השבוע. כמה שקלים בחודש חזרו אליכם.</a:t>
            </a:r>
          </a:p>
          <a:p>
            <a:r>
              <a:t>מספר בצ'אט. גם 0 זה מספר, וגם 30 שקל.</a:t>
            </a:r>
          </a:p>
          <a:p>
            <a:r>
              <a:t>(להקריא. לחבר בקול: "יש לנו פה ביחד X שקלים בחודש שלפני שבוע לא היו." לעצור על זה שנייה.)</a:t>
            </a:r>
          </a:p>
          <a:p>
            <a:r>
              <a:t>תחזיקו את המספר הזה. הוא עוד יחזור הערב, ותראו מה הוא באמת שווה.</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אנחנו בשבוע השני, מגינות.</a:t>
            </a:r>
          </a:p>
          <a:p>
            <a:r>
              <a:t>לפני שמשקיעים, בונים שכבת ביטחון. וזה לא "ביטחון" במובן של פחד. זה הפוך.</a:t>
            </a:r>
          </a:p>
          <a:p>
            <a:r>
              <a:t>הסדר הזה הוא בדיוק מה שמאפשר אחר כך להשקיע בלי פחד, כי אתם יודעים שהכסף שאתם צריכים לחיים, שמור.</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ככה בנוי הערב, ארבעה חלקים.</a:t>
            </a:r>
          </a:p>
          <a:p>
            <a:r>
              <a:t>אחת, למה בכלל. למה נכסים, למה לא פשוט להרוויח יותר. אני אראה לכם סולם, ותמצאו את עצמכם עליו.</a:t>
            </a:r>
          </a:p>
          <a:p>
            <a:r>
              <a:t>שתיים, ארבעת הכדים: לכל שקל תפקיד וטווח. זה הלב של הערב.</a:t>
            </a:r>
          </a:p>
          <a:p>
            <a:r>
              <a:t>שלוש, מספר הזהב: כמה שמים בכל כד, בכל חודש.</a:t>
            </a:r>
          </a:p>
          <a:p>
            <a:r>
              <a:t>וארבע, הכי כיף: מה עושים עם מה שנשאר.</a:t>
            </a:r>
          </a:p>
          <a:p>
            <a:r>
              <a:t>ובסוף הערב יש לכם מפה אחת. על עמוד אחד.</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חלק ראשון. לפני שנוגעים בכדים, במספרים, בכל זה, אני רוצה שתבינו למה.</a:t>
            </a:r>
          </a:p>
          <a:p>
            <a:r>
              <a:t>כי בשבוע שעבר מיפינו הכל, ואני יודעת שלחלק מכם זה היה כבד. ראיתם הוצאות מוזרות, אולי ראיתם מינוס, ושאלתם את עצמכם "ובשביל מה כל זה".</a:t>
            </a:r>
          </a:p>
          <a:p>
            <a:r>
              <a:t>אז הנה המשפט שכל הערב נשען עליו.</a:t>
            </a:r>
          </a:p>
          <a:p>
            <a:r>
              <a:t>הכנסה מממנת לנו את החיים. ונכסים מממנים לנו את החופש.</a:t>
            </a:r>
          </a:p>
          <a:p>
            <a:r>
              <a:t>תחזיקו אותו. עוד רבע שעה הוא יישמע לכם אחרת לגמרי.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רובנו גדלנו על משחק אחד. אני קוראת לו המשחק הישן.</a:t>
            </a:r>
          </a:p>
          <a:p>
            <a:r>
              <a:t>תרוויחו יותר, אז יהיה לכם יותר ביטחון, ואז תהיו חופשיים.</a:t>
            </a:r>
          </a:p>
          <a:p>
            <a:r>
              <a:t>תעבדו קשה, תקבלו קידום, תפתחו עסק, תוסיפו שעות. ואז נהיה בסדר.</a:t>
            </a:r>
          </a:p>
          <a:p>
            <a:r>
              <a:t>ואני יודעת מה קורה בפועל, כי זה קרה לי. עשר שנים הייתי שכירה בעסק של עצמי. הרווחתי יפה. ועדיין רדפתי אחרי כסף.</a:t>
            </a:r>
          </a:p>
          <a:p>
            <a:r>
              <a:t>כי להכניס יותר אמר לעבוד יותר. וכשהכנסתי יותר, פשוט הוצאתי יותר. רמת החיים עלתה ביחד עם ההכנסה.</a:t>
            </a:r>
          </a:p>
          <a:p>
            <a:r>
              <a:t>אפשר לרוץ ככה כל החיים ולהישאר באותו מקום. ואני רוצה להראות לכם למה.</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תכירו את דנה ואת רוני.</a:t>
            </a:r>
          </a:p>
          <a:p>
            <a:r>
              <a:t>שתיהן מרוויחות עשרת אלפים שקל בחודש. אותה עיר, אותו בנק, אותה משכורת.</a:t>
            </a:r>
          </a:p>
          <a:p>
            <a:r>
              <a:t>רוני יוצאת הרבה לחו"ל, רכב חדש, בגדים יפים. דנה חיה רגיל. רכב רגיל, חופשה פעם בשנה.</a:t>
            </a:r>
          </a:p>
          <a:p>
            <a:r>
              <a:t>שאלה בצ'אט: מי מהן עשירה יותר?</a:t>
            </a:r>
          </a:p>
          <a:p>
            <a:r>
              <a:t>(להקריא כמה תשובות. רוב הצ'אט יגיד רוני או "אי אפשר לדעת". לא לתקן: "תחזיקו רגע. התשובה בשקף הבא.")</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הנה מה שאף אחת לא רואה.</a:t>
            </a:r>
          </a:p>
          <a:p>
            <a:r>
              <a:t>מאחורי דנה יש מיליון שקל בנכסים. ירושה שהשקיעה, דירה קטנה, תיק שבנתה לאט במשך שנים.</a:t>
            </a:r>
          </a:p>
          <a:p>
            <a:r>
              <a:t>מאחורי רוני יש עשרים אלף שקל. וזה הכל.</a:t>
            </a:r>
          </a:p>
          <a:p>
            <a:r>
              <a:t>ועכשיו תשמעו משהו שאני רוצה שייכנס לכם לראש ויישאר שם: כשאנחנו רואים אנשים עם בגדים יקרים, רכב יקר, טיסות, זה לא אומר שהם עשירים. זה אומר שרמת החיים שלהם גבוהה.</a:t>
            </a:r>
          </a:p>
          <a:p>
            <a:r>
              <a:t>רמת חיים זה כמה אתם מוציאים. עושר זה כמה יש לכם. ושני הדברים האלה, הרבה פעמים, בכלל לא נפגשים.</a:t>
            </a:r>
          </a:p>
          <a:p>
            <a:r>
              <a:t>יש ספר שנקרא "המיליונר מהדלת ממול". חקרו את המיליונרים של אמריקה, הכינו להם שולחן עם קוויאר, ובאו אנשים פשוטים ברכבים רגילים שאכלו רק את הסנדוויצ'ים. הם לא נראו עשירים. הם פשוט בנו נכסים.</a:t>
            </a:r>
          </a:p>
          <a:p>
            <a:r>
              <a:t>זה בדיוק מה שמורגן האוסל כתב בספר "הפסיכולוגיה של הכסף": עושר הוא מה שלא רואים.</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אז אפשר להרוויח חמישים אלף שקל בחודש, ועדיין להיות תלויים לגמרי בעבודה. כל חודש מחדש. כל חודש מאפס.</a:t>
            </a:r>
          </a:p>
          <a:p>
            <a:r>
              <a:t>הכנסה גבוהה לא שווה חופש.</a:t>
            </a:r>
          </a:p>
          <a:p>
            <a:r>
              <a:t>ובואו נראה את זה במספרים, כי אצלי זה נפל רק כשראיתי את המספרים.</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ניקח את דנה ואת רוני עשרים שנה קדימה. ונניח שעכשיו שתיהן מכניסות שתים עשרה אלף נטו, בלי ירושה, בלי שום דבר ברקע. נקודת מוצא זהה.</a:t>
            </a:r>
          </a:p>
          <a:p>
            <a:r>
              <a:t>רוני: שתים עשרה אלף נכנס, שתים עשרה אלף יוצא. כל העלאה הפכה לעוד קצת רמת חיים. אחרי עשרים שנה: אפס נכסים. והמשכורת חייבת להיכנס. גם בחודש הבא, גם בעוד עשרים שנה. היא תלויה בה לנצח.</a:t>
            </a:r>
          </a:p>
          <a:p>
            <a:r>
              <a:t>דנה: ביום שהמשכורת נכנסת, אלף וחמש מאות שקל עוברים ראשונים לכד הארוך. על עשרת אלפים וחמש מאות היא חיה. חיים טובים, לא חיי נזירה.</a:t>
            </a:r>
          </a:p>
          <a:p>
            <a:r>
              <a:t>אחרי עשרים שנה, בתשואה ממוצעת של שבעה אחוז, להמחשה בלבד: בערך שבע מאות ושמונים אלף שקל. אחרי שלושים שנה: בערך מיליון ושמונה מאות אלף.</a:t>
            </a:r>
          </a:p>
          <a:p>
            <a:r>
              <a:t>אותה משכורת. אותו בנק. ההבדל כולו: אלף וחמש מאות שקל שקיבלו תפקיד.</a:t>
            </a:r>
          </a:p>
          <a:p>
            <a:r>
              <a:t>(לעצור. שנייה של שקט.)</a:t>
            </a:r>
          </a:p>
          <a:p>
            <a:r>
              <a:t>ותחשבו על זה: לא דיברנו על להרוויח יותר. אף אחת מהן לא קיבלה קידום.</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אז מה זה נכס? בלייב הקודם שאלתי אתכם, ועכשיו הגדרה פשוטה.</a:t>
            </a:r>
          </a:p>
          <a:p>
            <a:r>
              <a:t>נכס זה משהו שברשותכם, שעולה בערכו, או שמכניס לכם כסף. דירה שמושכרת, תיק השקעות, קרן השתלמות, גם הפנסיה.</a:t>
            </a:r>
          </a:p>
          <a:p>
            <a:r>
              <a:t>התחייבות זה משהו שמוציא מכם כסף כל חודש, או שיורד בערכו. הדוגמה הכי טובה: רכב. לא רע, לפעמים חייבים. אבל ברגע שקניתם אותו הוא ירד בערכו, ומאז הוא רק מושך: ביטוח, טיפולים, דלק.</a:t>
            </a:r>
          </a:p>
          <a:p>
            <a:r>
              <a:t>והבלבול הגדול: אנשים קונים התחייבויות ובטוחים שהם קונים נכסים.</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רוברט קיוסאקי, "אבא עשיר אבא עני", ניסח את זה במשפט אחד:</a:t>
            </a:r>
          </a:p>
          <a:p>
            <a:r>
              <a:t>רוב האנשים מבלים את חייהם בלצבור התחייבויות, תוך שהם בטוחים שהם בונים נכסים.</a:t>
            </a:r>
          </a:p>
          <a:p>
            <a:r>
              <a:t>אם לא קראתם את הספר, זו ההמלצה שלי. הוא קצת קשה לקריאה, אבל הוא מחבר את כל מה שאנחנו עושות פה.</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ועכשיו אני רוצה לתת לכם מפה. קוראים לה סולם החופש הכלכלי. בעולם מדברים על שבע מדרגות, אני מקצרת לחמש, כי חמש זה מה שבאמת משנה.</a:t>
            </a:r>
          </a:p>
          <a:p>
            <a:r>
              <a:t>מדרגה אחת, תלות. חיים ממשכורת למשכורת. כל חודש מתחיל מאפס, לפעמים ממינוס. הרבה מכם מיפו השבוע ומצאו את עצמם פה. זה בסדר. זו נקודת מוצא, לא ציון.</a:t>
            </a:r>
          </a:p>
          <a:p>
            <a:r>
              <a:t>מדרגה שתיים, יציבות. התזרים חיובי, ויש במפר בעו"ש. החודש כבר לא מפחיד.</a:t>
            </a:r>
          </a:p>
          <a:p>
            <a:r>
              <a:t>מדרגה שלוש, ביטחון. יש קרן חירום. שלושה עד שישה חודשים של שקט. פה נגמר הפחד.</a:t>
            </a:r>
          </a:p>
          <a:p>
            <a:r>
              <a:t>מדרגה ארבע, צמיחה. הנכסים גדלים כל חודש. חלק מההכנסה עובד בשבילכם במקום בשביל החודש.</a:t>
            </a:r>
          </a:p>
          <a:p>
            <a:r>
              <a:t>ומדרגה חמש, חופש. הנכסים מממנים את החיים. עובדים כי רוצים, לא כי חייבים.</a:t>
            </a:r>
          </a:p>
          <a:p>
            <a:r>
              <a:t>[[עדי: על איזו מדרגה את היום, במשפט. למשל: "אני על ארבע, בונה את החמש, ואני אומרת את זה בפה מלא."]]</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ותשמעו את הדבר הכי חשוב על הסולם הזה.</a:t>
            </a:r>
          </a:p>
          <a:p>
            <a:r>
              <a:t>הוא לא נמדד בכמה אתם מרוויחים. הוא נמדד בכמה זמן הכסף שיש לכם מחזיק אתכם בלי שתעבדו.</a:t>
            </a:r>
          </a:p>
          <a:p>
            <a:r>
              <a:t>מדרגה שלוש, זה חצי שנה. מדרגה חמש, זה לנצח.</a:t>
            </a:r>
          </a:p>
          <a:p>
            <a:r>
              <a:t>יש כלל שמכירים בעולם, כלל הארבעה אחוז: מהנכסים אפשר למשוך בערך ארבעה אחוז בשנה, והם ממשיכים לגדול. מי שיש לו שישה מיליון בנכסים יכול לחיות על עשרים אלף בחודש לנצח.</a:t>
            </a:r>
          </a:p>
          <a:p>
            <a:r>
              <a:t>וזה נשמע רחוק, אבל מי שיש לו שתי דירות, או דירה שירש, או תיק שבנה עשרים שנה, לא כל כך רחוק משם.</a:t>
            </a:r>
          </a:p>
          <a:p>
            <a:r>
              <a:t>וזה גם למה דנה ורוני עם אותה משכורת נמצאות על מדרגות שונות לגמרי: רוני על אחת. דנה על ארבע, בדרך לחמש.</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בצ'אט: על איזו מדרגה אתם היום? רק המספר, אחת עד חמש.</a:t>
            </a:r>
          </a:p>
          <a:p>
            <a:r>
              <a:t>(להקריא. לשקף בחום: "רואים? רובנו על אחת ושתיים. ומי שעל שלוש, זה המקום שבו אני הייתי תקועה חמש שנים. תכף אספר." לא לתקן אף מספר.)</a:t>
            </a:r>
          </a:p>
          <a:p>
            <a:r>
              <a:t>תזכרו את המספר שלכם. בסוף הערב אשאל אתכם שאלה אחת עליו.</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ואני רוצה לספר לכם על השנים שלי ושל בעלי לפני שהבנו את זה.</a:t>
            </a:r>
          </a:p>
          <a:p>
            <a:r>
              <a:t>היה לנו בממוצע 5,000 שקל חיסכון בכל חודש. ידענו לחסוך. שנינו באים מבתים שחוסכים, שחיים מתחת להוצאות. היינו על זה.</a:t>
            </a:r>
          </a:p>
          <a:p>
            <a:r>
              <a:t>אבל לימדו אותנו לחסוך, ולא לימדו אותנו למה. מה עושים עם זה. מה המטרה.</a:t>
            </a:r>
          </a:p>
          <a:p>
            <a:r>
              <a:t>ובמשך חמש שנים הכסף הזה פשוט ישב בעו"ש. החסכונות, מתנות מהחתונה, עזרה מסבא וסבתא. הכל ישב.</a:t>
            </a:r>
          </a:p>
          <a:p>
            <a:r>
              <a:t>אנחנו היינו על מדרגה שלוש, ביטחון, וחשבנו שזה הסוף של הסולם. אף אחד לא אמר לנו שיש מדרגה ארבע.</a:t>
            </a:r>
          </a:p>
          <a:p>
            <a:r>
              <a:t>ומה שלא ידענו: הכסף הזה איבד שלושה אחוז מהערך שלו כל שנה. צברנו, ובאותו זמן הלכנו אחורה, בלי לדעת.</a:t>
            </a:r>
          </a:p>
          <a:p>
            <a:r>
              <a:t>לא כי לא היה לנו כסף. כי לכסף לא היה תפקיד.</a:t>
            </a:r>
          </a:p>
          <a:p>
            <a:r>
              <a:t>אני משתפת אתכם בזה כדי שלא תבזבזו חמש שנים כמוני.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ותשמעו את זה טוב, כי זה הופך את כל הסיפור: המטרה היא לא להרוויח יותר.</a:t>
            </a:r>
          </a:p>
          <a:p>
            <a:r>
              <a:t>כן, אם ארוויח יותר יהיה לי יותר חופש. אבל המטרה היא שחלק מההכנסה שלנו יפסיק לממן רק את ההוצאות, ויתחיל לבנות את החופש.</a:t>
            </a:r>
          </a:p>
          <a:p>
            <a:r>
              <a:t>וזה בדיוק מה שעושים הערב. לוקחים את ההכנסה, ונותנים לכל שקל ממנה תפקיד.</a:t>
            </a:r>
          </a:p>
          <a:p>
            <a:r>
              <a:t>ומתחילים מהשאלה הכי פשוטה: בשביל מה.</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חלק שני, המטרות. השלב השני במצפן.</a:t>
            </a:r>
          </a:p>
          <a:p>
            <a:r>
              <a:t>בלייב הקודם חלמנו בגדול, ואמרתי לכם שלחלום זה כלי עבודה. הערב רואים למה.</a:t>
            </a:r>
          </a:p>
          <a:p>
            <a:r>
              <a:t>כי חלום נשאר חלום עד שנותנים לו מספר.</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חלום בלי סכום ותאריך הוא משאלה.</a:t>
            </a:r>
          </a:p>
          <a:p>
            <a:r>
              <a:t>"בית גדול יותר", "לעבוד פחות", "טיול ארוך עם המשפחה". אלה חלומות מהממים, ותשמרו אותם בדיוק ככה על לוח החזון.</a:t>
            </a:r>
          </a:p>
          <a:p>
            <a:r>
              <a:t>אבל כסף לא יודע ללכת ל"בית גדול יותר". כסף יודע ללכת ל-600 אלף שקל עד ספטמבר 2029.</a:t>
            </a:r>
          </a:p>
          <a:p>
            <a:r>
              <a:t>נפוליון היל אמר את זה במשפט אחד: מטרה היא חלום עם תאריך.</a:t>
            </a:r>
          </a:p>
          <a:p>
            <a:r>
              <a:t>וברגע שיש מטרה שנעצתי, אני יכולה לעבוד איתה: להבין אם היא ריאלית, לגזור ממנה צעד בדרך, להרחיק אותה קצת או לקרב. חלום בלי מספר, אי אפשר לעבוד איתו.</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תראו את ההבדל, כי הוא כל ההבדל.</a:t>
            </a:r>
          </a:p>
          <a:p>
            <a:r>
              <a:t>"אני רוצה להרגיש בטוחה". יפה, אבל מה עושים עם זה מחר בבוקר? לעומת: שלושה חודשי מחיה בקרן חירום, עד דצמבר. עכשיו יש משהו לעשות.</a:t>
            </a:r>
          </a:p>
          <a:p>
            <a:r>
              <a:t>"לחסוך לילדים". לעומת: 500 שקל בחודש לכל ילד, מהחודש הבא.</a:t>
            </a:r>
          </a:p>
          <a:p>
            <a:r>
              <a:t>"שהכסף יעבוד בשבילי". מעולה, כולנו. אבל כמה צריך בנכסים? כמה ומתי?</a:t>
            </a:r>
          </a:p>
          <a:p>
            <a:r>
              <a:t>ואני אגיד לכם משהו על החלום הכי גדול שלי: חצי שנה בתאילנד. זאת הייתה המטרה הראשונה שהתחלתי איתה להשקיע. וכשישבנו ובדקנו כמה זה באמת עולה, גילינו שהחיים שם עולים הרבה פחות מדירת שני חדרים בתל אביב. החלום היה הרבה יותר קרוב ממה שהרגיש.</a:t>
            </a:r>
          </a:p>
          <a:p>
            <a:r>
              <a:t>זה מה שמספר עושה: הוא מקרב.</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ארבעה כללים למטרה, וכולם קלים.</a:t>
            </a:r>
          </a:p>
          <a:p>
            <a:r>
              <a:t>אחת, היא מהחלומות שלכם. לא של ההורים, לא של השכנים, לא של אינסטגרם.</a:t>
            </a:r>
          </a:p>
          <a:p>
            <a:r>
              <a:t>שתיים, הסכום בעיפרון. בערך. לא צריך הצעת מחיר מקבלן. אפשר לשנות בעוד חודש.</a:t>
            </a:r>
          </a:p>
          <a:p>
            <a:r>
              <a:t>שלוש, תאריך. גם אם הוא לא סופי. בכלי זה אפילו כתוב ככה: "תאריך יעד, לא סופי". תאריך לא סופי עדיף פי אלף מ"מתישהו".</a:t>
            </a:r>
          </a:p>
          <a:p>
            <a:r>
              <a:t>וארבע, הכלל שהכי קשה לקבל: עד שלוש מטרות פעילות. לא כי אין יותר חלומות. אלא כי כסף שמתפזר על עשר מטרות לא מגיע לאף אחת. שאר החלומות מחכים בתור, ובכל פעם שמטרה מושלמת, הבאה נכנסת.</a:t>
            </a:r>
          </a:p>
          <a:p>
            <a:r>
              <a:t>ושימו לב: הערב לא פותרים "איך מגיעים". רק "מה המטרה". ה"איך" זה האסטרטגיה, בלייבים הבאים.</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בצ'אט: מטרה אחת. שם, סכום, תאריך.</a:t>
            </a:r>
          </a:p>
          <a:p>
            <a:r>
              <a:t>למשל: "דירה · 600,000 · 2029". או "רכב · 60,000 · 2027".</a:t>
            </a:r>
          </a:p>
          <a:p>
            <a:r>
              <a:t>(להקריא 5-6. לשקף: "שימו לב, כולם כתבו תאריך. ברגע שיש תאריך, המטרה כבר אומרת לכסף לאן ללכת. עוד רגע תבינו איך.")</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וזה בדיוק הגשר לחלק הבא.</a:t>
            </a:r>
          </a:p>
          <a:p>
            <a:r>
              <a:t>המטרה אומרת לכסף לאן ללכת. והתאריך אומר לו באיזה כד לגור.</a:t>
            </a:r>
          </a:p>
          <a:p>
            <a:r>
              <a:t>כי כסף שצריך בעוד שנה וכסף שצריך בעוד עשרים שנה, הם לא אותו כסף. הם גרים בכדים אחרים.</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חלק שלישי. ארבעת הכדים. לכל שקל תפקיד וטווח.</a:t>
            </a:r>
          </a:p>
          <a:p>
            <a:r>
              <a:t>זה המשפט של הערב. אם תזכרו רק דבר אחד, תזכרו את זה.</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ארבעה כדים. ראיתם אותם לרגע בלייב הקודם, הערב נכנסים לכל אחד.</a:t>
            </a:r>
          </a:p>
          <a:p>
            <a:r>
              <a:t>כד ראשון, העו"ש: הכסף של החיים של החודש.</a:t>
            </a:r>
          </a:p>
          <a:p>
            <a:r>
              <a:t>כד שני, קרן החירום: השקט. כמה חודשים של ביטחון.</a:t>
            </a:r>
          </a:p>
          <a:p>
            <a:r>
              <a:t>כד שלישי, טווח קרוב: הכסף למטרות של השנים הקרובות.</a:t>
            </a:r>
          </a:p>
          <a:p>
            <a:r>
              <a:t>וכד רביעי, טווח ארוך: כל מה שלא צריך את שאר הכדים. זה הכסף שיכול לעבוד בשבילכם שנים.</a:t>
            </a:r>
          </a:p>
          <a:p>
            <a:r>
              <a:t>וזה נכון גם לכסף שעוד לא הגיע: משכורת של חודש הבא, בונוס, כסף מההורים שמחכה, החזר מס שבדרך. ברגע שיש ארבעה כדים, כל שקל שנכנס כבר יודע לאן הוא הולך. בלי להתלבט כל פעם מחדש.</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ועכשיו תראו איך הכל מתחבר, כי זה הרגע שאני הכי אוהבת.</a:t>
            </a:r>
          </a:p>
          <a:p>
            <a:r>
              <a:t>הכדים הם המדרגות של הסולם.</a:t>
            </a:r>
          </a:p>
          <a:p>
            <a:r>
              <a:t>כד אחד מלא, עו"ש מסודר בלי מינוס? זו מדרגה שתיים, יציבות.</a:t>
            </a:r>
          </a:p>
          <a:p>
            <a:r>
              <a:t>כד שתיים מלא, קרן חירום? מדרגה שלוש, ביטחון.</a:t>
            </a:r>
          </a:p>
          <a:p>
            <a:r>
              <a:t>כד ארבע שגדל כל חודש? מדרגה ארבע, צמיחה.</a:t>
            </a:r>
          </a:p>
          <a:p>
            <a:r>
              <a:t>וכד ארבע שמממן את החיים? מדרגה חמש.</a:t>
            </a:r>
          </a:p>
          <a:p>
            <a:r>
              <a:t>אין פה קסם ואין פה סוד של עשירים. יש ארבעה כדים, ממלאים אותם לפי הסדר.</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כד ראשון, העו"ש. הכסף של החיים של החודש.</a:t>
            </a:r>
          </a:p>
          <a:p>
            <a:r>
              <a:t>כמה צריך שם? בערך חודש של הוצאות. זה הבמפר: בתחילת החודש הרבה הוצאות יורדות עד שנכנסת המשכורת, ואני רוצה את המרחב הזה, כדי לא להיכנס למינוס ולא להיות ברשימה השחורה של הבנק.</a:t>
            </a:r>
          </a:p>
          <a:p>
            <a:r>
              <a:t>מי שיודע שבחודשים הקרובים יהיו לו יותר הוצאות או פחות הכנסות, אפילו קצת יותר.</a:t>
            </a:r>
          </a:p>
          <a:p>
            <a:r>
              <a:t>אני מפסידה על הכסף הזה באינפלציה, אני לא מרוויחה עליו. ועדיין, הוא חייב להיות שם. עו"ש הוא תחנת מעבר, לא מקום לגור בו.</a:t>
            </a:r>
          </a:p>
          <a:p>
            <a:r>
              <a:t>וכל שקל מעבר לזה, שיושב בעו"ש, הוא שקל שלא עובד. אמרתי לכם בלייב הקודם: אם אני כל חודש בפלוס של 500 שקל, אין שום סיבה שאני אשמור את הכסף הזה בעו"ש. בואו ננתב אותו. השאלה היא רק לאן.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כד שני. קרן החירום. השקט שלכם.</a:t>
            </a:r>
          </a:p>
          <a:p>
            <a:r>
              <a:t>ביטחון זה בעצם שני דברים: הבמפר בעו"ש, וקרן חירום. את כל מגדל הקלפים של ההשקעות בונים על הקרקע הזאת, והיא חייבת להיות יציבה לפני כל השקעה.</a:t>
            </a:r>
          </a:p>
          <a:p>
            <a:r>
              <a:t>בשאלוני הכניסה שלכם, כמעט לאף אחד אין קרן חירום מוגדרת. יש "כסף בצד", יש "משהו בפיקדון", אבל מספר, אין.</a:t>
            </a:r>
          </a:p>
          <a:p>
            <a:r>
              <a:t>הערב כל אחד ואחת יוצאים עם מספר.</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בשביל מה היא? חופשת לידה. תקופה בין עבודות. הרכב שנתקע, השיניים, המקרר.</a:t>
            </a:r>
          </a:p>
          <a:p>
            <a:r>
              <a:t>ובעיקר, בשביל דבר אחד שאולי לא חשבתם עליו: כדי שההשקעות שלכם לא ייגעו.</a:t>
            </a:r>
          </a:p>
          <a:p>
            <a:r>
              <a:t>כי ביום שאין קרן חירום ויש מקרה, מאיפה לוקחים? מההשקעה. בדיוק ביום הלא נכון, כשהשוק למטה, ומוכרים בהפסד.</a:t>
            </a:r>
          </a:p>
          <a:p>
            <a:r>
              <a:t>וזה למה הקרן היא לא "הדבר המשעמם שעושים לפני". היא מה שמאפשר להשקיע בלי פחד. כשיש שקט בכד שתיים, כד ארבע יכול לעבוד בשקט. גם כשהשוק יורד, גם כשיש חודש קשה. לא נוגעים, כי לא צריך.</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איך מגיעים למספר? הכי פשוט שיש.</a:t>
            </a:r>
          </a:p>
          <a:p>
            <a:r>
              <a:t>ההוצאות החיוניות שלכם בחודש. רק מה שחייבים: דיור, מזון, חשבונות, ביטוחים, תחבורה, חינוך. בכלי של שבוע שעבר סימנתם את זה כ"חובה". בלי בילויים, בלי קניות.</a:t>
            </a:r>
          </a:p>
          <a:p>
            <a:r>
              <a:t>כפול מספר חודשי הביטחון שאתם בוחרים.</a:t>
            </a:r>
          </a:p>
          <a:p>
            <a:r>
              <a:t>וזה המספר של קרן החירום שלכם.</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וכמה חודשים? אני אתן לכם את הכלל שלי, וההחלטה היא שלכם.</a:t>
            </a:r>
          </a:p>
          <a:p>
            <a:r>
              <a:t>שלושה עד שישה חודשי מחיה.</a:t>
            </a:r>
          </a:p>
          <a:p>
            <a:r>
              <a:t>מי שאין אצלו משהו מיוחד, בערך שלושה זה מעולה.</a:t>
            </a:r>
          </a:p>
          <a:p>
            <a:r>
              <a:t>שישה, למי שמאוד שמרן, או למי שיודע שבחודשים הקרובים יהיו פחות הכנסות: חופשת לידה, לימודים, מעבר דירה, שינוי בעבודה. ומי שמתחיל תקופה כזאת ורוצה לחיות אותה בכיף ולא לוותר על החיים, אולי אפילו יותר.</a:t>
            </a:r>
          </a:p>
          <a:p>
            <a:r>
              <a:t>ואז השאלות: יש בבית שתי הכנסות יציבות, או אחת? שכיר או עצמאי? ילדים, משכנתא, הורים?</a:t>
            </a:r>
          </a:p>
          <a:p>
            <a:r>
              <a:t>ובסוף, איזה מספר באמת מרגיע אתכם. לא על הנייר.</a:t>
            </a:r>
          </a:p>
          <a:p>
            <a:r>
              <a:t>[[עדי: כמה חודשים אצלך, ולמה. דוגמה אישית במשפט.]]</a:t>
            </a:r>
          </a:p>
          <a:p>
            <a:r>
              <a:t>אין מספר נכון. יש מספר שלכם.</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מה זה חודשי מחיה? כל אחד יודע כמה הוא מוציא בחודש, זה הנתון שהוצאתם שבוע שעבר. בכלי לוקחים את ה"חובה", ההוצאות החיוניות.</a:t>
            </a:r>
          </a:p>
          <a:p>
            <a:r>
              <a:t>אחת מוציאה 10 אלף, אחת 20, אחת 40. מי שמוציאה 10 אלף ובחרה שלושה חודשים: 30 אלף שקל. מי שמוציאה 40 אלף: 120 אלף.</a:t>
            </a:r>
          </a:p>
          <a:p>
            <a:r>
              <a:t>יש לכם כבר 14 אלף בפיקדון ישן? מעולה, הפער הוא 16 אלף. עכשיו יש מספר, יש פער, ואפשר לתכנן.</a:t>
            </a:r>
          </a:p>
          <a:p>
            <a:r>
              <a:t>המספר שלכם נגזר מהנתון שלכם. לכן ביקשתי שתבואו עם המספרים.</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ומה אם הקרן עדיין חסרה? כי אצל רובכם היא תהיה חסרה, וזה לא כישלון, זה נקודת מוצא.</a:t>
            </a:r>
          </a:p>
          <a:p>
            <a:r>
              <a:t>יש שלוש דרכים, ובכלי מסמנים אחת.</a:t>
            </a:r>
          </a:p>
          <a:p>
            <a:r>
              <a:t>להשלים אותה קודם, לפני שמשקיעים לטווח ארוך.</a:t>
            </a:r>
          </a:p>
          <a:p>
            <a:r>
              <a:t>לבנות אותה במקביל: חלק מהכסף החודשי לקרן, חלק להשקעה, לפי תוכנית שאתם קובעים.</a:t>
            </a:r>
          </a:p>
          <a:p>
            <a:r>
              <a:t>או לסמן "אני צריכה עזרה בהחלטה", ואנחנו מדברים על זה. בלי שאף מערכת תחליט בשבילכם.</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ואיפה היא גרה? קודם כל, חשוב להבין: זאת לא השקעה. זה חיסכון לשעת חירום.</a:t>
            </a:r>
          </a:p>
          <a:p>
            <a:r>
              <a:t>ועדיין, לא בחזיר ולא בעו"ש, כי שם היא מפסידה שלושה אחוז בשנה.</a:t>
            </a:r>
          </a:p>
          <a:p>
            <a:r>
              <a:t>יש בגדול כמה אופציות, כולן אחלה ודי דומות, ואני לא רוצה שתתעכבו על "מה הכי הכי טובה". מה שנגיש ונוח לכם.</a:t>
            </a:r>
          </a:p>
          <a:p>
            <a:r>
              <a:t>פיקדון בבנק: אני נותנת לבנק את הכסף, הוא משתמש בו, ומבטיח לי ריבית מראש. יומי, חודשי, לפי מה שנוח. וקרן כספית, שגם עליה נדבר בלייב 3.</a:t>
            </a:r>
          </a:p>
          <a:p>
            <a:r>
              <a:t>[[עדי: האופציה השלישית שאת מציגה, אם יש.]]</a:t>
            </a:r>
          </a:p>
          <a:p>
            <a:r>
              <a:t>ולאזרחי ארצות הברית: קופת גמל להשקעה לא כדאית לכם בגלל מס כפול. יהיה לכם תוכן ייעודי עם מה לשים לב.</a:t>
            </a:r>
          </a:p>
          <a:p>
            <a:r>
              <a:t>שלושה כללים, וזהו: נזילה, מופרדת מהעו"ש, לא בסיכון.</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בצ'אט: כמה חודשי ביטחון בחרתם? רק המספר.</a:t>
            </a:r>
          </a:p>
          <a:p>
            <a:r>
              <a:t>(להקריא. אם רואים טווח רחב: "תראו, 3 ו-12 באותו צ'אט. שניהם צודקים. זה בדיוק 'המספר שלך'.")</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כד שלישי וכד רביעי. הכסף של המטרות.</a:t>
            </a:r>
          </a:p>
          <a:p>
            <a:r>
              <a:t>הכסף שנשאר אחרי העו"ש ואחרי קרן החירום, זה הכסף שהולך למטרות. ואת המטרות כבר כתבתם לפני עשר דקות.</a:t>
            </a:r>
          </a:p>
          <a:p>
            <a:r>
              <a:t>כד קרוב: עד שלוש שנים. רכב, חופשה, אירוע משפחתי. הכסף הזה נשאר זמין ויציב.</a:t>
            </a:r>
          </a:p>
          <a:p>
            <a:r>
              <a:t>כד בינוני: שלוש עד שמונה שנים. מקדמה לדירה, לימודים, שיפוץ.</a:t>
            </a:r>
          </a:p>
          <a:p>
            <a:r>
              <a:t>וכד ארוך: מעל שמונה שנים. עתיד הילדים, חופש, פרישה. זה ההון שהופך למנגנון השקעה.</a:t>
            </a:r>
          </a:p>
          <a:p>
            <a:r>
              <a:t>בכלי באזור האישי, הטווח הקרוב מתחלק לשניים: קרוב ובינוני. ככה יותר מדויק.</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ועכשיו הרגע שאני הכי אוהבת בלייב הזה.</a:t>
            </a:r>
          </a:p>
          <a:p>
            <a:r>
              <a:t>המטרות שלכם כבר יודעות לאיזה כד הן הולכות. לא צריך להחליט.</a:t>
            </a:r>
          </a:p>
          <a:p>
            <a:r>
              <a:t>התאריך של המטרה הוא הכתובת של הכסף. רכב ב-2027? כד קרוב. מקדמה לדירה ב-2031? כד בינוני. חופש ב-2045? כד ארוך.</a:t>
            </a:r>
          </a:p>
          <a:p>
            <a:r>
              <a:t>זה למה התעקשתי על תאריך. התאריך הוא לא פרט. הוא מה שמסדר הכל.</a:t>
            </a:r>
          </a:p>
          <a:p>
            <a:r>
              <a:t>ועוד כלל קטן שהכלי שומר בשבילכם: הכדים לא מדברים זה עם זה. כסף שסימנתם לקרן החירום לא מופיע שוב ככסף פנוי להשקעה. כל שקל מופיע פעם אחת, בכד אחד.</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והכלל הכי חשוב של הערב.</a:t>
            </a:r>
          </a:p>
          <a:p>
            <a:r>
              <a:t>טווח ארוך זה כל מה שלא צריך את שאר הכדים.</a:t>
            </a:r>
          </a:p>
          <a:p>
            <a:r>
              <a:t>לא "מה שנשאר", אלא כל מה שנשאר אחרי שהעו"ש מלא, קרן החירום מוגדרת, והכדים הקרובים קיבלו את שלהם.</a:t>
            </a:r>
          </a:p>
          <a:p>
            <a:r>
              <a:t>הכד הזה מנותק מהתזרים החודשי. לא נוגעים בו בשביל החודש. הוא צומח, ובעזרתו בונים את החופש. זה הכסף של מדרגה ארבע וחמש.</a:t>
            </a:r>
          </a:p>
          <a:p>
            <a:r>
              <a:t>ולמה הטווח כל כך חשוב? כי הטווח קובע הכל. כסף שצריך בעוד שנה חייב להישאר יציב. כסף שצריך בעוד חמש שנים יכול לזוז קצת. כסף שצריך בעוד עשרים שנה יכול לעבוד קשה.</a:t>
            </a:r>
          </a:p>
          <a:p>
            <a:r>
              <a:t>לא ההשקעה קובעת את הטווח. הטווח קובע את ההשקעה. איזו השקעה מתאימה לאיזה כד? זה בדיוק לייב 3.</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רגע של מאחורי הקלעים שלי, כי זה מראה לאן זה הולך.</a:t>
            </a:r>
          </a:p>
          <a:p>
            <a:r>
              <a:t>סיפרתי לכם בלייב הקודם על ההלוואה מהקיבוץ. ריבית כמעט אפסית. לקחנו את הכסף, שמנו אותו בהשקעות, והחזרנו כל חודש את ההלוואה.</a:t>
            </a:r>
          </a:p>
          <a:p>
            <a:r>
              <a:t>השקענו כסף שלא היה לנו, ועשינו ממנו עוד כסף.</a:t>
            </a:r>
          </a:p>
          <a:p>
            <a:r>
              <a:t>אבל מה אפשר את זה? לא אומץ. הכדים. היה לנו עו"ש מסודר, הייתה קרן חירום, והיה תזרים חיובי שהחזיר את ההלוואה בלי להיכנס למינוס.</a:t>
            </a:r>
          </a:p>
          <a:p>
            <a:r>
              <a:t>בלי שלושת הכדים הראשונים, אותה הלוואה הייתה סיכון. איתם, היא הייתה כלי. זה ההבדל בין מדרגה אחת למדרגה ארבע: אותה הלוואה, סיפור אחר לגמרי.</a:t>
            </a:r>
          </a:p>
          <a:p>
            <a:r>
              <a:t>[[עדי: לדייק את הסיפור במילים שלך, סכומים אם את רוצה.]]</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ועכשיו בזוגות, שמונה דקות בחדרים.</a:t>
            </a:r>
          </a:p>
          <a:p>
            <a:r>
              <a:t>המציג מספר לבן הזוג את המפה שלו, בעיפרון: כמה בעו"ש, כמה חודשי ביטחון בחר, והמטרה הראשונה שלו עם הכד שלה. ארבע דקות.</a:t>
            </a:r>
          </a:p>
          <a:p>
            <a:r>
              <a:t>בן הזוג עושה דבר אחד: שואל "למה דווקא המספר הזה של חודשים?", ואז משקף במשפט אחד מה שמע.</a:t>
            </a:r>
          </a:p>
          <a:p>
            <a:r>
              <a:t>ומתחלפים.</a:t>
            </a:r>
          </a:p>
          <a:p>
            <a:r>
              <a:t>בלי להסביר יותר מדי, בלי להתנצל על המספרים. זה אימון.</a:t>
            </a:r>
          </a:p>
          <a:p>
            <a:r>
              <a:t>(חדרים, טיימר 8 דק'.)</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בחזרה מהחדרים. מילה בצ'אט: מה הבנתם על המספר שלכם?</a:t>
            </a:r>
          </a:p>
          <a:p>
            <a:r>
              <a:t>(להקריא 4-5. מי שכתב ששינה את מספר החודשים: "זה בדיוק מה ששיקוף עושה. מה ששקוף לך, בולט למי שמולך.")</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חלק רביעי. מספר הזהב.</a:t>
            </a:r>
          </a:p>
          <a:p>
            <a:r>
              <a:t>עד עכשיו דיברנו על הכסף שיש. עכשיו על הכסף שנכנס כל חודש.</a:t>
            </a:r>
          </a:p>
          <a:p>
            <a:r>
              <a:t>ומספר הזהב הוא תשובה לשאלה אחת: כמה הולך לכל כד, כל חודש, בלי לחשוב.</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זוכרים "קודם אני" מהלייב הקודם?</a:t>
            </a:r>
          </a:p>
          <a:p>
            <a:r>
              <a:t>ההשקעה החודשית היא ההוצאה הקבועה הראשונה. לא מה שנשאר בסוף החודש.</a:t>
            </a:r>
          </a:p>
          <a:p>
            <a:r>
              <a:t>כי מה שנשאר בסוף החודש, אנחנו יודעים מה קורה לו. הוא לא נשאר.</a:t>
            </a:r>
          </a:p>
          <a:p>
            <a:r>
              <a:t>וורן באפט ניסח את זה במשפט אחד: אל תחסכו את מה שנשאר אחרי ההוצאות. תוציאו את מה שנשאר אחרי החיסכון.</a:t>
            </a:r>
          </a:p>
          <a:p>
            <a:r>
              <a:t>זה בדיוק מה שדנה עשתה. ביום שהמשכורת נכנסת, הכד הארוך מקבל ראשון.</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אז איך מחלקים את החודש? הנה הכלל, ואחר כך המספרים שלכם.</a:t>
            </a:r>
          </a:p>
          <a:p>
            <a:r>
              <a:t>בעולם קוראים לזה חמישים, שלושים, עשרים. אצלנו זה הולך לפי הכדים.</a:t>
            </a:r>
          </a:p>
          <a:p>
            <a:r>
              <a:t>חמישים עד שישים אחוז מההכנסה: החיים של החודש. כד אחד. דיור, אוכל, חשבונות, וגם הבילויים.</a:t>
            </a:r>
          </a:p>
          <a:p>
            <a:r>
              <a:t>עשרים עד שלושים אחוז: ביטחון וטווח קרוב. קודם כד שתיים, קרן החירום, עד שהיא מלאה. ואז כד שלוש, המטרות הקרובות.</a:t>
            </a:r>
          </a:p>
          <a:p>
            <a:r>
              <a:t>ועשרה עד עשרים אחוז: טווח ארוך. כד ארבע. זה מספר הזהב. החלק מההכנסה שעובד בשבילכם, ולא בשביל החודש.</a:t>
            </a:r>
          </a:p>
          <a:p>
            <a:r>
              <a:t>תסתכלו על דנה: אלף וחמש מאות משתים עשרה אלף, זה בדיוק שתים עשרה וחצי אחוז. היא בטווח.</a:t>
            </a:r>
          </a:p>
          <a:p>
            <a:r>
              <a:t>ואלה אחוזים של התחלה. אם היום אתם על חמש אחוז, זה המספר שלכם, והיעד הוא לטפס.</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ומאיפה המספר שלי היום? הוא כבר כתוב, בשלושת המספרים שהבאתם הערב.</a:t>
            </a:r>
          </a:p>
          <a:p>
            <a:r>
              <a:t>כל התורה כולה של העולם הפיננסי מושתתת על משפט אחד: להוציא פחות, להכניס יותר, ולקחת את הפער הזה ולהשקיע אותו. יש תוכניות שמלמדות לחסוך, ויש שמלמדות להכניס יותר. אבל בלי לקחת את הפער ולהשקיע אותו, זה רק עוד חסכונות שנאכלים.</a:t>
            </a:r>
          </a:p>
          <a:p>
            <a:r>
              <a:t>אז: התזרים שלכם, המספר השני. ועוד מה שאטמתם השבוע, המספר השלישי. חיברתם? זה מספר הזהב שלכם. או לפחות נקודת הפתיחה שלו.</a:t>
            </a:r>
          </a:p>
          <a:p>
            <a:r>
              <a:t>ואם התזרים עדיין לא חיובי? אז מספר הזהב שלכם הוא בדיוק מה שאטמתם. ה-70 מהאינטרנט וה-100 מהסלולר. זה מתחיל משם. וזה כבר מדרגה.</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ובואו נראה מה זה עושה. 300 שקל בחודש, עשרים שנה, תשואה ממוצעת של 7%. בערך 156 אלף שקל.</a:t>
            </a:r>
          </a:p>
          <a:p>
            <a:r>
              <a:t>500 בחודש? בערך 260 אלף. 1,000 בחודש? בערך 520 אלף.</a:t>
            </a:r>
          </a:p>
          <a:p>
            <a:r>
              <a:t>להמחשה בלבד, בלי הבטחת תשואה. אבל תסתכלו על הפער בין 300 ל-1,000: זה לא פער של "אין לי". זה פער של סדר.</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ולמי שעכשיו אומר לעצמו "אצלי זה יהיה 200": מספר הזהב עובד גם ב-200. אפשר להתחיל גם עם 20 שקל של פער בתזרים.</a:t>
            </a:r>
          </a:p>
          <a:p>
            <a:r>
              <a:t>המספר לא צריך להיות גדול. הוא צריך להיות קבוע.</a:t>
            </a:r>
          </a:p>
          <a:p>
            <a:r>
              <a:t>200 שקל שיוצאים כל חודש, שלוש שנים ברצף, עושים יותר מ-2,000 שיוצאים פעם אחת "כשיהיה".</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ואיך דואגים שהוא יהיה קבוע? הוראת קבע. הכסף זז לפני שמספיקים להתלבט.</a:t>
            </a:r>
          </a:p>
          <a:p>
            <a:r>
              <a:t>זה בדיוק היעד של הליווי: הוראת קבע להשקעות, וכל הכסף הפנוי מחולק נכון.</a:t>
            </a:r>
          </a:p>
          <a:p>
            <a:r>
              <a:t>בלייב 4 עושים את זה ביחד, בפועל. הערב רק מחליטים על המספר.</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בצ'אט: מספר הזהב שלכם. גם אם זה 200. גם אם 150.</a:t>
            </a:r>
          </a:p>
          <a:p>
            <a:r>
              <a:t>(להקריא כולם. לסכם בקול: "ביחד יש פה X שקל בחודש שמתחילים לעבוד." לחבר למספר מתחילת הערב, "כמה הרמנו מהרצפה".)</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ועכשיו החלק שאני הכי אוהבת, והוא קצר.</a:t>
            </a:r>
          </a:p>
          <a:p>
            <a:r>
              <a:t>מה עושים עם מה שנשאר? אחרי שכד שתיים קיבל, וכד שלוש קיבל, ומספר הזהב ירד בהוראת קבע. מה שנשאר בעו"ש.</a:t>
            </a:r>
          </a:p>
          <a:p>
            <a:r>
              <a:t>שלכם. לבזבז. בלי אשמה.</a:t>
            </a:r>
          </a:p>
          <a:p>
            <a:r>
              <a:t>ואני מתכוונת לזה. חופשה, מסעדה, הנעליים, הקפה בבוקר. מה שעושה לכם טוב.</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כי תשמעו משהו שלקח לי שנים להבין.</a:t>
            </a:r>
          </a:p>
          <a:p>
            <a:r>
              <a:t>רגשות אשמה על כסף הם לא סימן שהוצאתם יותר מדי. הם סימן שלא הייתה תוכנית.</a:t>
            </a:r>
          </a:p>
          <a:p>
            <a:r>
              <a:t>כשאין תוכנית, כל הוצאה מתחרה עם העתיד. כל מסעדה היא "במקום" משהו. ואז אנחנו מרגישים אשמה על קפה, ובאותו זמן הכסף הגדול יושב בעו"ש ונשחק. זה הפוך בדיוק.</a:t>
            </a:r>
          </a:p>
          <a:p>
            <a:r>
              <a:t>כשיש כדים, ההוצאה כבר לא מתחרה עם כלום. העתיד כבר קיבל את שלו. ראשון. מה שנשאר הוא באמת שלכם.</a:t>
            </a:r>
          </a:p>
          <a:p>
            <a:r>
              <a:t>רמית סתי, שכתב את אחד הספרים הכי נמכרים בעולם על כסף אישי, אומר את זה ככה: תוציאו בשפע על מה שאתם אוהבים, ותחתכו בלי רחמים את מה שלא.</a:t>
            </a:r>
          </a:p>
          <a:p>
            <a:r>
              <a:t>לא צמצום. לא דיאטת קפה. תוכנית.</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ודוגמה קטנה מהחיים, כי ככה זה נראה בפועל.</a:t>
            </a:r>
          </a:p>
          <a:p>
            <a:r>
              <a:t>חופשה של 15 אלף שקל. בלי תוכנית: הלוואה, 500 שקל כפול 36 חודשים, שילמתם 18 אלף. שלושת אלפים הלכו על כלום, ושלוש שנים אחרי החופשה אתם עוד משלמים עליה. זה האשמה.</a:t>
            </a:r>
          </a:p>
          <a:p>
            <a:r>
              <a:t>עם כד קרוב: 1,250 שקל בחודש, שנה אחת, ו-15 אלף מוכנים. אפס ריבית, אפס חובות, אפס רגשות אשמה. אותה חופשה.</a:t>
            </a:r>
          </a:p>
          <a:p>
            <a:r>
              <a:t>ההבדל הוא לא בכמה הרווחתם. ההבדל הוא שלכסף היה תפקיד שנה קודם.</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וזה חוק הגם וגם, ואני רוצה שתשמעו אותו ממני בפה מלא.</a:t>
            </a:r>
          </a:p>
          <a:p>
            <a:r>
              <a:t>הילדים שלכם לא צריכים אמא קדושה מעונה, ולא אבא שמוותר על הכל. הם צריכים הורים שנהנים מהכסף היום, וגם בונים למחר.</a:t>
            </a:r>
          </a:p>
          <a:p>
            <a:r>
              <a:t>אני טסה בממוצע ארבע פעמים בשנה. וזה לא על חשבון הכדים. זה מתוך הכדים. החופשה שלי היא חלק מהתוכנית.</a:t>
            </a:r>
          </a:p>
          <a:p>
            <a:r>
              <a:t>ואם אתם סובלים בדרך למטרה, היא לא שווה את זה. גם ליהנות מהדרך וגם להגיע. השאלה היחידה היא "איך אפשר?".</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לפני שמסכמים, שלושה כלים מהערב. לא לשיעור. לחיים.</a:t>
            </a:r>
          </a:p>
          <a:p>
            <a:r>
              <a:t>"קודם אני": ההשקעה היא ההוצאה הראשונה, לא האחרונה.</a:t>
            </a:r>
          </a:p>
          <a:p>
            <a:r>
              <a:t>"בעיפרון": כל מספר שכתבתם הערב הוא גרסה ראשונה. מותר לשנות. חובה להתחיל.</a:t>
            </a:r>
          </a:p>
          <a:p>
            <a:r>
              <a:t>ו"הטווח קובע": לפני כל החלטת כסף, שאלה אחת. מתי אצטרך אותו?</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ועוד משהו, לפני המשימה. אין פה מרוץ.</a:t>
            </a:r>
          </a:p>
          <a:p>
            <a:r>
              <a:t>יש מי שיצא הערב עם קרן חירום מלאה, שלוש מטרות וכדים מסודרים. ויש מי שיצא עם מספר אחד: כמה חודשי ביטחון.</a:t>
            </a:r>
          </a:p>
          <a:p>
            <a:r>
              <a:t>שניהם במקום הנכון. כל אחד מתחיל מנקודה אחרת, ומה שבניתם הערב, אף אחד לא לוקח מכם.</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זוכרים את המספר שכתבתם בצ'אט בתחילת הערב? המדרגה שלכם.</a:t>
            </a:r>
          </a:p>
          <a:p>
            <a:r>
              <a:t>אני רוצה שתסתכלו עליה שוב. כי הערב, בלי להרוויח שקל אחד יותר, עשיתם את הדבר שמזיז על הסולם: לכל שקל יש עכשיו תפקיד.</a:t>
            </a:r>
          </a:p>
          <a:p>
            <a:r>
              <a:t>אז שאלה אחת, בצ'אט: על איזו מדרגה תהיו בעוד שנה?</a:t>
            </a:r>
          </a:p>
          <a:p>
            <a:r>
              <a:t>(להקריא את כולם. לא למהר. "רואים את הפער בין המספר של ההתחלה למספר הזה? הפער הזה הוא כל הליווי. ואתם כבר בדרך.")</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המשימה לשבוע, באזור האישי. תוצר אחד: מפת המצפן שלכם, על עמוד אחד.</a:t>
            </a:r>
          </a:p>
          <a:p>
            <a:r>
              <a:t>שלוש תחנות, בערך עשרים דקות.</a:t>
            </a:r>
          </a:p>
          <a:p>
            <a:r>
              <a:t>עד שלוש מטרות, עם סכום ותאריך. קרן החירום: המספר שלי. ושלושת הכדים.</a:t>
            </a:r>
          </a:p>
          <a:p>
            <a:r>
              <a:t>בעיפרון. לא מושלם. ומגיעים ללייב 3 עם מספר הזהב כתוב.</a:t>
            </a:r>
          </a:p>
          <a:p>
            <a:r>
              <a:t>ומי שעוד לא אישר את הבדיקה הפנסיונית בכרטיס עם המגן, שתי דקות, זה בלי קשר לשיעור. פשוט לסמן.</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וכמו שפתחנו, נסגור. מילה אחת בצ'אט: מה אתם לוקחים מהערב.</a:t>
            </a:r>
          </a:p>
          <a:p>
            <a:r>
              <a:t>(להקריא את כולם, לאט. זה השיא. אם חוזרת מילה מהפתיחה, לעצור עליה.)</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ובשבוע הבא, לייב 3, מחלקות.</a:t>
            </a:r>
          </a:p>
          <a:p>
            <a:r>
              <a:t>עכשיו, כשלכל שקל יש כד, פותחים את עולם ההשקעות מלמעלה: למה חייבים להשקיע, אילו סוגים יש, ולאיזה כד כל אחד מתאים. שוק ההון בשפה פשוטה, מנוהל מול עצמאי.</a:t>
            </a:r>
          </a:p>
          <a:p>
            <a:r>
              <a:t>נתראה ביום שני. גאה בכל אחד ואחת מכם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5.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6.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7.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8.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9.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01</a:t>
            </a:r>
          </a:p>
        </p:txBody>
      </p:sp>
      <p:pic>
        <p:nvPicPr>
          <p:cNvPr id="4" name="Picture 3" descr="hero_gift.jpg"/>
          <p:cNvPicPr>
            <a:picLocks noChangeAspect="1"/>
          </p:cNvPicPr>
          <p:nvPr/>
        </p:nvPicPr>
        <p:blipFill>
          <a:blip r:embed="rId3"/>
          <a:stretch>
            <a:fillRect/>
          </a:stretch>
        </p:blipFill>
        <p:spPr>
          <a:xfrm>
            <a:off x="914400" y="838200"/>
            <a:ext cx="4876800" cy="4876800"/>
          </a:xfrm>
          <a:prstGeom prst="roundRect">
            <a:avLst>
              <a:gd name="adj" fmla="val 8000"/>
            </a:avLst>
          </a:prstGeom>
        </p:spPr>
      </p:pic>
      <p:sp>
        <p:nvSpPr>
          <p:cNvPr id="5" name="TextBox 4"/>
          <p:cNvSpPr txBox="1"/>
          <p:nvPr/>
        </p:nvSpPr>
        <p:spPr>
          <a:xfrm>
            <a:off x="6248400" y="1295400"/>
            <a:ext cx="5029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ליווי אמא משקיעה · מחזור אוקטובר</a:t>
            </a:r>
          </a:p>
        </p:txBody>
      </p:sp>
      <p:sp>
        <p:nvSpPr>
          <p:cNvPr id="6" name="TextBox 5"/>
          <p:cNvSpPr txBox="1"/>
          <p:nvPr/>
        </p:nvSpPr>
        <p:spPr>
          <a:xfrm>
            <a:off x="6248400" y="1638300"/>
            <a:ext cx="5029200" cy="2514600"/>
          </a:xfrm>
          <a:prstGeom prst="rect">
            <a:avLst/>
          </a:prstGeom>
          <a:noFill/>
        </p:spPr>
        <p:txBody>
          <a:bodyPr wrap="square" lIns="0" rIns="0" tIns="0" bIns="0" anchor="t">
            <a:spAutoFit/>
          </a:bodyPr>
          <a:lstStyle/>
          <a:p>
            <a:pPr algn="r" rtl="1">
              <a:lnSpc>
                <a:spcPct val="95000"/>
              </a:lnSpc>
            </a:pPr>
            <a:r>
              <a:rPr sz="6959" b="1" lang="he-IL">
                <a:solidFill>
                  <a:srgbClr val="191A2E"/>
                </a:solidFill>
                <a:latin typeface="Heebo"/>
                <a:ea typeface="Heebo"/>
                <a:cs typeface="Heebo"/>
              </a:rPr>
              <a:t>ברוכים</a:t>
            </a:r>
          </a:p>
          <a:p>
            <a:pPr algn="r" rtl="1">
              <a:lnSpc>
                <a:spcPct val="95000"/>
              </a:lnSpc>
            </a:pPr>
            <a:r>
              <a:rPr sz="6959" b="1" lang="he-IL">
                <a:solidFill>
                  <a:srgbClr val="EF55A5"/>
                </a:solidFill>
                <a:latin typeface="Heebo"/>
                <a:ea typeface="Heebo"/>
                <a:cs typeface="Heebo"/>
              </a:rPr>
              <a:t>השבים!</a:t>
            </a:r>
          </a:p>
        </p:txBody>
      </p:sp>
      <p:sp>
        <p:nvSpPr>
          <p:cNvPr id="7" name="TextBox 6"/>
          <p:cNvSpPr txBox="1"/>
          <p:nvPr/>
        </p:nvSpPr>
        <p:spPr>
          <a:xfrm>
            <a:off x="6248400" y="4267200"/>
            <a:ext cx="5029200" cy="762000"/>
          </a:xfrm>
          <a:prstGeom prst="rect">
            <a:avLst/>
          </a:prstGeom>
          <a:noFill/>
        </p:spPr>
        <p:txBody>
          <a:bodyPr wrap="square" lIns="0" rIns="0" tIns="0" bIns="0" anchor="t">
            <a:spAutoFit/>
          </a:bodyPr>
          <a:lstStyle/>
          <a:p>
            <a:pPr algn="r" rtl="1">
              <a:lnSpc>
                <a:spcPct val="130000"/>
              </a:lnSpc>
            </a:pPr>
            <a:r>
              <a:rPr sz="1920" b="0" lang="he-IL">
                <a:solidFill>
                  <a:srgbClr val="191A2E"/>
                </a:solidFill>
                <a:latin typeface="Heebo"/>
                <a:ea typeface="Heebo"/>
                <a:cs typeface="Heebo"/>
              </a:rPr>
              <a:t>לייב 2 · מגינות · לכל שקל תפקיד וטווח</a:t>
            </a:r>
          </a:p>
        </p:txBody>
      </p:sp>
      <p:sp>
        <p:nvSpPr>
          <p:cNvPr id="8" name="Rounded Rectangle 7"/>
          <p:cNvSpPr/>
          <p:nvPr/>
        </p:nvSpPr>
        <p:spPr>
          <a:xfrm>
            <a:off x="10850880" y="5303520"/>
            <a:ext cx="426720" cy="45720"/>
          </a:xfrm>
          <a:prstGeom prst="roundRect">
            <a:avLst>
              <a:gd name="adj" fmla="val 5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248400" y="5196840"/>
            <a:ext cx="4450080" cy="304800"/>
          </a:xfrm>
          <a:prstGeom prst="rect">
            <a:avLst/>
          </a:prstGeom>
          <a:noFill/>
        </p:spPr>
        <p:txBody>
          <a:bodyPr wrap="square" lIns="0" rIns="0" tIns="0" bIns="0" anchor="t">
            <a:spAutoFit/>
          </a:bodyPr>
          <a:lstStyle/>
          <a:p>
            <a:pPr algn="r" rtl="1">
              <a:lnSpc>
                <a:spcPct val="115000"/>
              </a:lnSpc>
            </a:pPr>
            <a:r>
              <a:rPr sz="1439" b="1" lang="he-IL">
                <a:solidFill>
                  <a:srgbClr val="6B6B7B"/>
                </a:solidFill>
                <a:latin typeface="Heebo"/>
                <a:ea typeface="Heebo"/>
                <a:cs typeface="Heebo"/>
              </a:rPr>
              <a:t>עדי סומך · אמא משקיעה</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02</a:t>
            </a:r>
          </a:p>
        </p:txBody>
      </p:sp>
      <p:pic>
        <p:nvPicPr>
          <p:cNvPr id="4" name="Picture 3" descr="s21_coins.jpg"/>
          <p:cNvPicPr>
            <a:picLocks noChangeAspect="1"/>
          </p:cNvPicPr>
          <p:nvPr/>
        </p:nvPicPr>
        <p:blipFill>
          <a:blip r:embed="rId3"/>
          <a:stretch>
            <a:fillRect/>
          </a:stretch>
        </p:blipFill>
        <p:spPr>
          <a:xfrm>
            <a:off x="914400" y="1447800"/>
            <a:ext cx="3657600" cy="3657600"/>
          </a:xfrm>
          <a:prstGeom prst="roundRect">
            <a:avLst>
              <a:gd name="adj" fmla="val 8000"/>
            </a:avLst>
          </a:prstGeom>
        </p:spPr>
      </p:pic>
      <p:sp>
        <p:nvSpPr>
          <p:cNvPr id="5" name="Rounded Rectangle 4"/>
          <p:cNvSpPr/>
          <p:nvPr/>
        </p:nvSpPr>
        <p:spPr>
          <a:xfrm>
            <a:off x="5029200" y="1905000"/>
            <a:ext cx="6248400" cy="2895600"/>
          </a:xfrm>
          <a:prstGeom prst="roundRect">
            <a:avLst>
              <a:gd name="adj" fmla="val 9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577840" y="2438400"/>
            <a:ext cx="51511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מילה אחת בצ'אט · ציד האוצר 🔍</a:t>
            </a:r>
          </a:p>
        </p:txBody>
      </p:sp>
      <p:sp>
        <p:nvSpPr>
          <p:cNvPr id="7" name="TextBox 6"/>
          <p:cNvSpPr txBox="1"/>
          <p:nvPr/>
        </p:nvSpPr>
        <p:spPr>
          <a:xfrm>
            <a:off x="5577840" y="2834640"/>
            <a:ext cx="5151120" cy="1752600"/>
          </a:xfrm>
          <a:prstGeom prst="rect">
            <a:avLst/>
          </a:prstGeom>
          <a:noFill/>
        </p:spPr>
        <p:txBody>
          <a:bodyPr wrap="square" lIns="0" rIns="0" tIns="0" bIns="0" anchor="t">
            <a:spAutoFit/>
          </a:bodyPr>
          <a:lstStyle/>
          <a:p>
            <a:pPr algn="r" rtl="1">
              <a:lnSpc>
                <a:spcPct val="115000"/>
              </a:lnSpc>
            </a:pPr>
            <a:r>
              <a:rPr sz="3600" b="1" lang="he-IL">
                <a:solidFill>
                  <a:srgbClr val="191A2E"/>
                </a:solidFill>
                <a:latin typeface="Heebo"/>
                <a:ea typeface="Heebo"/>
                <a:cs typeface="Heebo"/>
              </a:rPr>
              <a:t>מה מצאתם השבוע?</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03</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 שבוע שעבר</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מה היה לנו בלייב 1</a:t>
            </a:r>
          </a:p>
        </p:txBody>
      </p:sp>
      <p:sp>
        <p:nvSpPr>
          <p:cNvPr id="6" name="Oval 5"/>
          <p:cNvSpPr/>
          <p:nvPr/>
        </p:nvSpPr>
        <p:spPr>
          <a:xfrm>
            <a:off x="10850880" y="22860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7" name="TextBox 6"/>
          <p:cNvSpPr txBox="1"/>
          <p:nvPr/>
        </p:nvSpPr>
        <p:spPr>
          <a:xfrm>
            <a:off x="914400" y="2301240"/>
            <a:ext cx="9723120" cy="87630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שיטת המצפן: חזון, מטרות, נקודת מוצא, אסטרטגיה</a:t>
            </a:r>
          </a:p>
        </p:txBody>
      </p:sp>
      <p:sp>
        <p:nvSpPr>
          <p:cNvPr id="8" name="Oval 7"/>
          <p:cNvSpPr/>
          <p:nvPr/>
        </p:nvSpPr>
        <p:spPr>
          <a:xfrm>
            <a:off x="10850880" y="31623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9" name="TextBox 8"/>
          <p:cNvSpPr txBox="1"/>
          <p:nvPr/>
        </p:nvSpPr>
        <p:spPr>
          <a:xfrm>
            <a:off x="914400" y="3177540"/>
            <a:ext cx="9723120" cy="87630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החזון ולוח החזון</a:t>
            </a:r>
          </a:p>
        </p:txBody>
      </p:sp>
      <p:sp>
        <p:nvSpPr>
          <p:cNvPr id="10" name="Oval 9"/>
          <p:cNvSpPr/>
          <p:nvPr/>
        </p:nvSpPr>
        <p:spPr>
          <a:xfrm>
            <a:off x="10850880" y="40386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1" name="TextBox 10"/>
          <p:cNvSpPr txBox="1"/>
          <p:nvPr/>
        </p:nvSpPr>
        <p:spPr>
          <a:xfrm>
            <a:off x="914400" y="4053840"/>
            <a:ext cx="9723120" cy="87630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שלושה כלים לחיים: מעגל, סולם, ו”איך אפשר?“</a:t>
            </a:r>
          </a:p>
        </p:txBody>
      </p:sp>
      <p:sp>
        <p:nvSpPr>
          <p:cNvPr id="12" name="Oval 11"/>
          <p:cNvSpPr/>
          <p:nvPr/>
        </p:nvSpPr>
        <p:spPr>
          <a:xfrm>
            <a:off x="10850880" y="49149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4</a:t>
            </a:r>
          </a:p>
        </p:txBody>
      </p:sp>
      <p:sp>
        <p:nvSpPr>
          <p:cNvPr id="13" name="TextBox 12"/>
          <p:cNvSpPr txBox="1"/>
          <p:nvPr/>
        </p:nvSpPr>
        <p:spPr>
          <a:xfrm>
            <a:off x="914400" y="4930140"/>
            <a:ext cx="9723120" cy="87630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נקודת המוצא: שווי נקי, תזרים, וכמה הרמתי מהרצפה</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04</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הבאתם 3 מספרים</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5000"/>
              </a:lnSpc>
            </a:pPr>
            <a:r>
              <a:rPr sz="3960" b="1" lang="he-IL">
                <a:solidFill>
                  <a:srgbClr val="191A2E"/>
                </a:solidFill>
                <a:latin typeface="Heebo"/>
                <a:ea typeface="Heebo"/>
                <a:cs typeface="Heebo"/>
              </a:rPr>
              <a:t>כמה הרמתם מהרצפה?</a:t>
            </a:r>
          </a:p>
        </p:txBody>
      </p:sp>
      <p:sp>
        <p:nvSpPr>
          <p:cNvPr id="6" name="Rounded Rectangle 5"/>
          <p:cNvSpPr/>
          <p:nvPr/>
        </p:nvSpPr>
        <p:spPr>
          <a:xfrm>
            <a:off x="7955280" y="2286000"/>
            <a:ext cx="3322320" cy="27432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0" y="2590800"/>
            <a:ext cx="2773680" cy="457200"/>
          </a:xfrm>
          <a:prstGeom prst="rect">
            <a:avLst/>
          </a:prstGeom>
          <a:noFill/>
        </p:spPr>
        <p:txBody>
          <a:bodyPr wrap="square" lIns="0" rIns="0" tIns="0" bIns="0" anchor="t">
            <a:spAutoFit/>
          </a:bodyPr>
          <a:lstStyle/>
          <a:p>
            <a:pPr algn="r" rtl="1">
              <a:lnSpc>
                <a:spcPct val="115000"/>
              </a:lnSpc>
            </a:pPr>
            <a:r>
              <a:rPr sz="2280" b="1" lang="he-IL">
                <a:solidFill>
                  <a:srgbClr val="191A2E"/>
                </a:solidFill>
                <a:latin typeface="Heebo"/>
                <a:ea typeface="Heebo"/>
                <a:cs typeface="Heebo"/>
              </a:rPr>
              <a:t>השווי הנקי</a:t>
            </a:r>
          </a:p>
        </p:txBody>
      </p:sp>
      <p:sp>
        <p:nvSpPr>
          <p:cNvPr id="8" name="TextBox 7"/>
          <p:cNvSpPr txBox="1"/>
          <p:nvPr/>
        </p:nvSpPr>
        <p:spPr>
          <a:xfrm>
            <a:off x="8229600" y="3581400"/>
            <a:ext cx="2773680" cy="762000"/>
          </a:xfrm>
          <a:prstGeom prst="rect">
            <a:avLst/>
          </a:prstGeom>
          <a:noFill/>
        </p:spPr>
        <p:txBody>
          <a:bodyPr wrap="square" lIns="0" rIns="0" tIns="0" bIns="0" anchor="t">
            <a:spAutoFit/>
          </a:bodyPr>
          <a:lstStyle/>
          <a:p>
            <a:pPr algn="r" rtl="1">
              <a:lnSpc>
                <a:spcPct val="115000"/>
              </a:lnSpc>
            </a:pPr>
            <a:r>
              <a:rPr sz="2400" b="1" lang="he-IL">
                <a:solidFill>
                  <a:srgbClr val="191A2E"/>
                </a:solidFill>
                <a:latin typeface="Heebo"/>
                <a:ea typeface="Heebo"/>
                <a:cs typeface="Heebo"/>
              </a:rPr>
              <a:t>שלכם. לא בצ'אט.</a:t>
            </a:r>
          </a:p>
        </p:txBody>
      </p:sp>
      <p:sp>
        <p:nvSpPr>
          <p:cNvPr id="9" name="Rounded Rectangle 8"/>
          <p:cNvSpPr/>
          <p:nvPr/>
        </p:nvSpPr>
        <p:spPr>
          <a:xfrm>
            <a:off x="4434840" y="2286000"/>
            <a:ext cx="3322320" cy="27432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709160" y="2590800"/>
            <a:ext cx="2773680" cy="457200"/>
          </a:xfrm>
          <a:prstGeom prst="rect">
            <a:avLst/>
          </a:prstGeom>
          <a:noFill/>
        </p:spPr>
        <p:txBody>
          <a:bodyPr wrap="square" lIns="0" rIns="0" tIns="0" bIns="0" anchor="t">
            <a:spAutoFit/>
          </a:bodyPr>
          <a:lstStyle/>
          <a:p>
            <a:pPr algn="r" rtl="1">
              <a:lnSpc>
                <a:spcPct val="115000"/>
              </a:lnSpc>
            </a:pPr>
            <a:r>
              <a:rPr sz="2280" b="1" lang="he-IL">
                <a:solidFill>
                  <a:srgbClr val="191A2E"/>
                </a:solidFill>
                <a:latin typeface="Heebo"/>
                <a:ea typeface="Heebo"/>
                <a:cs typeface="Heebo"/>
              </a:rPr>
              <a:t>התזרים</a:t>
            </a:r>
          </a:p>
        </p:txBody>
      </p:sp>
      <p:sp>
        <p:nvSpPr>
          <p:cNvPr id="11" name="TextBox 10"/>
          <p:cNvSpPr txBox="1"/>
          <p:nvPr/>
        </p:nvSpPr>
        <p:spPr>
          <a:xfrm>
            <a:off x="4709160" y="3581400"/>
            <a:ext cx="2773680" cy="762000"/>
          </a:xfrm>
          <a:prstGeom prst="rect">
            <a:avLst/>
          </a:prstGeom>
          <a:noFill/>
        </p:spPr>
        <p:txBody>
          <a:bodyPr wrap="square" lIns="0" rIns="0" tIns="0" bIns="0" anchor="t">
            <a:spAutoFit/>
          </a:bodyPr>
          <a:lstStyle/>
          <a:p>
            <a:pPr algn="r" rtl="1">
              <a:lnSpc>
                <a:spcPct val="115000"/>
              </a:lnSpc>
            </a:pPr>
            <a:r>
              <a:rPr sz="2400" b="1" lang="he-IL">
                <a:solidFill>
                  <a:srgbClr val="191A2E"/>
                </a:solidFill>
                <a:latin typeface="Heebo"/>
                <a:ea typeface="Heebo"/>
                <a:cs typeface="Heebo"/>
              </a:rPr>
              <a:t>שלכם. לא בצ'אט.</a:t>
            </a:r>
          </a:p>
        </p:txBody>
      </p:sp>
      <p:sp>
        <p:nvSpPr>
          <p:cNvPr id="12" name="Rounded Rectangle 11"/>
          <p:cNvSpPr/>
          <p:nvPr/>
        </p:nvSpPr>
        <p:spPr>
          <a:xfrm>
            <a:off x="914400" y="2286000"/>
            <a:ext cx="3322320" cy="27432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188720" y="2590800"/>
            <a:ext cx="2773680" cy="457200"/>
          </a:xfrm>
          <a:prstGeom prst="rect">
            <a:avLst/>
          </a:prstGeom>
          <a:noFill/>
        </p:spPr>
        <p:txBody>
          <a:bodyPr wrap="square" lIns="0" rIns="0" tIns="0" bIns="0" anchor="t">
            <a:spAutoFit/>
          </a:bodyPr>
          <a:lstStyle/>
          <a:p>
            <a:pPr algn="r" rtl="1">
              <a:lnSpc>
                <a:spcPct val="115000"/>
              </a:lnSpc>
            </a:pPr>
            <a:r>
              <a:rPr sz="2280" b="1" lang="he-IL">
                <a:solidFill>
                  <a:srgbClr val="191A2E"/>
                </a:solidFill>
                <a:latin typeface="Heebo"/>
                <a:ea typeface="Heebo"/>
                <a:cs typeface="Heebo"/>
              </a:rPr>
              <a:t>הרמתי מהרצפה</a:t>
            </a:r>
          </a:p>
        </p:txBody>
      </p:sp>
      <p:sp>
        <p:nvSpPr>
          <p:cNvPr id="14" name="TextBox 13"/>
          <p:cNvSpPr txBox="1"/>
          <p:nvPr/>
        </p:nvSpPr>
        <p:spPr>
          <a:xfrm>
            <a:off x="1188720" y="3581400"/>
            <a:ext cx="2773680" cy="762000"/>
          </a:xfrm>
          <a:prstGeom prst="rect">
            <a:avLst/>
          </a:prstGeom>
          <a:noFill/>
        </p:spPr>
        <p:txBody>
          <a:bodyPr wrap="square" lIns="0" rIns="0" tIns="0" bIns="0" anchor="t">
            <a:spAutoFit/>
          </a:bodyPr>
          <a:lstStyle/>
          <a:p>
            <a:pPr algn="r" rtl="1">
              <a:lnSpc>
                <a:spcPct val="115000"/>
              </a:lnSpc>
            </a:pPr>
            <a:r>
              <a:rPr sz="2400" b="1" lang="he-IL">
                <a:solidFill>
                  <a:srgbClr val="191A2E"/>
                </a:solidFill>
                <a:latin typeface="Heebo"/>
                <a:ea typeface="Heebo"/>
                <a:cs typeface="Heebo"/>
              </a:rPr>
              <a:t>מספר בצ'אט 💬</a:t>
            </a:r>
          </a:p>
        </p:txBody>
      </p:sp>
      <p:sp>
        <p:nvSpPr>
          <p:cNvPr id="15" name="TextBox 14"/>
          <p:cNvSpPr txBox="1"/>
          <p:nvPr/>
        </p:nvSpPr>
        <p:spPr>
          <a:xfrm>
            <a:off x="914400" y="53340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גם 0 זה מספר. וגם 30 ₪ בחודש.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05</a:t>
            </a:r>
          </a:p>
        </p:txBody>
      </p:sp>
      <p:sp>
        <p:nvSpPr>
          <p:cNvPr id="4" name="TextBox 3"/>
          <p:cNvSpPr txBox="1"/>
          <p:nvPr/>
        </p:nvSpPr>
        <p:spPr>
          <a:xfrm>
            <a:off x="914400" y="11430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שבוע 2 · מגינות</a:t>
            </a:r>
          </a:p>
        </p:txBody>
      </p:sp>
      <p:sp>
        <p:nvSpPr>
          <p:cNvPr id="5" name="Rectangle 4"/>
          <p:cNvSpPr/>
          <p:nvPr/>
        </p:nvSpPr>
        <p:spPr>
          <a:xfrm>
            <a:off x="2286000" y="2453640"/>
            <a:ext cx="7620000" cy="30480"/>
          </a:xfrm>
          <a:prstGeom prst="rect">
            <a:avLst/>
          </a:prstGeom>
          <a:solidFill>
            <a:srgbClr val="ECE7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Oval 5"/>
          <p:cNvSpPr/>
          <p:nvPr/>
        </p:nvSpPr>
        <p:spPr>
          <a:xfrm>
            <a:off x="10104120" y="1981200"/>
            <a:ext cx="975360" cy="975360"/>
          </a:xfrm>
          <a:prstGeom prst="ellipse">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3240" b="1" lang="he-IL">
                <a:solidFill>
                  <a:srgbClr val="191A2E"/>
                </a:solidFill>
                <a:latin typeface="Heebo"/>
                <a:ea typeface="Heebo"/>
                <a:cs typeface="Heebo"/>
              </a:rPr>
              <a:t>1</a:t>
            </a:r>
          </a:p>
        </p:txBody>
      </p:sp>
      <p:sp>
        <p:nvSpPr>
          <p:cNvPr id="7" name="TextBox 6"/>
          <p:cNvSpPr txBox="1"/>
          <p:nvPr/>
        </p:nvSpPr>
        <p:spPr>
          <a:xfrm>
            <a:off x="9448800" y="3169920"/>
            <a:ext cx="2286000" cy="304800"/>
          </a:xfrm>
          <a:prstGeom prst="rect">
            <a:avLst/>
          </a:prstGeom>
          <a:noFill/>
        </p:spPr>
        <p:txBody>
          <a:bodyPr wrap="square" lIns="0" rIns="0" tIns="0" bIns="0" anchor="t">
            <a:spAutoFit/>
          </a:bodyPr>
          <a:lstStyle/>
          <a:p>
            <a:pPr algn="ctr" rtl="1">
              <a:lnSpc>
                <a:spcPct val="115000"/>
              </a:lnSpc>
            </a:pPr>
            <a:r>
              <a:rPr sz="1620" b="1" lang="he-IL">
                <a:solidFill>
                  <a:srgbClr val="191A2E"/>
                </a:solidFill>
                <a:latin typeface="Heebo"/>
                <a:ea typeface="Heebo"/>
                <a:cs typeface="Heebo"/>
              </a:rPr>
              <a:t>שבוע 1 · ממפות</a:t>
            </a:r>
          </a:p>
        </p:txBody>
      </p:sp>
      <p:sp>
        <p:nvSpPr>
          <p:cNvPr id="8" name="Oval 7"/>
          <p:cNvSpPr/>
          <p:nvPr/>
        </p:nvSpPr>
        <p:spPr>
          <a:xfrm>
            <a:off x="7018020" y="1889760"/>
            <a:ext cx="1158240" cy="1158240"/>
          </a:xfrm>
          <a:prstGeom prst="ellipse">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Oval 8"/>
          <p:cNvSpPr/>
          <p:nvPr/>
        </p:nvSpPr>
        <p:spPr>
          <a:xfrm>
            <a:off x="7109460" y="1981200"/>
            <a:ext cx="975360" cy="97536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3240" b="1" lang="he-IL">
                <a:solidFill>
                  <a:srgbClr val="191A2E"/>
                </a:solidFill>
                <a:latin typeface="Heebo"/>
                <a:ea typeface="Heebo"/>
                <a:cs typeface="Heebo"/>
              </a:rPr>
              <a:t>2</a:t>
            </a:r>
          </a:p>
        </p:txBody>
      </p:sp>
      <p:sp>
        <p:nvSpPr>
          <p:cNvPr id="10" name="TextBox 9"/>
          <p:cNvSpPr txBox="1"/>
          <p:nvPr/>
        </p:nvSpPr>
        <p:spPr>
          <a:xfrm>
            <a:off x="6454140" y="3169920"/>
            <a:ext cx="2286000" cy="304800"/>
          </a:xfrm>
          <a:prstGeom prst="rect">
            <a:avLst/>
          </a:prstGeom>
          <a:noFill/>
        </p:spPr>
        <p:txBody>
          <a:bodyPr wrap="square" lIns="0" rIns="0" tIns="0" bIns="0" anchor="t">
            <a:spAutoFit/>
          </a:bodyPr>
          <a:lstStyle/>
          <a:p>
            <a:pPr algn="ctr" rtl="1">
              <a:lnSpc>
                <a:spcPct val="115000"/>
              </a:lnSpc>
            </a:pPr>
            <a:r>
              <a:rPr sz="1620" b="1" lang="he-IL">
                <a:solidFill>
                  <a:srgbClr val="191A2E"/>
                </a:solidFill>
                <a:latin typeface="Heebo"/>
                <a:ea typeface="Heebo"/>
                <a:cs typeface="Heebo"/>
              </a:rPr>
              <a:t>שבוע 2 · מגינות</a:t>
            </a:r>
          </a:p>
        </p:txBody>
      </p:sp>
      <p:sp>
        <p:nvSpPr>
          <p:cNvPr id="11" name="Oval 10"/>
          <p:cNvSpPr/>
          <p:nvPr/>
        </p:nvSpPr>
        <p:spPr>
          <a:xfrm>
            <a:off x="4114800" y="1981200"/>
            <a:ext cx="975360" cy="975360"/>
          </a:xfrm>
          <a:prstGeom prst="ellipse">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3240" b="1" lang="he-IL">
                <a:solidFill>
                  <a:srgbClr val="9A9AA6"/>
                </a:solidFill>
                <a:latin typeface="Heebo"/>
                <a:ea typeface="Heebo"/>
                <a:cs typeface="Heebo"/>
              </a:rPr>
              <a:t>3</a:t>
            </a:r>
          </a:p>
        </p:txBody>
      </p:sp>
      <p:sp>
        <p:nvSpPr>
          <p:cNvPr id="12" name="TextBox 11"/>
          <p:cNvSpPr txBox="1"/>
          <p:nvPr/>
        </p:nvSpPr>
        <p:spPr>
          <a:xfrm>
            <a:off x="3459480" y="3169920"/>
            <a:ext cx="2286000" cy="304800"/>
          </a:xfrm>
          <a:prstGeom prst="rect">
            <a:avLst/>
          </a:prstGeom>
          <a:noFill/>
        </p:spPr>
        <p:txBody>
          <a:bodyPr wrap="square" lIns="0" rIns="0" tIns="0" bIns="0" anchor="t">
            <a:spAutoFit/>
          </a:bodyPr>
          <a:lstStyle/>
          <a:p>
            <a:pPr algn="ctr" rtl="1">
              <a:lnSpc>
                <a:spcPct val="115000"/>
              </a:lnSpc>
            </a:pPr>
            <a:r>
              <a:rPr sz="1620" b="1" lang="he-IL">
                <a:solidFill>
                  <a:srgbClr val="9A9AA6"/>
                </a:solidFill>
                <a:latin typeface="Heebo"/>
                <a:ea typeface="Heebo"/>
                <a:cs typeface="Heebo"/>
              </a:rPr>
              <a:t>שבוע 3 · מחלקות</a:t>
            </a:r>
          </a:p>
        </p:txBody>
      </p:sp>
      <p:sp>
        <p:nvSpPr>
          <p:cNvPr id="13" name="Oval 12"/>
          <p:cNvSpPr/>
          <p:nvPr/>
        </p:nvSpPr>
        <p:spPr>
          <a:xfrm>
            <a:off x="1120140" y="1981200"/>
            <a:ext cx="975360" cy="975360"/>
          </a:xfrm>
          <a:prstGeom prst="ellipse">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3240" b="1" lang="he-IL">
                <a:solidFill>
                  <a:srgbClr val="9A9AA6"/>
                </a:solidFill>
                <a:latin typeface="Heebo"/>
                <a:ea typeface="Heebo"/>
                <a:cs typeface="Heebo"/>
              </a:rPr>
              <a:t>4</a:t>
            </a:r>
          </a:p>
        </p:txBody>
      </p:sp>
      <p:sp>
        <p:nvSpPr>
          <p:cNvPr id="14" name="TextBox 13"/>
          <p:cNvSpPr txBox="1"/>
          <p:nvPr/>
        </p:nvSpPr>
        <p:spPr>
          <a:xfrm>
            <a:off x="464820" y="3169920"/>
            <a:ext cx="2286000" cy="304800"/>
          </a:xfrm>
          <a:prstGeom prst="rect">
            <a:avLst/>
          </a:prstGeom>
          <a:noFill/>
        </p:spPr>
        <p:txBody>
          <a:bodyPr wrap="square" lIns="0" rIns="0" tIns="0" bIns="0" anchor="t">
            <a:spAutoFit/>
          </a:bodyPr>
          <a:lstStyle/>
          <a:p>
            <a:pPr algn="ctr" rtl="1">
              <a:lnSpc>
                <a:spcPct val="115000"/>
              </a:lnSpc>
            </a:pPr>
            <a:r>
              <a:rPr sz="1620" b="1" lang="he-IL">
                <a:solidFill>
                  <a:srgbClr val="9A9AA6"/>
                </a:solidFill>
                <a:latin typeface="Heebo"/>
                <a:ea typeface="Heebo"/>
                <a:cs typeface="Heebo"/>
              </a:rPr>
              <a:t>שבוע 4 · מפעילות</a:t>
            </a:r>
          </a:p>
        </p:txBody>
      </p:sp>
      <p:sp>
        <p:nvSpPr>
          <p:cNvPr id="15" name="TextBox 14"/>
          <p:cNvSpPr txBox="1"/>
          <p:nvPr/>
        </p:nvSpPr>
        <p:spPr>
          <a:xfrm>
            <a:off x="914400" y="3962400"/>
            <a:ext cx="10363200" cy="1295400"/>
          </a:xfrm>
          <a:prstGeom prst="rect">
            <a:avLst/>
          </a:prstGeom>
          <a:noFill/>
        </p:spPr>
        <p:txBody>
          <a:bodyPr wrap="square" lIns="0" rIns="0" tIns="0" bIns="0" anchor="t">
            <a:spAutoFit/>
          </a:bodyPr>
          <a:lstStyle/>
          <a:p>
            <a:pPr algn="r" rtl="1">
              <a:lnSpc>
                <a:spcPct val="120000"/>
              </a:lnSpc>
            </a:pPr>
            <a:r>
              <a:rPr sz="3240" b="1" lang="he-IL">
                <a:solidFill>
                  <a:srgbClr val="191A2E"/>
                </a:solidFill>
                <a:latin typeface="Heebo"/>
                <a:ea typeface="Heebo"/>
                <a:cs typeface="Heebo"/>
              </a:rPr>
              <a:t>לפני שמשקיעים, בונים שכבת ביטחון.</a:t>
            </a:r>
          </a:p>
        </p:txBody>
      </p:sp>
      <p:sp>
        <p:nvSpPr>
          <p:cNvPr id="16" name="TextBox 15"/>
          <p:cNvSpPr txBox="1"/>
          <p:nvPr/>
        </p:nvSpPr>
        <p:spPr>
          <a:xfrm>
            <a:off x="914400" y="5334000"/>
            <a:ext cx="10363200" cy="762000"/>
          </a:xfrm>
          <a:prstGeom prst="rect">
            <a:avLst/>
          </a:prstGeom>
          <a:noFill/>
        </p:spPr>
        <p:txBody>
          <a:bodyPr wrap="square" lIns="0" rIns="0" tIns="0" bIns="0" anchor="t">
            <a:spAutoFit/>
          </a:bodyPr>
          <a:lstStyle/>
          <a:p>
            <a:pPr algn="r" rtl="1">
              <a:lnSpc>
                <a:spcPct val="145000"/>
              </a:lnSpc>
            </a:pPr>
            <a:r>
              <a:rPr sz="1680" b="0" lang="he-IL">
                <a:solidFill>
                  <a:srgbClr val="6B6B7B"/>
                </a:solidFill>
                <a:latin typeface="Heebo"/>
                <a:ea typeface="Heebo"/>
                <a:cs typeface="Heebo"/>
              </a:rPr>
              <a:t>הסדר הזה הוא מה שמאפשר אחר כך להשקיע בלי פחד.</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06</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 ארבעה חלקים, מפה אחת</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מה מחכה לנו הערב</a:t>
            </a:r>
          </a:p>
        </p:txBody>
      </p:sp>
      <p:sp>
        <p:nvSpPr>
          <p:cNvPr id="6" name="Oval 5"/>
          <p:cNvSpPr/>
          <p:nvPr/>
        </p:nvSpPr>
        <p:spPr>
          <a:xfrm>
            <a:off x="10850880" y="22860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7" name="TextBox 6"/>
          <p:cNvSpPr txBox="1"/>
          <p:nvPr/>
        </p:nvSpPr>
        <p:spPr>
          <a:xfrm>
            <a:off x="914400" y="2301240"/>
            <a:ext cx="9723120" cy="87630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למה בכלל: הסולם. לאן הולכים, ואיפה אתם עליו היום</a:t>
            </a:r>
          </a:p>
        </p:txBody>
      </p:sp>
      <p:sp>
        <p:nvSpPr>
          <p:cNvPr id="8" name="Oval 7"/>
          <p:cNvSpPr/>
          <p:nvPr/>
        </p:nvSpPr>
        <p:spPr>
          <a:xfrm>
            <a:off x="10850880" y="31623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9" name="TextBox 8"/>
          <p:cNvSpPr txBox="1"/>
          <p:nvPr/>
        </p:nvSpPr>
        <p:spPr>
          <a:xfrm>
            <a:off x="914400" y="3177540"/>
            <a:ext cx="9723120" cy="87630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ארבעת הכדים: לכל שקל תפקיד וטווח</a:t>
            </a:r>
          </a:p>
        </p:txBody>
      </p:sp>
      <p:sp>
        <p:nvSpPr>
          <p:cNvPr id="10" name="Oval 9"/>
          <p:cNvSpPr/>
          <p:nvPr/>
        </p:nvSpPr>
        <p:spPr>
          <a:xfrm>
            <a:off x="10850880" y="40386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1" name="TextBox 10"/>
          <p:cNvSpPr txBox="1"/>
          <p:nvPr/>
        </p:nvSpPr>
        <p:spPr>
          <a:xfrm>
            <a:off x="914400" y="4053840"/>
            <a:ext cx="9723120" cy="87630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מספר הזהב: כמה לכל כד, בכל חודש</a:t>
            </a:r>
          </a:p>
        </p:txBody>
      </p:sp>
      <p:sp>
        <p:nvSpPr>
          <p:cNvPr id="12" name="Oval 11"/>
          <p:cNvSpPr/>
          <p:nvPr/>
        </p:nvSpPr>
        <p:spPr>
          <a:xfrm>
            <a:off x="10850880" y="49149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4</a:t>
            </a:r>
          </a:p>
        </p:txBody>
      </p:sp>
      <p:sp>
        <p:nvSpPr>
          <p:cNvPr id="13" name="TextBox 12"/>
          <p:cNvSpPr txBox="1"/>
          <p:nvPr/>
        </p:nvSpPr>
        <p:spPr>
          <a:xfrm>
            <a:off x="914400" y="4930140"/>
            <a:ext cx="9723120" cy="87630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מה שנשאר: שלכם. בלי אשמה</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07</a:t>
            </a:r>
          </a:p>
        </p:txBody>
      </p:sp>
      <p:sp>
        <p:nvSpPr>
          <p:cNvPr id="4" name="TextBox 3"/>
          <p:cNvSpPr txBox="1"/>
          <p:nvPr/>
        </p:nvSpPr>
        <p:spPr>
          <a:xfrm>
            <a:off x="914400" y="9906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חלק 1 · למה בכלל נכסים</a:t>
            </a:r>
          </a:p>
        </p:txBody>
      </p:sp>
      <p:sp>
        <p:nvSpPr>
          <p:cNvPr id="5" name="TextBox 4"/>
          <p:cNvSpPr txBox="1"/>
          <p:nvPr/>
        </p:nvSpPr>
        <p:spPr>
          <a:xfrm>
            <a:off x="914400" y="1371600"/>
            <a:ext cx="10363200" cy="685800"/>
          </a:xfrm>
          <a:prstGeom prst="rect">
            <a:avLst/>
          </a:prstGeom>
          <a:noFill/>
        </p:spPr>
        <p:txBody>
          <a:bodyPr wrap="square" lIns="0" rIns="0" tIns="0" bIns="0" anchor="t">
            <a:spAutoFit/>
          </a:bodyPr>
          <a:lstStyle/>
          <a:p>
            <a:pPr algn="r" rtl="1">
              <a:lnSpc>
                <a:spcPct val="115000"/>
              </a:lnSpc>
            </a:pPr>
            <a:r>
              <a:rPr sz="3840" b="1" lang="he-IL">
                <a:solidFill>
                  <a:srgbClr val="191A2E"/>
                </a:solidFill>
                <a:latin typeface="Heebo"/>
                <a:ea typeface="Heebo"/>
                <a:cs typeface="Heebo"/>
              </a:rPr>
              <a:t>המשפט של הערב</a:t>
            </a:r>
          </a:p>
        </p:txBody>
      </p:sp>
      <p:sp>
        <p:nvSpPr>
          <p:cNvPr id="6" name="Rounded Rectangle 5"/>
          <p:cNvSpPr/>
          <p:nvPr/>
        </p:nvSpPr>
        <p:spPr>
          <a:xfrm>
            <a:off x="6271260" y="2895600"/>
            <a:ext cx="5006340" cy="1600200"/>
          </a:xfrm>
          <a:prstGeom prst="roundRect">
            <a:avLst>
              <a:gd name="adj" fmla="val 14285"/>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הכנסה מממנת את החיים</a:t>
            </a:r>
          </a:p>
        </p:txBody>
      </p:sp>
      <p:sp>
        <p:nvSpPr>
          <p:cNvPr id="7" name="TextBox 6"/>
          <p:cNvSpPr txBox="1"/>
          <p:nvPr/>
        </p:nvSpPr>
        <p:spPr>
          <a:xfrm>
            <a:off x="592074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8" name="Rounded Rectangle 7"/>
          <p:cNvSpPr/>
          <p:nvPr/>
        </p:nvSpPr>
        <p:spPr>
          <a:xfrm>
            <a:off x="914400" y="2895600"/>
            <a:ext cx="5006340" cy="1600200"/>
          </a:xfrm>
          <a:prstGeom prst="roundRect">
            <a:avLst>
              <a:gd name="adj" fmla="val 14285"/>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נכסים מממנים את החופש</a:t>
            </a:r>
          </a:p>
        </p:txBody>
      </p:sp>
      <p:sp>
        <p:nvSpPr>
          <p:cNvPr id="9" name="TextBox 8"/>
          <p:cNvSpPr txBox="1"/>
          <p:nvPr/>
        </p:nvSpPr>
        <p:spPr>
          <a:xfrm>
            <a:off x="914400" y="4953000"/>
            <a:ext cx="10363200" cy="9144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לא משנה כמה נכניס. משנה כמה מזה הופך לנכסים.</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08</a:t>
            </a:r>
          </a:p>
        </p:txBody>
      </p:sp>
      <p:sp>
        <p:nvSpPr>
          <p:cNvPr id="4" name="TextBox 3"/>
          <p:cNvSpPr txBox="1"/>
          <p:nvPr/>
        </p:nvSpPr>
        <p:spPr>
          <a:xfrm>
            <a:off x="914400" y="9906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ככה גדלנו. וככה רצים כל החיים ונשארים באותו מקום</a:t>
            </a:r>
          </a:p>
        </p:txBody>
      </p:sp>
      <p:sp>
        <p:nvSpPr>
          <p:cNvPr id="5" name="TextBox 4"/>
          <p:cNvSpPr txBox="1"/>
          <p:nvPr/>
        </p:nvSpPr>
        <p:spPr>
          <a:xfrm>
            <a:off x="914400" y="1371600"/>
            <a:ext cx="10363200" cy="685800"/>
          </a:xfrm>
          <a:prstGeom prst="rect">
            <a:avLst/>
          </a:prstGeom>
          <a:noFill/>
        </p:spPr>
        <p:txBody>
          <a:bodyPr wrap="square" lIns="0" rIns="0" tIns="0" bIns="0" anchor="t">
            <a:spAutoFit/>
          </a:bodyPr>
          <a:lstStyle/>
          <a:p>
            <a:pPr algn="r" rtl="1">
              <a:lnSpc>
                <a:spcPct val="115000"/>
              </a:lnSpc>
            </a:pPr>
            <a:r>
              <a:rPr sz="3840" b="1" lang="he-IL">
                <a:solidFill>
                  <a:srgbClr val="191A2E"/>
                </a:solidFill>
                <a:latin typeface="Heebo"/>
                <a:ea typeface="Heebo"/>
                <a:cs typeface="Heebo"/>
              </a:rPr>
              <a:t>המשחק הישן</a:t>
            </a:r>
          </a:p>
        </p:txBody>
      </p:sp>
      <p:sp>
        <p:nvSpPr>
          <p:cNvPr id="6" name="Rounded Rectangle 5"/>
          <p:cNvSpPr/>
          <p:nvPr/>
        </p:nvSpPr>
        <p:spPr>
          <a:xfrm>
            <a:off x="8056880" y="2895600"/>
            <a:ext cx="3220720" cy="1600200"/>
          </a:xfrm>
          <a:prstGeom prst="roundRect">
            <a:avLst>
              <a:gd name="adj" fmla="val 14285"/>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תרוויחו יותר</a:t>
            </a:r>
          </a:p>
        </p:txBody>
      </p:sp>
      <p:sp>
        <p:nvSpPr>
          <p:cNvPr id="7" name="TextBox 6"/>
          <p:cNvSpPr txBox="1"/>
          <p:nvPr/>
        </p:nvSpPr>
        <p:spPr>
          <a:xfrm>
            <a:off x="770636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8" name="Rounded Rectangle 7"/>
          <p:cNvSpPr/>
          <p:nvPr/>
        </p:nvSpPr>
        <p:spPr>
          <a:xfrm>
            <a:off x="4485640" y="2895600"/>
            <a:ext cx="3220720" cy="1600200"/>
          </a:xfrm>
          <a:prstGeom prst="roundRect">
            <a:avLst>
              <a:gd name="adj" fmla="val 14285"/>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יהיה לכם ביטחון</a:t>
            </a:r>
          </a:p>
        </p:txBody>
      </p:sp>
      <p:sp>
        <p:nvSpPr>
          <p:cNvPr id="9" name="TextBox 8"/>
          <p:cNvSpPr txBox="1"/>
          <p:nvPr/>
        </p:nvSpPr>
        <p:spPr>
          <a:xfrm>
            <a:off x="413512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10" name="Rounded Rectangle 9"/>
          <p:cNvSpPr/>
          <p:nvPr/>
        </p:nvSpPr>
        <p:spPr>
          <a:xfrm>
            <a:off x="914400" y="2895600"/>
            <a:ext cx="3220720" cy="1600200"/>
          </a:xfrm>
          <a:prstGeom prst="roundRect">
            <a:avLst>
              <a:gd name="adj" fmla="val 14285"/>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תהיו חופשיים</a:t>
            </a:r>
          </a:p>
        </p:txBody>
      </p:sp>
      <p:sp>
        <p:nvSpPr>
          <p:cNvPr id="11" name="TextBox 10"/>
          <p:cNvSpPr txBox="1"/>
          <p:nvPr/>
        </p:nvSpPr>
        <p:spPr>
          <a:xfrm>
            <a:off x="914400" y="4953000"/>
            <a:ext cx="10363200" cy="9144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להכניס יותר = לעבוד יותר. וכשמכניסים יותר, מוציאים יותר. רמת החיים עולה ביחד עם ההכנסה.</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09</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 בצ'אט: דנה או רוני?</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מי מהן עשירה יותר?</a:t>
            </a:r>
          </a:p>
        </p:txBody>
      </p:sp>
      <p:sp>
        <p:nvSpPr>
          <p:cNvPr id="6" name="Rounded Rectangle 5"/>
          <p:cNvSpPr/>
          <p:nvPr/>
        </p:nvSpPr>
        <p:spPr>
          <a:xfrm>
            <a:off x="6202680" y="2514600"/>
            <a:ext cx="507492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477000" y="2819400"/>
            <a:ext cx="4526280" cy="838200"/>
          </a:xfrm>
          <a:prstGeom prst="rect">
            <a:avLst/>
          </a:prstGeom>
          <a:noFill/>
        </p:spPr>
        <p:txBody>
          <a:bodyPr wrap="square" lIns="0" rIns="0" tIns="0" bIns="0" anchor="t">
            <a:spAutoFit/>
          </a:bodyPr>
          <a:lstStyle/>
          <a:p>
            <a:pPr algn="r" rtl="1">
              <a:lnSpc>
                <a:spcPct val="110000"/>
              </a:lnSpc>
            </a:pPr>
            <a:r>
              <a:rPr sz="3120" b="1" lang="he-IL">
                <a:solidFill>
                  <a:srgbClr val="191A2E"/>
                </a:solidFill>
                <a:latin typeface="Heebo"/>
                <a:ea typeface="Heebo"/>
                <a:cs typeface="Heebo"/>
              </a:rPr>
              <a:t>דנה</a:t>
            </a:r>
          </a:p>
        </p:txBody>
      </p:sp>
      <p:sp>
        <p:nvSpPr>
          <p:cNvPr id="8" name="TextBox 7"/>
          <p:cNvSpPr txBox="1"/>
          <p:nvPr/>
        </p:nvSpPr>
        <p:spPr>
          <a:xfrm>
            <a:off x="6477000" y="3429000"/>
            <a:ext cx="452628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10,000 ₪ בחודש.
רכב רגיל. חופשה פעם בשנה.</a:t>
            </a:r>
          </a:p>
        </p:txBody>
      </p:sp>
      <p:sp>
        <p:nvSpPr>
          <p:cNvPr id="9" name="Rounded Rectangle 8"/>
          <p:cNvSpPr/>
          <p:nvPr/>
        </p:nvSpPr>
        <p:spPr>
          <a:xfrm>
            <a:off x="914400" y="2514600"/>
            <a:ext cx="5074920" cy="30480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188720" y="2819400"/>
            <a:ext cx="4526280" cy="838200"/>
          </a:xfrm>
          <a:prstGeom prst="rect">
            <a:avLst/>
          </a:prstGeom>
          <a:noFill/>
        </p:spPr>
        <p:txBody>
          <a:bodyPr wrap="square" lIns="0" rIns="0" tIns="0" bIns="0" anchor="t">
            <a:spAutoFit/>
          </a:bodyPr>
          <a:lstStyle/>
          <a:p>
            <a:pPr algn="r" rtl="1">
              <a:lnSpc>
                <a:spcPct val="110000"/>
              </a:lnSpc>
            </a:pPr>
            <a:r>
              <a:rPr sz="3120" b="1" lang="he-IL">
                <a:solidFill>
                  <a:srgbClr val="191A2E"/>
                </a:solidFill>
                <a:latin typeface="Heebo"/>
                <a:ea typeface="Heebo"/>
                <a:cs typeface="Heebo"/>
              </a:rPr>
              <a:t>רוני</a:t>
            </a:r>
          </a:p>
        </p:txBody>
      </p:sp>
      <p:sp>
        <p:nvSpPr>
          <p:cNvPr id="11" name="TextBox 10"/>
          <p:cNvSpPr txBox="1"/>
          <p:nvPr/>
        </p:nvSpPr>
        <p:spPr>
          <a:xfrm>
            <a:off x="1188720" y="3429000"/>
            <a:ext cx="452628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10,000 ₪ בחודש.
רכב חדש. חו"ל שלוש פעמים בשנה. בגדים יפים.</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10</a:t>
            </a:r>
          </a:p>
        </p:txBody>
      </p:sp>
      <p:sp>
        <p:nvSpPr>
          <p:cNvPr id="4" name="TextBox 3"/>
          <p:cNvSpPr txBox="1"/>
          <p:nvPr/>
        </p:nvSpPr>
        <p:spPr>
          <a:xfrm>
            <a:off x="914400" y="838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מה שאף אחת לא רואה</a:t>
            </a:r>
          </a:p>
        </p:txBody>
      </p:sp>
      <p:sp>
        <p:nvSpPr>
          <p:cNvPr id="5" name="Rounded Rectangle 4"/>
          <p:cNvSpPr/>
          <p:nvPr/>
        </p:nvSpPr>
        <p:spPr>
          <a:xfrm>
            <a:off x="6202680" y="2057400"/>
            <a:ext cx="507492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77000" y="2362200"/>
            <a:ext cx="4526280" cy="838200"/>
          </a:xfrm>
          <a:prstGeom prst="rect">
            <a:avLst/>
          </a:prstGeom>
          <a:noFill/>
        </p:spPr>
        <p:txBody>
          <a:bodyPr wrap="square" lIns="0" rIns="0" tIns="0" bIns="0" anchor="t">
            <a:spAutoFit/>
          </a:bodyPr>
          <a:lstStyle/>
          <a:p>
            <a:pPr algn="r" rtl="1">
              <a:lnSpc>
                <a:spcPct val="110000"/>
              </a:lnSpc>
            </a:pPr>
            <a:r>
              <a:rPr sz="3120" b="1" lang="he-IL">
                <a:solidFill>
                  <a:srgbClr val="191A2E"/>
                </a:solidFill>
                <a:latin typeface="Heebo"/>
                <a:ea typeface="Heebo"/>
                <a:cs typeface="Heebo"/>
              </a:rPr>
              <a:t>דנה</a:t>
            </a:r>
          </a:p>
        </p:txBody>
      </p:sp>
      <p:sp>
        <p:nvSpPr>
          <p:cNvPr id="7" name="TextBox 6"/>
          <p:cNvSpPr txBox="1"/>
          <p:nvPr/>
        </p:nvSpPr>
        <p:spPr>
          <a:xfrm>
            <a:off x="6477000" y="2971800"/>
            <a:ext cx="4526280" cy="1905000"/>
          </a:xfrm>
          <a:prstGeom prst="rect">
            <a:avLst/>
          </a:prstGeom>
          <a:noFill/>
        </p:spPr>
        <p:txBody>
          <a:bodyPr wrap="square" lIns="0" rIns="0" tIns="0" bIns="0" anchor="t">
            <a:spAutoFit/>
          </a:bodyPr>
          <a:lstStyle/>
          <a:p>
            <a:pPr algn="r" rtl="1">
              <a:lnSpc>
                <a:spcPct val="140000"/>
              </a:lnSpc>
            </a:pPr>
            <a:r>
              <a:rPr sz="2039" b="0" lang="he-IL">
                <a:solidFill>
                  <a:srgbClr val="191A2E"/>
                </a:solidFill>
                <a:latin typeface="Heebo"/>
                <a:ea typeface="Heebo"/>
                <a:cs typeface="Heebo"/>
              </a:rPr>
              <a:t>מאחורי המשכורת:
1,000,000 ₪ בנכסים</a:t>
            </a:r>
          </a:p>
        </p:txBody>
      </p:sp>
      <p:sp>
        <p:nvSpPr>
          <p:cNvPr id="8" name="Rounded Rectangle 7"/>
          <p:cNvSpPr/>
          <p:nvPr/>
        </p:nvSpPr>
        <p:spPr>
          <a:xfrm>
            <a:off x="914400" y="2057400"/>
            <a:ext cx="5074920" cy="3048000"/>
          </a:xfrm>
          <a:prstGeom prst="roundRect">
            <a:avLst>
              <a:gd name="adj" fmla="val 8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188720" y="2362200"/>
            <a:ext cx="4526280" cy="838200"/>
          </a:xfrm>
          <a:prstGeom prst="rect">
            <a:avLst/>
          </a:prstGeom>
          <a:noFill/>
        </p:spPr>
        <p:txBody>
          <a:bodyPr wrap="square" lIns="0" rIns="0" tIns="0" bIns="0" anchor="t">
            <a:spAutoFit/>
          </a:bodyPr>
          <a:lstStyle/>
          <a:p>
            <a:pPr algn="r" rtl="1">
              <a:lnSpc>
                <a:spcPct val="110000"/>
              </a:lnSpc>
            </a:pPr>
            <a:r>
              <a:rPr sz="3120" b="1" lang="he-IL">
                <a:solidFill>
                  <a:srgbClr val="191A2E"/>
                </a:solidFill>
                <a:latin typeface="Heebo"/>
                <a:ea typeface="Heebo"/>
                <a:cs typeface="Heebo"/>
              </a:rPr>
              <a:t>רוני</a:t>
            </a:r>
          </a:p>
        </p:txBody>
      </p:sp>
      <p:sp>
        <p:nvSpPr>
          <p:cNvPr id="10" name="TextBox 9"/>
          <p:cNvSpPr txBox="1"/>
          <p:nvPr/>
        </p:nvSpPr>
        <p:spPr>
          <a:xfrm>
            <a:off x="1188720" y="2971800"/>
            <a:ext cx="4526280" cy="1905000"/>
          </a:xfrm>
          <a:prstGeom prst="rect">
            <a:avLst/>
          </a:prstGeom>
          <a:noFill/>
        </p:spPr>
        <p:txBody>
          <a:bodyPr wrap="square" lIns="0" rIns="0" tIns="0" bIns="0" anchor="t">
            <a:spAutoFit/>
          </a:bodyPr>
          <a:lstStyle/>
          <a:p>
            <a:pPr algn="r" rtl="1">
              <a:lnSpc>
                <a:spcPct val="140000"/>
              </a:lnSpc>
            </a:pPr>
            <a:r>
              <a:rPr sz="2039" b="0" lang="he-IL">
                <a:solidFill>
                  <a:srgbClr val="191A2E"/>
                </a:solidFill>
                <a:latin typeface="Heebo"/>
                <a:ea typeface="Heebo"/>
                <a:cs typeface="Heebo"/>
              </a:rPr>
              <a:t>מאחורי המשכורת:
20,000 ₪</a:t>
            </a:r>
          </a:p>
        </p:txBody>
      </p:sp>
      <p:sp>
        <p:nvSpPr>
          <p:cNvPr id="11" name="TextBox 10"/>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רמת חיים = כמה מוציאים. עושר = כמה יש. ”עושר הוא מה שלא רואים“ · מורגן האוסל</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11</a:t>
            </a:r>
          </a:p>
        </p:txBody>
      </p:sp>
      <p:sp>
        <p:nvSpPr>
          <p:cNvPr id="4" name="TextBox 3"/>
          <p:cNvSpPr txBox="1"/>
          <p:nvPr/>
        </p:nvSpPr>
        <p:spPr>
          <a:xfrm>
            <a:off x="914400" y="2112264"/>
            <a:ext cx="10363200" cy="1414272"/>
          </a:xfrm>
          <a:prstGeom prst="rect">
            <a:avLst/>
          </a:prstGeom>
          <a:noFill/>
        </p:spPr>
        <p:txBody>
          <a:bodyPr wrap="square" lIns="0" rIns="0" tIns="0" bIns="0" anchor="t">
            <a:spAutoFit/>
          </a:bodyPr>
          <a:lstStyle/>
          <a:p>
            <a:pPr algn="r" rtl="1">
              <a:lnSpc>
                <a:spcPct val="110000"/>
              </a:lnSpc>
            </a:pPr>
            <a:r>
              <a:rPr sz="4320" b="1" lang="he-IL">
                <a:solidFill>
                  <a:srgbClr val="191A2E"/>
                </a:solidFill>
                <a:latin typeface="Heebo"/>
                <a:ea typeface="Heebo"/>
                <a:cs typeface="Heebo"/>
              </a:rPr>
              <a:t>אפשר להרוויח 50,000 ₪ בחודש,</a:t>
            </a:r>
          </a:p>
          <a:p>
            <a:pPr algn="r" rtl="1">
              <a:lnSpc>
                <a:spcPct val="110000"/>
              </a:lnSpc>
            </a:pPr>
            <a:r>
              <a:rPr sz="4320" b="1" lang="he-IL">
                <a:solidFill>
                  <a:srgbClr val="EF55A5"/>
                </a:solidFill>
                <a:latin typeface="Heebo"/>
                <a:ea typeface="Heebo"/>
                <a:cs typeface="Heebo"/>
              </a:rPr>
              <a:t>ולהיות תלויים לגמרי בעבודה.</a:t>
            </a:r>
          </a:p>
        </p:txBody>
      </p:sp>
      <p:sp>
        <p:nvSpPr>
          <p:cNvPr id="5" name="TextBox 4"/>
          <p:cNvSpPr txBox="1"/>
          <p:nvPr/>
        </p:nvSpPr>
        <p:spPr>
          <a:xfrm>
            <a:off x="914400" y="3678936"/>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הכנסה גבוהה ≠ חופש. כל חודש מחדש. כל חודש מאפס.</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12</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בלי ירושה, בלי קידום. נקודת מוצא זהה</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אותה משכורת. 20 שנה קדימה.</a:t>
            </a:r>
          </a:p>
        </p:txBody>
      </p:sp>
      <p:sp>
        <p:nvSpPr>
          <p:cNvPr id="6" name="Rounded Rectangle 5"/>
          <p:cNvSpPr/>
          <p:nvPr/>
        </p:nvSpPr>
        <p:spPr>
          <a:xfrm>
            <a:off x="6202680" y="2247900"/>
            <a:ext cx="5074920" cy="3048000"/>
          </a:xfrm>
          <a:prstGeom prst="roundRect">
            <a:avLst>
              <a:gd name="adj" fmla="val 8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477000" y="2552700"/>
            <a:ext cx="4526280" cy="838200"/>
          </a:xfrm>
          <a:prstGeom prst="rect">
            <a:avLst/>
          </a:prstGeom>
          <a:noFill/>
        </p:spPr>
        <p:txBody>
          <a:bodyPr wrap="square" lIns="0" rIns="0" tIns="0" bIns="0" anchor="t">
            <a:spAutoFit/>
          </a:bodyPr>
          <a:lstStyle/>
          <a:p>
            <a:pPr algn="r" rtl="1">
              <a:lnSpc>
                <a:spcPct val="110000"/>
              </a:lnSpc>
            </a:pPr>
            <a:r>
              <a:rPr sz="2879" b="1" lang="he-IL">
                <a:solidFill>
                  <a:srgbClr val="191A2E"/>
                </a:solidFill>
                <a:latin typeface="Heebo"/>
                <a:ea typeface="Heebo"/>
                <a:cs typeface="Heebo"/>
              </a:rPr>
              <a:t>רוני</a:t>
            </a:r>
          </a:p>
        </p:txBody>
      </p:sp>
      <p:sp>
        <p:nvSpPr>
          <p:cNvPr id="8" name="TextBox 7"/>
          <p:cNvSpPr txBox="1"/>
          <p:nvPr/>
        </p:nvSpPr>
        <p:spPr>
          <a:xfrm>
            <a:off x="6477000" y="3162300"/>
            <a:ext cx="452628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12,000 נכנס. 12,000 יוצא.
אחרי 20 שנה: 0 ₪ בנכסים.
המשכורת חייבת להיכנס. לנצח.</a:t>
            </a:r>
          </a:p>
        </p:txBody>
      </p:sp>
      <p:sp>
        <p:nvSpPr>
          <p:cNvPr id="9" name="Rounded Rectangle 8"/>
          <p:cNvSpPr/>
          <p:nvPr/>
        </p:nvSpPr>
        <p:spPr>
          <a:xfrm>
            <a:off x="914400" y="2247900"/>
            <a:ext cx="507492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188720" y="2552700"/>
            <a:ext cx="4526280" cy="838200"/>
          </a:xfrm>
          <a:prstGeom prst="rect">
            <a:avLst/>
          </a:prstGeom>
          <a:noFill/>
        </p:spPr>
        <p:txBody>
          <a:bodyPr wrap="square" lIns="0" rIns="0" tIns="0" bIns="0" anchor="t">
            <a:spAutoFit/>
          </a:bodyPr>
          <a:lstStyle/>
          <a:p>
            <a:pPr algn="r" rtl="1">
              <a:lnSpc>
                <a:spcPct val="110000"/>
              </a:lnSpc>
            </a:pPr>
            <a:r>
              <a:rPr sz="2879" b="1" lang="he-IL">
                <a:solidFill>
                  <a:srgbClr val="191A2E"/>
                </a:solidFill>
                <a:latin typeface="Heebo"/>
                <a:ea typeface="Heebo"/>
                <a:cs typeface="Heebo"/>
              </a:rPr>
              <a:t>דנה</a:t>
            </a:r>
          </a:p>
        </p:txBody>
      </p:sp>
      <p:sp>
        <p:nvSpPr>
          <p:cNvPr id="11" name="TextBox 10"/>
          <p:cNvSpPr txBox="1"/>
          <p:nvPr/>
        </p:nvSpPr>
        <p:spPr>
          <a:xfrm>
            <a:off x="1188720" y="3162300"/>
            <a:ext cx="452628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1,500 ₪ ראשונים לכד הארוך. חיה על 10,500.
אחרי 20 שנה: כ-780,000 ₪.
אחרי 30 שנה: כ-1,830,000 ₪.</a:t>
            </a:r>
          </a:p>
        </p:txBody>
      </p:sp>
      <p:sp>
        <p:nvSpPr>
          <p:cNvPr id="12" name="TextBox 11"/>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ההבדל כולו: 1,500 ₪ שקיבלו תפקיד. (7% בשנה, להמחשה בלבד, ללא הבטחת תשואה)</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13</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ההגדרה הכי פשוטה</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נכס או התחייבות?</a:t>
            </a:r>
          </a:p>
        </p:txBody>
      </p:sp>
      <p:sp>
        <p:nvSpPr>
          <p:cNvPr id="6" name="Rounded Rectangle 5"/>
          <p:cNvSpPr/>
          <p:nvPr/>
        </p:nvSpPr>
        <p:spPr>
          <a:xfrm>
            <a:off x="6202680" y="2247900"/>
            <a:ext cx="507492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477000" y="2552700"/>
            <a:ext cx="4526280" cy="838200"/>
          </a:xfrm>
          <a:prstGeom prst="rect">
            <a:avLst/>
          </a:prstGeom>
          <a:noFill/>
        </p:spPr>
        <p:txBody>
          <a:bodyPr wrap="square" lIns="0" rIns="0" tIns="0" bIns="0" anchor="t">
            <a:spAutoFit/>
          </a:bodyPr>
          <a:lstStyle/>
          <a:p>
            <a:pPr algn="r" rtl="1">
              <a:lnSpc>
                <a:spcPct val="110000"/>
              </a:lnSpc>
            </a:pPr>
            <a:r>
              <a:rPr sz="2879" b="1" lang="he-IL">
                <a:solidFill>
                  <a:srgbClr val="191A2E"/>
                </a:solidFill>
                <a:latin typeface="Heebo"/>
                <a:ea typeface="Heebo"/>
                <a:cs typeface="Heebo"/>
              </a:rPr>
              <a:t>נכס</a:t>
            </a:r>
          </a:p>
        </p:txBody>
      </p:sp>
      <p:sp>
        <p:nvSpPr>
          <p:cNvPr id="8" name="TextBox 7"/>
          <p:cNvSpPr txBox="1"/>
          <p:nvPr/>
        </p:nvSpPr>
        <p:spPr>
          <a:xfrm>
            <a:off x="6477000" y="3162300"/>
            <a:ext cx="452628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עולה בערכו, או מכניס כסף.
דירה מושכרת, תיק השקעות, קרן השתלמות, פנסיה.</a:t>
            </a:r>
          </a:p>
        </p:txBody>
      </p:sp>
      <p:sp>
        <p:nvSpPr>
          <p:cNvPr id="9" name="Rounded Rectangle 8"/>
          <p:cNvSpPr/>
          <p:nvPr/>
        </p:nvSpPr>
        <p:spPr>
          <a:xfrm>
            <a:off x="914400" y="2247900"/>
            <a:ext cx="5074920" cy="3048000"/>
          </a:xfrm>
          <a:prstGeom prst="roundRect">
            <a:avLst>
              <a:gd name="adj" fmla="val 8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188720" y="2552700"/>
            <a:ext cx="4526280" cy="838200"/>
          </a:xfrm>
          <a:prstGeom prst="rect">
            <a:avLst/>
          </a:prstGeom>
          <a:noFill/>
        </p:spPr>
        <p:txBody>
          <a:bodyPr wrap="square" lIns="0" rIns="0" tIns="0" bIns="0" anchor="t">
            <a:spAutoFit/>
          </a:bodyPr>
          <a:lstStyle/>
          <a:p>
            <a:pPr algn="r" rtl="1">
              <a:lnSpc>
                <a:spcPct val="110000"/>
              </a:lnSpc>
            </a:pPr>
            <a:r>
              <a:rPr sz="2879" b="1" lang="he-IL">
                <a:solidFill>
                  <a:srgbClr val="191A2E"/>
                </a:solidFill>
                <a:latin typeface="Heebo"/>
                <a:ea typeface="Heebo"/>
                <a:cs typeface="Heebo"/>
              </a:rPr>
              <a:t>התחייבות</a:t>
            </a:r>
          </a:p>
        </p:txBody>
      </p:sp>
      <p:sp>
        <p:nvSpPr>
          <p:cNvPr id="11" name="TextBox 10"/>
          <p:cNvSpPr txBox="1"/>
          <p:nvPr/>
        </p:nvSpPr>
        <p:spPr>
          <a:xfrm>
            <a:off x="1188720" y="3162300"/>
            <a:ext cx="452628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מוציאה כסף כל חודש, או יורדת בערכה.
רכב, מנוי, הלוואה לצריכה.</a:t>
            </a:r>
          </a:p>
        </p:txBody>
      </p:sp>
      <p:sp>
        <p:nvSpPr>
          <p:cNvPr id="12" name="TextBox 11"/>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הבלבול הגדול: קונים התחייבויות ובטוחים שקונים נכסים.</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14</a:t>
            </a:r>
          </a:p>
        </p:txBody>
      </p:sp>
      <p:sp>
        <p:nvSpPr>
          <p:cNvPr id="4" name="TextBox 3"/>
          <p:cNvSpPr txBox="1"/>
          <p:nvPr/>
        </p:nvSpPr>
        <p:spPr>
          <a:xfrm>
            <a:off x="10515600" y="1143000"/>
            <a:ext cx="762000" cy="914400"/>
          </a:xfrm>
          <a:prstGeom prst="rect">
            <a:avLst/>
          </a:prstGeom>
          <a:noFill/>
        </p:spPr>
        <p:txBody>
          <a:bodyPr wrap="square" lIns="0" rIns="0" tIns="0" bIns="0" anchor="t">
            <a:spAutoFit/>
          </a:bodyPr>
          <a:lstStyle/>
          <a:p>
            <a:pPr algn="r" rtl="1">
              <a:lnSpc>
                <a:spcPct val="80000"/>
              </a:lnSpc>
            </a:pPr>
            <a:r>
              <a:rPr sz="10200" b="1" lang="he-IL">
                <a:solidFill>
                  <a:srgbClr val="EF55A5"/>
                </a:solidFill>
                <a:latin typeface="Heebo"/>
                <a:ea typeface="Heebo"/>
                <a:cs typeface="Heebo"/>
              </a:rPr>
              <a:t>”</a:t>
            </a:r>
          </a:p>
        </p:txBody>
      </p:sp>
      <p:sp>
        <p:nvSpPr>
          <p:cNvPr id="5" name="TextBox 4"/>
          <p:cNvSpPr txBox="1"/>
          <p:nvPr/>
        </p:nvSpPr>
        <p:spPr>
          <a:xfrm>
            <a:off x="914400" y="2286000"/>
            <a:ext cx="10363200" cy="2286000"/>
          </a:xfrm>
          <a:prstGeom prst="rect">
            <a:avLst/>
          </a:prstGeom>
          <a:noFill/>
        </p:spPr>
        <p:txBody>
          <a:bodyPr wrap="square" lIns="0" rIns="0" tIns="0" bIns="0" anchor="t">
            <a:spAutoFit/>
          </a:bodyPr>
          <a:lstStyle/>
          <a:p>
            <a:pPr algn="r" rtl="1">
              <a:lnSpc>
                <a:spcPct val="130000"/>
              </a:lnSpc>
            </a:pPr>
            <a:r>
              <a:rPr sz="3719" b="1" lang="he-IL">
                <a:solidFill>
                  <a:srgbClr val="191A2E"/>
                </a:solidFill>
                <a:latin typeface="Heebo"/>
                <a:ea typeface="Heebo"/>
                <a:cs typeface="Heebo"/>
              </a:rPr>
              <a:t>רוב האנשים מבלים את חייהם בלצבור התחייבויות, תוך שהם בטוחים שהם בונים נכסים.</a:t>
            </a:r>
          </a:p>
        </p:txBody>
      </p:sp>
      <p:sp>
        <p:nvSpPr>
          <p:cNvPr id="6" name="Rounded Rectangle 5"/>
          <p:cNvSpPr/>
          <p:nvPr/>
        </p:nvSpPr>
        <p:spPr>
          <a:xfrm>
            <a:off x="10942320" y="5029200"/>
            <a:ext cx="335280" cy="30480"/>
          </a:xfrm>
          <a:prstGeom prst="roundRect">
            <a:avLst>
              <a:gd name="adj" fmla="val 5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48400" y="4892040"/>
            <a:ext cx="4541520" cy="304800"/>
          </a:xfrm>
          <a:prstGeom prst="rect">
            <a:avLst/>
          </a:prstGeom>
          <a:noFill/>
        </p:spPr>
        <p:txBody>
          <a:bodyPr wrap="square" lIns="0" rIns="0" tIns="0" bIns="0" anchor="t">
            <a:spAutoFit/>
          </a:bodyPr>
          <a:lstStyle/>
          <a:p>
            <a:pPr algn="r" rtl="1">
              <a:lnSpc>
                <a:spcPct val="115000"/>
              </a:lnSpc>
            </a:pPr>
            <a:r>
              <a:rPr sz="1560" b="1" lang="he-IL">
                <a:solidFill>
                  <a:srgbClr val="191A2E"/>
                </a:solidFill>
                <a:latin typeface="Heebo"/>
                <a:ea typeface="Heebo"/>
                <a:cs typeface="Heebo"/>
              </a:rPr>
              <a:t>רוברט קיוסאקי · אבא עשיר, אבא עני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15</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לאן הולכים, ולמה</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5000"/>
              </a:lnSpc>
            </a:pPr>
            <a:r>
              <a:rPr sz="3960" b="1" lang="he-IL">
                <a:solidFill>
                  <a:srgbClr val="191A2E"/>
                </a:solidFill>
                <a:latin typeface="Heebo"/>
                <a:ea typeface="Heebo"/>
                <a:cs typeface="Heebo"/>
              </a:rPr>
              <a:t>סולם החופש הכלכלי</a:t>
            </a:r>
          </a:p>
        </p:txBody>
      </p:sp>
      <p:sp>
        <p:nvSpPr>
          <p:cNvPr id="6" name="Rounded Rectangle 5"/>
          <p:cNvSpPr/>
          <p:nvPr/>
        </p:nvSpPr>
        <p:spPr>
          <a:xfrm>
            <a:off x="9372600" y="4495800"/>
            <a:ext cx="1905000" cy="1524000"/>
          </a:xfrm>
          <a:prstGeom prst="roundRect">
            <a:avLst>
              <a:gd name="adj" fmla="val 1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06680" rIns="106680" tIns="167640" bIns="0"/>
          <a:lstStyle/>
          <a:p>
            <a:pPr algn="ctr" rtl="1">
              <a:lnSpc>
                <a:spcPct val="115000"/>
              </a:lnSpc>
            </a:pPr>
            <a:r>
              <a:rPr sz="1680" b="1" lang="he-IL">
                <a:solidFill>
                  <a:srgbClr val="191A2E"/>
                </a:solidFill>
                <a:latin typeface="Heebo"/>
                <a:ea typeface="Heebo"/>
                <a:cs typeface="Heebo"/>
              </a:rPr>
              <a:t>1 · תלות</a:t>
            </a:r>
          </a:p>
          <a:p>
            <a:pPr algn="ctr" rtl="1">
              <a:lnSpc>
                <a:spcPct val="115000"/>
              </a:lnSpc>
              <a:spcBef>
                <a:spcPts val="480"/>
              </a:spcBef>
            </a:pPr>
            <a:r>
              <a:rPr sz="1680" b="0" lang="he-IL">
                <a:solidFill>
                  <a:srgbClr val="6B6B7B"/>
                </a:solidFill>
                <a:latin typeface="Heebo"/>
                <a:ea typeface="Heebo"/>
                <a:cs typeface="Heebo"/>
              </a:rPr>
              <a:t>ממשכורת למשכורת. כל חודש מאפס</a:t>
            </a:r>
          </a:p>
        </p:txBody>
      </p:sp>
      <p:sp>
        <p:nvSpPr>
          <p:cNvPr id="7" name="Rounded Rectangle 6"/>
          <p:cNvSpPr/>
          <p:nvPr/>
        </p:nvSpPr>
        <p:spPr>
          <a:xfrm>
            <a:off x="7261860" y="3947160"/>
            <a:ext cx="1905000" cy="2072640"/>
          </a:xfrm>
          <a:prstGeom prst="roundRect">
            <a:avLst>
              <a:gd name="adj" fmla="val 10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06680" rIns="106680" tIns="167640" bIns="0"/>
          <a:lstStyle/>
          <a:p>
            <a:pPr algn="ctr" rtl="1">
              <a:lnSpc>
                <a:spcPct val="115000"/>
              </a:lnSpc>
            </a:pPr>
            <a:r>
              <a:rPr sz="1680" b="1" lang="he-IL">
                <a:solidFill>
                  <a:srgbClr val="191A2E"/>
                </a:solidFill>
                <a:latin typeface="Heebo"/>
                <a:ea typeface="Heebo"/>
                <a:cs typeface="Heebo"/>
              </a:rPr>
              <a:t>2 · יציבות</a:t>
            </a:r>
          </a:p>
          <a:p>
            <a:pPr algn="ctr" rtl="1">
              <a:lnSpc>
                <a:spcPct val="115000"/>
              </a:lnSpc>
              <a:spcBef>
                <a:spcPts val="480"/>
              </a:spcBef>
            </a:pPr>
            <a:r>
              <a:rPr sz="1680" b="0" lang="he-IL">
                <a:solidFill>
                  <a:srgbClr val="6B6B7B"/>
                </a:solidFill>
                <a:latin typeface="Heebo"/>
                <a:ea typeface="Heebo"/>
                <a:cs typeface="Heebo"/>
              </a:rPr>
              <a:t>תזרים חיובי. במפר בעו"ש</a:t>
            </a:r>
          </a:p>
        </p:txBody>
      </p:sp>
      <p:sp>
        <p:nvSpPr>
          <p:cNvPr id="8" name="Rounded Rectangle 7"/>
          <p:cNvSpPr/>
          <p:nvPr/>
        </p:nvSpPr>
        <p:spPr>
          <a:xfrm>
            <a:off x="5151120" y="3398520"/>
            <a:ext cx="1905000" cy="2621280"/>
          </a:xfrm>
          <a:prstGeom prst="roundRect">
            <a:avLst>
              <a:gd name="adj" fmla="val 10000"/>
            </a:avLst>
          </a:prstGeom>
          <a:solidFill>
            <a:srgbClr val="8C9EFF"/>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06680" rIns="106680" tIns="167640" bIns="0"/>
          <a:lstStyle/>
          <a:p>
            <a:pPr algn="ctr" rtl="1">
              <a:lnSpc>
                <a:spcPct val="115000"/>
              </a:lnSpc>
            </a:pPr>
            <a:r>
              <a:rPr sz="1680" b="1" lang="he-IL">
                <a:solidFill>
                  <a:srgbClr val="191A2E"/>
                </a:solidFill>
                <a:latin typeface="Heebo"/>
                <a:ea typeface="Heebo"/>
                <a:cs typeface="Heebo"/>
              </a:rPr>
              <a:t>3 · ביטחון</a:t>
            </a:r>
          </a:p>
          <a:p>
            <a:pPr algn="ctr" rtl="1">
              <a:lnSpc>
                <a:spcPct val="115000"/>
              </a:lnSpc>
              <a:spcBef>
                <a:spcPts val="480"/>
              </a:spcBef>
            </a:pPr>
            <a:r>
              <a:rPr sz="1680" b="0" lang="he-IL">
                <a:solidFill>
                  <a:srgbClr val="6B6B7B"/>
                </a:solidFill>
                <a:latin typeface="Heebo"/>
                <a:ea typeface="Heebo"/>
                <a:cs typeface="Heebo"/>
              </a:rPr>
              <a:t>קרן חירום: 3 עד 6 חודשים</a:t>
            </a:r>
          </a:p>
        </p:txBody>
      </p:sp>
      <p:sp>
        <p:nvSpPr>
          <p:cNvPr id="9" name="Rounded Rectangle 8"/>
          <p:cNvSpPr/>
          <p:nvPr/>
        </p:nvSpPr>
        <p:spPr>
          <a:xfrm>
            <a:off x="3040380" y="2849880"/>
            <a:ext cx="1905000" cy="3169920"/>
          </a:xfrm>
          <a:prstGeom prst="roundRect">
            <a:avLst>
              <a:gd name="adj" fmla="val 1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06680" rIns="106680" tIns="167640" bIns="0"/>
          <a:lstStyle/>
          <a:p>
            <a:pPr algn="ctr" rtl="1">
              <a:lnSpc>
                <a:spcPct val="115000"/>
              </a:lnSpc>
            </a:pPr>
            <a:r>
              <a:rPr sz="1680" b="1" lang="he-IL">
                <a:solidFill>
                  <a:srgbClr val="191A2E"/>
                </a:solidFill>
                <a:latin typeface="Heebo"/>
                <a:ea typeface="Heebo"/>
                <a:cs typeface="Heebo"/>
              </a:rPr>
              <a:t>4 · צמיחה</a:t>
            </a:r>
          </a:p>
          <a:p>
            <a:pPr algn="ctr" rtl="1">
              <a:lnSpc>
                <a:spcPct val="115000"/>
              </a:lnSpc>
              <a:spcBef>
                <a:spcPts val="480"/>
              </a:spcBef>
            </a:pPr>
            <a:r>
              <a:rPr sz="1680" b="0" lang="he-IL">
                <a:solidFill>
                  <a:srgbClr val="6B6B7B"/>
                </a:solidFill>
                <a:latin typeface="Heebo"/>
                <a:ea typeface="Heebo"/>
                <a:cs typeface="Heebo"/>
              </a:rPr>
              <a:t>הנכסים גדלים כל חודש</a:t>
            </a:r>
          </a:p>
        </p:txBody>
      </p:sp>
      <p:sp>
        <p:nvSpPr>
          <p:cNvPr id="10" name="Rounded Rectangle 9"/>
          <p:cNvSpPr/>
          <p:nvPr/>
        </p:nvSpPr>
        <p:spPr>
          <a:xfrm>
            <a:off x="929640" y="2301240"/>
            <a:ext cx="1905000" cy="3718560"/>
          </a:xfrm>
          <a:prstGeom prst="roundRect">
            <a:avLst>
              <a:gd name="adj" fmla="val 10000"/>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06680" rIns="106680" tIns="167640" bIns="0"/>
          <a:lstStyle/>
          <a:p>
            <a:pPr algn="ctr" rtl="1">
              <a:lnSpc>
                <a:spcPct val="115000"/>
              </a:lnSpc>
            </a:pPr>
            <a:r>
              <a:rPr sz="1680" b="1" lang="he-IL">
                <a:solidFill>
                  <a:srgbClr val="191A2E"/>
                </a:solidFill>
                <a:latin typeface="Heebo"/>
                <a:ea typeface="Heebo"/>
                <a:cs typeface="Heebo"/>
              </a:rPr>
              <a:t>5 · חופש</a:t>
            </a:r>
          </a:p>
          <a:p>
            <a:pPr algn="ctr" rtl="1">
              <a:lnSpc>
                <a:spcPct val="115000"/>
              </a:lnSpc>
              <a:spcBef>
                <a:spcPts val="480"/>
              </a:spcBef>
            </a:pPr>
            <a:r>
              <a:rPr sz="1680" b="0" lang="he-IL">
                <a:solidFill>
                  <a:srgbClr val="191A2E"/>
                </a:solidFill>
                <a:latin typeface="Heebo"/>
                <a:ea typeface="Heebo"/>
                <a:cs typeface="Heebo"/>
              </a:rPr>
              <a:t>הנכסים מממנים את החיים</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16</a:t>
            </a:r>
          </a:p>
        </p:txBody>
      </p:sp>
      <p:sp>
        <p:nvSpPr>
          <p:cNvPr id="4" name="TextBox 3"/>
          <p:cNvSpPr txBox="1"/>
          <p:nvPr/>
        </p:nvSpPr>
        <p:spPr>
          <a:xfrm>
            <a:off x="914400" y="2217420"/>
            <a:ext cx="10363200" cy="1203960"/>
          </a:xfrm>
          <a:prstGeom prst="rect">
            <a:avLst/>
          </a:prstGeom>
          <a:noFill/>
        </p:spPr>
        <p:txBody>
          <a:bodyPr wrap="square" lIns="0" rIns="0" tIns="0" bIns="0" anchor="t">
            <a:spAutoFit/>
          </a:bodyPr>
          <a:lstStyle/>
          <a:p>
            <a:pPr algn="r" rtl="1">
              <a:lnSpc>
                <a:spcPct val="110000"/>
              </a:lnSpc>
            </a:pPr>
            <a:r>
              <a:rPr sz="3600" b="1" lang="he-IL">
                <a:solidFill>
                  <a:srgbClr val="191A2E"/>
                </a:solidFill>
                <a:latin typeface="Heebo"/>
                <a:ea typeface="Heebo"/>
                <a:cs typeface="Heebo"/>
              </a:rPr>
              <a:t>הסולם לא נמדד בכמה מרוויחים.</a:t>
            </a:r>
          </a:p>
          <a:p>
            <a:pPr algn="r" rtl="1">
              <a:lnSpc>
                <a:spcPct val="110000"/>
              </a:lnSpc>
            </a:pPr>
            <a:r>
              <a:rPr sz="3600" b="1" lang="he-IL">
                <a:solidFill>
                  <a:srgbClr val="EF55A5"/>
                </a:solidFill>
                <a:latin typeface="Heebo"/>
                <a:ea typeface="Heebo"/>
                <a:cs typeface="Heebo"/>
              </a:rPr>
              <a:t>הוא נמדד בכמה זמן הכסף מחזיק אתכם בלי שתעבדו.</a:t>
            </a:r>
          </a:p>
        </p:txBody>
      </p:sp>
      <p:sp>
        <p:nvSpPr>
          <p:cNvPr id="5" name="TextBox 4"/>
          <p:cNvSpPr txBox="1"/>
          <p:nvPr/>
        </p:nvSpPr>
        <p:spPr>
          <a:xfrm>
            <a:off x="914400" y="3573780"/>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מדרגה 3: חצי שנה. מדרגה 5: לנצח. כלל ה-4%: 6 מיליון ₪ בנכסים ↔ 20,000 ₪ בחודש, לתמיד.</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17</a:t>
            </a:r>
          </a:p>
        </p:txBody>
      </p:sp>
      <p:sp>
        <p:nvSpPr>
          <p:cNvPr id="4" name="Rounded Rectangle 3"/>
          <p:cNvSpPr/>
          <p:nvPr/>
        </p:nvSpPr>
        <p:spPr>
          <a:xfrm>
            <a:off x="914400" y="1905000"/>
            <a:ext cx="10363200" cy="2895600"/>
          </a:xfrm>
          <a:prstGeom prst="roundRect">
            <a:avLst>
              <a:gd name="adj" fmla="val 9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463040" y="2438400"/>
            <a:ext cx="92659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בצ'אט · רק המספר, 1 עד 5</a:t>
            </a:r>
          </a:p>
        </p:txBody>
      </p:sp>
      <p:sp>
        <p:nvSpPr>
          <p:cNvPr id="6" name="TextBox 5"/>
          <p:cNvSpPr txBox="1"/>
          <p:nvPr/>
        </p:nvSpPr>
        <p:spPr>
          <a:xfrm>
            <a:off x="1463040" y="2834640"/>
            <a:ext cx="9265920" cy="1752600"/>
          </a:xfrm>
          <a:prstGeom prst="rect">
            <a:avLst/>
          </a:prstGeom>
          <a:noFill/>
        </p:spPr>
        <p:txBody>
          <a:bodyPr wrap="square" lIns="0" rIns="0" tIns="0" bIns="0" anchor="t">
            <a:spAutoFit/>
          </a:bodyPr>
          <a:lstStyle/>
          <a:p>
            <a:pPr algn="r" rtl="1">
              <a:lnSpc>
                <a:spcPct val="115000"/>
              </a:lnSpc>
            </a:pPr>
            <a:r>
              <a:rPr sz="4440" b="1" lang="he-IL">
                <a:solidFill>
                  <a:srgbClr val="191A2E"/>
                </a:solidFill>
                <a:latin typeface="Heebo"/>
                <a:ea typeface="Heebo"/>
                <a:cs typeface="Heebo"/>
              </a:rPr>
              <a:t>על איזו מדרגה אתם היום?</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18</a:t>
            </a:r>
          </a:p>
        </p:txBody>
      </p:sp>
      <p:pic>
        <p:nvPicPr>
          <p:cNvPr id="4" name="Picture 3" descr="s21_coins.jpg"/>
          <p:cNvPicPr>
            <a:picLocks noChangeAspect="1"/>
          </p:cNvPicPr>
          <p:nvPr/>
        </p:nvPicPr>
        <p:blipFill>
          <a:blip r:embed="rId3"/>
          <a:stretch>
            <a:fillRect/>
          </a:stretch>
        </p:blipFill>
        <p:spPr>
          <a:xfrm>
            <a:off x="914400" y="1295400"/>
            <a:ext cx="3810000" cy="3810000"/>
          </a:xfrm>
          <a:prstGeom prst="roundRect">
            <a:avLst>
              <a:gd name="adj" fmla="val 8000"/>
            </a:avLst>
          </a:prstGeom>
        </p:spPr>
      </p:pic>
      <p:sp>
        <p:nvSpPr>
          <p:cNvPr id="5" name="TextBox 4"/>
          <p:cNvSpPr txBox="1"/>
          <p:nvPr/>
        </p:nvSpPr>
        <p:spPr>
          <a:xfrm>
            <a:off x="5334000" y="1812798"/>
            <a:ext cx="59436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מאחורי הקלעים שלי</a:t>
            </a:r>
          </a:p>
        </p:txBody>
      </p:sp>
      <p:sp>
        <p:nvSpPr>
          <p:cNvPr id="6" name="TextBox 5"/>
          <p:cNvSpPr txBox="1"/>
          <p:nvPr/>
        </p:nvSpPr>
        <p:spPr>
          <a:xfrm>
            <a:off x="5334000" y="2269998"/>
            <a:ext cx="5943600" cy="1098804"/>
          </a:xfrm>
          <a:prstGeom prst="rect">
            <a:avLst/>
          </a:prstGeom>
          <a:noFill/>
        </p:spPr>
        <p:txBody>
          <a:bodyPr wrap="square" lIns="0" rIns="0" tIns="0" bIns="0" anchor="t">
            <a:spAutoFit/>
          </a:bodyPr>
          <a:lstStyle/>
          <a:p>
            <a:pPr algn="r" rtl="1">
              <a:lnSpc>
                <a:spcPct val="110000"/>
              </a:lnSpc>
            </a:pPr>
            <a:r>
              <a:rPr sz="3240" b="1" lang="he-IL">
                <a:solidFill>
                  <a:srgbClr val="191A2E"/>
                </a:solidFill>
                <a:latin typeface="Heebo"/>
                <a:ea typeface="Heebo"/>
                <a:cs typeface="Heebo"/>
              </a:rPr>
              <a:t>5,000 ₪ בחודש. חמש שנים.</a:t>
            </a:r>
          </a:p>
          <a:p>
            <a:pPr algn="r" rtl="1">
              <a:lnSpc>
                <a:spcPct val="110000"/>
              </a:lnSpc>
            </a:pPr>
            <a:r>
              <a:rPr sz="3240" b="1" lang="he-IL">
                <a:solidFill>
                  <a:srgbClr val="EF55A5"/>
                </a:solidFill>
                <a:latin typeface="Heebo"/>
                <a:ea typeface="Heebo"/>
                <a:cs typeface="Heebo"/>
              </a:rPr>
              <a:t>הכל ישב בעו"ש.</a:t>
            </a:r>
          </a:p>
        </p:txBody>
      </p:sp>
      <p:sp>
        <p:nvSpPr>
          <p:cNvPr id="7" name="TextBox 6"/>
          <p:cNvSpPr txBox="1"/>
          <p:nvPr/>
        </p:nvSpPr>
        <p:spPr>
          <a:xfrm>
            <a:off x="5334000" y="3521202"/>
            <a:ext cx="59436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היינו על מדרגה 3 וחשבנו שזה סוף הסולם. אף אחד לא אמר לנו שיש מדרגה 4. הכסף איבד 3% בשנה, ולא ידענו. לא כי לא היה כסף. כי לכסף לא היה תפקיד.</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19</a:t>
            </a:r>
          </a:p>
        </p:txBody>
      </p:sp>
      <p:sp>
        <p:nvSpPr>
          <p:cNvPr id="4" name="TextBox 3"/>
          <p:cNvSpPr txBox="1"/>
          <p:nvPr/>
        </p:nvSpPr>
        <p:spPr>
          <a:xfrm>
            <a:off x="914400" y="2504694"/>
            <a:ext cx="10363200" cy="1239012"/>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המטרה היא לא להרוויח יותר.</a:t>
            </a:r>
          </a:p>
          <a:p>
            <a:pPr algn="r" rtl="1">
              <a:lnSpc>
                <a:spcPct val="110000"/>
              </a:lnSpc>
            </a:pPr>
            <a:r>
              <a:rPr sz="3719" b="1" lang="he-IL">
                <a:solidFill>
                  <a:srgbClr val="EF55A5"/>
                </a:solidFill>
                <a:latin typeface="Heebo"/>
                <a:ea typeface="Heebo"/>
                <a:cs typeface="Heebo"/>
              </a:rPr>
              <a:t>המטרה: שחלק מההכנסה יפסיק לממן הוצאות, ויתחיל לבנות חופש.</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20</a:t>
            </a:r>
          </a:p>
        </p:txBody>
      </p:sp>
      <p:sp>
        <p:nvSpPr>
          <p:cNvPr id="4" name="Rounded Rectangle 3"/>
          <p:cNvSpPr/>
          <p:nvPr/>
        </p:nvSpPr>
        <p:spPr>
          <a:xfrm>
            <a:off x="914400" y="1143000"/>
            <a:ext cx="4572000" cy="4572000"/>
          </a:xfrm>
          <a:prstGeom prst="roundRect">
            <a:avLst>
              <a:gd name="adj" fmla="val 8000"/>
            </a:avLst>
          </a:prstGeom>
          <a:solidFill>
            <a:srgbClr val="0B1B3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5" name="Picture 4" descr="מצפן-שלב-2-מטרות.png"/>
          <p:cNvPicPr>
            <a:picLocks noChangeAspect="1"/>
          </p:cNvPicPr>
          <p:nvPr/>
        </p:nvPicPr>
        <p:blipFill>
          <a:blip r:embed="rId3"/>
          <a:stretch>
            <a:fillRect/>
          </a:stretch>
        </p:blipFill>
        <p:spPr>
          <a:xfrm>
            <a:off x="1188720" y="1417320"/>
            <a:ext cx="4023360" cy="4023360"/>
          </a:xfrm>
          <a:prstGeom prst="rect">
            <a:avLst/>
          </a:prstGeom>
        </p:spPr>
      </p:pic>
      <p:sp>
        <p:nvSpPr>
          <p:cNvPr id="6" name="TextBox 5"/>
          <p:cNvSpPr txBox="1"/>
          <p:nvPr/>
        </p:nvSpPr>
        <p:spPr>
          <a:xfrm>
            <a:off x="6096000" y="2133600"/>
            <a:ext cx="51816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חלק 2 · המטרות</a:t>
            </a:r>
          </a:p>
        </p:txBody>
      </p:sp>
      <p:sp>
        <p:nvSpPr>
          <p:cNvPr id="7" name="TextBox 6"/>
          <p:cNvSpPr txBox="1"/>
          <p:nvPr/>
        </p:nvSpPr>
        <p:spPr>
          <a:xfrm>
            <a:off x="6096000" y="2514600"/>
            <a:ext cx="5181600" cy="1676400"/>
          </a:xfrm>
          <a:prstGeom prst="rect">
            <a:avLst/>
          </a:prstGeom>
          <a:noFill/>
        </p:spPr>
        <p:txBody>
          <a:bodyPr wrap="square" lIns="0" rIns="0" tIns="0" bIns="0" anchor="t">
            <a:spAutoFit/>
          </a:bodyPr>
          <a:lstStyle/>
          <a:p>
            <a:pPr algn="r" rtl="1">
              <a:lnSpc>
                <a:spcPct val="100000"/>
              </a:lnSpc>
            </a:pPr>
            <a:r>
              <a:rPr sz="5759" b="1" lang="he-IL">
                <a:solidFill>
                  <a:srgbClr val="191A2E"/>
                </a:solidFill>
                <a:latin typeface="Heebo"/>
                <a:ea typeface="Heebo"/>
                <a:cs typeface="Heebo"/>
              </a:rPr>
              <a:t>מהחלום,</a:t>
            </a:r>
          </a:p>
          <a:p>
            <a:pPr algn="r" rtl="1">
              <a:lnSpc>
                <a:spcPct val="100000"/>
              </a:lnSpc>
            </a:pPr>
            <a:r>
              <a:rPr sz="5759" b="1" lang="he-IL">
                <a:solidFill>
                  <a:srgbClr val="EF55A5"/>
                </a:solidFill>
                <a:latin typeface="Heebo"/>
                <a:ea typeface="Heebo"/>
                <a:cs typeface="Heebo"/>
              </a:rPr>
              <a:t>למספר.</a:t>
            </a:r>
          </a:p>
        </p:txBody>
      </p:sp>
      <p:sp>
        <p:nvSpPr>
          <p:cNvPr id="8" name="TextBox 7"/>
          <p:cNvSpPr txBox="1"/>
          <p:nvPr/>
        </p:nvSpPr>
        <p:spPr>
          <a:xfrm>
            <a:off x="6096000" y="4267200"/>
            <a:ext cx="5181600" cy="1219200"/>
          </a:xfrm>
          <a:prstGeom prst="rect">
            <a:avLst/>
          </a:prstGeom>
          <a:noFill/>
        </p:spPr>
        <p:txBody>
          <a:bodyPr wrap="square" lIns="0" rIns="0" tIns="0" bIns="0" anchor="t">
            <a:spAutoFit/>
          </a:bodyPr>
          <a:lstStyle/>
          <a:p>
            <a:pPr algn="r" rtl="1">
              <a:lnSpc>
                <a:spcPct val="140000"/>
              </a:lnSpc>
            </a:pPr>
            <a:r>
              <a:rPr sz="1920" b="0" lang="he-IL">
                <a:solidFill>
                  <a:srgbClr val="6B6B7B"/>
                </a:solidFill>
                <a:latin typeface="Heebo"/>
                <a:ea typeface="Heebo"/>
                <a:cs typeface="Heebo"/>
              </a:rPr>
              <a:t>כל חלום מקבל סכום ותאריך.</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21</a:t>
            </a:r>
          </a:p>
        </p:txBody>
      </p:sp>
      <p:pic>
        <p:nvPicPr>
          <p:cNvPr id="4" name="Picture 3" descr="s30_bloom.jpg"/>
          <p:cNvPicPr>
            <a:picLocks noChangeAspect="1"/>
          </p:cNvPicPr>
          <p:nvPr/>
        </p:nvPicPr>
        <p:blipFill>
          <a:blip r:embed="rId3"/>
          <a:stretch>
            <a:fillRect/>
          </a:stretch>
        </p:blipFill>
        <p:spPr>
          <a:xfrm>
            <a:off x="914400" y="1295400"/>
            <a:ext cx="3810000" cy="3810000"/>
          </a:xfrm>
          <a:prstGeom prst="roundRect">
            <a:avLst>
              <a:gd name="adj" fmla="val 8000"/>
            </a:avLst>
          </a:prstGeom>
        </p:spPr>
      </p:pic>
      <p:sp>
        <p:nvSpPr>
          <p:cNvPr id="5" name="TextBox 4"/>
          <p:cNvSpPr txBox="1"/>
          <p:nvPr/>
        </p:nvSpPr>
        <p:spPr>
          <a:xfrm>
            <a:off x="5334000" y="2112264"/>
            <a:ext cx="5943600" cy="1414272"/>
          </a:xfrm>
          <a:prstGeom prst="rect">
            <a:avLst/>
          </a:prstGeom>
          <a:noFill/>
        </p:spPr>
        <p:txBody>
          <a:bodyPr wrap="square" lIns="0" rIns="0" tIns="0" bIns="0" anchor="t">
            <a:spAutoFit/>
          </a:bodyPr>
          <a:lstStyle/>
          <a:p>
            <a:pPr algn="r" rtl="1">
              <a:lnSpc>
                <a:spcPct val="110000"/>
              </a:lnSpc>
            </a:pPr>
            <a:r>
              <a:rPr sz="4320" b="1" lang="he-IL">
                <a:solidFill>
                  <a:srgbClr val="191A2E"/>
                </a:solidFill>
                <a:latin typeface="Heebo"/>
                <a:ea typeface="Heebo"/>
                <a:cs typeface="Heebo"/>
              </a:rPr>
              <a:t>חלום בלי סכום ותאריך</a:t>
            </a:r>
          </a:p>
          <a:p>
            <a:pPr algn="r" rtl="1">
              <a:lnSpc>
                <a:spcPct val="110000"/>
              </a:lnSpc>
            </a:pPr>
            <a:r>
              <a:rPr sz="4320" b="1" lang="he-IL">
                <a:solidFill>
                  <a:srgbClr val="EF55A5"/>
                </a:solidFill>
                <a:latin typeface="Heebo"/>
                <a:ea typeface="Heebo"/>
                <a:cs typeface="Heebo"/>
              </a:rPr>
              <a:t>הוא משאלה.</a:t>
            </a:r>
          </a:p>
        </p:txBody>
      </p:sp>
      <p:sp>
        <p:nvSpPr>
          <p:cNvPr id="6" name="TextBox 5"/>
          <p:cNvSpPr txBox="1"/>
          <p:nvPr/>
        </p:nvSpPr>
        <p:spPr>
          <a:xfrm>
            <a:off x="5334000" y="3678936"/>
            <a:ext cx="59436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”מטרה היא חלום עם תאריך.“ · נפוליון היל</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22</a:t>
            </a:r>
          </a:p>
        </p:txBody>
      </p:sp>
      <p:sp>
        <p:nvSpPr>
          <p:cNvPr id="4" name="TextBox 3"/>
          <p:cNvSpPr txBox="1"/>
          <p:nvPr/>
        </p:nvSpPr>
        <p:spPr>
          <a:xfrm>
            <a:off x="914400" y="838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רך מול חד</a:t>
            </a:r>
          </a:p>
        </p:txBody>
      </p:sp>
      <p:sp>
        <p:nvSpPr>
          <p:cNvPr id="5" name="Rounded Rectangle 4"/>
          <p:cNvSpPr/>
          <p:nvPr/>
        </p:nvSpPr>
        <p:spPr>
          <a:xfrm>
            <a:off x="6202680" y="2057400"/>
            <a:ext cx="5074920" cy="3048000"/>
          </a:xfrm>
          <a:prstGeom prst="roundRect">
            <a:avLst>
              <a:gd name="adj" fmla="val 8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77000" y="2362200"/>
            <a:ext cx="4526280" cy="838200"/>
          </a:xfrm>
          <a:prstGeom prst="rect">
            <a:avLst/>
          </a:prstGeom>
          <a:noFill/>
        </p:spPr>
        <p:txBody>
          <a:bodyPr wrap="square" lIns="0" rIns="0" tIns="0" bIns="0" anchor="t">
            <a:spAutoFit/>
          </a:bodyPr>
          <a:lstStyle/>
          <a:p>
            <a:pPr algn="r" rtl="1">
              <a:lnSpc>
                <a:spcPct val="110000"/>
              </a:lnSpc>
            </a:pPr>
            <a:r>
              <a:rPr sz="2879" b="1" lang="he-IL">
                <a:solidFill>
                  <a:srgbClr val="191A2E"/>
                </a:solidFill>
                <a:latin typeface="Heebo"/>
                <a:ea typeface="Heebo"/>
                <a:cs typeface="Heebo"/>
              </a:rPr>
              <a:t>❌ רך</a:t>
            </a:r>
          </a:p>
        </p:txBody>
      </p:sp>
      <p:sp>
        <p:nvSpPr>
          <p:cNvPr id="7" name="TextBox 6"/>
          <p:cNvSpPr txBox="1"/>
          <p:nvPr/>
        </p:nvSpPr>
        <p:spPr>
          <a:xfrm>
            <a:off x="6477000" y="2971800"/>
            <a:ext cx="452628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”אני רוצה להרגיש בטוחה“
”לחסוך לילדים“
”שהכסף יעבוד בשבילי“</a:t>
            </a:r>
          </a:p>
        </p:txBody>
      </p:sp>
      <p:sp>
        <p:nvSpPr>
          <p:cNvPr id="8" name="Rounded Rectangle 7"/>
          <p:cNvSpPr/>
          <p:nvPr/>
        </p:nvSpPr>
        <p:spPr>
          <a:xfrm>
            <a:off x="914400" y="2057400"/>
            <a:ext cx="507492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188720" y="2362200"/>
            <a:ext cx="4526280" cy="838200"/>
          </a:xfrm>
          <a:prstGeom prst="rect">
            <a:avLst/>
          </a:prstGeom>
          <a:noFill/>
        </p:spPr>
        <p:txBody>
          <a:bodyPr wrap="square" lIns="0" rIns="0" tIns="0" bIns="0" anchor="t">
            <a:spAutoFit/>
          </a:bodyPr>
          <a:lstStyle/>
          <a:p>
            <a:pPr algn="r" rtl="1">
              <a:lnSpc>
                <a:spcPct val="110000"/>
              </a:lnSpc>
            </a:pPr>
            <a:r>
              <a:rPr sz="2879" b="1" lang="he-IL">
                <a:solidFill>
                  <a:srgbClr val="191A2E"/>
                </a:solidFill>
                <a:latin typeface="Heebo"/>
                <a:ea typeface="Heebo"/>
                <a:cs typeface="Heebo"/>
              </a:rPr>
              <a:t>✅ חד</a:t>
            </a:r>
          </a:p>
        </p:txBody>
      </p:sp>
      <p:sp>
        <p:nvSpPr>
          <p:cNvPr id="10" name="TextBox 9"/>
          <p:cNvSpPr txBox="1"/>
          <p:nvPr/>
        </p:nvSpPr>
        <p:spPr>
          <a:xfrm>
            <a:off x="1188720" y="2971800"/>
            <a:ext cx="452628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3 חודשי מחיה בקרן חירום, עד דצמבר
500 ₪ בחודש לכל ילד, מהחודש הבא
___ ₪ בנכסים, עד ___. כמה ומתי</a:t>
            </a:r>
          </a:p>
        </p:txBody>
      </p:sp>
      <p:sp>
        <p:nvSpPr>
          <p:cNvPr id="11" name="TextBox 10"/>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המספרים להמחשה. אתם מכניסים את שלכם.</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23</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הערב: מה המטרה. לא איך מגיעים</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4 כללים למטרה</a:t>
            </a:r>
          </a:p>
        </p:txBody>
      </p:sp>
      <p:sp>
        <p:nvSpPr>
          <p:cNvPr id="6" name="Oval 5"/>
          <p:cNvSpPr/>
          <p:nvPr/>
        </p:nvSpPr>
        <p:spPr>
          <a:xfrm>
            <a:off x="10850880" y="22860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7" name="TextBox 6"/>
          <p:cNvSpPr txBox="1"/>
          <p:nvPr/>
        </p:nvSpPr>
        <p:spPr>
          <a:xfrm>
            <a:off x="914400" y="2301240"/>
            <a:ext cx="9723120" cy="87630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מהחלומות שלכם. לא של אף אחד אחר</a:t>
            </a:r>
          </a:p>
        </p:txBody>
      </p:sp>
      <p:sp>
        <p:nvSpPr>
          <p:cNvPr id="8" name="Oval 7"/>
          <p:cNvSpPr/>
          <p:nvPr/>
        </p:nvSpPr>
        <p:spPr>
          <a:xfrm>
            <a:off x="10850880" y="31623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9" name="TextBox 8"/>
          <p:cNvSpPr txBox="1"/>
          <p:nvPr/>
        </p:nvSpPr>
        <p:spPr>
          <a:xfrm>
            <a:off x="914400" y="3177540"/>
            <a:ext cx="9723120" cy="87630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סכום בעיפרון: בערך, ואפשר לשנות</a:t>
            </a:r>
          </a:p>
        </p:txBody>
      </p:sp>
      <p:sp>
        <p:nvSpPr>
          <p:cNvPr id="10" name="Oval 9"/>
          <p:cNvSpPr/>
          <p:nvPr/>
        </p:nvSpPr>
        <p:spPr>
          <a:xfrm>
            <a:off x="10850880" y="40386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1" name="TextBox 10"/>
          <p:cNvSpPr txBox="1"/>
          <p:nvPr/>
        </p:nvSpPr>
        <p:spPr>
          <a:xfrm>
            <a:off x="914400" y="4053840"/>
            <a:ext cx="9723120" cy="87630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תאריך, גם אם לא סופי. ”מתישהו“ זה לא תאריך</a:t>
            </a:r>
          </a:p>
        </p:txBody>
      </p:sp>
      <p:sp>
        <p:nvSpPr>
          <p:cNvPr id="12" name="Oval 11"/>
          <p:cNvSpPr/>
          <p:nvPr/>
        </p:nvSpPr>
        <p:spPr>
          <a:xfrm>
            <a:off x="10850880" y="49149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4</a:t>
            </a:r>
          </a:p>
        </p:txBody>
      </p:sp>
      <p:sp>
        <p:nvSpPr>
          <p:cNvPr id="13" name="TextBox 12"/>
          <p:cNvSpPr txBox="1"/>
          <p:nvPr/>
        </p:nvSpPr>
        <p:spPr>
          <a:xfrm>
            <a:off x="914400" y="4930140"/>
            <a:ext cx="9723120" cy="87630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עד 3 מטרות פעילות. כסף שמתפזר על עשר לא מגיע לאף אחת</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24</a:t>
            </a:r>
          </a:p>
        </p:txBody>
      </p:sp>
      <p:sp>
        <p:nvSpPr>
          <p:cNvPr id="4" name="Rounded Rectangle 3"/>
          <p:cNvSpPr/>
          <p:nvPr/>
        </p:nvSpPr>
        <p:spPr>
          <a:xfrm>
            <a:off x="914400" y="1905000"/>
            <a:ext cx="10363200" cy="2895600"/>
          </a:xfrm>
          <a:prstGeom prst="roundRect">
            <a:avLst>
              <a:gd name="adj" fmla="val 9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463040" y="2438400"/>
            <a:ext cx="92659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בצ'אט · למשל ”דירה · 600,000 · 2029“</a:t>
            </a:r>
          </a:p>
        </p:txBody>
      </p:sp>
      <p:sp>
        <p:nvSpPr>
          <p:cNvPr id="6" name="TextBox 5"/>
          <p:cNvSpPr txBox="1"/>
          <p:nvPr/>
        </p:nvSpPr>
        <p:spPr>
          <a:xfrm>
            <a:off x="1463040" y="2834640"/>
            <a:ext cx="9265920" cy="1752600"/>
          </a:xfrm>
          <a:prstGeom prst="rect">
            <a:avLst/>
          </a:prstGeom>
          <a:noFill/>
        </p:spPr>
        <p:txBody>
          <a:bodyPr wrap="square" lIns="0" rIns="0" tIns="0" bIns="0" anchor="t">
            <a:spAutoFit/>
          </a:bodyPr>
          <a:lstStyle/>
          <a:p>
            <a:pPr algn="r" rtl="1">
              <a:lnSpc>
                <a:spcPct val="115000"/>
              </a:lnSpc>
            </a:pPr>
            <a:r>
              <a:rPr sz="4440" b="1" lang="he-IL">
                <a:solidFill>
                  <a:srgbClr val="191A2E"/>
                </a:solidFill>
                <a:latin typeface="Heebo"/>
                <a:ea typeface="Heebo"/>
                <a:cs typeface="Heebo"/>
              </a:rPr>
              <a:t>מטרה אחת: שם · סכום · תאריך</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25</a:t>
            </a:r>
          </a:p>
        </p:txBody>
      </p:sp>
      <p:pic>
        <p:nvPicPr>
          <p:cNvPr id="4" name="Picture 3" descr="s59_path.jpg"/>
          <p:cNvPicPr>
            <a:picLocks noChangeAspect="1"/>
          </p:cNvPicPr>
          <p:nvPr/>
        </p:nvPicPr>
        <p:blipFill>
          <a:blip r:embed="rId3"/>
          <a:stretch>
            <a:fillRect/>
          </a:stretch>
        </p:blipFill>
        <p:spPr>
          <a:xfrm>
            <a:off x="914400" y="1295400"/>
            <a:ext cx="3810000" cy="3810000"/>
          </a:xfrm>
          <a:prstGeom prst="roundRect">
            <a:avLst>
              <a:gd name="adj" fmla="val 8000"/>
            </a:avLst>
          </a:prstGeom>
        </p:spPr>
      </p:pic>
      <p:sp>
        <p:nvSpPr>
          <p:cNvPr id="5" name="TextBox 4"/>
          <p:cNvSpPr txBox="1"/>
          <p:nvPr/>
        </p:nvSpPr>
        <p:spPr>
          <a:xfrm>
            <a:off x="5334000" y="1959864"/>
            <a:ext cx="59436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הגשר</a:t>
            </a:r>
          </a:p>
        </p:txBody>
      </p:sp>
      <p:sp>
        <p:nvSpPr>
          <p:cNvPr id="6" name="TextBox 5"/>
          <p:cNvSpPr txBox="1"/>
          <p:nvPr/>
        </p:nvSpPr>
        <p:spPr>
          <a:xfrm>
            <a:off x="5334000" y="2417064"/>
            <a:ext cx="5943600" cy="1414272"/>
          </a:xfrm>
          <a:prstGeom prst="rect">
            <a:avLst/>
          </a:prstGeom>
          <a:noFill/>
        </p:spPr>
        <p:txBody>
          <a:bodyPr wrap="square" lIns="0" rIns="0" tIns="0" bIns="0" anchor="t">
            <a:spAutoFit/>
          </a:bodyPr>
          <a:lstStyle/>
          <a:p>
            <a:pPr algn="r" rtl="1">
              <a:lnSpc>
                <a:spcPct val="110000"/>
              </a:lnSpc>
            </a:pPr>
            <a:r>
              <a:rPr sz="4320" b="1" lang="he-IL">
                <a:solidFill>
                  <a:srgbClr val="191A2E"/>
                </a:solidFill>
                <a:latin typeface="Heebo"/>
                <a:ea typeface="Heebo"/>
                <a:cs typeface="Heebo"/>
              </a:rPr>
              <a:t>המטרה אומרת לכסף לאן ללכת.</a:t>
            </a:r>
          </a:p>
          <a:p>
            <a:pPr algn="r" rtl="1">
              <a:lnSpc>
                <a:spcPct val="110000"/>
              </a:lnSpc>
            </a:pPr>
            <a:r>
              <a:rPr sz="4320" b="1" lang="he-IL">
                <a:solidFill>
                  <a:srgbClr val="EF55A5"/>
                </a:solidFill>
                <a:latin typeface="Heebo"/>
                <a:ea typeface="Heebo"/>
                <a:cs typeface="Heebo"/>
              </a:rPr>
              <a:t>התאריך אומר לו באיזה כד לגור.</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26</a:t>
            </a:r>
          </a:p>
        </p:txBody>
      </p:sp>
      <p:sp>
        <p:nvSpPr>
          <p:cNvPr id="4" name="TextBox 3"/>
          <p:cNvSpPr txBox="1"/>
          <p:nvPr/>
        </p:nvSpPr>
        <p:spPr>
          <a:xfrm>
            <a:off x="914400" y="145161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חלק 3 · ארבעת הכדים</a:t>
            </a:r>
          </a:p>
        </p:txBody>
      </p:sp>
      <p:sp>
        <p:nvSpPr>
          <p:cNvPr id="5" name="TextBox 4"/>
          <p:cNvSpPr txBox="1"/>
          <p:nvPr/>
        </p:nvSpPr>
        <p:spPr>
          <a:xfrm>
            <a:off x="914400" y="1908810"/>
            <a:ext cx="10363200" cy="2430780"/>
          </a:xfrm>
          <a:prstGeom prst="rect">
            <a:avLst/>
          </a:prstGeom>
          <a:noFill/>
        </p:spPr>
        <p:txBody>
          <a:bodyPr wrap="square" lIns="0" rIns="0" tIns="0" bIns="0" anchor="t">
            <a:spAutoFit/>
          </a:bodyPr>
          <a:lstStyle/>
          <a:p>
            <a:pPr algn="r" rtl="1">
              <a:lnSpc>
                <a:spcPct val="110000"/>
              </a:lnSpc>
            </a:pPr>
            <a:r>
              <a:rPr sz="7800" b="1" lang="he-IL">
                <a:solidFill>
                  <a:srgbClr val="191A2E"/>
                </a:solidFill>
                <a:latin typeface="Heebo"/>
                <a:ea typeface="Heebo"/>
                <a:cs typeface="Heebo"/>
              </a:rPr>
              <a:t>לכל שקל</a:t>
            </a:r>
          </a:p>
          <a:p>
            <a:pPr algn="r" rtl="1">
              <a:lnSpc>
                <a:spcPct val="110000"/>
              </a:lnSpc>
            </a:pPr>
            <a:r>
              <a:rPr sz="7800" b="1" lang="he-IL">
                <a:solidFill>
                  <a:srgbClr val="EF55A5"/>
                </a:solidFill>
                <a:latin typeface="Heebo"/>
                <a:ea typeface="Heebo"/>
                <a:cs typeface="Heebo"/>
              </a:rPr>
              <a:t>תפקיד וטווח.</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27</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לכל שקל יש כד. גם לשקל שעוד לא הגיע</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ארבעת הכדים</a:t>
            </a:r>
          </a:p>
        </p:txBody>
      </p:sp>
      <p:sp>
        <p:nvSpPr>
          <p:cNvPr id="6" name="Rounded Rectangle 5"/>
          <p:cNvSpPr/>
          <p:nvPr/>
        </p:nvSpPr>
        <p:spPr>
          <a:xfrm>
            <a:off x="8846820" y="2514600"/>
            <a:ext cx="2430780" cy="3048000"/>
          </a:xfrm>
          <a:prstGeom prst="roundRect">
            <a:avLst>
              <a:gd name="adj" fmla="val 8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9121140" y="2819400"/>
            <a:ext cx="1882140" cy="838200"/>
          </a:xfrm>
          <a:prstGeom prst="rect">
            <a:avLst/>
          </a:prstGeom>
          <a:noFill/>
        </p:spPr>
        <p:txBody>
          <a:bodyPr wrap="square" lIns="0" rIns="0" tIns="0" bIns="0" anchor="t">
            <a:spAutoFit/>
          </a:bodyPr>
          <a:lstStyle/>
          <a:p>
            <a:pPr algn="r" rtl="1">
              <a:lnSpc>
                <a:spcPct val="110000"/>
              </a:lnSpc>
            </a:pPr>
            <a:r>
              <a:rPr sz="2160" b="1" lang="he-IL">
                <a:solidFill>
                  <a:srgbClr val="191A2E"/>
                </a:solidFill>
                <a:latin typeface="Heebo"/>
                <a:ea typeface="Heebo"/>
                <a:cs typeface="Heebo"/>
              </a:rPr>
              <a:t>כד 1 · עו"ש</a:t>
            </a:r>
          </a:p>
        </p:txBody>
      </p:sp>
      <p:sp>
        <p:nvSpPr>
          <p:cNvPr id="8" name="TextBox 7"/>
          <p:cNvSpPr txBox="1"/>
          <p:nvPr/>
        </p:nvSpPr>
        <p:spPr>
          <a:xfrm>
            <a:off x="9121140" y="3429000"/>
            <a:ext cx="1882140" cy="1905000"/>
          </a:xfrm>
          <a:prstGeom prst="rect">
            <a:avLst/>
          </a:prstGeom>
          <a:noFill/>
        </p:spPr>
        <p:txBody>
          <a:bodyPr wrap="square" lIns="0" rIns="0" tIns="0" bIns="0" anchor="t">
            <a:spAutoFit/>
          </a:bodyPr>
          <a:lstStyle/>
          <a:p>
            <a:pPr algn="r" rtl="1">
              <a:lnSpc>
                <a:spcPct val="140000"/>
              </a:lnSpc>
            </a:pPr>
            <a:r>
              <a:rPr sz="1620" b="0" lang="he-IL">
                <a:solidFill>
                  <a:srgbClr val="191A2E"/>
                </a:solidFill>
                <a:latin typeface="Heebo"/>
                <a:ea typeface="Heebo"/>
                <a:cs typeface="Heebo"/>
              </a:rPr>
              <a:t>מה שצריך לחיים של החודש.</a:t>
            </a:r>
          </a:p>
        </p:txBody>
      </p:sp>
      <p:sp>
        <p:nvSpPr>
          <p:cNvPr id="9" name="Rounded Rectangle 8"/>
          <p:cNvSpPr/>
          <p:nvPr/>
        </p:nvSpPr>
        <p:spPr>
          <a:xfrm>
            <a:off x="6202680" y="2514600"/>
            <a:ext cx="243078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477000" y="2819400"/>
            <a:ext cx="1882140" cy="838200"/>
          </a:xfrm>
          <a:prstGeom prst="rect">
            <a:avLst/>
          </a:prstGeom>
          <a:noFill/>
        </p:spPr>
        <p:txBody>
          <a:bodyPr wrap="square" lIns="0" rIns="0" tIns="0" bIns="0" anchor="t">
            <a:spAutoFit/>
          </a:bodyPr>
          <a:lstStyle/>
          <a:p>
            <a:pPr algn="r" rtl="1">
              <a:lnSpc>
                <a:spcPct val="110000"/>
              </a:lnSpc>
            </a:pPr>
            <a:r>
              <a:rPr sz="2160" b="1" lang="he-IL">
                <a:solidFill>
                  <a:srgbClr val="191A2E"/>
                </a:solidFill>
                <a:latin typeface="Heebo"/>
                <a:ea typeface="Heebo"/>
                <a:cs typeface="Heebo"/>
              </a:rPr>
              <a:t>כד 2 · קרן חירום</a:t>
            </a:r>
          </a:p>
        </p:txBody>
      </p:sp>
      <p:sp>
        <p:nvSpPr>
          <p:cNvPr id="11" name="TextBox 10"/>
          <p:cNvSpPr txBox="1"/>
          <p:nvPr/>
        </p:nvSpPr>
        <p:spPr>
          <a:xfrm>
            <a:off x="6477000" y="3733800"/>
            <a:ext cx="1882140" cy="1905000"/>
          </a:xfrm>
          <a:prstGeom prst="rect">
            <a:avLst/>
          </a:prstGeom>
          <a:noFill/>
        </p:spPr>
        <p:txBody>
          <a:bodyPr wrap="square" lIns="0" rIns="0" tIns="0" bIns="0" anchor="t">
            <a:spAutoFit/>
          </a:bodyPr>
          <a:lstStyle/>
          <a:p>
            <a:pPr algn="r" rtl="1">
              <a:lnSpc>
                <a:spcPct val="140000"/>
              </a:lnSpc>
            </a:pPr>
            <a:r>
              <a:rPr sz="1620" b="0" lang="he-IL">
                <a:solidFill>
                  <a:srgbClr val="191A2E"/>
                </a:solidFill>
                <a:latin typeface="Heebo"/>
                <a:ea typeface="Heebo"/>
                <a:cs typeface="Heebo"/>
              </a:rPr>
              <a:t>השקט: כמה חודשים של ביטחון.</a:t>
            </a:r>
          </a:p>
        </p:txBody>
      </p:sp>
      <p:sp>
        <p:nvSpPr>
          <p:cNvPr id="12" name="Rounded Rectangle 11"/>
          <p:cNvSpPr/>
          <p:nvPr/>
        </p:nvSpPr>
        <p:spPr>
          <a:xfrm>
            <a:off x="3558540" y="2514600"/>
            <a:ext cx="2430780" cy="30480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3832860" y="2819400"/>
            <a:ext cx="1882140" cy="838200"/>
          </a:xfrm>
          <a:prstGeom prst="rect">
            <a:avLst/>
          </a:prstGeom>
          <a:noFill/>
        </p:spPr>
        <p:txBody>
          <a:bodyPr wrap="square" lIns="0" rIns="0" tIns="0" bIns="0" anchor="t">
            <a:spAutoFit/>
          </a:bodyPr>
          <a:lstStyle/>
          <a:p>
            <a:pPr algn="r" rtl="1">
              <a:lnSpc>
                <a:spcPct val="110000"/>
              </a:lnSpc>
            </a:pPr>
            <a:r>
              <a:rPr sz="2160" b="1" lang="he-IL">
                <a:solidFill>
                  <a:srgbClr val="191A2E"/>
                </a:solidFill>
                <a:latin typeface="Heebo"/>
                <a:ea typeface="Heebo"/>
                <a:cs typeface="Heebo"/>
              </a:rPr>
              <a:t>כד 3 · טווח קרוב</a:t>
            </a:r>
          </a:p>
        </p:txBody>
      </p:sp>
      <p:sp>
        <p:nvSpPr>
          <p:cNvPr id="14" name="TextBox 13"/>
          <p:cNvSpPr txBox="1"/>
          <p:nvPr/>
        </p:nvSpPr>
        <p:spPr>
          <a:xfrm>
            <a:off x="3832860" y="3733800"/>
            <a:ext cx="1882140" cy="1905000"/>
          </a:xfrm>
          <a:prstGeom prst="rect">
            <a:avLst/>
          </a:prstGeom>
          <a:noFill/>
        </p:spPr>
        <p:txBody>
          <a:bodyPr wrap="square" lIns="0" rIns="0" tIns="0" bIns="0" anchor="t">
            <a:spAutoFit/>
          </a:bodyPr>
          <a:lstStyle/>
          <a:p>
            <a:pPr algn="r" rtl="1">
              <a:lnSpc>
                <a:spcPct val="140000"/>
              </a:lnSpc>
            </a:pPr>
            <a:r>
              <a:rPr sz="1620" b="0" lang="he-IL">
                <a:solidFill>
                  <a:srgbClr val="191A2E"/>
                </a:solidFill>
                <a:latin typeface="Heebo"/>
                <a:ea typeface="Heebo"/>
                <a:cs typeface="Heebo"/>
              </a:rPr>
              <a:t>מטרות של השנים הקרובות.</a:t>
            </a:r>
          </a:p>
        </p:txBody>
      </p:sp>
      <p:sp>
        <p:nvSpPr>
          <p:cNvPr id="15" name="Rounded Rectangle 14"/>
          <p:cNvSpPr/>
          <p:nvPr/>
        </p:nvSpPr>
        <p:spPr>
          <a:xfrm>
            <a:off x="914400" y="2514600"/>
            <a:ext cx="243078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1188720" y="2819400"/>
            <a:ext cx="1882140" cy="838200"/>
          </a:xfrm>
          <a:prstGeom prst="rect">
            <a:avLst/>
          </a:prstGeom>
          <a:noFill/>
        </p:spPr>
        <p:txBody>
          <a:bodyPr wrap="square" lIns="0" rIns="0" tIns="0" bIns="0" anchor="t">
            <a:spAutoFit/>
          </a:bodyPr>
          <a:lstStyle/>
          <a:p>
            <a:pPr algn="r" rtl="1">
              <a:lnSpc>
                <a:spcPct val="110000"/>
              </a:lnSpc>
            </a:pPr>
            <a:r>
              <a:rPr sz="2160" b="1" lang="he-IL">
                <a:solidFill>
                  <a:srgbClr val="191A2E"/>
                </a:solidFill>
                <a:latin typeface="Heebo"/>
                <a:ea typeface="Heebo"/>
                <a:cs typeface="Heebo"/>
              </a:rPr>
              <a:t>כד 4 · טווח ארוך</a:t>
            </a:r>
          </a:p>
        </p:txBody>
      </p:sp>
      <p:sp>
        <p:nvSpPr>
          <p:cNvPr id="17" name="TextBox 16"/>
          <p:cNvSpPr txBox="1"/>
          <p:nvPr/>
        </p:nvSpPr>
        <p:spPr>
          <a:xfrm>
            <a:off x="1188720" y="3733800"/>
            <a:ext cx="1882140" cy="1905000"/>
          </a:xfrm>
          <a:prstGeom prst="rect">
            <a:avLst/>
          </a:prstGeom>
          <a:noFill/>
        </p:spPr>
        <p:txBody>
          <a:bodyPr wrap="square" lIns="0" rIns="0" tIns="0" bIns="0" anchor="t">
            <a:spAutoFit/>
          </a:bodyPr>
          <a:lstStyle/>
          <a:p>
            <a:pPr algn="r" rtl="1">
              <a:lnSpc>
                <a:spcPct val="140000"/>
              </a:lnSpc>
            </a:pPr>
            <a:r>
              <a:rPr sz="1620" b="0" lang="he-IL">
                <a:solidFill>
                  <a:srgbClr val="191A2E"/>
                </a:solidFill>
                <a:latin typeface="Heebo"/>
                <a:ea typeface="Heebo"/>
                <a:cs typeface="Heebo"/>
              </a:rPr>
              <a:t>כל מה שלא צריך את שאר הכדים. הכסף שעובד בשבילכם.</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28</a:t>
            </a:r>
          </a:p>
        </p:txBody>
      </p:sp>
      <p:sp>
        <p:nvSpPr>
          <p:cNvPr id="4" name="TextBox 3"/>
          <p:cNvSpPr txBox="1"/>
          <p:nvPr/>
        </p:nvSpPr>
        <p:spPr>
          <a:xfrm>
            <a:off x="914400" y="9906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ככה הכל מתחבר</a:t>
            </a:r>
          </a:p>
        </p:txBody>
      </p:sp>
      <p:sp>
        <p:nvSpPr>
          <p:cNvPr id="5" name="TextBox 4"/>
          <p:cNvSpPr txBox="1"/>
          <p:nvPr/>
        </p:nvSpPr>
        <p:spPr>
          <a:xfrm>
            <a:off x="914400" y="1371600"/>
            <a:ext cx="10363200" cy="685800"/>
          </a:xfrm>
          <a:prstGeom prst="rect">
            <a:avLst/>
          </a:prstGeom>
          <a:noFill/>
        </p:spPr>
        <p:txBody>
          <a:bodyPr wrap="square" lIns="0" rIns="0" tIns="0" bIns="0" anchor="t">
            <a:spAutoFit/>
          </a:bodyPr>
          <a:lstStyle/>
          <a:p>
            <a:pPr algn="r" rtl="1">
              <a:lnSpc>
                <a:spcPct val="115000"/>
              </a:lnSpc>
            </a:pPr>
            <a:r>
              <a:rPr sz="3840" b="1" lang="he-IL">
                <a:solidFill>
                  <a:srgbClr val="191A2E"/>
                </a:solidFill>
                <a:latin typeface="Heebo"/>
                <a:ea typeface="Heebo"/>
                <a:cs typeface="Heebo"/>
              </a:rPr>
              <a:t>הכדים הם המדרגות</a:t>
            </a:r>
          </a:p>
        </p:txBody>
      </p:sp>
      <p:sp>
        <p:nvSpPr>
          <p:cNvPr id="6" name="Rounded Rectangle 5"/>
          <p:cNvSpPr/>
          <p:nvPr/>
        </p:nvSpPr>
        <p:spPr>
          <a:xfrm>
            <a:off x="8949690" y="2895600"/>
            <a:ext cx="2327910" cy="1600200"/>
          </a:xfrm>
          <a:prstGeom prst="roundRect">
            <a:avLst>
              <a:gd name="adj" fmla="val 14285"/>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800" b="1" lang="he-IL">
                <a:solidFill>
                  <a:srgbClr val="191A2E"/>
                </a:solidFill>
                <a:latin typeface="Heebo"/>
                <a:ea typeface="Heebo"/>
                <a:cs typeface="Heebo"/>
              </a:rPr>
              <a:t>כד 1 מלא
= מדרגה 2</a:t>
            </a:r>
          </a:p>
        </p:txBody>
      </p:sp>
      <p:sp>
        <p:nvSpPr>
          <p:cNvPr id="7" name="TextBox 6"/>
          <p:cNvSpPr txBox="1"/>
          <p:nvPr/>
        </p:nvSpPr>
        <p:spPr>
          <a:xfrm>
            <a:off x="859917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8" name="Rounded Rectangle 7"/>
          <p:cNvSpPr/>
          <p:nvPr/>
        </p:nvSpPr>
        <p:spPr>
          <a:xfrm>
            <a:off x="6271260" y="2895600"/>
            <a:ext cx="2327910" cy="1600200"/>
          </a:xfrm>
          <a:prstGeom prst="roundRect">
            <a:avLst>
              <a:gd name="adj" fmla="val 14285"/>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800" b="1" lang="he-IL">
                <a:solidFill>
                  <a:srgbClr val="191A2E"/>
                </a:solidFill>
                <a:latin typeface="Heebo"/>
                <a:ea typeface="Heebo"/>
                <a:cs typeface="Heebo"/>
              </a:rPr>
              <a:t>כד 2 מלא
= מדרגה 3</a:t>
            </a:r>
          </a:p>
        </p:txBody>
      </p:sp>
      <p:sp>
        <p:nvSpPr>
          <p:cNvPr id="9" name="TextBox 8"/>
          <p:cNvSpPr txBox="1"/>
          <p:nvPr/>
        </p:nvSpPr>
        <p:spPr>
          <a:xfrm>
            <a:off x="592074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10" name="Rounded Rectangle 9"/>
          <p:cNvSpPr/>
          <p:nvPr/>
        </p:nvSpPr>
        <p:spPr>
          <a:xfrm>
            <a:off x="3592830" y="2895600"/>
            <a:ext cx="2327910" cy="1600200"/>
          </a:xfrm>
          <a:prstGeom prst="roundRect">
            <a:avLst>
              <a:gd name="adj" fmla="val 14285"/>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800" b="1" lang="he-IL">
                <a:solidFill>
                  <a:srgbClr val="191A2E"/>
                </a:solidFill>
                <a:latin typeface="Heebo"/>
                <a:ea typeface="Heebo"/>
                <a:cs typeface="Heebo"/>
              </a:rPr>
              <a:t>כד 4 גדל כל חודש
= מדרגה 4</a:t>
            </a:r>
          </a:p>
        </p:txBody>
      </p:sp>
      <p:sp>
        <p:nvSpPr>
          <p:cNvPr id="11" name="TextBox 10"/>
          <p:cNvSpPr txBox="1"/>
          <p:nvPr/>
        </p:nvSpPr>
        <p:spPr>
          <a:xfrm>
            <a:off x="324231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12" name="Rounded Rectangle 11"/>
          <p:cNvSpPr/>
          <p:nvPr/>
        </p:nvSpPr>
        <p:spPr>
          <a:xfrm>
            <a:off x="914400" y="2895600"/>
            <a:ext cx="2327910" cy="1600200"/>
          </a:xfrm>
          <a:prstGeom prst="roundRect">
            <a:avLst>
              <a:gd name="adj" fmla="val 14285"/>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800" b="1" lang="he-IL">
                <a:solidFill>
                  <a:srgbClr val="191A2E"/>
                </a:solidFill>
                <a:latin typeface="Heebo"/>
                <a:ea typeface="Heebo"/>
                <a:cs typeface="Heebo"/>
              </a:rPr>
              <a:t>כד 4 מממן את החיים
= מדרגה 5</a:t>
            </a:r>
          </a:p>
        </p:txBody>
      </p:sp>
      <p:sp>
        <p:nvSpPr>
          <p:cNvPr id="13" name="TextBox 12"/>
          <p:cNvSpPr txBox="1"/>
          <p:nvPr/>
        </p:nvSpPr>
        <p:spPr>
          <a:xfrm>
            <a:off x="914400" y="4953000"/>
            <a:ext cx="10363200" cy="9144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אין קסם ואין סוד של עשירים. ארבעה כדים, ממלאים לפי הסדר.</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29</a:t>
            </a:r>
          </a:p>
        </p:txBody>
      </p:sp>
      <p:pic>
        <p:nvPicPr>
          <p:cNvPr id="4" name="Picture 3" descr="s26_scale.jpg"/>
          <p:cNvPicPr>
            <a:picLocks noChangeAspect="1"/>
          </p:cNvPicPr>
          <p:nvPr/>
        </p:nvPicPr>
        <p:blipFill>
          <a:blip r:embed="rId3"/>
          <a:stretch>
            <a:fillRect/>
          </a:stretch>
        </p:blipFill>
        <p:spPr>
          <a:xfrm>
            <a:off x="914400" y="1524000"/>
            <a:ext cx="3505200" cy="3505200"/>
          </a:xfrm>
          <a:prstGeom prst="roundRect">
            <a:avLst>
              <a:gd name="adj" fmla="val 8000"/>
            </a:avLst>
          </a:prstGeom>
        </p:spPr>
      </p:pic>
      <p:sp>
        <p:nvSpPr>
          <p:cNvPr id="5" name="TextBox 4"/>
          <p:cNvSpPr txBox="1"/>
          <p:nvPr/>
        </p:nvSpPr>
        <p:spPr>
          <a:xfrm>
            <a:off x="4876800" y="838200"/>
            <a:ext cx="64008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הכד הראשון</a:t>
            </a:r>
          </a:p>
        </p:txBody>
      </p:sp>
      <p:sp>
        <p:nvSpPr>
          <p:cNvPr id="6" name="TextBox 5"/>
          <p:cNvSpPr txBox="1"/>
          <p:nvPr/>
        </p:nvSpPr>
        <p:spPr>
          <a:xfrm>
            <a:off x="4876800" y="1219200"/>
            <a:ext cx="6400800" cy="685800"/>
          </a:xfrm>
          <a:prstGeom prst="rect">
            <a:avLst/>
          </a:prstGeom>
          <a:noFill/>
        </p:spPr>
        <p:txBody>
          <a:bodyPr wrap="square" lIns="0" rIns="0" tIns="0" bIns="0" anchor="t">
            <a:spAutoFit/>
          </a:bodyPr>
          <a:lstStyle/>
          <a:p>
            <a:pPr algn="r" rtl="1">
              <a:lnSpc>
                <a:spcPct val="110000"/>
              </a:lnSpc>
            </a:pPr>
            <a:r>
              <a:rPr sz="3240" b="1" lang="he-IL">
                <a:solidFill>
                  <a:srgbClr val="191A2E"/>
                </a:solidFill>
                <a:latin typeface="Heebo"/>
                <a:ea typeface="Heebo"/>
                <a:cs typeface="Heebo"/>
              </a:rPr>
              <a:t>כד 1 · העו"ש</a:t>
            </a:r>
          </a:p>
        </p:txBody>
      </p:sp>
      <p:sp>
        <p:nvSpPr>
          <p:cNvPr id="7" name="Oval 6"/>
          <p:cNvSpPr/>
          <p:nvPr/>
        </p:nvSpPr>
        <p:spPr>
          <a:xfrm>
            <a:off x="11155680" y="242316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876800" y="2286000"/>
            <a:ext cx="6065520" cy="74295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הכסף של החיים של החודש</a:t>
            </a:r>
          </a:p>
        </p:txBody>
      </p:sp>
      <p:sp>
        <p:nvSpPr>
          <p:cNvPr id="9" name="Oval 8"/>
          <p:cNvSpPr/>
          <p:nvPr/>
        </p:nvSpPr>
        <p:spPr>
          <a:xfrm>
            <a:off x="11155680" y="316611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876800" y="3028950"/>
            <a:ext cx="6065520" cy="74295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כמה? בערך חודש של הוצאות: הבמפר של תחילת החודש</a:t>
            </a:r>
          </a:p>
        </p:txBody>
      </p:sp>
      <p:sp>
        <p:nvSpPr>
          <p:cNvPr id="11" name="Oval 10"/>
          <p:cNvSpPr/>
          <p:nvPr/>
        </p:nvSpPr>
        <p:spPr>
          <a:xfrm>
            <a:off x="11155680" y="390906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876800" y="3771900"/>
            <a:ext cx="6065520" cy="74295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יותר הוצאות או פחות הכנסות בקרוב? קצת יותר</a:t>
            </a:r>
          </a:p>
        </p:txBody>
      </p:sp>
      <p:sp>
        <p:nvSpPr>
          <p:cNvPr id="13" name="Oval 12"/>
          <p:cNvSpPr/>
          <p:nvPr/>
        </p:nvSpPr>
        <p:spPr>
          <a:xfrm>
            <a:off x="11155680" y="465201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876800" y="4514850"/>
            <a:ext cx="6065520" cy="74295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תחנת מעבר, לא מקום לגור בו</a:t>
            </a:r>
          </a:p>
        </p:txBody>
      </p:sp>
      <p:sp>
        <p:nvSpPr>
          <p:cNvPr id="15" name="TextBox 14"/>
          <p:cNvSpPr txBox="1"/>
          <p:nvPr/>
        </p:nvSpPr>
        <p:spPr>
          <a:xfrm>
            <a:off x="4876800" y="5562600"/>
            <a:ext cx="64008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כל שקל מעבר לזה בעו"ש, הוא שקל שלא עובד.</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30</a:t>
            </a:r>
          </a:p>
        </p:txBody>
      </p:sp>
      <p:sp>
        <p:nvSpPr>
          <p:cNvPr id="4" name="TextBox 3"/>
          <p:cNvSpPr txBox="1"/>
          <p:nvPr/>
        </p:nvSpPr>
        <p:spPr>
          <a:xfrm>
            <a:off x="914400" y="149733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ביטחון = הבמפר בעו"ש + קרן חירום</a:t>
            </a:r>
          </a:p>
        </p:txBody>
      </p:sp>
      <p:sp>
        <p:nvSpPr>
          <p:cNvPr id="5" name="TextBox 4"/>
          <p:cNvSpPr txBox="1"/>
          <p:nvPr/>
        </p:nvSpPr>
        <p:spPr>
          <a:xfrm>
            <a:off x="914400" y="1954530"/>
            <a:ext cx="10363200" cy="1729740"/>
          </a:xfrm>
          <a:prstGeom prst="rect">
            <a:avLst/>
          </a:prstGeom>
          <a:noFill/>
        </p:spPr>
        <p:txBody>
          <a:bodyPr wrap="square" lIns="0" rIns="0" tIns="0" bIns="0" anchor="t">
            <a:spAutoFit/>
          </a:bodyPr>
          <a:lstStyle/>
          <a:p>
            <a:pPr algn="r" rtl="1">
              <a:lnSpc>
                <a:spcPct val="110000"/>
              </a:lnSpc>
            </a:pPr>
            <a:r>
              <a:rPr sz="5400" b="1" lang="he-IL">
                <a:solidFill>
                  <a:srgbClr val="191A2E"/>
                </a:solidFill>
                <a:latin typeface="Heebo"/>
                <a:ea typeface="Heebo"/>
                <a:cs typeface="Heebo"/>
              </a:rPr>
              <a:t>כד 2 · קרן החירום:</a:t>
            </a:r>
          </a:p>
          <a:p>
            <a:pPr algn="r" rtl="1">
              <a:lnSpc>
                <a:spcPct val="110000"/>
              </a:lnSpc>
            </a:pPr>
            <a:r>
              <a:rPr sz="5400" b="1" lang="he-IL">
                <a:solidFill>
                  <a:srgbClr val="EF55A5"/>
                </a:solidFill>
                <a:latin typeface="Heebo"/>
                <a:ea typeface="Heebo"/>
                <a:cs typeface="Heebo"/>
              </a:rPr>
              <a:t>השקט שלכם.</a:t>
            </a:r>
          </a:p>
        </p:txBody>
      </p:sp>
      <p:sp>
        <p:nvSpPr>
          <p:cNvPr id="6" name="TextBox 5"/>
          <p:cNvSpPr txBox="1"/>
          <p:nvPr/>
        </p:nvSpPr>
        <p:spPr>
          <a:xfrm>
            <a:off x="914400" y="3836670"/>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בשאלוני הכניסה: כמעט לאף אחד אין מספר. הערב לכולם יש.</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31</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קרן החירום</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בשביל מה היא</a:t>
            </a:r>
          </a:p>
        </p:txBody>
      </p:sp>
      <p:sp>
        <p:nvSpPr>
          <p:cNvPr id="6" name="Oval 5"/>
          <p:cNvSpPr/>
          <p:nvPr/>
        </p:nvSpPr>
        <p:spPr>
          <a:xfrm>
            <a:off x="11155680" y="242316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914400" y="2286000"/>
            <a:ext cx="10027920" cy="944880"/>
          </a:xfrm>
          <a:prstGeom prst="rect">
            <a:avLst/>
          </a:prstGeom>
          <a:noFill/>
        </p:spPr>
        <p:txBody>
          <a:bodyPr wrap="square" lIns="0" rIns="0" tIns="0" bIns="0" anchor="t">
            <a:spAutoFit/>
          </a:bodyPr>
          <a:lstStyle/>
          <a:p>
            <a:pPr algn="r" rtl="1">
              <a:lnSpc>
                <a:spcPct val="130000"/>
              </a:lnSpc>
            </a:pPr>
            <a:r>
              <a:rPr sz="2400" b="0" lang="he-IL">
                <a:solidFill>
                  <a:srgbClr val="191A2E"/>
                </a:solidFill>
                <a:latin typeface="Heebo"/>
                <a:ea typeface="Heebo"/>
                <a:cs typeface="Heebo"/>
              </a:rPr>
              <a:t>חופשת לידה · בין עבודות · הרכב, השיניים, המקרר</a:t>
            </a:r>
          </a:p>
        </p:txBody>
      </p:sp>
      <p:sp>
        <p:nvSpPr>
          <p:cNvPr id="8" name="Oval 7"/>
          <p:cNvSpPr/>
          <p:nvPr/>
        </p:nvSpPr>
        <p:spPr>
          <a:xfrm>
            <a:off x="11155680" y="336804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14400" y="3230880"/>
            <a:ext cx="10027920" cy="944880"/>
          </a:xfrm>
          <a:prstGeom prst="rect">
            <a:avLst/>
          </a:prstGeom>
          <a:noFill/>
        </p:spPr>
        <p:txBody>
          <a:bodyPr wrap="square" lIns="0" rIns="0" tIns="0" bIns="0" anchor="t">
            <a:spAutoFit/>
          </a:bodyPr>
          <a:lstStyle/>
          <a:p>
            <a:pPr algn="r" rtl="1">
              <a:lnSpc>
                <a:spcPct val="130000"/>
              </a:lnSpc>
            </a:pPr>
            <a:r>
              <a:rPr sz="2400" b="0" lang="he-IL">
                <a:solidFill>
                  <a:srgbClr val="191A2E"/>
                </a:solidFill>
                <a:latin typeface="Heebo"/>
                <a:ea typeface="Heebo"/>
                <a:cs typeface="Heebo"/>
              </a:rPr>
              <a:t>ובעיקר: כדי שההשקעות שלכם לא ייגעו</a:t>
            </a:r>
          </a:p>
        </p:txBody>
      </p:sp>
      <p:sp>
        <p:nvSpPr>
          <p:cNvPr id="10" name="Oval 9"/>
          <p:cNvSpPr/>
          <p:nvPr/>
        </p:nvSpPr>
        <p:spPr>
          <a:xfrm>
            <a:off x="11155680" y="431292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914400" y="4175760"/>
            <a:ext cx="10027920" cy="944880"/>
          </a:xfrm>
          <a:prstGeom prst="rect">
            <a:avLst/>
          </a:prstGeom>
          <a:noFill/>
        </p:spPr>
        <p:txBody>
          <a:bodyPr wrap="square" lIns="0" rIns="0" tIns="0" bIns="0" anchor="t">
            <a:spAutoFit/>
          </a:bodyPr>
          <a:lstStyle/>
          <a:p>
            <a:pPr algn="r" rtl="1">
              <a:lnSpc>
                <a:spcPct val="130000"/>
              </a:lnSpc>
            </a:pPr>
            <a:r>
              <a:rPr sz="2400" b="0" lang="he-IL">
                <a:solidFill>
                  <a:srgbClr val="191A2E"/>
                </a:solidFill>
                <a:latin typeface="Heebo"/>
                <a:ea typeface="Heebo"/>
                <a:cs typeface="Heebo"/>
              </a:rPr>
              <a:t>מכינים את התשתית לתקופות האלה מראש</a:t>
            </a:r>
          </a:p>
        </p:txBody>
      </p:sp>
      <p:sp>
        <p:nvSpPr>
          <p:cNvPr id="12" name="TextBox 11"/>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הקרן היא מה שמאפשר להשקיע בלי פחד.</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32</a:t>
            </a:r>
          </a:p>
        </p:txBody>
      </p:sp>
      <p:sp>
        <p:nvSpPr>
          <p:cNvPr id="4" name="TextBox 3"/>
          <p:cNvSpPr txBox="1"/>
          <p:nvPr/>
        </p:nvSpPr>
        <p:spPr>
          <a:xfrm>
            <a:off x="914400" y="9906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חשבון של שורה אחת</a:t>
            </a:r>
          </a:p>
        </p:txBody>
      </p:sp>
      <p:sp>
        <p:nvSpPr>
          <p:cNvPr id="5" name="TextBox 4"/>
          <p:cNvSpPr txBox="1"/>
          <p:nvPr/>
        </p:nvSpPr>
        <p:spPr>
          <a:xfrm>
            <a:off x="914400" y="1371600"/>
            <a:ext cx="10363200" cy="685800"/>
          </a:xfrm>
          <a:prstGeom prst="rect">
            <a:avLst/>
          </a:prstGeom>
          <a:noFill/>
        </p:spPr>
        <p:txBody>
          <a:bodyPr wrap="square" lIns="0" rIns="0" tIns="0" bIns="0" anchor="t">
            <a:spAutoFit/>
          </a:bodyPr>
          <a:lstStyle/>
          <a:p>
            <a:pPr algn="r" rtl="1">
              <a:lnSpc>
                <a:spcPct val="115000"/>
              </a:lnSpc>
            </a:pPr>
            <a:r>
              <a:rPr sz="3840" b="1" lang="he-IL">
                <a:solidFill>
                  <a:srgbClr val="191A2E"/>
                </a:solidFill>
                <a:latin typeface="Heebo"/>
                <a:ea typeface="Heebo"/>
                <a:cs typeface="Heebo"/>
              </a:rPr>
              <a:t>המספר שלכם</a:t>
            </a:r>
          </a:p>
        </p:txBody>
      </p:sp>
      <p:sp>
        <p:nvSpPr>
          <p:cNvPr id="6" name="Rounded Rectangle 5"/>
          <p:cNvSpPr/>
          <p:nvPr/>
        </p:nvSpPr>
        <p:spPr>
          <a:xfrm>
            <a:off x="8056880" y="2895600"/>
            <a:ext cx="3220720" cy="1600200"/>
          </a:xfrm>
          <a:prstGeom prst="roundRect">
            <a:avLst>
              <a:gd name="adj" fmla="val 14285"/>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הוצאות חיוניות בחודש</a:t>
            </a:r>
          </a:p>
        </p:txBody>
      </p:sp>
      <p:sp>
        <p:nvSpPr>
          <p:cNvPr id="7" name="TextBox 6"/>
          <p:cNvSpPr txBox="1"/>
          <p:nvPr/>
        </p:nvSpPr>
        <p:spPr>
          <a:xfrm>
            <a:off x="770636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8" name="Rounded Rectangle 7"/>
          <p:cNvSpPr/>
          <p:nvPr/>
        </p:nvSpPr>
        <p:spPr>
          <a:xfrm>
            <a:off x="4485640" y="2895600"/>
            <a:ext cx="3220720" cy="1600200"/>
          </a:xfrm>
          <a:prstGeom prst="roundRect">
            <a:avLst>
              <a:gd name="adj" fmla="val 14285"/>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 חודשי ביטחון</a:t>
            </a:r>
          </a:p>
        </p:txBody>
      </p:sp>
      <p:sp>
        <p:nvSpPr>
          <p:cNvPr id="9" name="TextBox 8"/>
          <p:cNvSpPr txBox="1"/>
          <p:nvPr/>
        </p:nvSpPr>
        <p:spPr>
          <a:xfrm>
            <a:off x="413512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10" name="Rounded Rectangle 9"/>
          <p:cNvSpPr/>
          <p:nvPr/>
        </p:nvSpPr>
        <p:spPr>
          <a:xfrm>
            <a:off x="914400" y="2895600"/>
            <a:ext cx="3220720" cy="1600200"/>
          </a:xfrm>
          <a:prstGeom prst="roundRect">
            <a:avLst>
              <a:gd name="adj" fmla="val 14285"/>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 קרן החירום שלי</a:t>
            </a:r>
          </a:p>
        </p:txBody>
      </p:sp>
      <p:sp>
        <p:nvSpPr>
          <p:cNvPr id="11" name="TextBox 10"/>
          <p:cNvSpPr txBox="1"/>
          <p:nvPr/>
        </p:nvSpPr>
        <p:spPr>
          <a:xfrm>
            <a:off x="914400" y="4953000"/>
            <a:ext cx="10363200" cy="9144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הוצאות חיוניות: רק ה”חובה“ מהכלי של שבוע שעבר. בלי בילויים, בלי קניות.</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33</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הכלל שלי. ההחלטה שלכם</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כמה חודשים? 3 עד 6 חודשי מחיה</a:t>
            </a:r>
          </a:p>
        </p:txBody>
      </p:sp>
      <p:sp>
        <p:nvSpPr>
          <p:cNvPr id="6" name="Oval 5"/>
          <p:cNvSpPr/>
          <p:nvPr/>
        </p:nvSpPr>
        <p:spPr>
          <a:xfrm>
            <a:off x="11155680" y="242316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914400" y="2286000"/>
            <a:ext cx="10027920" cy="87630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בלי משהו מיוחד: בערך 3</a:t>
            </a:r>
          </a:p>
        </p:txBody>
      </p:sp>
      <p:sp>
        <p:nvSpPr>
          <p:cNvPr id="8" name="Oval 7"/>
          <p:cNvSpPr/>
          <p:nvPr/>
        </p:nvSpPr>
        <p:spPr>
          <a:xfrm>
            <a:off x="11155680" y="329946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14400" y="3162300"/>
            <a:ext cx="10027920" cy="87630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שמרנים, או פחות הכנסות בקרוב (לידה, לימודים, מעבר): 6, ולפעמים יותר</a:t>
            </a:r>
          </a:p>
        </p:txBody>
      </p:sp>
      <p:sp>
        <p:nvSpPr>
          <p:cNvPr id="10" name="Oval 9"/>
          <p:cNvSpPr/>
          <p:nvPr/>
        </p:nvSpPr>
        <p:spPr>
          <a:xfrm>
            <a:off x="11155680" y="417576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914400" y="4038600"/>
            <a:ext cx="10027920" cy="87630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שתי הכנסות או אחת? שכירים או עצמאיים? ילדים, משכנתא?</a:t>
            </a:r>
          </a:p>
        </p:txBody>
      </p:sp>
      <p:sp>
        <p:nvSpPr>
          <p:cNvPr id="12" name="Oval 11"/>
          <p:cNvSpPr/>
          <p:nvPr/>
        </p:nvSpPr>
        <p:spPr>
          <a:xfrm>
            <a:off x="11155680" y="505206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914400" y="4914900"/>
            <a:ext cx="10027920" cy="87630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ואיזה מספר באמת מרגיע אתכם</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34</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איך זה נראה</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5000"/>
              </a:lnSpc>
            </a:pPr>
            <a:r>
              <a:rPr sz="3719" b="1" lang="he-IL">
                <a:solidFill>
                  <a:srgbClr val="191A2E"/>
                </a:solidFill>
                <a:latin typeface="Heebo"/>
                <a:ea typeface="Heebo"/>
                <a:cs typeface="Heebo"/>
              </a:rPr>
              <a:t>דוגמה</a:t>
            </a:r>
          </a:p>
        </p:txBody>
      </p:sp>
      <p:sp>
        <p:nvSpPr>
          <p:cNvPr id="6" name="Rounded Rectangle 5"/>
          <p:cNvSpPr/>
          <p:nvPr/>
        </p:nvSpPr>
        <p:spPr>
          <a:xfrm>
            <a:off x="4876800" y="2209800"/>
            <a:ext cx="6400800" cy="53340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181600" y="2316480"/>
            <a:ext cx="3962400" cy="335280"/>
          </a:xfrm>
          <a:prstGeom prst="rect">
            <a:avLst/>
          </a:prstGeom>
          <a:noFill/>
        </p:spPr>
        <p:txBody>
          <a:bodyPr wrap="square" lIns="0" rIns="0" tIns="0" bIns="0" anchor="t">
            <a:spAutoFit/>
          </a:bodyPr>
          <a:lstStyle/>
          <a:p>
            <a:pPr algn="r" rtl="1">
              <a:lnSpc>
                <a:spcPct val="115000"/>
              </a:lnSpc>
            </a:pPr>
            <a:r>
              <a:rPr sz="1920" b="1" lang="he-IL">
                <a:solidFill>
                  <a:srgbClr val="191A2E"/>
                </a:solidFill>
                <a:latin typeface="Heebo"/>
                <a:ea typeface="Heebo"/>
                <a:cs typeface="Heebo"/>
              </a:rPr>
              <a:t>הוצאות חודש (ה”חובה“)</a:t>
            </a:r>
          </a:p>
        </p:txBody>
      </p:sp>
      <p:sp>
        <p:nvSpPr>
          <p:cNvPr id="8" name="TextBox 7"/>
          <p:cNvSpPr txBox="1"/>
          <p:nvPr/>
        </p:nvSpPr>
        <p:spPr>
          <a:xfrm>
            <a:off x="5181600" y="2316480"/>
            <a:ext cx="5791200" cy="335280"/>
          </a:xfrm>
          <a:prstGeom prst="rect">
            <a:avLst/>
          </a:prstGeom>
          <a:noFill/>
        </p:spPr>
        <p:txBody>
          <a:bodyPr wrap="square" lIns="0" rIns="0" tIns="0" bIns="0" anchor="t">
            <a:spAutoFit/>
          </a:bodyPr>
          <a:lstStyle/>
          <a:p>
            <a:pPr algn="l" rtl="1">
              <a:lnSpc>
                <a:spcPct val="115000"/>
              </a:lnSpc>
            </a:pPr>
            <a:r>
              <a:rPr sz="1920" b="1" lang="he-IL">
                <a:solidFill>
                  <a:srgbClr val="EF55A5"/>
                </a:solidFill>
                <a:latin typeface="Heebo"/>
                <a:ea typeface="Heebo"/>
                <a:cs typeface="Heebo"/>
              </a:rPr>
              <a:t>10,000 ₪</a:t>
            </a:r>
          </a:p>
        </p:txBody>
      </p:sp>
      <p:sp>
        <p:nvSpPr>
          <p:cNvPr id="9" name="Rounded Rectangle 8"/>
          <p:cNvSpPr/>
          <p:nvPr/>
        </p:nvSpPr>
        <p:spPr>
          <a:xfrm>
            <a:off x="4876800" y="2849880"/>
            <a:ext cx="6400800" cy="53340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5181600" y="2956560"/>
            <a:ext cx="3962400" cy="335280"/>
          </a:xfrm>
          <a:prstGeom prst="rect">
            <a:avLst/>
          </a:prstGeom>
          <a:noFill/>
        </p:spPr>
        <p:txBody>
          <a:bodyPr wrap="square" lIns="0" rIns="0" tIns="0" bIns="0" anchor="t">
            <a:spAutoFit/>
          </a:bodyPr>
          <a:lstStyle/>
          <a:p>
            <a:pPr algn="r" rtl="1">
              <a:lnSpc>
                <a:spcPct val="115000"/>
              </a:lnSpc>
            </a:pPr>
            <a:r>
              <a:rPr sz="1920" b="1" lang="he-IL">
                <a:solidFill>
                  <a:srgbClr val="191A2E"/>
                </a:solidFill>
                <a:latin typeface="Heebo"/>
                <a:ea typeface="Heebo"/>
                <a:cs typeface="Heebo"/>
              </a:rPr>
              <a:t>חודשי ביטחון</a:t>
            </a:r>
          </a:p>
        </p:txBody>
      </p:sp>
      <p:sp>
        <p:nvSpPr>
          <p:cNvPr id="11" name="TextBox 10"/>
          <p:cNvSpPr txBox="1"/>
          <p:nvPr/>
        </p:nvSpPr>
        <p:spPr>
          <a:xfrm>
            <a:off x="5181600" y="2956560"/>
            <a:ext cx="5791200" cy="335280"/>
          </a:xfrm>
          <a:prstGeom prst="rect">
            <a:avLst/>
          </a:prstGeom>
          <a:noFill/>
        </p:spPr>
        <p:txBody>
          <a:bodyPr wrap="square" lIns="0" rIns="0" tIns="0" bIns="0" anchor="t">
            <a:spAutoFit/>
          </a:bodyPr>
          <a:lstStyle/>
          <a:p>
            <a:pPr algn="l" rtl="1">
              <a:lnSpc>
                <a:spcPct val="115000"/>
              </a:lnSpc>
            </a:pPr>
            <a:r>
              <a:rPr sz="1920" b="1" lang="he-IL">
                <a:solidFill>
                  <a:srgbClr val="EF55A5"/>
                </a:solidFill>
                <a:latin typeface="Heebo"/>
                <a:ea typeface="Heebo"/>
                <a:cs typeface="Heebo"/>
              </a:rPr>
              <a:t>× 3</a:t>
            </a:r>
          </a:p>
        </p:txBody>
      </p:sp>
      <p:sp>
        <p:nvSpPr>
          <p:cNvPr id="12" name="Rounded Rectangle 11"/>
          <p:cNvSpPr/>
          <p:nvPr/>
        </p:nvSpPr>
        <p:spPr>
          <a:xfrm>
            <a:off x="914400" y="2209800"/>
            <a:ext cx="3657600" cy="2286000"/>
          </a:xfrm>
          <a:prstGeom prst="roundRect">
            <a:avLst>
              <a:gd name="adj" fmla="val 1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228600" rIns="228600" tIns="137160" bIns="137160"/>
          <a:lstStyle/>
          <a:p>
            <a:pPr algn="ctr" rtl="1">
              <a:lnSpc>
                <a:spcPct val="115000"/>
              </a:lnSpc>
            </a:pPr>
            <a:r>
              <a:rPr sz="3000" b="1" lang="he-IL">
                <a:solidFill>
                  <a:srgbClr val="191A2E"/>
                </a:solidFill>
                <a:latin typeface="Heebo"/>
                <a:ea typeface="Heebo"/>
                <a:cs typeface="Heebo"/>
              </a:rPr>
              <a:t>30,000 ₪</a:t>
            </a:r>
          </a:p>
          <a:p>
            <a:pPr algn="ctr" rtl="1">
              <a:lnSpc>
                <a:spcPct val="115000"/>
              </a:lnSpc>
            </a:pPr>
            <a:r>
              <a:rPr sz="3000" b="1" lang="he-IL">
                <a:solidFill>
                  <a:srgbClr val="EF55A5"/>
                </a:solidFill>
                <a:latin typeface="Heebo"/>
                <a:ea typeface="Heebo"/>
                <a:cs typeface="Heebo"/>
              </a:rPr>
              <a:t>קרן החירום שלי</a:t>
            </a:r>
          </a:p>
        </p:txBody>
      </p:sp>
      <p:sp>
        <p:nvSpPr>
          <p:cNvPr id="13" name="TextBox 12"/>
          <p:cNvSpPr txBox="1"/>
          <p:nvPr/>
        </p:nvSpPr>
        <p:spPr>
          <a:xfrm>
            <a:off x="914400" y="4724400"/>
            <a:ext cx="3657600" cy="914400"/>
          </a:xfrm>
          <a:prstGeom prst="rect">
            <a:avLst/>
          </a:prstGeom>
          <a:noFill/>
        </p:spPr>
        <p:txBody>
          <a:bodyPr wrap="square" lIns="0" rIns="0" tIns="0" bIns="0" anchor="t">
            <a:spAutoFit/>
          </a:bodyPr>
          <a:lstStyle/>
          <a:p>
            <a:pPr algn="ctr" rtl="1">
              <a:lnSpc>
                <a:spcPct val="140000"/>
              </a:lnSpc>
            </a:pPr>
            <a:r>
              <a:rPr sz="1439" b="0" lang="he-IL">
                <a:solidFill>
                  <a:srgbClr val="6B6B7B"/>
                </a:solidFill>
                <a:latin typeface="Heebo"/>
                <a:ea typeface="Heebo"/>
                <a:cs typeface="Heebo"/>
              </a:rPr>
              <a:t>מוציאים 40,000 בחודש? 120,000 ₪. יש כבר 14,000 בפיקדון ישן? הפער 16,000. המספר שלכם נגזר מהנתון שלכם.</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35</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נקודת מוצא, לא כישלון</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הקרן עדיין חסרה? 3 דרכים</a:t>
            </a:r>
          </a:p>
        </p:txBody>
      </p:sp>
      <p:sp>
        <p:nvSpPr>
          <p:cNvPr id="6" name="Rounded Rectangle 5"/>
          <p:cNvSpPr/>
          <p:nvPr/>
        </p:nvSpPr>
        <p:spPr>
          <a:xfrm>
            <a:off x="7965440" y="2514600"/>
            <a:ext cx="331216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39760" y="2819400"/>
            <a:ext cx="2763520" cy="838200"/>
          </a:xfrm>
          <a:prstGeom prst="rect">
            <a:avLst/>
          </a:prstGeom>
          <a:noFill/>
        </p:spPr>
        <p:txBody>
          <a:bodyPr wrap="square" lIns="0" rIns="0" tIns="0" bIns="0" anchor="t">
            <a:spAutoFit/>
          </a:bodyPr>
          <a:lstStyle/>
          <a:p>
            <a:pPr algn="r" rtl="1">
              <a:lnSpc>
                <a:spcPct val="110000"/>
              </a:lnSpc>
            </a:pPr>
            <a:r>
              <a:rPr sz="2520" b="1" lang="he-IL">
                <a:solidFill>
                  <a:srgbClr val="191A2E"/>
                </a:solidFill>
                <a:latin typeface="Heebo"/>
                <a:ea typeface="Heebo"/>
                <a:cs typeface="Heebo"/>
              </a:rPr>
              <a:t>להשלים קודם</a:t>
            </a:r>
          </a:p>
        </p:txBody>
      </p:sp>
      <p:sp>
        <p:nvSpPr>
          <p:cNvPr id="8" name="TextBox 7"/>
          <p:cNvSpPr txBox="1"/>
          <p:nvPr/>
        </p:nvSpPr>
        <p:spPr>
          <a:xfrm>
            <a:off x="8239760" y="3429000"/>
            <a:ext cx="276352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לפני השקעה לטווח ארוך.</a:t>
            </a:r>
          </a:p>
        </p:txBody>
      </p:sp>
      <p:sp>
        <p:nvSpPr>
          <p:cNvPr id="9" name="Rounded Rectangle 8"/>
          <p:cNvSpPr/>
          <p:nvPr/>
        </p:nvSpPr>
        <p:spPr>
          <a:xfrm>
            <a:off x="4439920" y="2514600"/>
            <a:ext cx="331216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714240" y="2819400"/>
            <a:ext cx="2763520" cy="838200"/>
          </a:xfrm>
          <a:prstGeom prst="rect">
            <a:avLst/>
          </a:prstGeom>
          <a:noFill/>
        </p:spPr>
        <p:txBody>
          <a:bodyPr wrap="square" lIns="0" rIns="0" tIns="0" bIns="0" anchor="t">
            <a:spAutoFit/>
          </a:bodyPr>
          <a:lstStyle/>
          <a:p>
            <a:pPr algn="r" rtl="1">
              <a:lnSpc>
                <a:spcPct val="110000"/>
              </a:lnSpc>
            </a:pPr>
            <a:r>
              <a:rPr sz="2520" b="1" lang="he-IL">
                <a:solidFill>
                  <a:srgbClr val="191A2E"/>
                </a:solidFill>
                <a:latin typeface="Heebo"/>
                <a:ea typeface="Heebo"/>
                <a:cs typeface="Heebo"/>
              </a:rPr>
              <a:t>במקביל</a:t>
            </a:r>
          </a:p>
        </p:txBody>
      </p:sp>
      <p:sp>
        <p:nvSpPr>
          <p:cNvPr id="11" name="TextBox 10"/>
          <p:cNvSpPr txBox="1"/>
          <p:nvPr/>
        </p:nvSpPr>
        <p:spPr>
          <a:xfrm>
            <a:off x="4714240" y="3429000"/>
            <a:ext cx="276352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חלק לקרן, חלק להשקעה. לפי תוכנית שאתם קובעים.</a:t>
            </a:r>
          </a:p>
        </p:txBody>
      </p:sp>
      <p:sp>
        <p:nvSpPr>
          <p:cNvPr id="12" name="Rounded Rectangle 11"/>
          <p:cNvSpPr/>
          <p:nvPr/>
        </p:nvSpPr>
        <p:spPr>
          <a:xfrm>
            <a:off x="914400" y="2514600"/>
            <a:ext cx="3312160" cy="30480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188720" y="2819400"/>
            <a:ext cx="2763520" cy="838200"/>
          </a:xfrm>
          <a:prstGeom prst="rect">
            <a:avLst/>
          </a:prstGeom>
          <a:noFill/>
        </p:spPr>
        <p:txBody>
          <a:bodyPr wrap="square" lIns="0" rIns="0" tIns="0" bIns="0" anchor="t">
            <a:spAutoFit/>
          </a:bodyPr>
          <a:lstStyle/>
          <a:p>
            <a:pPr algn="r" rtl="1">
              <a:lnSpc>
                <a:spcPct val="110000"/>
              </a:lnSpc>
            </a:pPr>
            <a:r>
              <a:rPr sz="2520" b="1" lang="he-IL">
                <a:solidFill>
                  <a:srgbClr val="191A2E"/>
                </a:solidFill>
                <a:latin typeface="Heebo"/>
                <a:ea typeface="Heebo"/>
                <a:cs typeface="Heebo"/>
              </a:rPr>
              <a:t>עזרה בהחלטה</a:t>
            </a:r>
          </a:p>
        </p:txBody>
      </p:sp>
      <p:sp>
        <p:nvSpPr>
          <p:cNvPr id="14" name="TextBox 13"/>
          <p:cNvSpPr txBox="1"/>
          <p:nvPr/>
        </p:nvSpPr>
        <p:spPr>
          <a:xfrm>
            <a:off x="1188720" y="3429000"/>
            <a:ext cx="276352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מסמנים בכלי, ומדברים. אף מערכת לא מחליטה בשבילכם.</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36</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כולן אחלה. לא להתעכב על ”מה הכי טובה“</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איפה היא גרה?</a:t>
            </a:r>
          </a:p>
        </p:txBody>
      </p:sp>
      <p:sp>
        <p:nvSpPr>
          <p:cNvPr id="6" name="Oval 5"/>
          <p:cNvSpPr/>
          <p:nvPr/>
        </p:nvSpPr>
        <p:spPr>
          <a:xfrm>
            <a:off x="11155680" y="242316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914400" y="2286000"/>
            <a:ext cx="10027920" cy="87630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לא השקעה. חיסכון לשעת חירום</a:t>
            </a:r>
          </a:p>
        </p:txBody>
      </p:sp>
      <p:sp>
        <p:nvSpPr>
          <p:cNvPr id="8" name="Oval 7"/>
          <p:cNvSpPr/>
          <p:nvPr/>
        </p:nvSpPr>
        <p:spPr>
          <a:xfrm>
            <a:off x="11155680" y="329946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14400" y="3162300"/>
            <a:ext cx="10027920" cy="87630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לא בחזיר ולא בעו"ש: שם היא מפסידה 3% בשנה</a:t>
            </a:r>
          </a:p>
        </p:txBody>
      </p:sp>
      <p:sp>
        <p:nvSpPr>
          <p:cNvPr id="10" name="Oval 9"/>
          <p:cNvSpPr/>
          <p:nvPr/>
        </p:nvSpPr>
        <p:spPr>
          <a:xfrm>
            <a:off x="11155680" y="417576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914400" y="4038600"/>
            <a:ext cx="10027920" cy="87630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פיקדון בבנק (יומי / חודשי) · קרן כספית. מה שנגיש ונוח לכם</a:t>
            </a:r>
          </a:p>
        </p:txBody>
      </p:sp>
      <p:sp>
        <p:nvSpPr>
          <p:cNvPr id="12" name="Oval 11"/>
          <p:cNvSpPr/>
          <p:nvPr/>
        </p:nvSpPr>
        <p:spPr>
          <a:xfrm>
            <a:off x="11155680" y="505206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914400" y="4914900"/>
            <a:ext cx="10027920" cy="87630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נזילה · מופרדת מהעו"ש · לא בסיכון</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37</a:t>
            </a:r>
          </a:p>
        </p:txBody>
      </p:sp>
      <p:sp>
        <p:nvSpPr>
          <p:cNvPr id="4" name="Rounded Rectangle 3"/>
          <p:cNvSpPr/>
          <p:nvPr/>
        </p:nvSpPr>
        <p:spPr>
          <a:xfrm>
            <a:off x="914400" y="1905000"/>
            <a:ext cx="10363200" cy="2895600"/>
          </a:xfrm>
          <a:prstGeom prst="roundRect">
            <a:avLst>
              <a:gd name="adj" fmla="val 9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463040" y="2438400"/>
            <a:ext cx="92659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בצ'אט · רק המספר</a:t>
            </a:r>
          </a:p>
        </p:txBody>
      </p:sp>
      <p:sp>
        <p:nvSpPr>
          <p:cNvPr id="6" name="TextBox 5"/>
          <p:cNvSpPr txBox="1"/>
          <p:nvPr/>
        </p:nvSpPr>
        <p:spPr>
          <a:xfrm>
            <a:off x="1463040" y="2834640"/>
            <a:ext cx="9265920" cy="1752600"/>
          </a:xfrm>
          <a:prstGeom prst="rect">
            <a:avLst/>
          </a:prstGeom>
          <a:noFill/>
        </p:spPr>
        <p:txBody>
          <a:bodyPr wrap="square" lIns="0" rIns="0" tIns="0" bIns="0" anchor="t">
            <a:spAutoFit/>
          </a:bodyPr>
          <a:lstStyle/>
          <a:p>
            <a:pPr algn="r" rtl="1">
              <a:lnSpc>
                <a:spcPct val="115000"/>
              </a:lnSpc>
            </a:pPr>
            <a:r>
              <a:rPr sz="4440" b="1" lang="he-IL">
                <a:solidFill>
                  <a:srgbClr val="191A2E"/>
                </a:solidFill>
                <a:latin typeface="Heebo"/>
                <a:ea typeface="Heebo"/>
                <a:cs typeface="Heebo"/>
              </a:rPr>
              <a:t>כמה חודשי ביטחון בחרתם?</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38</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מה שנשאר אחרי העו"ש וקרן החירום הולך למטרות</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כד 3 וכד 4 · הכסף של המטרות</a:t>
            </a:r>
          </a:p>
        </p:txBody>
      </p:sp>
      <p:sp>
        <p:nvSpPr>
          <p:cNvPr id="6" name="Rounded Rectangle 5"/>
          <p:cNvSpPr/>
          <p:nvPr/>
        </p:nvSpPr>
        <p:spPr>
          <a:xfrm>
            <a:off x="7965440" y="2247900"/>
            <a:ext cx="331216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39760" y="2552700"/>
            <a:ext cx="2763520" cy="838200"/>
          </a:xfrm>
          <a:prstGeom prst="rect">
            <a:avLst/>
          </a:prstGeom>
          <a:noFill/>
        </p:spPr>
        <p:txBody>
          <a:bodyPr wrap="square" lIns="0" rIns="0" tIns="0" bIns="0" anchor="t">
            <a:spAutoFit/>
          </a:bodyPr>
          <a:lstStyle/>
          <a:p>
            <a:pPr algn="r" rtl="1">
              <a:lnSpc>
                <a:spcPct val="110000"/>
              </a:lnSpc>
            </a:pPr>
            <a:r>
              <a:rPr sz="2640" b="1" lang="he-IL">
                <a:solidFill>
                  <a:srgbClr val="191A2E"/>
                </a:solidFill>
                <a:latin typeface="Heebo"/>
                <a:ea typeface="Heebo"/>
                <a:cs typeface="Heebo"/>
              </a:rPr>
              <a:t>כד קרוב</a:t>
            </a:r>
          </a:p>
        </p:txBody>
      </p:sp>
      <p:sp>
        <p:nvSpPr>
          <p:cNvPr id="8" name="TextBox 7"/>
          <p:cNvSpPr txBox="1"/>
          <p:nvPr/>
        </p:nvSpPr>
        <p:spPr>
          <a:xfrm>
            <a:off x="8239760" y="3162300"/>
            <a:ext cx="276352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עד 3 שנים. רכב, חופשה, אירוע משפחתי. נשאר זמין ויציב.</a:t>
            </a:r>
          </a:p>
        </p:txBody>
      </p:sp>
      <p:sp>
        <p:nvSpPr>
          <p:cNvPr id="9" name="Rounded Rectangle 8"/>
          <p:cNvSpPr/>
          <p:nvPr/>
        </p:nvSpPr>
        <p:spPr>
          <a:xfrm>
            <a:off x="4439920" y="2247900"/>
            <a:ext cx="3312160" cy="30480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714240" y="2552700"/>
            <a:ext cx="2763520" cy="838200"/>
          </a:xfrm>
          <a:prstGeom prst="rect">
            <a:avLst/>
          </a:prstGeom>
          <a:noFill/>
        </p:spPr>
        <p:txBody>
          <a:bodyPr wrap="square" lIns="0" rIns="0" tIns="0" bIns="0" anchor="t">
            <a:spAutoFit/>
          </a:bodyPr>
          <a:lstStyle/>
          <a:p>
            <a:pPr algn="r" rtl="1">
              <a:lnSpc>
                <a:spcPct val="110000"/>
              </a:lnSpc>
            </a:pPr>
            <a:r>
              <a:rPr sz="2640" b="1" lang="he-IL">
                <a:solidFill>
                  <a:srgbClr val="191A2E"/>
                </a:solidFill>
                <a:latin typeface="Heebo"/>
                <a:ea typeface="Heebo"/>
                <a:cs typeface="Heebo"/>
              </a:rPr>
              <a:t>כד בינוני</a:t>
            </a:r>
          </a:p>
        </p:txBody>
      </p:sp>
      <p:sp>
        <p:nvSpPr>
          <p:cNvPr id="11" name="TextBox 10"/>
          <p:cNvSpPr txBox="1"/>
          <p:nvPr/>
        </p:nvSpPr>
        <p:spPr>
          <a:xfrm>
            <a:off x="4714240" y="3162300"/>
            <a:ext cx="276352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3 עד 8 שנים. מקדמה לדירה, לימודים, שיפוץ.</a:t>
            </a:r>
          </a:p>
        </p:txBody>
      </p:sp>
      <p:sp>
        <p:nvSpPr>
          <p:cNvPr id="12" name="Rounded Rectangle 11"/>
          <p:cNvSpPr/>
          <p:nvPr/>
        </p:nvSpPr>
        <p:spPr>
          <a:xfrm>
            <a:off x="914400" y="2247900"/>
            <a:ext cx="331216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188720" y="2552700"/>
            <a:ext cx="2763520" cy="838200"/>
          </a:xfrm>
          <a:prstGeom prst="rect">
            <a:avLst/>
          </a:prstGeom>
          <a:noFill/>
        </p:spPr>
        <p:txBody>
          <a:bodyPr wrap="square" lIns="0" rIns="0" tIns="0" bIns="0" anchor="t">
            <a:spAutoFit/>
          </a:bodyPr>
          <a:lstStyle/>
          <a:p>
            <a:pPr algn="r" rtl="1">
              <a:lnSpc>
                <a:spcPct val="110000"/>
              </a:lnSpc>
            </a:pPr>
            <a:r>
              <a:rPr sz="2640" b="1" lang="he-IL">
                <a:solidFill>
                  <a:srgbClr val="191A2E"/>
                </a:solidFill>
                <a:latin typeface="Heebo"/>
                <a:ea typeface="Heebo"/>
                <a:cs typeface="Heebo"/>
              </a:rPr>
              <a:t>כד ארוך</a:t>
            </a:r>
          </a:p>
        </p:txBody>
      </p:sp>
      <p:sp>
        <p:nvSpPr>
          <p:cNvPr id="14" name="TextBox 13"/>
          <p:cNvSpPr txBox="1"/>
          <p:nvPr/>
        </p:nvSpPr>
        <p:spPr>
          <a:xfrm>
            <a:off x="1188720" y="3162300"/>
            <a:ext cx="276352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מעל 8 שנים. עתיד הילדים, חופש, פרישה. ההון שהופך למנגנון השקעה.</a:t>
            </a:r>
          </a:p>
        </p:txBody>
      </p:sp>
      <p:sp>
        <p:nvSpPr>
          <p:cNvPr id="15" name="TextBox 14"/>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בכלי באזור האישי, הטווח הקרוב מתחלק לקרוב ובינוני.</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39</a:t>
            </a:r>
          </a:p>
        </p:txBody>
      </p:sp>
      <p:sp>
        <p:nvSpPr>
          <p:cNvPr id="4" name="TextBox 3"/>
          <p:cNvSpPr txBox="1"/>
          <p:nvPr/>
        </p:nvSpPr>
        <p:spPr>
          <a:xfrm>
            <a:off x="914400" y="1954530"/>
            <a:ext cx="10363200" cy="1729740"/>
          </a:xfrm>
          <a:prstGeom prst="rect">
            <a:avLst/>
          </a:prstGeom>
          <a:noFill/>
        </p:spPr>
        <p:txBody>
          <a:bodyPr wrap="square" lIns="0" rIns="0" tIns="0" bIns="0" anchor="t">
            <a:spAutoFit/>
          </a:bodyPr>
          <a:lstStyle/>
          <a:p>
            <a:pPr algn="r" rtl="1">
              <a:lnSpc>
                <a:spcPct val="110000"/>
              </a:lnSpc>
            </a:pPr>
            <a:r>
              <a:rPr sz="5400" b="1" lang="he-IL">
                <a:solidFill>
                  <a:srgbClr val="191A2E"/>
                </a:solidFill>
                <a:latin typeface="Heebo"/>
                <a:ea typeface="Heebo"/>
                <a:cs typeface="Heebo"/>
              </a:rPr>
              <a:t>המטרות שלכם</a:t>
            </a:r>
          </a:p>
          <a:p>
            <a:pPr algn="r" rtl="1">
              <a:lnSpc>
                <a:spcPct val="110000"/>
              </a:lnSpc>
            </a:pPr>
            <a:r>
              <a:rPr sz="5400" b="1" lang="he-IL">
                <a:solidFill>
                  <a:srgbClr val="EF55A5"/>
                </a:solidFill>
                <a:latin typeface="Heebo"/>
                <a:ea typeface="Heebo"/>
                <a:cs typeface="Heebo"/>
              </a:rPr>
              <a:t>כבר יודעות לאיזה כד.</a:t>
            </a:r>
          </a:p>
        </p:txBody>
      </p:sp>
      <p:sp>
        <p:nvSpPr>
          <p:cNvPr id="5" name="TextBox 4"/>
          <p:cNvSpPr txBox="1"/>
          <p:nvPr/>
        </p:nvSpPr>
        <p:spPr>
          <a:xfrm>
            <a:off x="914400" y="3836670"/>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רכב ב-2027? כד קרוב. מקדמה לדירה ב-2031? בינוני. חופש ב-2045? ארוך. התאריך הוא הכתובת. וכל שקל, פעם אחת, בכד אחד.</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40</a:t>
            </a:r>
          </a:p>
        </p:txBody>
      </p:sp>
      <p:sp>
        <p:nvSpPr>
          <p:cNvPr id="4" name="TextBox 3"/>
          <p:cNvSpPr txBox="1"/>
          <p:nvPr/>
        </p:nvSpPr>
        <p:spPr>
          <a:xfrm>
            <a:off x="914400" y="1655064"/>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הכלל הכי חשוב של הערב</a:t>
            </a:r>
          </a:p>
        </p:txBody>
      </p:sp>
      <p:sp>
        <p:nvSpPr>
          <p:cNvPr id="5" name="TextBox 4"/>
          <p:cNvSpPr txBox="1"/>
          <p:nvPr/>
        </p:nvSpPr>
        <p:spPr>
          <a:xfrm>
            <a:off x="914400" y="2112264"/>
            <a:ext cx="10363200" cy="1414272"/>
          </a:xfrm>
          <a:prstGeom prst="rect">
            <a:avLst/>
          </a:prstGeom>
          <a:noFill/>
        </p:spPr>
        <p:txBody>
          <a:bodyPr wrap="square" lIns="0" rIns="0" tIns="0" bIns="0" anchor="t">
            <a:spAutoFit/>
          </a:bodyPr>
          <a:lstStyle/>
          <a:p>
            <a:pPr algn="r" rtl="1">
              <a:lnSpc>
                <a:spcPct val="110000"/>
              </a:lnSpc>
            </a:pPr>
            <a:r>
              <a:rPr sz="4320" b="1" lang="he-IL">
                <a:solidFill>
                  <a:srgbClr val="191A2E"/>
                </a:solidFill>
                <a:latin typeface="Heebo"/>
                <a:ea typeface="Heebo"/>
                <a:cs typeface="Heebo"/>
              </a:rPr>
              <a:t>טווח ארוך =</a:t>
            </a:r>
          </a:p>
          <a:p>
            <a:pPr algn="r" rtl="1">
              <a:lnSpc>
                <a:spcPct val="110000"/>
              </a:lnSpc>
            </a:pPr>
            <a:r>
              <a:rPr sz="4320" b="1" lang="he-IL">
                <a:solidFill>
                  <a:srgbClr val="EF55A5"/>
                </a:solidFill>
                <a:latin typeface="Heebo"/>
                <a:ea typeface="Heebo"/>
                <a:cs typeface="Heebo"/>
              </a:rPr>
              <a:t>כל מה שלא צריך את שאר הכדים.</a:t>
            </a:r>
          </a:p>
        </p:txBody>
      </p:sp>
      <p:sp>
        <p:nvSpPr>
          <p:cNvPr id="6" name="TextBox 5"/>
          <p:cNvSpPr txBox="1"/>
          <p:nvPr/>
        </p:nvSpPr>
        <p:spPr>
          <a:xfrm>
            <a:off x="914400" y="3678936"/>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הכסף של מדרגה 4 ו-5. לא ההשקעה קובעת את הטווח. הטווח קובע את ההשקעה. איזו השקעה לאיזה כד? לייב 3.</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41</a:t>
            </a:r>
          </a:p>
        </p:txBody>
      </p:sp>
      <p:pic>
        <p:nvPicPr>
          <p:cNvPr id="4" name="Picture 3" descr="s19_door.jpg"/>
          <p:cNvPicPr>
            <a:picLocks noChangeAspect="1"/>
          </p:cNvPicPr>
          <p:nvPr/>
        </p:nvPicPr>
        <p:blipFill>
          <a:blip r:embed="rId3"/>
          <a:stretch>
            <a:fillRect/>
          </a:stretch>
        </p:blipFill>
        <p:spPr>
          <a:xfrm>
            <a:off x="914400" y="1295400"/>
            <a:ext cx="3810000" cy="3810000"/>
          </a:xfrm>
          <a:prstGeom prst="roundRect">
            <a:avLst>
              <a:gd name="adj" fmla="val 8000"/>
            </a:avLst>
          </a:prstGeom>
        </p:spPr>
      </p:pic>
      <p:sp>
        <p:nvSpPr>
          <p:cNvPr id="5" name="TextBox 4"/>
          <p:cNvSpPr txBox="1"/>
          <p:nvPr/>
        </p:nvSpPr>
        <p:spPr>
          <a:xfrm>
            <a:off x="5334000" y="1725168"/>
            <a:ext cx="59436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מאחורי הקלעים שלי · ההלוואה מהקיבוץ</a:t>
            </a:r>
          </a:p>
        </p:txBody>
      </p:sp>
      <p:sp>
        <p:nvSpPr>
          <p:cNvPr id="6" name="TextBox 5"/>
          <p:cNvSpPr txBox="1"/>
          <p:nvPr/>
        </p:nvSpPr>
        <p:spPr>
          <a:xfrm>
            <a:off x="5334000" y="2182368"/>
            <a:ext cx="5943600" cy="1274064"/>
          </a:xfrm>
          <a:prstGeom prst="rect">
            <a:avLst/>
          </a:prstGeom>
          <a:noFill/>
        </p:spPr>
        <p:txBody>
          <a:bodyPr wrap="square" lIns="0" rIns="0" tIns="0" bIns="0" anchor="t">
            <a:spAutoFit/>
          </a:bodyPr>
          <a:lstStyle/>
          <a:p>
            <a:pPr algn="r" rtl="1">
              <a:lnSpc>
                <a:spcPct val="110000"/>
              </a:lnSpc>
            </a:pPr>
            <a:r>
              <a:rPr sz="3840" b="1" lang="he-IL">
                <a:solidFill>
                  <a:srgbClr val="191A2E"/>
                </a:solidFill>
                <a:latin typeface="Heebo"/>
                <a:ea typeface="Heebo"/>
                <a:cs typeface="Heebo"/>
              </a:rPr>
              <a:t>”השקענו כסף שלא היה לנו,</a:t>
            </a:r>
          </a:p>
          <a:p>
            <a:pPr algn="r" rtl="1">
              <a:lnSpc>
                <a:spcPct val="110000"/>
              </a:lnSpc>
            </a:pPr>
            <a:r>
              <a:rPr sz="3840" b="1" lang="he-IL">
                <a:solidFill>
                  <a:srgbClr val="191A2E"/>
                </a:solidFill>
                <a:latin typeface="Heebo"/>
                <a:ea typeface="Heebo"/>
                <a:cs typeface="Heebo"/>
              </a:rPr>
              <a:t>ועשינו ממנו עוד כסף.“</a:t>
            </a:r>
          </a:p>
        </p:txBody>
      </p:sp>
      <p:sp>
        <p:nvSpPr>
          <p:cNvPr id="7" name="TextBox 6"/>
          <p:cNvSpPr txBox="1"/>
          <p:nvPr/>
        </p:nvSpPr>
        <p:spPr>
          <a:xfrm>
            <a:off x="5334000" y="3608832"/>
            <a:ext cx="5943600" cy="1524000"/>
          </a:xfrm>
          <a:prstGeom prst="rect">
            <a:avLst/>
          </a:prstGeom>
          <a:noFill/>
        </p:spPr>
        <p:txBody>
          <a:bodyPr wrap="square" lIns="0" rIns="0" tIns="0" bIns="0" anchor="t">
            <a:spAutoFit/>
          </a:bodyPr>
          <a:lstStyle/>
          <a:p>
            <a:pPr algn="r" rtl="1">
              <a:lnSpc>
                <a:spcPct val="145000"/>
              </a:lnSpc>
            </a:pPr>
            <a:r>
              <a:rPr sz="1800" b="0" lang="he-IL">
                <a:solidFill>
                  <a:srgbClr val="EF55A5"/>
                </a:solidFill>
                <a:latin typeface="Heebo"/>
                <a:ea typeface="Heebo"/>
                <a:cs typeface="Heebo"/>
              </a:rPr>
              <a:t>מה אפשר את זה? לא אומץ. הכדים: עו"ש מסודר, קרן חירום, ותזרים חיובי. בלעדיהם זה סיכון. איתם, זה כלי.</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42</a:t>
            </a:r>
          </a:p>
        </p:txBody>
      </p:sp>
      <p:pic>
        <p:nvPicPr>
          <p:cNvPr id="4" name="Picture 3" descr="s46_talk.jpg"/>
          <p:cNvPicPr>
            <a:picLocks noChangeAspect="1"/>
          </p:cNvPicPr>
          <p:nvPr/>
        </p:nvPicPr>
        <p:blipFill>
          <a:blip r:embed="rId3"/>
          <a:stretch>
            <a:fillRect/>
          </a:stretch>
        </p:blipFill>
        <p:spPr>
          <a:xfrm>
            <a:off x="914400" y="1524000"/>
            <a:ext cx="3505200" cy="3505200"/>
          </a:xfrm>
          <a:prstGeom prst="roundRect">
            <a:avLst>
              <a:gd name="adj" fmla="val 8000"/>
            </a:avLst>
          </a:prstGeom>
        </p:spPr>
      </p:pic>
      <p:sp>
        <p:nvSpPr>
          <p:cNvPr id="5" name="TextBox 4"/>
          <p:cNvSpPr txBox="1"/>
          <p:nvPr/>
        </p:nvSpPr>
        <p:spPr>
          <a:xfrm>
            <a:off x="4876800" y="838200"/>
            <a:ext cx="64008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 בלי להסביר, בלי להתנצל</a:t>
            </a:r>
          </a:p>
        </p:txBody>
      </p:sp>
      <p:sp>
        <p:nvSpPr>
          <p:cNvPr id="6" name="TextBox 5"/>
          <p:cNvSpPr txBox="1"/>
          <p:nvPr/>
        </p:nvSpPr>
        <p:spPr>
          <a:xfrm>
            <a:off x="4876800" y="1219200"/>
            <a:ext cx="6400800" cy="685800"/>
          </a:xfrm>
          <a:prstGeom prst="rect">
            <a:avLst/>
          </a:prstGeom>
          <a:noFill/>
        </p:spPr>
        <p:txBody>
          <a:bodyPr wrap="square" lIns="0" rIns="0" tIns="0" bIns="0" anchor="t">
            <a:spAutoFit/>
          </a:bodyPr>
          <a:lstStyle/>
          <a:p>
            <a:pPr algn="r" rtl="1">
              <a:lnSpc>
                <a:spcPct val="110000"/>
              </a:lnSpc>
            </a:pPr>
            <a:r>
              <a:rPr sz="3240" b="1" lang="he-IL">
                <a:solidFill>
                  <a:srgbClr val="191A2E"/>
                </a:solidFill>
                <a:latin typeface="Heebo"/>
                <a:ea typeface="Heebo"/>
                <a:cs typeface="Heebo"/>
              </a:rPr>
              <a:t>בזוגות, 8 דקות בחדרים</a:t>
            </a:r>
          </a:p>
        </p:txBody>
      </p:sp>
      <p:sp>
        <p:nvSpPr>
          <p:cNvPr id="7" name="Oval 6"/>
          <p:cNvSpPr/>
          <p:nvPr/>
        </p:nvSpPr>
        <p:spPr>
          <a:xfrm>
            <a:off x="10850880" y="246888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8" name="TextBox 7"/>
          <p:cNvSpPr txBox="1"/>
          <p:nvPr/>
        </p:nvSpPr>
        <p:spPr>
          <a:xfrm>
            <a:off x="4876800" y="2484120"/>
            <a:ext cx="5760720" cy="94488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המציג: המפה שלי בעיפרון. עו"ש, חודשי ביטחון, המטרה הראשונה והכד שלה (4 דק')</a:t>
            </a:r>
          </a:p>
        </p:txBody>
      </p:sp>
      <p:sp>
        <p:nvSpPr>
          <p:cNvPr id="9" name="Oval 8"/>
          <p:cNvSpPr/>
          <p:nvPr/>
        </p:nvSpPr>
        <p:spPr>
          <a:xfrm>
            <a:off x="10850880" y="341376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10" name="TextBox 9"/>
          <p:cNvSpPr txBox="1"/>
          <p:nvPr/>
        </p:nvSpPr>
        <p:spPr>
          <a:xfrm>
            <a:off x="4876800" y="3429000"/>
            <a:ext cx="5760720" cy="94488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בן הזוג: שאלה אחת. ”למה דווקא המספר הזה של חודשים?“ ומשקף במשפט</a:t>
            </a:r>
          </a:p>
        </p:txBody>
      </p:sp>
      <p:sp>
        <p:nvSpPr>
          <p:cNvPr id="11" name="Oval 10"/>
          <p:cNvSpPr/>
          <p:nvPr/>
        </p:nvSpPr>
        <p:spPr>
          <a:xfrm>
            <a:off x="10850880" y="435864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2" name="TextBox 11"/>
          <p:cNvSpPr txBox="1"/>
          <p:nvPr/>
        </p:nvSpPr>
        <p:spPr>
          <a:xfrm>
            <a:off x="4876800" y="4373880"/>
            <a:ext cx="5760720" cy="94488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מתחלפים</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43</a:t>
            </a:r>
          </a:p>
        </p:txBody>
      </p:sp>
      <p:sp>
        <p:nvSpPr>
          <p:cNvPr id="4" name="Rounded Rectangle 3"/>
          <p:cNvSpPr/>
          <p:nvPr/>
        </p:nvSpPr>
        <p:spPr>
          <a:xfrm>
            <a:off x="914400" y="1905000"/>
            <a:ext cx="10363200" cy="2895600"/>
          </a:xfrm>
          <a:prstGeom prst="roundRect">
            <a:avLst>
              <a:gd name="adj" fmla="val 9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463040" y="2438400"/>
            <a:ext cx="92659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בחזרה מהחדרים · מילה בצ'אט</a:t>
            </a:r>
          </a:p>
        </p:txBody>
      </p:sp>
      <p:sp>
        <p:nvSpPr>
          <p:cNvPr id="6" name="TextBox 5"/>
          <p:cNvSpPr txBox="1"/>
          <p:nvPr/>
        </p:nvSpPr>
        <p:spPr>
          <a:xfrm>
            <a:off x="1463040" y="2834640"/>
            <a:ext cx="9265920" cy="1752600"/>
          </a:xfrm>
          <a:prstGeom prst="rect">
            <a:avLst/>
          </a:prstGeom>
          <a:noFill/>
        </p:spPr>
        <p:txBody>
          <a:bodyPr wrap="square" lIns="0" rIns="0" tIns="0" bIns="0" anchor="t">
            <a:spAutoFit/>
          </a:bodyPr>
          <a:lstStyle/>
          <a:p>
            <a:pPr algn="r" rtl="1">
              <a:lnSpc>
                <a:spcPct val="115000"/>
              </a:lnSpc>
            </a:pPr>
            <a:r>
              <a:rPr sz="4440" b="1" lang="he-IL">
                <a:solidFill>
                  <a:srgbClr val="191A2E"/>
                </a:solidFill>
                <a:latin typeface="Heebo"/>
                <a:ea typeface="Heebo"/>
                <a:cs typeface="Heebo"/>
              </a:rPr>
              <a:t>מה הבנתם על המספר שלכם?</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44</a:t>
            </a:r>
          </a:p>
        </p:txBody>
      </p:sp>
      <p:sp>
        <p:nvSpPr>
          <p:cNvPr id="4" name="TextBox 3"/>
          <p:cNvSpPr txBox="1"/>
          <p:nvPr/>
        </p:nvSpPr>
        <p:spPr>
          <a:xfrm>
            <a:off x="914400" y="1749552"/>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חלק 4 · מספר הזהב</a:t>
            </a:r>
          </a:p>
        </p:txBody>
      </p:sp>
      <p:sp>
        <p:nvSpPr>
          <p:cNvPr id="5" name="TextBox 4"/>
          <p:cNvSpPr txBox="1"/>
          <p:nvPr/>
        </p:nvSpPr>
        <p:spPr>
          <a:xfrm>
            <a:off x="914400" y="2206752"/>
            <a:ext cx="10363200" cy="1834896"/>
          </a:xfrm>
          <a:prstGeom prst="rect">
            <a:avLst/>
          </a:prstGeom>
          <a:noFill/>
        </p:spPr>
        <p:txBody>
          <a:bodyPr wrap="square" lIns="0" rIns="0" tIns="0" bIns="0" anchor="t">
            <a:spAutoFit/>
          </a:bodyPr>
          <a:lstStyle/>
          <a:p>
            <a:pPr algn="r" rtl="1">
              <a:lnSpc>
                <a:spcPct val="110000"/>
              </a:lnSpc>
            </a:pPr>
            <a:r>
              <a:rPr sz="5759" b="1" lang="he-IL">
                <a:solidFill>
                  <a:srgbClr val="191A2E"/>
                </a:solidFill>
                <a:latin typeface="Heebo"/>
                <a:ea typeface="Heebo"/>
                <a:cs typeface="Heebo"/>
              </a:rPr>
              <a:t>כמה הולך לכל כד,</a:t>
            </a:r>
          </a:p>
          <a:p>
            <a:pPr algn="r" rtl="1">
              <a:lnSpc>
                <a:spcPct val="110000"/>
              </a:lnSpc>
            </a:pPr>
            <a:r>
              <a:rPr sz="5759" b="1" lang="he-IL">
                <a:solidFill>
                  <a:srgbClr val="EF55A5"/>
                </a:solidFill>
                <a:latin typeface="Heebo"/>
                <a:ea typeface="Heebo"/>
                <a:cs typeface="Heebo"/>
              </a:rPr>
              <a:t>כל חודש.</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45</a:t>
            </a:r>
          </a:p>
        </p:txBody>
      </p:sp>
      <p:sp>
        <p:nvSpPr>
          <p:cNvPr id="4" name="TextBox 3"/>
          <p:cNvSpPr txBox="1"/>
          <p:nvPr/>
        </p:nvSpPr>
        <p:spPr>
          <a:xfrm>
            <a:off x="914400" y="1516380"/>
            <a:ext cx="10363200" cy="2606040"/>
          </a:xfrm>
          <a:prstGeom prst="rect">
            <a:avLst/>
          </a:prstGeom>
          <a:noFill/>
        </p:spPr>
        <p:txBody>
          <a:bodyPr wrap="square" lIns="0" rIns="0" tIns="0" bIns="0" anchor="t">
            <a:spAutoFit/>
          </a:bodyPr>
          <a:lstStyle/>
          <a:p>
            <a:pPr algn="r" rtl="1">
              <a:lnSpc>
                <a:spcPct val="110000"/>
              </a:lnSpc>
            </a:pPr>
            <a:r>
              <a:rPr sz="8400" b="1" lang="he-IL">
                <a:solidFill>
                  <a:srgbClr val="191A2E"/>
                </a:solidFill>
                <a:latin typeface="Heebo"/>
                <a:ea typeface="Heebo"/>
                <a:cs typeface="Heebo"/>
              </a:rPr>
              <a:t>קודם</a:t>
            </a:r>
          </a:p>
          <a:p>
            <a:pPr algn="r" rtl="1">
              <a:lnSpc>
                <a:spcPct val="110000"/>
              </a:lnSpc>
            </a:pPr>
            <a:r>
              <a:rPr sz="8400" b="1" lang="he-IL">
                <a:solidFill>
                  <a:srgbClr val="EF55A5"/>
                </a:solidFill>
                <a:latin typeface="Heebo"/>
                <a:ea typeface="Heebo"/>
                <a:cs typeface="Heebo"/>
              </a:rPr>
              <a:t>אני.</a:t>
            </a:r>
          </a:p>
        </p:txBody>
      </p:sp>
      <p:sp>
        <p:nvSpPr>
          <p:cNvPr id="5" name="TextBox 4"/>
          <p:cNvSpPr txBox="1"/>
          <p:nvPr/>
        </p:nvSpPr>
        <p:spPr>
          <a:xfrm>
            <a:off x="914400" y="4274820"/>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ההשקעה החודשית היא ההוצאה הקבועה הראשונה. ”אל תחסכו את מה שנשאר אחרי ההוצאות. תוציאו את מה שנשאר אחרי החיסכון.“ · וורן באפט</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46</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בעולם: 50 / 30 / 20. אצלנו: לפי הכדים</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איך מחלקים את החודש</a:t>
            </a:r>
          </a:p>
        </p:txBody>
      </p:sp>
      <p:sp>
        <p:nvSpPr>
          <p:cNvPr id="6" name="Rounded Rectangle 5"/>
          <p:cNvSpPr/>
          <p:nvPr/>
        </p:nvSpPr>
        <p:spPr>
          <a:xfrm>
            <a:off x="7965440" y="2247900"/>
            <a:ext cx="3312160" cy="3048000"/>
          </a:xfrm>
          <a:prstGeom prst="roundRect">
            <a:avLst>
              <a:gd name="adj" fmla="val 8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39760" y="2552700"/>
            <a:ext cx="2763520" cy="838200"/>
          </a:xfrm>
          <a:prstGeom prst="rect">
            <a:avLst/>
          </a:prstGeom>
          <a:noFill/>
        </p:spPr>
        <p:txBody>
          <a:bodyPr wrap="square" lIns="0" rIns="0" tIns="0" bIns="0" anchor="t">
            <a:spAutoFit/>
          </a:bodyPr>
          <a:lstStyle/>
          <a:p>
            <a:pPr algn="r" rtl="1">
              <a:lnSpc>
                <a:spcPct val="110000"/>
              </a:lnSpc>
            </a:pPr>
            <a:r>
              <a:rPr sz="3360" b="1" lang="he-IL">
                <a:solidFill>
                  <a:srgbClr val="191A2E"/>
                </a:solidFill>
                <a:latin typeface="Heebo"/>
                <a:ea typeface="Heebo"/>
                <a:cs typeface="Heebo"/>
              </a:rPr>
              <a:t>50% עד 60%</a:t>
            </a:r>
          </a:p>
        </p:txBody>
      </p:sp>
      <p:sp>
        <p:nvSpPr>
          <p:cNvPr id="8" name="TextBox 7"/>
          <p:cNvSpPr txBox="1"/>
          <p:nvPr/>
        </p:nvSpPr>
        <p:spPr>
          <a:xfrm>
            <a:off x="8239760" y="3162300"/>
            <a:ext cx="276352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החיים של החודש
כד 1. דיור, אוכל, חשבונות, וגם בילויים.</a:t>
            </a:r>
          </a:p>
        </p:txBody>
      </p:sp>
      <p:sp>
        <p:nvSpPr>
          <p:cNvPr id="9" name="Rounded Rectangle 8"/>
          <p:cNvSpPr/>
          <p:nvPr/>
        </p:nvSpPr>
        <p:spPr>
          <a:xfrm>
            <a:off x="4439920" y="2247900"/>
            <a:ext cx="331216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714240" y="2552700"/>
            <a:ext cx="2763520" cy="838200"/>
          </a:xfrm>
          <a:prstGeom prst="rect">
            <a:avLst/>
          </a:prstGeom>
          <a:noFill/>
        </p:spPr>
        <p:txBody>
          <a:bodyPr wrap="square" lIns="0" rIns="0" tIns="0" bIns="0" anchor="t">
            <a:spAutoFit/>
          </a:bodyPr>
          <a:lstStyle/>
          <a:p>
            <a:pPr algn="r" rtl="1">
              <a:lnSpc>
                <a:spcPct val="110000"/>
              </a:lnSpc>
            </a:pPr>
            <a:r>
              <a:rPr sz="3360" b="1" lang="he-IL">
                <a:solidFill>
                  <a:srgbClr val="191A2E"/>
                </a:solidFill>
                <a:latin typeface="Heebo"/>
                <a:ea typeface="Heebo"/>
                <a:cs typeface="Heebo"/>
              </a:rPr>
              <a:t>20% עד 30%</a:t>
            </a:r>
          </a:p>
        </p:txBody>
      </p:sp>
      <p:sp>
        <p:nvSpPr>
          <p:cNvPr id="11" name="TextBox 10"/>
          <p:cNvSpPr txBox="1"/>
          <p:nvPr/>
        </p:nvSpPr>
        <p:spPr>
          <a:xfrm>
            <a:off x="4714240" y="3162300"/>
            <a:ext cx="276352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ביטחון וטווח קרוב
קודם כד 2, עד שהקרן מלאה. ואז כד 3.</a:t>
            </a:r>
          </a:p>
        </p:txBody>
      </p:sp>
      <p:sp>
        <p:nvSpPr>
          <p:cNvPr id="12" name="Rounded Rectangle 11"/>
          <p:cNvSpPr/>
          <p:nvPr/>
        </p:nvSpPr>
        <p:spPr>
          <a:xfrm>
            <a:off x="914400" y="2247900"/>
            <a:ext cx="331216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188720" y="2552700"/>
            <a:ext cx="2763520" cy="838200"/>
          </a:xfrm>
          <a:prstGeom prst="rect">
            <a:avLst/>
          </a:prstGeom>
          <a:noFill/>
        </p:spPr>
        <p:txBody>
          <a:bodyPr wrap="square" lIns="0" rIns="0" tIns="0" bIns="0" anchor="t">
            <a:spAutoFit/>
          </a:bodyPr>
          <a:lstStyle/>
          <a:p>
            <a:pPr algn="r" rtl="1">
              <a:lnSpc>
                <a:spcPct val="110000"/>
              </a:lnSpc>
            </a:pPr>
            <a:r>
              <a:rPr sz="3360" b="1" lang="he-IL">
                <a:solidFill>
                  <a:srgbClr val="191A2E"/>
                </a:solidFill>
                <a:latin typeface="Heebo"/>
                <a:ea typeface="Heebo"/>
                <a:cs typeface="Heebo"/>
              </a:rPr>
              <a:t>10% עד 20%</a:t>
            </a:r>
          </a:p>
        </p:txBody>
      </p:sp>
      <p:sp>
        <p:nvSpPr>
          <p:cNvPr id="14" name="TextBox 13"/>
          <p:cNvSpPr txBox="1"/>
          <p:nvPr/>
        </p:nvSpPr>
        <p:spPr>
          <a:xfrm>
            <a:off x="1188720" y="3162300"/>
            <a:ext cx="276352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טווח ארוך
כד 4. זה מספר הזהב.</a:t>
            </a:r>
          </a:p>
        </p:txBody>
      </p:sp>
      <p:sp>
        <p:nvSpPr>
          <p:cNvPr id="15" name="TextBox 14"/>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אחוזים של התחלה. דנה: 1,500 מתוך 12,000 = 12.5%. על 5% היום? זה המספר שלכם, והיעד לטפס.</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47</a:t>
            </a:r>
          </a:p>
        </p:txBody>
      </p:sp>
      <p:sp>
        <p:nvSpPr>
          <p:cNvPr id="4" name="TextBox 3"/>
          <p:cNvSpPr txBox="1"/>
          <p:nvPr/>
        </p:nvSpPr>
        <p:spPr>
          <a:xfrm>
            <a:off x="914400" y="9906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הוא כבר כתוב בשלושת המספרים שהבאתם</a:t>
            </a:r>
          </a:p>
        </p:txBody>
      </p:sp>
      <p:sp>
        <p:nvSpPr>
          <p:cNvPr id="5" name="TextBox 4"/>
          <p:cNvSpPr txBox="1"/>
          <p:nvPr/>
        </p:nvSpPr>
        <p:spPr>
          <a:xfrm>
            <a:off x="914400" y="1371600"/>
            <a:ext cx="10363200" cy="685800"/>
          </a:xfrm>
          <a:prstGeom prst="rect">
            <a:avLst/>
          </a:prstGeom>
          <a:noFill/>
        </p:spPr>
        <p:txBody>
          <a:bodyPr wrap="square" lIns="0" rIns="0" tIns="0" bIns="0" anchor="t">
            <a:spAutoFit/>
          </a:bodyPr>
          <a:lstStyle/>
          <a:p>
            <a:pPr algn="r" rtl="1">
              <a:lnSpc>
                <a:spcPct val="115000"/>
              </a:lnSpc>
            </a:pPr>
            <a:r>
              <a:rPr sz="3840" b="1" lang="he-IL">
                <a:solidFill>
                  <a:srgbClr val="191A2E"/>
                </a:solidFill>
                <a:latin typeface="Heebo"/>
                <a:ea typeface="Heebo"/>
                <a:cs typeface="Heebo"/>
              </a:rPr>
              <a:t>מאיפה המספר שלי היום</a:t>
            </a:r>
          </a:p>
        </p:txBody>
      </p:sp>
      <p:sp>
        <p:nvSpPr>
          <p:cNvPr id="6" name="Rounded Rectangle 5"/>
          <p:cNvSpPr/>
          <p:nvPr/>
        </p:nvSpPr>
        <p:spPr>
          <a:xfrm>
            <a:off x="8056880" y="2895600"/>
            <a:ext cx="3220720" cy="1600200"/>
          </a:xfrm>
          <a:prstGeom prst="roundRect">
            <a:avLst>
              <a:gd name="adj" fmla="val 14285"/>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התזרים שלי</a:t>
            </a:r>
          </a:p>
        </p:txBody>
      </p:sp>
      <p:sp>
        <p:nvSpPr>
          <p:cNvPr id="7" name="TextBox 6"/>
          <p:cNvSpPr txBox="1"/>
          <p:nvPr/>
        </p:nvSpPr>
        <p:spPr>
          <a:xfrm>
            <a:off x="770636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8" name="Rounded Rectangle 7"/>
          <p:cNvSpPr/>
          <p:nvPr/>
        </p:nvSpPr>
        <p:spPr>
          <a:xfrm>
            <a:off x="4485640" y="2895600"/>
            <a:ext cx="3220720" cy="1600200"/>
          </a:xfrm>
          <a:prstGeom prst="roundRect">
            <a:avLst>
              <a:gd name="adj" fmla="val 14285"/>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 מה שאטמתי השבוע</a:t>
            </a:r>
          </a:p>
        </p:txBody>
      </p:sp>
      <p:sp>
        <p:nvSpPr>
          <p:cNvPr id="9" name="TextBox 8"/>
          <p:cNvSpPr txBox="1"/>
          <p:nvPr/>
        </p:nvSpPr>
        <p:spPr>
          <a:xfrm>
            <a:off x="413512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10" name="Rounded Rectangle 9"/>
          <p:cNvSpPr/>
          <p:nvPr/>
        </p:nvSpPr>
        <p:spPr>
          <a:xfrm>
            <a:off x="914400" y="2895600"/>
            <a:ext cx="3220720" cy="1600200"/>
          </a:xfrm>
          <a:prstGeom prst="roundRect">
            <a:avLst>
              <a:gd name="adj" fmla="val 14285"/>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 מספר הזהב</a:t>
            </a:r>
          </a:p>
        </p:txBody>
      </p:sp>
      <p:sp>
        <p:nvSpPr>
          <p:cNvPr id="11" name="TextBox 10"/>
          <p:cNvSpPr txBox="1"/>
          <p:nvPr/>
        </p:nvSpPr>
        <p:spPr>
          <a:xfrm>
            <a:off x="914400" y="4953000"/>
            <a:ext cx="10363200" cy="9144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התזרים עדיין לא חיובי? מספר הזהב שלכם הוא בדיוק מה שאטמתם. משם מתחילים. וזה כבר מדרגה.</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48</a:t>
            </a:r>
          </a:p>
        </p:txBody>
      </p:sp>
      <p:sp>
        <p:nvSpPr>
          <p:cNvPr id="4" name="TextBox 3"/>
          <p:cNvSpPr txBox="1"/>
          <p:nvPr/>
        </p:nvSpPr>
        <p:spPr>
          <a:xfrm>
            <a:off x="914400" y="838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מה המספר עושה ב-20 שנה</a:t>
            </a:r>
          </a:p>
        </p:txBody>
      </p:sp>
      <p:sp>
        <p:nvSpPr>
          <p:cNvPr id="5" name="Rounded Rectangle 4"/>
          <p:cNvSpPr/>
          <p:nvPr/>
        </p:nvSpPr>
        <p:spPr>
          <a:xfrm>
            <a:off x="7965440" y="2057400"/>
            <a:ext cx="3312160" cy="3048000"/>
          </a:xfrm>
          <a:prstGeom prst="roundRect">
            <a:avLst>
              <a:gd name="adj" fmla="val 8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8239760" y="2362200"/>
            <a:ext cx="2763520" cy="838200"/>
          </a:xfrm>
          <a:prstGeom prst="rect">
            <a:avLst/>
          </a:prstGeom>
          <a:noFill/>
        </p:spPr>
        <p:txBody>
          <a:bodyPr wrap="square" lIns="0" rIns="0" tIns="0" bIns="0" anchor="t">
            <a:spAutoFit/>
          </a:bodyPr>
          <a:lstStyle/>
          <a:p>
            <a:pPr algn="r" rtl="1">
              <a:lnSpc>
                <a:spcPct val="110000"/>
              </a:lnSpc>
            </a:pPr>
            <a:r>
              <a:rPr sz="2400" b="1" lang="he-IL">
                <a:solidFill>
                  <a:srgbClr val="191A2E"/>
                </a:solidFill>
                <a:latin typeface="Heebo"/>
                <a:ea typeface="Heebo"/>
                <a:cs typeface="Heebo"/>
              </a:rPr>
              <a:t>300 ₪ בחודש</a:t>
            </a:r>
          </a:p>
        </p:txBody>
      </p:sp>
      <p:sp>
        <p:nvSpPr>
          <p:cNvPr id="7" name="TextBox 6"/>
          <p:cNvSpPr txBox="1"/>
          <p:nvPr/>
        </p:nvSpPr>
        <p:spPr>
          <a:xfrm>
            <a:off x="8239760" y="2971800"/>
            <a:ext cx="2763520" cy="1905000"/>
          </a:xfrm>
          <a:prstGeom prst="rect">
            <a:avLst/>
          </a:prstGeom>
          <a:noFill/>
        </p:spPr>
        <p:txBody>
          <a:bodyPr wrap="square" lIns="0" rIns="0" tIns="0" bIns="0" anchor="t">
            <a:spAutoFit/>
          </a:bodyPr>
          <a:lstStyle/>
          <a:p>
            <a:pPr algn="r" rtl="1">
              <a:lnSpc>
                <a:spcPct val="140000"/>
              </a:lnSpc>
            </a:pPr>
            <a:r>
              <a:rPr sz="2640" b="0" lang="he-IL">
                <a:solidFill>
                  <a:srgbClr val="191A2E"/>
                </a:solidFill>
                <a:latin typeface="Heebo"/>
                <a:ea typeface="Heebo"/>
                <a:cs typeface="Heebo"/>
              </a:rPr>
              <a:t>כ-156,000 ₪</a:t>
            </a:r>
          </a:p>
        </p:txBody>
      </p:sp>
      <p:sp>
        <p:nvSpPr>
          <p:cNvPr id="8" name="Rounded Rectangle 7"/>
          <p:cNvSpPr/>
          <p:nvPr/>
        </p:nvSpPr>
        <p:spPr>
          <a:xfrm>
            <a:off x="4439920" y="2057400"/>
            <a:ext cx="331216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14240" y="2362200"/>
            <a:ext cx="2763520" cy="838200"/>
          </a:xfrm>
          <a:prstGeom prst="rect">
            <a:avLst/>
          </a:prstGeom>
          <a:noFill/>
        </p:spPr>
        <p:txBody>
          <a:bodyPr wrap="square" lIns="0" rIns="0" tIns="0" bIns="0" anchor="t">
            <a:spAutoFit/>
          </a:bodyPr>
          <a:lstStyle/>
          <a:p>
            <a:pPr algn="r" rtl="1">
              <a:lnSpc>
                <a:spcPct val="110000"/>
              </a:lnSpc>
            </a:pPr>
            <a:r>
              <a:rPr sz="2400" b="1" lang="he-IL">
                <a:solidFill>
                  <a:srgbClr val="191A2E"/>
                </a:solidFill>
                <a:latin typeface="Heebo"/>
                <a:ea typeface="Heebo"/>
                <a:cs typeface="Heebo"/>
              </a:rPr>
              <a:t>500 ₪ בחודש</a:t>
            </a:r>
          </a:p>
        </p:txBody>
      </p:sp>
      <p:sp>
        <p:nvSpPr>
          <p:cNvPr id="10" name="TextBox 9"/>
          <p:cNvSpPr txBox="1"/>
          <p:nvPr/>
        </p:nvSpPr>
        <p:spPr>
          <a:xfrm>
            <a:off x="4714240" y="2971800"/>
            <a:ext cx="2763520" cy="1905000"/>
          </a:xfrm>
          <a:prstGeom prst="rect">
            <a:avLst/>
          </a:prstGeom>
          <a:noFill/>
        </p:spPr>
        <p:txBody>
          <a:bodyPr wrap="square" lIns="0" rIns="0" tIns="0" bIns="0" anchor="t">
            <a:spAutoFit/>
          </a:bodyPr>
          <a:lstStyle/>
          <a:p>
            <a:pPr algn="r" rtl="1">
              <a:lnSpc>
                <a:spcPct val="140000"/>
              </a:lnSpc>
            </a:pPr>
            <a:r>
              <a:rPr sz="2640" b="0" lang="he-IL">
                <a:solidFill>
                  <a:srgbClr val="191A2E"/>
                </a:solidFill>
                <a:latin typeface="Heebo"/>
                <a:ea typeface="Heebo"/>
                <a:cs typeface="Heebo"/>
              </a:rPr>
              <a:t>כ-260,000 ₪</a:t>
            </a:r>
          </a:p>
        </p:txBody>
      </p:sp>
      <p:sp>
        <p:nvSpPr>
          <p:cNvPr id="11" name="Rounded Rectangle 10"/>
          <p:cNvSpPr/>
          <p:nvPr/>
        </p:nvSpPr>
        <p:spPr>
          <a:xfrm>
            <a:off x="914400" y="2057400"/>
            <a:ext cx="331216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188720" y="2362200"/>
            <a:ext cx="2763520" cy="838200"/>
          </a:xfrm>
          <a:prstGeom prst="rect">
            <a:avLst/>
          </a:prstGeom>
          <a:noFill/>
        </p:spPr>
        <p:txBody>
          <a:bodyPr wrap="square" lIns="0" rIns="0" tIns="0" bIns="0" anchor="t">
            <a:spAutoFit/>
          </a:bodyPr>
          <a:lstStyle/>
          <a:p>
            <a:pPr algn="r" rtl="1">
              <a:lnSpc>
                <a:spcPct val="110000"/>
              </a:lnSpc>
            </a:pPr>
            <a:r>
              <a:rPr sz="2400" b="1" lang="he-IL">
                <a:solidFill>
                  <a:srgbClr val="191A2E"/>
                </a:solidFill>
                <a:latin typeface="Heebo"/>
                <a:ea typeface="Heebo"/>
                <a:cs typeface="Heebo"/>
              </a:rPr>
              <a:t>1,000 ₪ בחודש</a:t>
            </a:r>
          </a:p>
        </p:txBody>
      </p:sp>
      <p:sp>
        <p:nvSpPr>
          <p:cNvPr id="13" name="TextBox 12"/>
          <p:cNvSpPr txBox="1"/>
          <p:nvPr/>
        </p:nvSpPr>
        <p:spPr>
          <a:xfrm>
            <a:off x="1188720" y="2971800"/>
            <a:ext cx="2763520" cy="1905000"/>
          </a:xfrm>
          <a:prstGeom prst="rect">
            <a:avLst/>
          </a:prstGeom>
          <a:noFill/>
        </p:spPr>
        <p:txBody>
          <a:bodyPr wrap="square" lIns="0" rIns="0" tIns="0" bIns="0" anchor="t">
            <a:spAutoFit/>
          </a:bodyPr>
          <a:lstStyle/>
          <a:p>
            <a:pPr algn="r" rtl="1">
              <a:lnSpc>
                <a:spcPct val="140000"/>
              </a:lnSpc>
            </a:pPr>
            <a:r>
              <a:rPr sz="2640" b="0" lang="he-IL">
                <a:solidFill>
                  <a:srgbClr val="191A2E"/>
                </a:solidFill>
                <a:latin typeface="Heebo"/>
                <a:ea typeface="Heebo"/>
                <a:cs typeface="Heebo"/>
              </a:rPr>
              <a:t>כ-520,000 ₪</a:t>
            </a:r>
          </a:p>
        </p:txBody>
      </p:sp>
      <p:sp>
        <p:nvSpPr>
          <p:cNvPr id="14" name="TextBox 13"/>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בתשואה שנתית ממוצעת של 7%. להמחשה בלבד, ללא הבטחת תשואה.</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49</a:t>
            </a:r>
          </a:p>
        </p:txBody>
      </p:sp>
      <p:sp>
        <p:nvSpPr>
          <p:cNvPr id="4" name="TextBox 3"/>
          <p:cNvSpPr txBox="1"/>
          <p:nvPr/>
        </p:nvSpPr>
        <p:spPr>
          <a:xfrm>
            <a:off x="914400" y="1866900"/>
            <a:ext cx="10363200" cy="1905000"/>
          </a:xfrm>
          <a:prstGeom prst="rect">
            <a:avLst/>
          </a:prstGeom>
          <a:noFill/>
        </p:spPr>
        <p:txBody>
          <a:bodyPr wrap="square" lIns="0" rIns="0" tIns="0" bIns="0" anchor="t">
            <a:spAutoFit/>
          </a:bodyPr>
          <a:lstStyle/>
          <a:p>
            <a:pPr algn="r" rtl="1">
              <a:lnSpc>
                <a:spcPct val="110000"/>
              </a:lnSpc>
            </a:pPr>
            <a:r>
              <a:rPr sz="6000" b="1" lang="he-IL">
                <a:solidFill>
                  <a:srgbClr val="191A2E"/>
                </a:solidFill>
                <a:latin typeface="Heebo"/>
                <a:ea typeface="Heebo"/>
                <a:cs typeface="Heebo"/>
              </a:rPr>
              <a:t>מספר הזהב עובד</a:t>
            </a:r>
          </a:p>
          <a:p>
            <a:pPr algn="r" rtl="1">
              <a:lnSpc>
                <a:spcPct val="110000"/>
              </a:lnSpc>
            </a:pPr>
            <a:r>
              <a:rPr sz="6000" b="1" lang="he-IL">
                <a:solidFill>
                  <a:srgbClr val="EF55A5"/>
                </a:solidFill>
                <a:latin typeface="Heebo"/>
                <a:ea typeface="Heebo"/>
                <a:cs typeface="Heebo"/>
              </a:rPr>
              <a:t>גם ב-200 ₪.</a:t>
            </a:r>
          </a:p>
        </p:txBody>
      </p:sp>
      <p:sp>
        <p:nvSpPr>
          <p:cNvPr id="5" name="TextBox 4"/>
          <p:cNvSpPr txBox="1"/>
          <p:nvPr/>
        </p:nvSpPr>
        <p:spPr>
          <a:xfrm>
            <a:off x="914400" y="3924300"/>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אפשר להתחיל גם עם 20 ₪ של פער. המספר לא צריך להיות גדול. הוא צריך להיות קבוע.</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50</a:t>
            </a:r>
          </a:p>
        </p:txBody>
      </p:sp>
      <p:sp>
        <p:nvSpPr>
          <p:cNvPr id="4" name="TextBox 3"/>
          <p:cNvSpPr txBox="1"/>
          <p:nvPr/>
        </p:nvSpPr>
        <p:spPr>
          <a:xfrm>
            <a:off x="914400" y="1655064"/>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לאן זה הולך</a:t>
            </a:r>
          </a:p>
        </p:txBody>
      </p:sp>
      <p:sp>
        <p:nvSpPr>
          <p:cNvPr id="5" name="TextBox 4"/>
          <p:cNvSpPr txBox="1"/>
          <p:nvPr/>
        </p:nvSpPr>
        <p:spPr>
          <a:xfrm>
            <a:off x="914400" y="2112264"/>
            <a:ext cx="10363200" cy="1414272"/>
          </a:xfrm>
          <a:prstGeom prst="rect">
            <a:avLst/>
          </a:prstGeom>
          <a:noFill/>
        </p:spPr>
        <p:txBody>
          <a:bodyPr wrap="square" lIns="0" rIns="0" tIns="0" bIns="0" anchor="t">
            <a:spAutoFit/>
          </a:bodyPr>
          <a:lstStyle/>
          <a:p>
            <a:pPr algn="r" rtl="1">
              <a:lnSpc>
                <a:spcPct val="110000"/>
              </a:lnSpc>
            </a:pPr>
            <a:r>
              <a:rPr sz="4320" b="1" lang="he-IL">
                <a:solidFill>
                  <a:srgbClr val="191A2E"/>
                </a:solidFill>
                <a:latin typeface="Heebo"/>
                <a:ea typeface="Heebo"/>
                <a:cs typeface="Heebo"/>
              </a:rPr>
              <a:t>הוראת קבע:</a:t>
            </a:r>
          </a:p>
          <a:p>
            <a:pPr algn="r" rtl="1">
              <a:lnSpc>
                <a:spcPct val="110000"/>
              </a:lnSpc>
            </a:pPr>
            <a:r>
              <a:rPr sz="4320" b="1" lang="he-IL">
                <a:solidFill>
                  <a:srgbClr val="EF55A5"/>
                </a:solidFill>
                <a:latin typeface="Heebo"/>
                <a:ea typeface="Heebo"/>
                <a:cs typeface="Heebo"/>
              </a:rPr>
              <a:t>הכסף זז לפני שמספיקים להתלבט.</a:t>
            </a:r>
          </a:p>
        </p:txBody>
      </p:sp>
      <p:sp>
        <p:nvSpPr>
          <p:cNvPr id="6" name="TextBox 5"/>
          <p:cNvSpPr txBox="1"/>
          <p:nvPr/>
        </p:nvSpPr>
        <p:spPr>
          <a:xfrm>
            <a:off x="914400" y="3678936"/>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היעד של הליווי. בלייב 4 עושים את זה ביחד. הערב רק מחליטים על המספר.</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51</a:t>
            </a:r>
          </a:p>
        </p:txBody>
      </p:sp>
      <p:sp>
        <p:nvSpPr>
          <p:cNvPr id="4" name="Rounded Rectangle 3"/>
          <p:cNvSpPr/>
          <p:nvPr/>
        </p:nvSpPr>
        <p:spPr>
          <a:xfrm>
            <a:off x="914400" y="1905000"/>
            <a:ext cx="10363200" cy="2895600"/>
          </a:xfrm>
          <a:prstGeom prst="roundRect">
            <a:avLst>
              <a:gd name="adj" fmla="val 9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463040" y="2438400"/>
            <a:ext cx="92659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בצ'אט · גם אם 200</a:t>
            </a:r>
          </a:p>
        </p:txBody>
      </p:sp>
      <p:sp>
        <p:nvSpPr>
          <p:cNvPr id="6" name="TextBox 5"/>
          <p:cNvSpPr txBox="1"/>
          <p:nvPr/>
        </p:nvSpPr>
        <p:spPr>
          <a:xfrm>
            <a:off x="1463040" y="2834640"/>
            <a:ext cx="9265920" cy="1752600"/>
          </a:xfrm>
          <a:prstGeom prst="rect">
            <a:avLst/>
          </a:prstGeom>
          <a:noFill/>
        </p:spPr>
        <p:txBody>
          <a:bodyPr wrap="square" lIns="0" rIns="0" tIns="0" bIns="0" anchor="t">
            <a:spAutoFit/>
          </a:bodyPr>
          <a:lstStyle/>
          <a:p>
            <a:pPr algn="r" rtl="1">
              <a:lnSpc>
                <a:spcPct val="115000"/>
              </a:lnSpc>
            </a:pPr>
            <a:r>
              <a:rPr sz="4440" b="1" lang="he-IL">
                <a:solidFill>
                  <a:srgbClr val="191A2E"/>
                </a:solidFill>
                <a:latin typeface="Heebo"/>
                <a:ea typeface="Heebo"/>
                <a:cs typeface="Heebo"/>
              </a:rPr>
              <a:t>מספר הזהב שלכם?</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52</a:t>
            </a:r>
          </a:p>
        </p:txBody>
      </p:sp>
      <p:sp>
        <p:nvSpPr>
          <p:cNvPr id="4" name="TextBox 3"/>
          <p:cNvSpPr txBox="1"/>
          <p:nvPr/>
        </p:nvSpPr>
        <p:spPr>
          <a:xfrm>
            <a:off x="914400" y="149733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חלק 5 · אחרי שכל הכדים קיבלו את שלהם</a:t>
            </a:r>
          </a:p>
        </p:txBody>
      </p:sp>
      <p:sp>
        <p:nvSpPr>
          <p:cNvPr id="5" name="TextBox 4"/>
          <p:cNvSpPr txBox="1"/>
          <p:nvPr/>
        </p:nvSpPr>
        <p:spPr>
          <a:xfrm>
            <a:off x="914400" y="1954530"/>
            <a:ext cx="10363200" cy="1729740"/>
          </a:xfrm>
          <a:prstGeom prst="rect">
            <a:avLst/>
          </a:prstGeom>
          <a:noFill/>
        </p:spPr>
        <p:txBody>
          <a:bodyPr wrap="square" lIns="0" rIns="0" tIns="0" bIns="0" anchor="t">
            <a:spAutoFit/>
          </a:bodyPr>
          <a:lstStyle/>
          <a:p>
            <a:pPr algn="r" rtl="1">
              <a:lnSpc>
                <a:spcPct val="110000"/>
              </a:lnSpc>
            </a:pPr>
            <a:r>
              <a:rPr sz="5400" b="1" lang="he-IL">
                <a:solidFill>
                  <a:srgbClr val="191A2E"/>
                </a:solidFill>
                <a:latin typeface="Heebo"/>
                <a:ea typeface="Heebo"/>
                <a:cs typeface="Heebo"/>
              </a:rPr>
              <a:t>ומה שנשאר?</a:t>
            </a:r>
          </a:p>
          <a:p>
            <a:pPr algn="r" rtl="1">
              <a:lnSpc>
                <a:spcPct val="110000"/>
              </a:lnSpc>
            </a:pPr>
            <a:r>
              <a:rPr sz="5400" b="1" lang="he-IL">
                <a:solidFill>
                  <a:srgbClr val="EF55A5"/>
                </a:solidFill>
                <a:latin typeface="Heebo"/>
                <a:ea typeface="Heebo"/>
                <a:cs typeface="Heebo"/>
              </a:rPr>
              <a:t>שלכם. לבזבז. בלי אשמה.</a:t>
            </a:r>
          </a:p>
        </p:txBody>
      </p:sp>
      <p:sp>
        <p:nvSpPr>
          <p:cNvPr id="6" name="TextBox 5"/>
          <p:cNvSpPr txBox="1"/>
          <p:nvPr/>
        </p:nvSpPr>
        <p:spPr>
          <a:xfrm>
            <a:off x="914400" y="3836670"/>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חופשה, מסעדה, הנעליים, הקפה בבוקר. מה שעושה לכם טוב.</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53</a:t>
            </a:r>
          </a:p>
        </p:txBody>
      </p:sp>
      <p:sp>
        <p:nvSpPr>
          <p:cNvPr id="4" name="TextBox 3"/>
          <p:cNvSpPr txBox="1"/>
          <p:nvPr/>
        </p:nvSpPr>
        <p:spPr>
          <a:xfrm>
            <a:off x="914400" y="2234946"/>
            <a:ext cx="10363200" cy="1168908"/>
          </a:xfrm>
          <a:prstGeom prst="rect">
            <a:avLst/>
          </a:prstGeom>
          <a:noFill/>
        </p:spPr>
        <p:txBody>
          <a:bodyPr wrap="square" lIns="0" rIns="0" tIns="0" bIns="0" anchor="t">
            <a:spAutoFit/>
          </a:bodyPr>
          <a:lstStyle/>
          <a:p>
            <a:pPr algn="r" rtl="1">
              <a:lnSpc>
                <a:spcPct val="110000"/>
              </a:lnSpc>
            </a:pPr>
            <a:r>
              <a:rPr sz="3479" b="1" lang="he-IL">
                <a:solidFill>
                  <a:srgbClr val="191A2E"/>
                </a:solidFill>
                <a:latin typeface="Heebo"/>
                <a:ea typeface="Heebo"/>
                <a:cs typeface="Heebo"/>
              </a:rPr>
              <a:t>אשמה על כסף היא לא סימן שהוצאתם יותר מדי.</a:t>
            </a:r>
          </a:p>
          <a:p>
            <a:pPr algn="r" rtl="1">
              <a:lnSpc>
                <a:spcPct val="110000"/>
              </a:lnSpc>
            </a:pPr>
            <a:r>
              <a:rPr sz="3479" b="1" lang="he-IL">
                <a:solidFill>
                  <a:srgbClr val="EF55A5"/>
                </a:solidFill>
                <a:latin typeface="Heebo"/>
                <a:ea typeface="Heebo"/>
                <a:cs typeface="Heebo"/>
              </a:rPr>
              <a:t>היא סימן שלא הייתה תוכנית.</a:t>
            </a:r>
          </a:p>
        </p:txBody>
      </p:sp>
      <p:sp>
        <p:nvSpPr>
          <p:cNvPr id="5" name="TextBox 4"/>
          <p:cNvSpPr txBox="1"/>
          <p:nvPr/>
        </p:nvSpPr>
        <p:spPr>
          <a:xfrm>
            <a:off x="914400" y="3556254"/>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כשיש כדים, ההוצאה כבר לא מתחרה עם כלום. העתיד קיבל את שלו, ראשון. ”תוציאו בשפע על מה שאתם אוהבים, ותחתכו בלי רחמים את מה שלא.“ · רמית סתי</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54</a:t>
            </a:r>
          </a:p>
        </p:txBody>
      </p:sp>
      <p:sp>
        <p:nvSpPr>
          <p:cNvPr id="4" name="TextBox 3"/>
          <p:cNvSpPr txBox="1"/>
          <p:nvPr/>
        </p:nvSpPr>
        <p:spPr>
          <a:xfrm>
            <a:off x="914400" y="838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אותה חופשה. 15,000 ₪</a:t>
            </a:r>
          </a:p>
        </p:txBody>
      </p:sp>
      <p:sp>
        <p:nvSpPr>
          <p:cNvPr id="5" name="Rounded Rectangle 4"/>
          <p:cNvSpPr/>
          <p:nvPr/>
        </p:nvSpPr>
        <p:spPr>
          <a:xfrm>
            <a:off x="6202680" y="2057400"/>
            <a:ext cx="5074920" cy="3048000"/>
          </a:xfrm>
          <a:prstGeom prst="roundRect">
            <a:avLst>
              <a:gd name="adj" fmla="val 8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77000" y="2362200"/>
            <a:ext cx="4526280" cy="838200"/>
          </a:xfrm>
          <a:prstGeom prst="rect">
            <a:avLst/>
          </a:prstGeom>
          <a:noFill/>
        </p:spPr>
        <p:txBody>
          <a:bodyPr wrap="square" lIns="0" rIns="0" tIns="0" bIns="0" anchor="t">
            <a:spAutoFit/>
          </a:bodyPr>
          <a:lstStyle/>
          <a:p>
            <a:pPr algn="r" rtl="1">
              <a:lnSpc>
                <a:spcPct val="110000"/>
              </a:lnSpc>
            </a:pPr>
            <a:r>
              <a:rPr sz="2760" b="1" lang="he-IL">
                <a:solidFill>
                  <a:srgbClr val="191A2E"/>
                </a:solidFill>
                <a:latin typeface="Heebo"/>
                <a:ea typeface="Heebo"/>
                <a:cs typeface="Heebo"/>
              </a:rPr>
              <a:t>בלי תוכנית</a:t>
            </a:r>
          </a:p>
        </p:txBody>
      </p:sp>
      <p:sp>
        <p:nvSpPr>
          <p:cNvPr id="7" name="TextBox 6"/>
          <p:cNvSpPr txBox="1"/>
          <p:nvPr/>
        </p:nvSpPr>
        <p:spPr>
          <a:xfrm>
            <a:off x="6477000" y="2971800"/>
            <a:ext cx="452628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הלוואה: 500 ₪ × 36 חודשים.
שילמתם 18,000 ₪.
3,000 ₪ הלכו על כלום, ושלוש שנים אחרי החופשה עוד משלמים.</a:t>
            </a:r>
          </a:p>
        </p:txBody>
      </p:sp>
      <p:sp>
        <p:nvSpPr>
          <p:cNvPr id="8" name="Rounded Rectangle 7"/>
          <p:cNvSpPr/>
          <p:nvPr/>
        </p:nvSpPr>
        <p:spPr>
          <a:xfrm>
            <a:off x="914400" y="2057400"/>
            <a:ext cx="507492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188720" y="2362200"/>
            <a:ext cx="4526280" cy="838200"/>
          </a:xfrm>
          <a:prstGeom prst="rect">
            <a:avLst/>
          </a:prstGeom>
          <a:noFill/>
        </p:spPr>
        <p:txBody>
          <a:bodyPr wrap="square" lIns="0" rIns="0" tIns="0" bIns="0" anchor="t">
            <a:spAutoFit/>
          </a:bodyPr>
          <a:lstStyle/>
          <a:p>
            <a:pPr algn="r" rtl="1">
              <a:lnSpc>
                <a:spcPct val="110000"/>
              </a:lnSpc>
            </a:pPr>
            <a:r>
              <a:rPr sz="2760" b="1" lang="he-IL">
                <a:solidFill>
                  <a:srgbClr val="191A2E"/>
                </a:solidFill>
                <a:latin typeface="Heebo"/>
                <a:ea typeface="Heebo"/>
                <a:cs typeface="Heebo"/>
              </a:rPr>
              <a:t>עם כד קרוב</a:t>
            </a:r>
          </a:p>
        </p:txBody>
      </p:sp>
      <p:sp>
        <p:nvSpPr>
          <p:cNvPr id="10" name="TextBox 9"/>
          <p:cNvSpPr txBox="1"/>
          <p:nvPr/>
        </p:nvSpPr>
        <p:spPr>
          <a:xfrm>
            <a:off x="1188720" y="2971800"/>
            <a:ext cx="452628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1,250 ₪ × 12 חודשים.
15,000 מוכנים.
אפס ריבית. אפס חובות. אפס אשמה.</a:t>
            </a:r>
          </a:p>
        </p:txBody>
      </p:sp>
      <p:sp>
        <p:nvSpPr>
          <p:cNvPr id="11" name="TextBox 10"/>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ההבדל הוא לא בכמה הרווחתם. לכסף היה תפקיד שנה קודם.</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55</a:t>
            </a:r>
          </a:p>
        </p:txBody>
      </p:sp>
      <p:pic>
        <p:nvPicPr>
          <p:cNvPr id="4" name="Picture 3" descr="s27_light.jpg"/>
          <p:cNvPicPr>
            <a:picLocks noChangeAspect="1"/>
          </p:cNvPicPr>
          <p:nvPr/>
        </p:nvPicPr>
        <p:blipFill>
          <a:blip r:embed="rId3"/>
          <a:stretch>
            <a:fillRect/>
          </a:stretch>
        </p:blipFill>
        <p:spPr>
          <a:xfrm>
            <a:off x="914400" y="1295400"/>
            <a:ext cx="3810000" cy="3810000"/>
          </a:xfrm>
          <a:prstGeom prst="roundRect">
            <a:avLst>
              <a:gd name="adj" fmla="val 8000"/>
            </a:avLst>
          </a:prstGeom>
        </p:spPr>
      </p:pic>
      <p:sp>
        <p:nvSpPr>
          <p:cNvPr id="5" name="TextBox 4"/>
          <p:cNvSpPr txBox="1"/>
          <p:nvPr/>
        </p:nvSpPr>
        <p:spPr>
          <a:xfrm>
            <a:off x="5334000" y="1655064"/>
            <a:ext cx="59436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חוק הגם וגם</a:t>
            </a:r>
          </a:p>
        </p:txBody>
      </p:sp>
      <p:sp>
        <p:nvSpPr>
          <p:cNvPr id="6" name="TextBox 5"/>
          <p:cNvSpPr txBox="1"/>
          <p:nvPr/>
        </p:nvSpPr>
        <p:spPr>
          <a:xfrm>
            <a:off x="5334000" y="2112264"/>
            <a:ext cx="5943600" cy="1414272"/>
          </a:xfrm>
          <a:prstGeom prst="rect">
            <a:avLst/>
          </a:prstGeom>
          <a:noFill/>
        </p:spPr>
        <p:txBody>
          <a:bodyPr wrap="square" lIns="0" rIns="0" tIns="0" bIns="0" anchor="t">
            <a:spAutoFit/>
          </a:bodyPr>
          <a:lstStyle/>
          <a:p>
            <a:pPr algn="r" rtl="1">
              <a:lnSpc>
                <a:spcPct val="110000"/>
              </a:lnSpc>
            </a:pPr>
            <a:r>
              <a:rPr sz="4320" b="1" lang="he-IL">
                <a:solidFill>
                  <a:srgbClr val="191A2E"/>
                </a:solidFill>
                <a:latin typeface="Heebo"/>
                <a:ea typeface="Heebo"/>
                <a:cs typeface="Heebo"/>
              </a:rPr>
              <a:t>הילדים שלכם לא צריכים</a:t>
            </a:r>
          </a:p>
          <a:p>
            <a:pPr algn="r" rtl="1">
              <a:lnSpc>
                <a:spcPct val="110000"/>
              </a:lnSpc>
            </a:pPr>
            <a:r>
              <a:rPr sz="4320" b="1" lang="he-IL">
                <a:solidFill>
                  <a:srgbClr val="EF55A5"/>
                </a:solidFill>
                <a:latin typeface="Heebo"/>
                <a:ea typeface="Heebo"/>
                <a:cs typeface="Heebo"/>
              </a:rPr>
              <a:t>אמא קדושה מעונה.</a:t>
            </a:r>
          </a:p>
        </p:txBody>
      </p:sp>
      <p:sp>
        <p:nvSpPr>
          <p:cNvPr id="7" name="TextBox 6"/>
          <p:cNvSpPr txBox="1"/>
          <p:nvPr/>
        </p:nvSpPr>
        <p:spPr>
          <a:xfrm>
            <a:off x="5334000" y="3678936"/>
            <a:ext cx="59436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הורים שנהנים מהכסף היום, וגם בונים למחר. החופשה היא חלק מהתוכנית, לא על חשבונה. ואם סובלים בדרך למטרה, היא לא שווה את זה.</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56</a:t>
            </a:r>
          </a:p>
        </p:txBody>
      </p:sp>
      <p:sp>
        <p:nvSpPr>
          <p:cNvPr id="4" name="TextBox 3"/>
          <p:cNvSpPr txBox="1"/>
          <p:nvPr/>
        </p:nvSpPr>
        <p:spPr>
          <a:xfrm>
            <a:off x="914400" y="838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שלושה כלים. לא לשיעור. לחיים.</a:t>
            </a:r>
          </a:p>
        </p:txBody>
      </p:sp>
      <p:sp>
        <p:nvSpPr>
          <p:cNvPr id="5" name="Rounded Rectangle 4"/>
          <p:cNvSpPr/>
          <p:nvPr/>
        </p:nvSpPr>
        <p:spPr>
          <a:xfrm>
            <a:off x="7965440" y="2324100"/>
            <a:ext cx="3312160" cy="30480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8239760" y="2628900"/>
            <a:ext cx="2763520" cy="838200"/>
          </a:xfrm>
          <a:prstGeom prst="rect">
            <a:avLst/>
          </a:prstGeom>
          <a:noFill/>
        </p:spPr>
        <p:txBody>
          <a:bodyPr wrap="square" lIns="0" rIns="0" tIns="0" bIns="0" anchor="t">
            <a:spAutoFit/>
          </a:bodyPr>
          <a:lstStyle/>
          <a:p>
            <a:pPr algn="r" rtl="1">
              <a:lnSpc>
                <a:spcPct val="110000"/>
              </a:lnSpc>
            </a:pPr>
            <a:r>
              <a:rPr sz="2760" b="1" lang="he-IL">
                <a:solidFill>
                  <a:srgbClr val="191A2E"/>
                </a:solidFill>
                <a:latin typeface="Heebo"/>
                <a:ea typeface="Heebo"/>
                <a:cs typeface="Heebo"/>
              </a:rPr>
              <a:t>קודם אני</a:t>
            </a:r>
          </a:p>
        </p:txBody>
      </p:sp>
      <p:sp>
        <p:nvSpPr>
          <p:cNvPr id="7" name="TextBox 6"/>
          <p:cNvSpPr txBox="1"/>
          <p:nvPr/>
        </p:nvSpPr>
        <p:spPr>
          <a:xfrm>
            <a:off x="8239760" y="3238500"/>
            <a:ext cx="276352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ההשקעה היא ההוצאה הראשונה, לא האחרונה.</a:t>
            </a:r>
          </a:p>
        </p:txBody>
      </p:sp>
      <p:sp>
        <p:nvSpPr>
          <p:cNvPr id="8" name="Rounded Rectangle 7"/>
          <p:cNvSpPr/>
          <p:nvPr/>
        </p:nvSpPr>
        <p:spPr>
          <a:xfrm>
            <a:off x="4439920" y="2324100"/>
            <a:ext cx="331216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14240" y="2628900"/>
            <a:ext cx="2763520" cy="838200"/>
          </a:xfrm>
          <a:prstGeom prst="rect">
            <a:avLst/>
          </a:prstGeom>
          <a:noFill/>
        </p:spPr>
        <p:txBody>
          <a:bodyPr wrap="square" lIns="0" rIns="0" tIns="0" bIns="0" anchor="t">
            <a:spAutoFit/>
          </a:bodyPr>
          <a:lstStyle/>
          <a:p>
            <a:pPr algn="r" rtl="1">
              <a:lnSpc>
                <a:spcPct val="110000"/>
              </a:lnSpc>
            </a:pPr>
            <a:r>
              <a:rPr sz="2760" b="1" lang="he-IL">
                <a:solidFill>
                  <a:srgbClr val="191A2E"/>
                </a:solidFill>
                <a:latin typeface="Heebo"/>
                <a:ea typeface="Heebo"/>
                <a:cs typeface="Heebo"/>
              </a:rPr>
              <a:t>בעיפרון</a:t>
            </a:r>
          </a:p>
        </p:txBody>
      </p:sp>
      <p:sp>
        <p:nvSpPr>
          <p:cNvPr id="10" name="TextBox 9"/>
          <p:cNvSpPr txBox="1"/>
          <p:nvPr/>
        </p:nvSpPr>
        <p:spPr>
          <a:xfrm>
            <a:off x="4714240" y="3238500"/>
            <a:ext cx="276352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כל מספר מהערב הוא גרסה ראשונה. מותר לשנות. חובה להתחיל.</a:t>
            </a:r>
          </a:p>
        </p:txBody>
      </p:sp>
      <p:sp>
        <p:nvSpPr>
          <p:cNvPr id="11" name="Rounded Rectangle 10"/>
          <p:cNvSpPr/>
          <p:nvPr/>
        </p:nvSpPr>
        <p:spPr>
          <a:xfrm>
            <a:off x="914400" y="2324100"/>
            <a:ext cx="331216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188720" y="2628900"/>
            <a:ext cx="2763520" cy="838200"/>
          </a:xfrm>
          <a:prstGeom prst="rect">
            <a:avLst/>
          </a:prstGeom>
          <a:noFill/>
        </p:spPr>
        <p:txBody>
          <a:bodyPr wrap="square" lIns="0" rIns="0" tIns="0" bIns="0" anchor="t">
            <a:spAutoFit/>
          </a:bodyPr>
          <a:lstStyle/>
          <a:p>
            <a:pPr algn="r" rtl="1">
              <a:lnSpc>
                <a:spcPct val="110000"/>
              </a:lnSpc>
            </a:pPr>
            <a:r>
              <a:rPr sz="2760" b="1" lang="he-IL">
                <a:solidFill>
                  <a:srgbClr val="191A2E"/>
                </a:solidFill>
                <a:latin typeface="Heebo"/>
                <a:ea typeface="Heebo"/>
                <a:cs typeface="Heebo"/>
              </a:rPr>
              <a:t>הטווח קובע</a:t>
            </a:r>
          </a:p>
        </p:txBody>
      </p:sp>
      <p:sp>
        <p:nvSpPr>
          <p:cNvPr id="13" name="TextBox 12"/>
          <p:cNvSpPr txBox="1"/>
          <p:nvPr/>
        </p:nvSpPr>
        <p:spPr>
          <a:xfrm>
            <a:off x="1188720" y="3238500"/>
            <a:ext cx="276352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לפני כל החלטת כסף: מתי אצטרך אותו?</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57</a:t>
            </a:r>
          </a:p>
        </p:txBody>
      </p:sp>
      <p:sp>
        <p:nvSpPr>
          <p:cNvPr id="4" name="TextBox 3"/>
          <p:cNvSpPr txBox="1"/>
          <p:nvPr/>
        </p:nvSpPr>
        <p:spPr>
          <a:xfrm>
            <a:off x="914400" y="1516380"/>
            <a:ext cx="10363200" cy="2606040"/>
          </a:xfrm>
          <a:prstGeom prst="rect">
            <a:avLst/>
          </a:prstGeom>
          <a:noFill/>
        </p:spPr>
        <p:txBody>
          <a:bodyPr wrap="square" lIns="0" rIns="0" tIns="0" bIns="0" anchor="t">
            <a:spAutoFit/>
          </a:bodyPr>
          <a:lstStyle/>
          <a:p>
            <a:pPr algn="r" rtl="1">
              <a:lnSpc>
                <a:spcPct val="110000"/>
              </a:lnSpc>
            </a:pPr>
            <a:r>
              <a:rPr sz="8400" b="1" lang="he-IL">
                <a:solidFill>
                  <a:srgbClr val="191A2E"/>
                </a:solidFill>
                <a:latin typeface="Heebo"/>
                <a:ea typeface="Heebo"/>
                <a:cs typeface="Heebo"/>
              </a:rPr>
              <a:t>אין פה</a:t>
            </a:r>
          </a:p>
          <a:p>
            <a:pPr algn="r" rtl="1">
              <a:lnSpc>
                <a:spcPct val="110000"/>
              </a:lnSpc>
            </a:pPr>
            <a:r>
              <a:rPr sz="8400" b="1" lang="he-IL">
                <a:solidFill>
                  <a:srgbClr val="EF55A5"/>
                </a:solidFill>
                <a:latin typeface="Heebo"/>
                <a:ea typeface="Heebo"/>
                <a:cs typeface="Heebo"/>
              </a:rPr>
              <a:t>מרוץ.</a:t>
            </a:r>
          </a:p>
        </p:txBody>
      </p:sp>
      <p:sp>
        <p:nvSpPr>
          <p:cNvPr id="5" name="TextBox 4"/>
          <p:cNvSpPr txBox="1"/>
          <p:nvPr/>
        </p:nvSpPr>
        <p:spPr>
          <a:xfrm>
            <a:off x="914400" y="4274820"/>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יש מי שיצא עם קרן חירום מלאה ושלוש מטרות, ויש מי שיצא עם מספר אחד: כמה חודשים. שניהם במקום הנכון.</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58</a:t>
            </a:r>
          </a:p>
        </p:txBody>
      </p:sp>
      <p:sp>
        <p:nvSpPr>
          <p:cNvPr id="4" name="Rounded Rectangle 3"/>
          <p:cNvSpPr/>
          <p:nvPr/>
        </p:nvSpPr>
        <p:spPr>
          <a:xfrm>
            <a:off x="914400" y="1905000"/>
            <a:ext cx="10363200" cy="2895600"/>
          </a:xfrm>
          <a:prstGeom prst="roundRect">
            <a:avLst>
              <a:gd name="adj" fmla="val 9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463040" y="2438400"/>
            <a:ext cx="92659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בצ'אט · הערב עליתם מדרגה. בלי להרוויח שקל אחד יותר</a:t>
            </a:r>
          </a:p>
        </p:txBody>
      </p:sp>
      <p:sp>
        <p:nvSpPr>
          <p:cNvPr id="6" name="TextBox 5"/>
          <p:cNvSpPr txBox="1"/>
          <p:nvPr/>
        </p:nvSpPr>
        <p:spPr>
          <a:xfrm>
            <a:off x="1463040" y="2834640"/>
            <a:ext cx="9265920" cy="1752600"/>
          </a:xfrm>
          <a:prstGeom prst="rect">
            <a:avLst/>
          </a:prstGeom>
          <a:noFill/>
        </p:spPr>
        <p:txBody>
          <a:bodyPr wrap="square" lIns="0" rIns="0" tIns="0" bIns="0" anchor="t">
            <a:spAutoFit/>
          </a:bodyPr>
          <a:lstStyle/>
          <a:p>
            <a:pPr algn="r" rtl="1">
              <a:lnSpc>
                <a:spcPct val="115000"/>
              </a:lnSpc>
            </a:pPr>
            <a:r>
              <a:rPr sz="4440" b="1" lang="he-IL">
                <a:solidFill>
                  <a:srgbClr val="191A2E"/>
                </a:solidFill>
                <a:latin typeface="Heebo"/>
                <a:ea typeface="Heebo"/>
                <a:cs typeface="Heebo"/>
              </a:rPr>
              <a:t>על איזו מדרגה תהיו בעוד שנה?</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59</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באזור האישי · 3 תחנות, ~20 דקות · תוצר אחד: המפה על עמוד אחד</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המשימה לשבוע: מפת המצפן שלי 🧭</a:t>
            </a:r>
          </a:p>
        </p:txBody>
      </p:sp>
      <p:sp>
        <p:nvSpPr>
          <p:cNvPr id="6" name="Oval 5"/>
          <p:cNvSpPr/>
          <p:nvPr/>
        </p:nvSpPr>
        <p:spPr>
          <a:xfrm>
            <a:off x="10850880" y="22860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7" name="TextBox 6"/>
          <p:cNvSpPr txBox="1"/>
          <p:nvPr/>
        </p:nvSpPr>
        <p:spPr>
          <a:xfrm>
            <a:off x="914400" y="2301240"/>
            <a:ext cx="9723120" cy="944880"/>
          </a:xfrm>
          <a:prstGeom prst="rect">
            <a:avLst/>
          </a:prstGeom>
          <a:noFill/>
        </p:spPr>
        <p:txBody>
          <a:bodyPr wrap="square" lIns="0" rIns="0" tIns="0" bIns="0" anchor="t">
            <a:spAutoFit/>
          </a:bodyPr>
          <a:lstStyle/>
          <a:p>
            <a:pPr algn="r" rtl="1">
              <a:lnSpc>
                <a:spcPct val="130000"/>
              </a:lnSpc>
            </a:pPr>
            <a:r>
              <a:rPr sz="2400" b="0" lang="he-IL">
                <a:solidFill>
                  <a:srgbClr val="191A2E"/>
                </a:solidFill>
                <a:latin typeface="Heebo"/>
                <a:ea typeface="Heebo"/>
                <a:cs typeface="Heebo"/>
              </a:rPr>
              <a:t>עד 3 מטרות, עם סכום ותאריך</a:t>
            </a:r>
          </a:p>
        </p:txBody>
      </p:sp>
      <p:sp>
        <p:nvSpPr>
          <p:cNvPr id="8" name="Oval 7"/>
          <p:cNvSpPr/>
          <p:nvPr/>
        </p:nvSpPr>
        <p:spPr>
          <a:xfrm>
            <a:off x="10850880" y="323088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9" name="TextBox 8"/>
          <p:cNvSpPr txBox="1"/>
          <p:nvPr/>
        </p:nvSpPr>
        <p:spPr>
          <a:xfrm>
            <a:off x="914400" y="3246120"/>
            <a:ext cx="9723120" cy="944880"/>
          </a:xfrm>
          <a:prstGeom prst="rect">
            <a:avLst/>
          </a:prstGeom>
          <a:noFill/>
        </p:spPr>
        <p:txBody>
          <a:bodyPr wrap="square" lIns="0" rIns="0" tIns="0" bIns="0" anchor="t">
            <a:spAutoFit/>
          </a:bodyPr>
          <a:lstStyle/>
          <a:p>
            <a:pPr algn="r" rtl="1">
              <a:lnSpc>
                <a:spcPct val="130000"/>
              </a:lnSpc>
            </a:pPr>
            <a:r>
              <a:rPr sz="2400" b="0" lang="he-IL">
                <a:solidFill>
                  <a:srgbClr val="191A2E"/>
                </a:solidFill>
                <a:latin typeface="Heebo"/>
                <a:ea typeface="Heebo"/>
                <a:cs typeface="Heebo"/>
              </a:rPr>
              <a:t>קרן החירום: המספר שלי</a:t>
            </a:r>
          </a:p>
        </p:txBody>
      </p:sp>
      <p:sp>
        <p:nvSpPr>
          <p:cNvPr id="10" name="Oval 9"/>
          <p:cNvSpPr/>
          <p:nvPr/>
        </p:nvSpPr>
        <p:spPr>
          <a:xfrm>
            <a:off x="10850880" y="417576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1" name="TextBox 10"/>
          <p:cNvSpPr txBox="1"/>
          <p:nvPr/>
        </p:nvSpPr>
        <p:spPr>
          <a:xfrm>
            <a:off x="914400" y="4191000"/>
            <a:ext cx="9723120" cy="944880"/>
          </a:xfrm>
          <a:prstGeom prst="rect">
            <a:avLst/>
          </a:prstGeom>
          <a:noFill/>
        </p:spPr>
        <p:txBody>
          <a:bodyPr wrap="square" lIns="0" rIns="0" tIns="0" bIns="0" anchor="t">
            <a:spAutoFit/>
          </a:bodyPr>
          <a:lstStyle/>
          <a:p>
            <a:pPr algn="r" rtl="1">
              <a:lnSpc>
                <a:spcPct val="130000"/>
              </a:lnSpc>
            </a:pPr>
            <a:r>
              <a:rPr sz="2400" b="0" lang="he-IL">
                <a:solidFill>
                  <a:srgbClr val="191A2E"/>
                </a:solidFill>
                <a:latin typeface="Heebo"/>
                <a:ea typeface="Heebo"/>
                <a:cs typeface="Heebo"/>
              </a:rPr>
              <a:t>שלושת הכדים</a:t>
            </a:r>
          </a:p>
        </p:txBody>
      </p:sp>
      <p:sp>
        <p:nvSpPr>
          <p:cNvPr id="12" name="TextBox 11"/>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ואם עוד לא: אישור הבדיקה הפנסיונית בכרטיס 🛡️. שתי דקות.</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60</a:t>
            </a:r>
          </a:p>
        </p:txBody>
      </p:sp>
      <p:sp>
        <p:nvSpPr>
          <p:cNvPr id="4" name="Rounded Rectangle 3"/>
          <p:cNvSpPr/>
          <p:nvPr/>
        </p:nvSpPr>
        <p:spPr>
          <a:xfrm>
            <a:off x="914400" y="1905000"/>
            <a:ext cx="10363200" cy="2895600"/>
          </a:xfrm>
          <a:prstGeom prst="roundRect">
            <a:avLst>
              <a:gd name="adj" fmla="val 9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463040" y="2438400"/>
            <a:ext cx="92659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בצ'אט</a:t>
            </a:r>
          </a:p>
        </p:txBody>
      </p:sp>
      <p:sp>
        <p:nvSpPr>
          <p:cNvPr id="6" name="TextBox 5"/>
          <p:cNvSpPr txBox="1"/>
          <p:nvPr/>
        </p:nvSpPr>
        <p:spPr>
          <a:xfrm>
            <a:off x="1463040" y="2834640"/>
            <a:ext cx="9265920" cy="1752600"/>
          </a:xfrm>
          <a:prstGeom prst="rect">
            <a:avLst/>
          </a:prstGeom>
          <a:noFill/>
        </p:spPr>
        <p:txBody>
          <a:bodyPr wrap="square" lIns="0" rIns="0" tIns="0" bIns="0" anchor="t">
            <a:spAutoFit/>
          </a:bodyPr>
          <a:lstStyle/>
          <a:p>
            <a:pPr algn="r" rtl="1">
              <a:lnSpc>
                <a:spcPct val="115000"/>
              </a:lnSpc>
            </a:pPr>
            <a:r>
              <a:rPr sz="4440" b="1" lang="he-IL">
                <a:solidFill>
                  <a:srgbClr val="191A2E"/>
                </a:solidFill>
                <a:latin typeface="Heebo"/>
                <a:ea typeface="Heebo"/>
                <a:cs typeface="Heebo"/>
              </a:rPr>
              <a:t>מילה אחת שאתם לוקחים מהערב</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61</a:t>
            </a:r>
          </a:p>
        </p:txBody>
      </p:sp>
      <p:sp>
        <p:nvSpPr>
          <p:cNvPr id="4" name="TextBox 3"/>
          <p:cNvSpPr txBox="1"/>
          <p:nvPr/>
        </p:nvSpPr>
        <p:spPr>
          <a:xfrm>
            <a:off x="914400" y="11430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בשבוע הבא</a:t>
            </a:r>
          </a:p>
        </p:txBody>
      </p:sp>
      <p:sp>
        <p:nvSpPr>
          <p:cNvPr id="5" name="Rectangle 4"/>
          <p:cNvSpPr/>
          <p:nvPr/>
        </p:nvSpPr>
        <p:spPr>
          <a:xfrm>
            <a:off x="2286000" y="2453640"/>
            <a:ext cx="7620000" cy="30480"/>
          </a:xfrm>
          <a:prstGeom prst="rect">
            <a:avLst/>
          </a:prstGeom>
          <a:solidFill>
            <a:srgbClr val="ECE7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Oval 5"/>
          <p:cNvSpPr/>
          <p:nvPr/>
        </p:nvSpPr>
        <p:spPr>
          <a:xfrm>
            <a:off x="10104120" y="1981200"/>
            <a:ext cx="975360" cy="975360"/>
          </a:xfrm>
          <a:prstGeom prst="ellipse">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3240" b="1" lang="he-IL">
                <a:solidFill>
                  <a:srgbClr val="191A2E"/>
                </a:solidFill>
                <a:latin typeface="Heebo"/>
                <a:ea typeface="Heebo"/>
                <a:cs typeface="Heebo"/>
              </a:rPr>
              <a:t>1</a:t>
            </a:r>
          </a:p>
        </p:txBody>
      </p:sp>
      <p:sp>
        <p:nvSpPr>
          <p:cNvPr id="7" name="TextBox 6"/>
          <p:cNvSpPr txBox="1"/>
          <p:nvPr/>
        </p:nvSpPr>
        <p:spPr>
          <a:xfrm>
            <a:off x="9448800" y="3169920"/>
            <a:ext cx="2286000" cy="304800"/>
          </a:xfrm>
          <a:prstGeom prst="rect">
            <a:avLst/>
          </a:prstGeom>
          <a:noFill/>
        </p:spPr>
        <p:txBody>
          <a:bodyPr wrap="square" lIns="0" rIns="0" tIns="0" bIns="0" anchor="t">
            <a:spAutoFit/>
          </a:bodyPr>
          <a:lstStyle/>
          <a:p>
            <a:pPr algn="ctr" rtl="1">
              <a:lnSpc>
                <a:spcPct val="115000"/>
              </a:lnSpc>
            </a:pPr>
            <a:r>
              <a:rPr sz="1620" b="1" lang="he-IL">
                <a:solidFill>
                  <a:srgbClr val="191A2E"/>
                </a:solidFill>
                <a:latin typeface="Heebo"/>
                <a:ea typeface="Heebo"/>
                <a:cs typeface="Heebo"/>
              </a:rPr>
              <a:t>שבוע 1 · ממפות</a:t>
            </a:r>
          </a:p>
        </p:txBody>
      </p:sp>
      <p:sp>
        <p:nvSpPr>
          <p:cNvPr id="8" name="Oval 7"/>
          <p:cNvSpPr/>
          <p:nvPr/>
        </p:nvSpPr>
        <p:spPr>
          <a:xfrm>
            <a:off x="7109460" y="1981200"/>
            <a:ext cx="975360" cy="975360"/>
          </a:xfrm>
          <a:prstGeom prst="ellipse">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3240" b="1" lang="he-IL">
                <a:solidFill>
                  <a:srgbClr val="191A2E"/>
                </a:solidFill>
                <a:latin typeface="Heebo"/>
                <a:ea typeface="Heebo"/>
                <a:cs typeface="Heebo"/>
              </a:rPr>
              <a:t>2</a:t>
            </a:r>
          </a:p>
        </p:txBody>
      </p:sp>
      <p:sp>
        <p:nvSpPr>
          <p:cNvPr id="9" name="TextBox 8"/>
          <p:cNvSpPr txBox="1"/>
          <p:nvPr/>
        </p:nvSpPr>
        <p:spPr>
          <a:xfrm>
            <a:off x="6454140" y="3169920"/>
            <a:ext cx="2286000" cy="304800"/>
          </a:xfrm>
          <a:prstGeom prst="rect">
            <a:avLst/>
          </a:prstGeom>
          <a:noFill/>
        </p:spPr>
        <p:txBody>
          <a:bodyPr wrap="square" lIns="0" rIns="0" tIns="0" bIns="0" anchor="t">
            <a:spAutoFit/>
          </a:bodyPr>
          <a:lstStyle/>
          <a:p>
            <a:pPr algn="ctr" rtl="1">
              <a:lnSpc>
                <a:spcPct val="115000"/>
              </a:lnSpc>
            </a:pPr>
            <a:r>
              <a:rPr sz="1620" b="1" lang="he-IL">
                <a:solidFill>
                  <a:srgbClr val="191A2E"/>
                </a:solidFill>
                <a:latin typeface="Heebo"/>
                <a:ea typeface="Heebo"/>
                <a:cs typeface="Heebo"/>
              </a:rPr>
              <a:t>שבוע 2 · מגינות</a:t>
            </a:r>
          </a:p>
        </p:txBody>
      </p:sp>
      <p:sp>
        <p:nvSpPr>
          <p:cNvPr id="10" name="Oval 9"/>
          <p:cNvSpPr/>
          <p:nvPr/>
        </p:nvSpPr>
        <p:spPr>
          <a:xfrm>
            <a:off x="4023360" y="1889760"/>
            <a:ext cx="1158240" cy="1158240"/>
          </a:xfrm>
          <a:prstGeom prst="ellipse">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Oval 10"/>
          <p:cNvSpPr/>
          <p:nvPr/>
        </p:nvSpPr>
        <p:spPr>
          <a:xfrm>
            <a:off x="4114800" y="1981200"/>
            <a:ext cx="975360" cy="97536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3240" b="1" lang="he-IL">
                <a:solidFill>
                  <a:srgbClr val="191A2E"/>
                </a:solidFill>
                <a:latin typeface="Heebo"/>
                <a:ea typeface="Heebo"/>
                <a:cs typeface="Heebo"/>
              </a:rPr>
              <a:t>3</a:t>
            </a:r>
          </a:p>
        </p:txBody>
      </p:sp>
      <p:sp>
        <p:nvSpPr>
          <p:cNvPr id="12" name="TextBox 11"/>
          <p:cNvSpPr txBox="1"/>
          <p:nvPr/>
        </p:nvSpPr>
        <p:spPr>
          <a:xfrm>
            <a:off x="3459480" y="3169920"/>
            <a:ext cx="2286000" cy="304800"/>
          </a:xfrm>
          <a:prstGeom prst="rect">
            <a:avLst/>
          </a:prstGeom>
          <a:noFill/>
        </p:spPr>
        <p:txBody>
          <a:bodyPr wrap="square" lIns="0" rIns="0" tIns="0" bIns="0" anchor="t">
            <a:spAutoFit/>
          </a:bodyPr>
          <a:lstStyle/>
          <a:p>
            <a:pPr algn="ctr" rtl="1">
              <a:lnSpc>
                <a:spcPct val="115000"/>
              </a:lnSpc>
            </a:pPr>
            <a:r>
              <a:rPr sz="1620" b="1" lang="he-IL">
                <a:solidFill>
                  <a:srgbClr val="191A2E"/>
                </a:solidFill>
                <a:latin typeface="Heebo"/>
                <a:ea typeface="Heebo"/>
                <a:cs typeface="Heebo"/>
              </a:rPr>
              <a:t>שבוע 3 · מחלקות</a:t>
            </a:r>
          </a:p>
        </p:txBody>
      </p:sp>
      <p:sp>
        <p:nvSpPr>
          <p:cNvPr id="13" name="Oval 12"/>
          <p:cNvSpPr/>
          <p:nvPr/>
        </p:nvSpPr>
        <p:spPr>
          <a:xfrm>
            <a:off x="1120140" y="1981200"/>
            <a:ext cx="975360" cy="975360"/>
          </a:xfrm>
          <a:prstGeom prst="ellipse">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3240" b="1" lang="he-IL">
                <a:solidFill>
                  <a:srgbClr val="9A9AA6"/>
                </a:solidFill>
                <a:latin typeface="Heebo"/>
                <a:ea typeface="Heebo"/>
                <a:cs typeface="Heebo"/>
              </a:rPr>
              <a:t>4</a:t>
            </a:r>
          </a:p>
        </p:txBody>
      </p:sp>
      <p:sp>
        <p:nvSpPr>
          <p:cNvPr id="14" name="TextBox 13"/>
          <p:cNvSpPr txBox="1"/>
          <p:nvPr/>
        </p:nvSpPr>
        <p:spPr>
          <a:xfrm>
            <a:off x="464820" y="3169920"/>
            <a:ext cx="2286000" cy="304800"/>
          </a:xfrm>
          <a:prstGeom prst="rect">
            <a:avLst/>
          </a:prstGeom>
          <a:noFill/>
        </p:spPr>
        <p:txBody>
          <a:bodyPr wrap="square" lIns="0" rIns="0" tIns="0" bIns="0" anchor="t">
            <a:spAutoFit/>
          </a:bodyPr>
          <a:lstStyle/>
          <a:p>
            <a:pPr algn="ctr" rtl="1">
              <a:lnSpc>
                <a:spcPct val="115000"/>
              </a:lnSpc>
            </a:pPr>
            <a:r>
              <a:rPr sz="1620" b="1" lang="he-IL">
                <a:solidFill>
                  <a:srgbClr val="9A9AA6"/>
                </a:solidFill>
                <a:latin typeface="Heebo"/>
                <a:ea typeface="Heebo"/>
                <a:cs typeface="Heebo"/>
              </a:rPr>
              <a:t>שבוע 4 · מפעילות</a:t>
            </a:r>
          </a:p>
        </p:txBody>
      </p:sp>
      <p:sp>
        <p:nvSpPr>
          <p:cNvPr id="15" name="TextBox 14"/>
          <p:cNvSpPr txBox="1"/>
          <p:nvPr/>
        </p:nvSpPr>
        <p:spPr>
          <a:xfrm>
            <a:off x="914400" y="3962400"/>
            <a:ext cx="10363200" cy="1295400"/>
          </a:xfrm>
          <a:prstGeom prst="rect">
            <a:avLst/>
          </a:prstGeom>
          <a:noFill/>
        </p:spPr>
        <p:txBody>
          <a:bodyPr wrap="square" lIns="0" rIns="0" tIns="0" bIns="0" anchor="t">
            <a:spAutoFit/>
          </a:bodyPr>
          <a:lstStyle/>
          <a:p>
            <a:pPr algn="r" rtl="1">
              <a:lnSpc>
                <a:spcPct val="120000"/>
              </a:lnSpc>
            </a:pPr>
            <a:r>
              <a:rPr sz="3240" b="1" lang="he-IL">
                <a:solidFill>
                  <a:srgbClr val="191A2E"/>
                </a:solidFill>
                <a:latin typeface="Heebo"/>
                <a:ea typeface="Heebo"/>
                <a:cs typeface="Heebo"/>
              </a:rPr>
              <a:t>לייב 3 · מחלקות: עולם ההשקעות, מלמעלה.</a:t>
            </a:r>
          </a:p>
        </p:txBody>
      </p:sp>
      <p:sp>
        <p:nvSpPr>
          <p:cNvPr id="16" name="TextBox 15"/>
          <p:cNvSpPr txBox="1"/>
          <p:nvPr/>
        </p:nvSpPr>
        <p:spPr>
          <a:xfrm>
            <a:off x="914400" y="5334000"/>
            <a:ext cx="10363200" cy="762000"/>
          </a:xfrm>
          <a:prstGeom prst="rect">
            <a:avLst/>
          </a:prstGeom>
          <a:noFill/>
        </p:spPr>
        <p:txBody>
          <a:bodyPr wrap="square" lIns="0" rIns="0" tIns="0" bIns="0" anchor="t">
            <a:spAutoFit/>
          </a:bodyPr>
          <a:lstStyle/>
          <a:p>
            <a:pPr algn="r" rtl="1">
              <a:lnSpc>
                <a:spcPct val="145000"/>
              </a:lnSpc>
            </a:pPr>
            <a:r>
              <a:rPr sz="1680" b="0" lang="he-IL">
                <a:solidFill>
                  <a:srgbClr val="6B6B7B"/>
                </a:solidFill>
                <a:latin typeface="Heebo"/>
                <a:ea typeface="Heebo"/>
                <a:cs typeface="Heebo"/>
              </a:rPr>
              <a:t>למה חייבים להשקיע, אילו סוגים יש, ולאיזה כד כל אחד מתאים. שוק ההון בשפה פשוטה, מנוהל מול עצמאי.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