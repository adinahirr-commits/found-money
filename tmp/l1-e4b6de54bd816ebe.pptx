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לכולן! איזה כיף לראות אתכן כאן, הפנים שלכן על המסך עושות לי להתרגש כמו ילדה קטנה.</a:t>
            </a:r>
          </a:p>
          <a:p>
            <a:r>
              <a:t>הלב שלי דופק מהר, ואני לא סתם מתרגשת, אני יודעת מה הולך לקרות לכן ב-28 הימים הקרובים.</a:t>
            </a:r>
          </a:p>
          <a:p>
            <a:r>
              <a:t>הדבר הזה שדחיתן שוב ושוב, התירוץ הזה של "כשיהיה לי רגע פנוי" או "כשנסיים את החגים", מתחיל ממש עכשיו, ברגע זה.</a:t>
            </a:r>
          </a:p>
          <a:p>
            <a:r>
              <a:t>אנחנו יוצאות לדרך משנה חיים, והרגע הזה הוא עכשיו, ובחברה הכי טובה שיש. יאללה.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נתחיל בחימום קצר למקלדות.</a:t>
            </a:r>
          </a:p>
          <a:p>
            <a:r>
              <a:t>תכתבו לי מילה אחת בצ'אט, איך אתן מרגישות הערב? איך הגעתן לזום הזה?</a:t>
            </a:r>
          </a:p>
          <a:p>
            <a:r>
              <a:t>(להקריא 4-5 תשובות מהצ'אט)</a:t>
            </a:r>
          </a:p>
          <a:p>
            <a:r>
              <a:t>(לשקף מילה מכל אחת)</a:t>
            </a:r>
          </a:p>
          <a:p>
            <a:r>
              <a:t>לכל מי שכתבה שהיא בלחץ או בפחד מהמספרים, אני רוצה שתחזיקי את המילה הזו קרוב.</a:t>
            </a:r>
          </a:p>
          <a:p>
            <a:r>
              <a:t>אנחנו נחזור אליה בסוף המפגש, ואני מבטיחה לך שהיא הולכת להשתנות לחלוטין.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הולך לקרות פה הערב? חילקתי את המפגש שלנו לשלושה חלקים סופר מדויקים.</a:t>
            </a:r>
          </a:p>
          <a:p>
            <a:r>
              <a:t>בחלק הראשון נלמד את שיטת המצפן, הדרך היחידה להגיע לכל יעד בלי ללכת לאיבוד.</a:t>
            </a:r>
          </a:p>
          <a:p>
            <a:r>
              <a:t>אחר כך נדבר על תודעה ועל הסיבה שלחלום בגדול זה כלי עבודה אמיתי, לא קלישאה רוחנית.</a:t>
            </a:r>
          </a:p>
          <a:p>
            <a:r>
              <a:t>ובסוף נרד לקרקע, לנקודת המוצא, ונאסוף את כל מה שיש לך לסל אחד.</a:t>
            </a:r>
          </a:p>
          <a:p>
            <a:r>
              <a:t>אני מבטיחה לכן שתצאו מכאן עם ראש שונה לחלוטין, ועם משימה אחת סופר פשוטה לשבוע הקרוב.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הכל, אני רוצה שתראו את הסוף.</a:t>
            </a:r>
          </a:p>
          <a:p>
            <a:r>
              <a:t>בסוף החודש הזה, המטרה היא שתהיה לך הוראת קבע להשקעות, וכל הכסף הפנוי שלך יהיה מחולק נכון. כל שקל יודע מה התפקיד שלו.</a:t>
            </a:r>
          </a:p>
          <a:p>
            <a:r>
              <a:t>זה היעד. וכל מה שנעשה בארבעת השבועות האלה, כל לייב וכל משימה, בנוי כדי להביא אותך לשם.</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נראית הדרך, ארבעה שבועות.</a:t>
            </a:r>
          </a:p>
          <a:p>
            <a:r>
              <a:t>שבוע 1, ממפות: כמה כסף יש לי עכשיו. כולל לאתר כסף אבוד, ולפנות כסף להשקעות בהתנהלות נכונה יותר.</a:t>
            </a:r>
          </a:p>
          <a:p>
            <a:r>
              <a:t>שבוע 2, מגינות: מה זה לחלק בין טווחים שונים. מה צריך להישאר בעו"ש, מה בקרן החירום, מה בהשקעות לטווח קצר, ומה אפשר להשקיע לטווח ארוך.</a:t>
            </a:r>
          </a:p>
          <a:p>
            <a:r>
              <a:t>שבוע 3, מחלקות: עולם ההשקעות מלמעלה, בדגש על שוק ההון. מה זה אומר ואיך בפועל משקיעים שם, במוצרים מנוהלים ובהשקעה עצמאית.</a:t>
            </a:r>
          </a:p>
          <a:p>
            <a:r>
              <a:t>ושבוע 4, מפעילות: עושות ביחד את הצעד הראשון. ההשקעה הראשונה שלנו בשוק ההון, והוראת קבע.</a:t>
            </a:r>
          </a:p>
          <a:p>
            <a:r>
              <a:t>ובין הלייבים, באזור האישי מחכה לך צעד אחד ביום. אחד.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מתחילים דווקא מכאן? כי כדי לחלק את הכסף נכון, קודם צריך לדעת כמה יש.</a:t>
            </a:r>
          </a:p>
          <a:p>
            <a:r>
              <a:t>ובשביל זה צריך שני סוגים של סדר.</a:t>
            </a:r>
          </a:p>
          <a:p>
            <a:r>
              <a:t>סדר מעשי: כמה כסף יש לי, איפה מסתתר כסף שלא ידעתי עליו, ואיך מפנים עוד כסף להשקעות בהתנהלות נכונה.</a:t>
            </a:r>
          </a:p>
          <a:p>
            <a:r>
              <a:t>וסדר מנטלי: חזון שמושך אותי קדימה, ותודעה שמאפשרת לי לפעול, בלי שהפחד יחליט בשבילי.</a:t>
            </a:r>
          </a:p>
          <a:p>
            <a:r>
              <a:t>והערב אנחנו עושות את שניהם.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רק טעימה ממה שנעשה בשבוע הבא, כדי שתביני לאן כל זה הולך.</a:t>
            </a:r>
          </a:p>
          <a:p>
            <a:r>
              <a:t>לכל שקל יש בית. עו"ש: מה שצריך לחיים של החודש. קרן חירום: השקט, כמה חודשים של ביטחון. טווח קצר: הכסף למטרות של השנים הקרובות.</a:t>
            </a:r>
          </a:p>
          <a:p>
            <a:r>
              <a:t>וטווח ארוך: כל מה שלא צריך את שאר הבתים. זה הכסף שיכול לעבוד בשבילך לאורך שנים.</a:t>
            </a:r>
          </a:p>
          <a:p>
            <a:r>
              <a:t>אבל כדי לדעת כמה נכנס לכל בית, צריך קודם לדעת כמה יש. וזה בדיוק הערב.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משהו חשוב, לפני שמתחילות.</a:t>
            </a:r>
          </a:p>
          <a:p>
            <a:r>
              <a:t>כל אחת מתחילה מנקודה אחרת. יש מי שיש לה סכום שיושב בעו"ש, ויש מי שעוד לא סגרה את החודש בפלוס. שתיהן במקום הנכון.</a:t>
            </a:r>
          </a:p>
          <a:p>
            <a:r>
              <a:t>ואם בסוף החודש יתברר שלמישהי עוד לא נכון להשקיע בשוק ההון, זה לא אומר שהליווי לא מתאים לה או לא הצליח. זה אומר שהיא בנתה את כל התשתית: יודעת כמה יש לה, יש לה קרן חירום, הכסף שלה מחולק. וברגע שזה יהיה נכון ומתאים בשבילה, היא תתחיל גם להשקיע.</a:t>
            </a:r>
          </a:p>
          <a:p>
            <a:r>
              <a:t>אז אין פה מרוץ. יש דרך, וכל אחת הולכת בה מהנקודה שלה.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והדבר הכי חשוב שתדעו: אתן לא לבד באף שלב.</a:t>
            </a:r>
          </a:p>
          <a:p>
            <a:r>
              <a:t>לייב כל יום שני ב-20:00, ארבעה שבועות ברצף, וכל לייב מוקלט.</a:t>
            </a:r>
          </a:p>
          <a:p>
            <a:r>
              <a:t>פגישה אישית, אחת על אחת: בדיקה מעמיקה של המוצרים הפנסיוניים, הביטוחים והחסכונות שלך.</a:t>
            </a:r>
          </a:p>
          <a:p>
            <a:r>
              <a:t>מפגש עם יועץ השקעות על שוק ההון, עם שאלות ותשובות.</a:t>
            </a:r>
          </a:p>
          <a:p>
            <a:r>
              <a:t>וריקאפ: מפגש אחת לחודש, שלושה חודשים אחרי הסיום. איפה כל אחת, ואיך משמרים את כל מה שלמדנו בחיים עצמם.</a:t>
            </a:r>
          </a:p>
          <a:p>
            <a:r>
              <a:t>התפקיד שלי הוא לא רק להעביר לכן ידע. הוא להביא אתכן ל"עשיתי".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תנשמו עמוק, כי חוק הברזל של הליווי הזה הוא שזה אימון, לא מבחן.</a:t>
            </a:r>
          </a:p>
          <a:p>
            <a:r>
              <a:t>אין פה ציונים, אין פה טעויות, ואף אחת לא הולכת לעמוד בפינה.</a:t>
            </a:r>
          </a:p>
          <a:p>
            <a:r>
              <a:t>אנחנו כותבות הכל בעיפרון, כי הכל בחיים האלה דינמי ואפשר לשנות בהתאם למה שקורה לנו במציאות.</a:t>
            </a:r>
          </a:p>
          <a:p>
            <a:r>
              <a:t>אנחנו עובדות מהר ומחליטות מהר, כי מהירות מנצחת שלמות בכל יום בשבוע.</a:t>
            </a:r>
          </a:p>
          <a:p>
            <a:r>
              <a:t>והכי חשוב, אנחנו עושות את זה ביחד, כקבוצה חזקה ותומכת של נשים שרוצות בדיוק את אותו הדבר.</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כדי שנרגיש את הביחד הזה, נעשה סבב היכרות קצר ומהיר.</a:t>
            </a:r>
          </a:p>
          <a:p>
            <a:r>
              <a:t>כל אחת בתורה תפעיל מיקרופון ותספר לנו ב-30 שניות: שם, עיסוק, ומשפט אחד קצר על מה שהביא אותה לפה הערב.</a:t>
            </a:r>
          </a:p>
          <a:p>
            <a:r>
              <a:t>(לעבור בין המשתתפות ולתת לכל אחת 30 שניות)</a:t>
            </a:r>
          </a:p>
          <a:p>
            <a:r>
              <a:t>תודה לכולכן. שמתן לב למשהו מטורף עכשיו?</a:t>
            </a:r>
          </a:p>
          <a:p>
            <a:r>
              <a:t>כמעט אף אחת מכן לא אמרה "אין לי כסף". תחזיקו את זה. עוד מעט נבין למה.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להקריא לכן ציטוט של הנרי פורד שאני לוקחת איתי לכל מקום בחיים:</a:t>
            </a:r>
          </a:p>
          <a:p>
            <a:r>
              <a:t>"בין אם את חושבת שאת יכולה, ובין אם לא, את צודקת."</a:t>
            </a:r>
          </a:p>
          <a:p>
            <a:r>
              <a:t>תחשבו על המילים האלה חזק.</a:t>
            </a:r>
          </a:p>
          <a:p>
            <a:r>
              <a:t>אם את מגיעה לכאן בתחושה שזה גדול עלייך, שאת לא מבינה במספרים, המוח שלך יוכיח לך שאת צודקת.</a:t>
            </a:r>
          </a:p>
          <a:p>
            <a:r>
              <a:t>אבל אם תבחרי להאמין שאת יכולה, את תפתחי דלתות שלא דמיינת שקיימות.</a:t>
            </a:r>
          </a:p>
          <a:p>
            <a:r>
              <a:t>תחזיקו את המשפט הזה בראש, הוא הולך ללוות אותנו לאורך כל הערב.</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מאיפה באמת מתחילים את השינוי הזה?</a:t>
            </a:r>
          </a:p>
          <a:p>
            <a:r>
              <a:t>כאן נכנסת השיטה שאני עובדת לפיה בכל תחום בחיים שלי, לא רק בכסף.</a:t>
            </a:r>
          </a:p>
          <a:p>
            <a:r>
              <a:t>רוב הנשים שמגיעות אליי רוצות לקפוץ ישר לסוף ושואלות אותי: "עדי, איפה לשים את הכסף שלי? באיזו קרן להשקיע?".</a:t>
            </a:r>
          </a:p>
          <a:p>
            <a:r>
              <a:t>אבל זו השאלה האחרונה שאת צריכה לשאול, ממש לא הראשונה.</a:t>
            </a:r>
          </a:p>
          <a:p>
            <a:r>
              <a:t>קודם כל אנחנו צריכות מפת דרכים ברורה שתראה לנו את התמונה המלאה.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לשיטה הזו קוראים שיטת המצפן והיא מורכבת מארבעה שלבים ברורים.</a:t>
            </a:r>
          </a:p>
          <a:p>
            <a:r>
              <a:t>הראשון הוא החזון: ה"למה" שלנו, מה אנחנו באמת רוצות מהחיים שלנו.</a:t>
            </a:r>
          </a:p>
          <a:p>
            <a:r>
              <a:t>השני הוא המטרות: אבני הדרך המדויקות והמספריות בדרך לשם.</a:t>
            </a:r>
          </a:p>
          <a:p>
            <a:r>
              <a:t>השלישי הוא נקודת המוצא: מה יש לי היום בידיים. ופה קורה הקסם האמיתי, כי פתאום אתן מגלות שכבר יש לכן המון כסף שפשוט לא עובד בשבילכן.</a:t>
            </a:r>
          </a:p>
          <a:p>
            <a:r>
              <a:t>והשלב הרביעי הוא האסטרטגיה: הגשר שמחבר בין נקודת המוצא למטרות שלכן, כדי להגשים את החזון.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מצפן לא אומר לך בדיוק באיזה שביל לפנות, הוא פשוט נותן לך כיוון ברור.</a:t>
            </a:r>
          </a:p>
          <a:p>
            <a:r>
              <a:t>וכשיש לך כיוון, כל צעד שאת עושה הוא בהכרח צעד נכון קדימה.</a:t>
            </a:r>
          </a:p>
          <a:p>
            <a:r>
              <a:t>זה בדיוק כמו באפליקציית ניווט בטלפון.</a:t>
            </a:r>
          </a:p>
          <a:p>
            <a:r>
              <a:t>אם לא תגדירי לה לאן את רוצה להגיע, ואיפה את נמצאת ברגע זה, אין לה שום סיכוי לחשב לך מסלול.</a:t>
            </a:r>
          </a:p>
          <a:p>
            <a:r>
              <a:t>אנחנו מפסיקות ללכת במעגלים סביב הזנב של עצמנו. אנחנו מגדירות את היעד ואת נקודת המוצא, וככה הדרך נפתחת בפנינו בקלות.</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המצפן הזה מתלבש על ארבעת השבועות שלנו.</a:t>
            </a:r>
          </a:p>
          <a:p>
            <a:r>
              <a:t>הערב אנחנו עושות את שתי הקצוות: החזון, לאן אנחנו רוצות להגיע, ונקודת המוצא, מאיפה אנחנו מתחילות.</a:t>
            </a:r>
          </a:p>
          <a:p>
            <a:r>
              <a:t>בלייב 2 נגדיר את המטרות, כמה ומתי, וניתן לכל שקל טווח ותפקיד: מה נשאר בעו"ש, מה בקרן החירום, מה לטווח קצר ומה לטווח ארוך.</a:t>
            </a:r>
          </a:p>
          <a:p>
            <a:r>
              <a:t>בלייב 3 נכיר את עולם ההשקעות מלמעלה, בדגש על שוק ההון, ונבין מה ההבדל בין מוצר מנוהל להשקעה עצמאית.</a:t>
            </a:r>
          </a:p>
          <a:p>
            <a:r>
              <a:t>ובלייב 4 עושות ביחד את הצעד הראשון: ההשקעה הראשונה, והוראת קבע.</a:t>
            </a:r>
          </a:p>
          <a:p>
            <a:r>
              <a:t>כשעושים את זה לפי הסדר, הכל נהיה פשוט והגיוני.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אנחנו רגילות לקרוא לעצמנו "ריאליות". מסתכלות על המציאות כמו שהיא היום, ומציבות רק את המטרה הבאה, הקרובה, הבטוחה.</a:t>
            </a:r>
          </a:p>
          <a:p>
            <a:r>
              <a:t>אבל בשיטת המצפן מתחילות מהסוף. קודם החלום: מה באמת הייתי רוצה להשיג בחיים. אחר כך המטרות, שהן המיילסטונים לאורך הדרך. ורק אז האסטרטגיה, שתיקח אותנו אליהם בדרך הכי מהירה ופשוטה.</a:t>
            </a:r>
          </a:p>
          <a:p>
            <a:r>
              <a:t>כי את לא יכולה לתת לכסף תפקיד ברור, אם את עוד לא יודעת מה את רוצה שהוא יעשה בשבילך.</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לחלום בגדול זה לא מותרות. זה כלי עבודה.</a:t>
            </a:r>
          </a:p>
          <a:p>
            <a:r>
              <a:t>ברגע שהמצפן שלנו מכוון לעבר חלום רחוק ומרגש באמת, התודעה נפתחת, וכל מיני הזדמנויות ואפשרויות שאפילו לא הכרנו מתחילות להיפתח.</a:t>
            </a:r>
          </a:p>
          <a:p>
            <a:r>
              <a:t>ומי שחולמת בקטן? מגיעה בדיוק לקטן. אף אחת לא מגיעה רחוק יותר מהחלום שלה. אז הערב אנחנו מגדילות את החלום.</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לאט)</a:t>
            </a:r>
          </a:p>
          <a:p>
            <a:r>
              <a:t>נפוליון היל. מה שהמוח יכול לתפוס ולהאמין בו, הוא יכול להשיג.</a:t>
            </a:r>
          </a:p>
          <a:p>
            <a:r>
              <a:t>שימו לב לשתי המילים: לתפוס, וגם להאמין. לחלום זה חצי מהדרך. החצי השני הוא להאמין שזה אפשרי. ושני החצאים האלה הם בדיוק מה שאנחנו עושות הערב.</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 משפט שאני רוצה שתיקחי איתך מעכשיו לכל הליווי, וגם לכל החיים שאחריו.</a:t>
            </a:r>
          </a:p>
          <a:p>
            <a:r>
              <a:t>אפשרי בעולם, אפשרי עבורך.</a:t>
            </a:r>
          </a:p>
          <a:p>
            <a:r>
              <a:t>אם מישהו אחר הצליח להשיג את זה, גם את יכולה. השאלה היא אף פעם לא "האם". השאלה היא רק מהם הצעדים והדרך, כדי שתשיגי את זה גם את.</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כותבים חלום כזה? שלושה כללים פשוטים.</a:t>
            </a:r>
          </a:p>
          <a:p>
            <a:r>
              <a:t>כלל ראשון: להיות ספציפית. חלום שאת יכולה באמת לראות בעיני רוחך, להרגיש אותו מתגשם, לתאר מה קורה סביבך. ברגע שאת מפעילה את כל החושים, התודעה כבר מתחילה לחפש דרכים לגרום לזה לקרות.</a:t>
            </a:r>
          </a:p>
          <a:p>
            <a:r>
              <a:t>כלל שני: בזמן הווה ובחיוב. לא "שאני לא אפחד מכסף". התת-מודע לא יודע להפריד בין שלילי לחיובי. זה כמו שאגיד לך: אל תחשבי על פיל סגול. מה עלה לך בראש? (חיוך) אז כותבות: "אני מסתכלת על החשבון שלי ומרגישה ביטחון ושלווה".</a:t>
            </a:r>
          </a:p>
          <a:p>
            <a:r>
              <a:t>כלל שלישי: רק מה שחשוב לך באמת. לא מה שאמא שלך רוצה, לא מה שחברה שלך עשתה. הבדיקה: כשאת כותבת את זה, משהו בבטן זז? זה נכנס.</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אשתף אתכן באחד שהיה לי:</a:t>
            </a:r>
          </a:p>
          <a:p>
            <a:r>
              <a:t>"אני בחופשה בתאילנד. הכסף עובד עבורי. אני לא צריכה לעבוד החודש, כי אני יודעת שהמשכורת כבר נכנסת לי לחשבון. אני יודעת שהכסף להשקעות יורד אוטומטית. ואני יודעת שהכסף שאני מרוויחה הוא כסף שמח, שעוזר לאנשים אחרים להתקדם ולמצות את הפוטנציאל שלהם."</a:t>
            </a:r>
          </a:p>
          <a:p>
            <a:r>
              <a:t>רואות? אין שם מספר אחד. יש רגע. ותזכרי: הכסף הוא אף פעם לא המטרה. הוא האמצעי שלנו להשיג את המטרות שלנו.</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טוני רובינס: הצבת מטרות היא הצעד הראשון בהפיכת הבלתי נראה לנראה.</a:t>
            </a:r>
          </a:p>
          <a:p>
            <a:r>
              <a:t>כל עוד החלום בראש, הוא בלתי נראה. ברגע שכתבת אותו, הוא התחיל להיות אמיתי.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לוח חזון? במוח שלנו יש מערכת סינון שנקראת RAS. מכל אלפי הדברים שקורים סביבנו בכל רגע, היא מחליטה מה נכנס למודעות ומה לא.</a:t>
            </a:r>
          </a:p>
          <a:p>
            <a:r>
              <a:t>מכירות את זה שקונות רכב לבן, ופתאום כל הכביש מלא ברכבים לבנים? הם תמיד היו שם. פשוט עכשיו המוח יודע מה לחפש.</a:t>
            </a:r>
          </a:p>
          <a:p>
            <a:r>
              <a:t>לוח חזון עושה בדיוק את זה. מה שאת רואה כל יום, המוח מתחיל לחפש. וככל שהחלום יותר ממשי ומוחשי, כך קל יותר לתת-מודע שלנו להגדיר אותו כמשהו שכבר קרה.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והלוח שלך כבר מחכה לך באזור האישי. החלומות שכתבת, ולכל חלום אפשר ליצור בלחיצה הדמיה של הרגע עצמו, ב-AI.</a:t>
            </a:r>
          </a:p>
          <a:p>
            <a:r>
              <a:t>מי שכבר עשתה את זה בשאלון ההכנה: מעולה. עכשיו התפקיד שלך הוא להסתכל עליו. כל בוקר, דקה.</a:t>
            </a:r>
          </a:p>
          <a:p>
            <a:r>
              <a:t>מי שעוד לא: הערב, מיד אחרי הלייב, לפני השינה. מגיע לך ללכת לישון עם התמונה הזאת בראש.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בואו נעשה את זה ביחד. 60 שניות.</a:t>
            </a:r>
          </a:p>
          <a:p>
            <a:r>
              <a:t>שבי נוח. עצמי עיניים אם נוח לך. נשימה עמוקה.</a:t>
            </a:r>
          </a:p>
          <a:p>
            <a:r>
              <a:t>תבחרי חלום אחד. איפה את? מה את רואה סביבך? מי איתך? מה את שומעת?</a:t>
            </a:r>
          </a:p>
          <a:p>
            <a:r>
              <a:t>ומה את מרגישה בגוף? בכתפיים, בבטן, בנשימה.</a:t>
            </a:r>
          </a:p>
          <a:p>
            <a:r>
              <a:t>הכסף כבר עשה את שלו. את פשוט שם. (שקט, 5 שניות)</a:t>
            </a:r>
          </a:p>
          <a:p>
            <a:r>
              <a:t>תחזיקי את התחושה הזאת. ולאט, פקחי עיניים.</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חלום אחד, משפט אחד, בזמן הווה. (להקריא 5-6 בהתלהבות, לשקף מילה מכל אחת)</a:t>
            </a:r>
          </a:p>
          <a:p>
            <a:r>
              <a:t>וואו. תסתכלו על הצ'אט הזה רגע.</a:t>
            </a:r>
          </a:p>
          <a:p>
            <a:r>
              <a:t>ועכשיו השאלה האמיתית: אם החלום כל כך ברור, ואם כולנו רוצות להגיע אליו, מה עוצר אותנו?</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בואו נחזור לשאלה. אלה משפטים שכתבתן לי בשבועות האחרונים. תקראו אותם רגע:</a:t>
            </a:r>
          </a:p>
          <a:p>
            <a:r>
              <a:t>"יש לי סכום כסף ואני לא יודעת איפה לשים אותו."</a:t>
            </a:r>
          </a:p>
          <a:p>
            <a:r>
              <a:t>"מרוויחים יפה ועדיין חיים בפחד ממחסור."</a:t>
            </a:r>
          </a:p>
          <a:p>
            <a:r>
              <a:t>"נתחיל בזה שאני קלולס בכל עולם המושגים."</a:t>
            </a:r>
          </a:p>
          <a:p/>
          <a:p>
            <a:r>
              <a:t>רואות מה משותף לכל המשפטים האלה?</a:t>
            </a:r>
          </a:p>
          <a:p>
            <a:r>
              <a:t>אף אחת מכן לא אמרה "אין לי כסף".</a:t>
            </a:r>
          </a:p>
          <a:p>
            <a:r>
              <a:t>הכסף נמצא שם, אתן עובדות קשה ומביאות אותו הביתה.</a:t>
            </a:r>
          </a:p>
          <a:p>
            <a:r>
              <a:t>הבעיה היא לא הכסף, הבעיה היא שהתנועה שלו נעצרה, ויחד איתה נעלם השקט שלכן.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רוב האמהות בטוחות שהן לא מתחילות להשקיע פשוט כי חסר להן ידע.</a:t>
            </a:r>
          </a:p>
          <a:p>
            <a:r>
              <a:t>הן חושבות שהן צריכות לקרוא עוד עשרה ספרים או לעשות תואר בכלכלה כדי להזיז את הכסף מהעו"ש.</a:t>
            </a:r>
          </a:p>
          <a:p>
            <a:r>
              <a:t>וזו הטעות הכי גדולה שמחזיקה אותנו מאחור.</a:t>
            </a:r>
          </a:p>
          <a:p/>
          <a:p>
            <a:r>
              <a:t>האמת היא שידע יש היום בכל פינה ברשת, בחינם ובכמויות מטורפות.</a:t>
            </a:r>
          </a:p>
          <a:p>
            <a:r>
              <a:t>אם ידע היה הבעיה, כולנו היינו משקיעות מזמן.</a:t>
            </a:r>
          </a:p>
          <a:p>
            <a:r>
              <a:t>מה שמחזיק את הכסף שלך במקום, קפוא בבנק, זה לא מה שאת יודעת או לא יודעת.</a:t>
            </a:r>
          </a:p>
          <a:p>
            <a:r>
              <a:t>זה מה שאת מאמינה.</a:t>
            </a:r>
          </a:p>
          <a:p>
            <a:r>
              <a:t>זה לא ידע, זה הכל עניין של תודעה.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אפילו אלברט איינשטיין, הגאון הכי גדול של המאה הקודמת, אמר שדמיון חשוב יותר מידע.</a:t>
            </a:r>
          </a:p>
          <a:p>
            <a:r>
              <a:t>הוא הבין שידע הוא מוגבל למה שאנחנו כבר מכירים, בזמן שהדמיון מקיף את כל מה שיהיה אי פעם.</a:t>
            </a:r>
          </a:p>
          <a:p/>
          <a:p>
            <a:r>
              <a:t>ידע כספי יבש לא יגרום לך לפתוח חשבון השקעות בערב.</a:t>
            </a:r>
          </a:p>
          <a:p>
            <a:r>
              <a:t>מה שיגרום לך לפעול זו היכולת שלך לדמיין את החלום שראית לפני רגע בעיניים עצומות, ולהאמין באמת שזה אפשרי עבורך.</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זה בכלל תודעה כשאנחנו מדברות על כסף?</a:t>
            </a:r>
          </a:p>
          <a:p>
            <a:r>
              <a:t>תודעה מוגדרת כמכלול המחשבות, האמונות, הרגשות והערכים שמעצבים את הדרך שבה אנו תופסים את העולם, מקבלים החלטות ופועלים בחיים.</a:t>
            </a:r>
          </a:p>
          <a:p/>
          <a:p>
            <a:r>
              <a:t>זה בעצם המשקפיים שדרכם את מסתכלת על המציאות שלך.</a:t>
            </a:r>
          </a:p>
          <a:p>
            <a:r>
              <a:t>אם המשקפיים האלה אומרים לך שכסף הוא מסובך ומפחיד, כל פעולה שתעשי תרגיש כמו טיפוס על האוורסט.</a:t>
            </a:r>
          </a:p>
          <a:p>
            <a:r>
              <a:t>ושינוי בתודעה מוביל לשינוי בחיים, כי המציאות שבחוץ היא השתקפות של מה שאנחנו מחזיקות בפנים.</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להבין איך זה עובד בגוף ובחשבון הבנק שלנו, בואו נכיר את הכלי הראשון שהוא מעגל התודעה.</a:t>
            </a:r>
          </a:p>
          <a:p>
            <a:r>
              <a:t>זה מעגל סגור שמזין את עצמו כל הזמן, והוא מורכב מארבע תחנות קבועות.</a:t>
            </a:r>
          </a:p>
          <a:p/>
          <a:p>
            <a:r>
              <a:t>המחשבות שלנו מייצרות את הרגשות שלנו.</a:t>
            </a:r>
          </a:p>
          <a:p>
            <a:r>
              <a:t>הרגשות האלה מנהלים את הפעולות שאנחנו עושות, או לא עושות.</a:t>
            </a:r>
          </a:p>
          <a:p>
            <a:r>
              <a:t>הפעולות מייצרות את התוצאות בשטח.</a:t>
            </a:r>
          </a:p>
          <a:p>
            <a:r>
              <a:t>והתוצאות האלה חוזרות ומחזקות את המחשבה המקורית שלנו.</a:t>
            </a:r>
          </a:p>
          <a:p>
            <a:r>
              <a:t>המעגל הזה אף פעם לא עומד במקום, הוא תמיד בתנועה, כמו ספירלה שנוסעת למעלה או למטה.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נראית הספירלה שיורדת למטה, כי רובנו היינו שם.</a:t>
            </a:r>
          </a:p>
          <a:p>
            <a:r>
              <a:t>הכל מתחיל במחשבה, "אני לא מבינה בכספים וזה גדול עליי".</a:t>
            </a:r>
          </a:p>
          <a:p>
            <a:r>
              <a:t>המחשבה הזו מייצרת בגוף רגש חזק של פחד, לחץ קל בחזה או סתם רצון לברוח.</a:t>
            </a:r>
          </a:p>
          <a:p/>
          <a:p>
            <a:r>
              <a:t>בגלל הרגש הזה, הפעולה שלנו היא פשוט לא לעשות כלום, להשאיר את הכסף בעו"ש ולסגור את המסך של הבנק.</a:t>
            </a:r>
          </a:p>
          <a:p>
            <a:r>
              <a:t>התוצאה היא שהכסף לא עובד ונשחק בשקט בגלל האינפלציה.</a:t>
            </a:r>
          </a:p>
          <a:p>
            <a:r>
              <a:t>כשאנחנו רואות את זה, המחשבה המקורית שלנו מקבלת אישור חזק, "רואה? אמרתי לך שזה לא בשבילי".</a:t>
            </a:r>
          </a:p>
          <a:p>
            <a:r>
              <a:t>וככה הספירלה ממשיכה לרדת ולסגור עלינו.</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תראו את הקסם הבא, אותה אישה, אותו מצב בחשבון הבנק, ואותו רגע בדיוק.</a:t>
            </a:r>
          </a:p>
          <a:p>
            <a:r>
              <a:t>הדבר היחיד שמשתנה זו המחשבה הראשונה, אנחנו פשוט מוסיפות מילה אחת קטנה, "אני לא יודעת איך לעשות את זה, עדיין".</a:t>
            </a:r>
          </a:p>
          <a:p/>
          <a:p>
            <a:r>
              <a:t>המילה הקטנה הזו משנה את הרגש מפחד משתק לסקרנות בריאה.</a:t>
            </a:r>
          </a:p>
          <a:p>
            <a:r>
              <a:t>הפעולה הבאה היא כבר לא הימנעות, אלא צעד קטן, כמו לפתוח את הפורטל שלנו או לעשות שיחת טלפון אחת פשוטה.</a:t>
            </a:r>
          </a:p>
          <a:p>
            <a:r>
              <a:t>התוצאה היא שפתאום גילית שיש לך כסף אבוד, וזה מייצר מחשבה חדשה ומעצימה, "רגע, אני לגמרי מסוגלת לעשות את זה".</a:t>
            </a:r>
          </a:p>
          <a:p>
            <a:r>
              <a:t>החלפנו את כיוון הספירלה בלי ללמוד תואר שלם, רק בזכות שינוי מחשבתי אחד.</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אתן מכירות את זה שיש רגעים ביום שאנחנו מרגישות שאנחנו יכולות הכל?</a:t>
            </a:r>
          </a:p>
          <a:p>
            <a:r>
              <a:t>שאנחנו טורפות את העולם, פותרות בעיות ומנהלות את הכל כמו מנכ"ליות על?</a:t>
            </a:r>
          </a:p>
          <a:p>
            <a:r>
              <a:t>ופתאום, שעתיים אחרי, מישהו אומר מילה לא במקום ואנחנו מתכנסות פנימה ומרגישות ששום דבר לא יצליח לנו?</a:t>
            </a:r>
          </a:p>
          <a:p/>
          <a:p>
            <a:r>
              <a:t>לא, את לא משוגעת, זה קורה לכולם!</a:t>
            </a:r>
          </a:p>
          <a:p>
            <a:r>
              <a:t>זה מה שנקרא סולם התודעה.</a:t>
            </a:r>
          </a:p>
          <a:p>
            <a:r>
              <a:t>המודל הזה מבוסס על ספרו של דיוויד הוקינס, עוצמה מול כוח, והוא מסביר בדיוק למה אנחנו חווים את התנודות הקיצוניות האלה ביום יום שלנו.</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הסולם הזה מחלק את החיים שלנו לשני אזורים ברורים מאוד.</a:t>
            </a:r>
          </a:p>
          <a:p>
            <a:r>
              <a:t>בחלק התחתון של הסולם נמצאים הרגשות הנמוכים שמכווצים אותנו, כמו בושה, אשמה על הוצאות, פחד מהעתיד או ספק בעצמנו.</a:t>
            </a:r>
          </a:p>
          <a:p>
            <a:r>
              <a:t>הרגשות האלה לוקחים מאיתנו אנרגיה ומשאירים אותנו במצב הישרדותי.</a:t>
            </a:r>
          </a:p>
          <a:p/>
          <a:p>
            <a:r>
              <a:t>נקודת המפנה, קו פרשת המים האמיתי על הסולם, היא האומץ.</a:t>
            </a:r>
          </a:p>
          <a:p>
            <a:r>
              <a:t>ברגע שאנחנו מגייסות אומץ, אנחנו מתחילות לעלות לחלק העליון של הסולם, שם נמצאים רגשות גבוהים כמו קבלה, אהבה, שמחה והכרת תודה.</a:t>
            </a:r>
          </a:p>
          <a:p>
            <a:r>
              <a:t>שם האנרגיה שלנו מתרחבת, וככל שהתדר שלנו גבוה יותר, אנחנו מסוגלות לראות הזדמנויות ומושכות שפע ואפשרויות חדשות לחיים שלנו.</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אנחנו לוקחות את הכלי הזה ומיישמות אותו בכסף שלנו?</a:t>
            </a:r>
          </a:p>
          <a:p>
            <a:r>
              <a:t>קודם כל מפתחות מודעות ושואלות את עצמנו, איפה אני נמצאת על הסולם ברגע זה?</a:t>
            </a:r>
          </a:p>
          <a:p/>
          <a:p>
            <a:r>
              <a:t>כלל הזהב שלי בכסף הוא פשוט, לעולם לא מקבלים החלטות כספיות כשאתן נמצאות בחלק התחתון של הסולם.</a:t>
            </a:r>
          </a:p>
          <a:p>
            <a:r>
              <a:t>כשאתן בפחד או באשמה, אתן לא קונות, לא מוכרות ולא עושות שום שינוי בחשבון הבנק.</a:t>
            </a:r>
          </a:p>
          <a:p>
            <a:r>
              <a:t>אם אתן למטה, עוצרים הכל ועושים משהו שמקפיץ אתכן למעלה, שמים שיר טוב, יוצאים להליכה קצרה, נושמים עמוק או מדברים עם חברה.</a:t>
            </a:r>
          </a:p>
          <a:p>
            <a:r>
              <a:t>ורק כשעליתן למעלה, לתדר של אומץ וקבלה, רק אז אתן פועלות ומקבלות החלטות.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נעשה תרגיל קטן ומהיר.</a:t>
            </a:r>
          </a:p>
          <a:p>
            <a:r>
              <a:t>תכתבו לי עכשיו בצ'אט, בכנות מוחלטת, איפה אתן מרגישות שאתן נמצאות על הסולם ברגע הזה ממש?</a:t>
            </a:r>
          </a:p>
          <a:p/>
          <a:p>
            <a:r>
              <a:t>(להקריא 4-5 תשובות מהצ'אט)</a:t>
            </a:r>
          </a:p>
          <a:p>
            <a:r>
              <a:t>תראו כמה עוצמה יש בזה.</a:t>
            </a:r>
          </a:p>
          <a:p>
            <a:r>
              <a:t>רק לפני חצי שעה אולי הייתן לחוצות ועמוסות, ופתאום אנחנו יחד, לומדות ומשתפות, והתדר של כולנו עולה.</a:t>
            </a:r>
          </a:p>
          <a:p>
            <a:r>
              <a:t>ראיתן כמה אנחנו זזות רק משעה אחת ביחד?</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חוץ מהסולם, יש לנו שלושה סוגי תודעה קבועים שמנהלים את מערכת היחסים שלנו עם העולם ועם כסף.</a:t>
            </a:r>
          </a:p>
          <a:p>
            <a:r>
              <a:t>הראשונה היא תודעה הישרדותית, שכל מטרתה היא רק לגמור את החודש ולשרוד את היום, היא שואלת תמיד "למה זה קורה לי?".</a:t>
            </a:r>
          </a:p>
          <a:p/>
          <a:p>
            <a:r>
              <a:t>השנייה היא תודעה תגובתית, אנחנו לא יוזמות כלום אלא פשוט מחכות לראות מה יקרה ומגיבות למציאות בשטח.</a:t>
            </a:r>
          </a:p>
          <a:p>
            <a:r>
              <a:t>והשלישית היא התודעה היזמית, היא מתחילה מהסוף, מגדירה מטרה ברורה ואז בונה את הדרך אליה.</a:t>
            </a:r>
          </a:p>
          <a:p>
            <a:r>
              <a:t>תודעה יזמית שואלת תמיד "מה אני בוחרת לעשות עם המצב הזה?".</a:t>
            </a:r>
          </a:p>
          <a:p>
            <a:r>
              <a:t>המעבר לתודעה יזמית הוא לא אופי מולד, הוא פשוט החלטה יומיומית.</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תורכן, תכתבו לי בצ'אט את המספר שלכן, אחת, שתיים או שלוש.</a:t>
            </a:r>
          </a:p>
          <a:p>
            <a:r>
              <a:t>איפה את נמצאת עם הכסף שלך רוב הזמן בחיים?</a:t>
            </a:r>
          </a:p>
          <a:p/>
          <a:p>
            <a:r>
              <a:t>(להקריא 4-5 תשובות מהצ'אט)</a:t>
            </a:r>
          </a:p>
          <a:p>
            <a:r>
              <a:t>(אם רואים הרבה "2":) הרבה שתיים.</a:t>
            </a:r>
          </a:p>
          <a:p>
            <a:r>
              <a:t>וזה בסדר גמור, זה בדיוק המקום שממנו אנחנו מתחילות לצעוד הערב.</a:t>
            </a:r>
          </a:p>
          <a:p>
            <a:r>
              <a:t>העובדה שאתן כאן אומרת שבחרתן להפעיל את התודעה היזמית שלכן ולעבור למושב הנהגת.</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לבסס את התודעה היזמית שלנו, אנחנו חייבות לנקות את המנוע מאמונות ישנות שמחבלות לנו בדרך.</a:t>
            </a:r>
          </a:p>
          <a:p>
            <a:r>
              <a:t>מתחת לתודעה ההישרדותית והתגובתית יושבות ארבע אמונות חוסר עמוקות מאוד.</a:t>
            </a:r>
          </a:p>
          <a:p/>
          <a:p>
            <a:r>
              <a:t>אלה אמונות שירשנו מההורים, מהסביבה או משמועות ששמענו לאורך השנים סביב שולחן השבת.</a:t>
            </a:r>
          </a:p>
          <a:p>
            <a:r>
              <a:t>אם לא נעצור עכשיו כדי לזהות אותן ולנפץ אותן, אנחנו נעביר אותן בצורה לא מודעת גם לילדים שלנו.</a:t>
            </a:r>
          </a:p>
          <a:p>
            <a:r>
              <a:t>בואו נעבור עליהן אחת אחת, ונראה איך אנחנו מפרקות אותן מהיסוד.</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אין מספיק כסף? בואו נסתכל רגע על המציאות בעיניים. רק כאן בישראל יושבים בעו"ש מאות מיליארדי שקלים. לא בהשקעות, לא בתוכניות חיסכון, פשוט בעו"ש. הכסף קיים, הוא לא חסר, הוא פשוט שוכב במקום הלא נכון ולא זז. עכשיו, תהיו כנות איתי ותכתבו לי בצ'אט מספר מ-1 עד 5: כמה המחשבה הזו שאין מספיק מנהלת אתכן ביום יום?</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לא בסדר להרוויח שפע? בואו נפתח את זה. כסף הוא בסך הכל אנרגיה, הוא דלתות שנפתחות, הוא אפשרויות לבחור מה לעשות עם הזמן שלנו. הוא לא הופך מישהו לטוב או לרע, הכל תלוי בידיים של מי הוא נמצא. אמא שיש לה שקט כלכלי היא אמא שיש לה הרבה יותר פניות לתת, לילדים שלה ולעולם כולו. תכתבו לי בצ'אט מ-1 עד 5 כמה המחשבה הזו יושבת אצלכן.</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לא בטוח? בואו נהפוך רגע את השאלה הזו ונבין מה באמת לא בטוח. להשקיע את הכסף במנגנונים יציבים ומנוהלים היטב לאורך שנים, או להשאיר אותו בעו"ש כשהאינפלציה שוחקת אותו בכל יום בשקט, בלי שאף אחת רואה? הסיכון הכי גדול שלנו הוא פשוט לא לעשות כלום. תדרגו לי בצ'אט מ-1 עד 5 כמה האמונה הזו עוצרת אתכן מלהתקדם.</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והנה האמונה הכי נפוצה, שמרתי אותה לסוף כי היא הכי חזקה: אני לא יכולה. תשמעו לי טוב, יש הבדל עצום בין לא יכולה לבין לא יודעת איך, עדיין. לא יכולה זה קיר אטום. לא יודעת איך זו פשוט דלת שעוד לא פתחנו. כל מה שנעשה בליווי הזה הוא לקחת אתכן יד ביד וללמוד את האיך. תדרגו לי 1 עד 5 בצ'אט כמה המשפט הזה עובר לכן בראש. (להקריא כמה תשובות מהצ'אט).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והנה הכלי המעשי הראשון שלכן להערב, והוא פשוט בצורה מטורפת. בכל פעם שעולה לכן בראש המשפט 'אי אפשר' עם סימן קריאה, תורידו אותו ותשימו במקומו סימן שאלה. 'איך אפשר?'. המוח שלנו הוא מכונה מדהימה למציאת פתרונות, אבל הוא נדלק רק כשאנחנו שואלות אותו שאלות. הכרזה כמו 'אי אפשר' פשוט מכבה אותו בשנייה. ברגע שתשאלו 'איך אפשר', המוח יתחיל לחפש הוכחות של נשים אחרות שכבר עשו את זה. ואם זה אפשרי עבורן, זה אפשרי גם בשבילכן.</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אנחנו עוברות לתרגול מעשי בזום. אנחנו נחלק אתכן לזוגות בחדרים לשמונה דקות, ארבע דקות לכל אחת. הראשונה מקריאה את האמונה שהיא דירגה הכי גבוה, בלי להסביר ובלי להתנצל. בת הזוג שלה עושה רק דבר אחד: הופכת את זה לשאלת 'איך אפשר' ומביאה הוכחה אחת של מישהי שהיא מכירה שכן עשתה את זה. ואז מתחלפות. מה שאתן לא רואות על עצמכן, החברה מולכן תראה בשנייה. יאללה, צאו לדרך. (להפעיל חדרים וטיימר ל-8 דקות).</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ברוכות השבות מהחדרים. אני רוצה לשמוע מכן בצ'אט: מי קיבלה מהפרטנרית שלה הוכחה שהפתיעה אותה וגרמה לה לחשוב אחרת? תכתבו לי מילה אחת בצ'אט. (להקריא 4-5 תשובות מהצ'אט). מעולה, זה בדיוק הקסם של הוכחות במציאות. כשיש הוכחה, המוח מבין שזה אמיתי ומתחיל לעבוד בשבילנו.</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השלמנו עכשיו שלושה כלים חזקים של תודעה. את מעגל התודעה שמראה איך המחשבה שלנו מייצרת את התוצאה בשטח, את סולם התודעה שמבוסס על 'עוצמה מול כוח' ומראה לנו שאומץ הוא נקודת המפנה, ואת כלי ה'איך אפשר'. אתן לא צריכות לשנן שום דבר. התפקיד שלכן מעכשיו הוא רק להיות בהקשבה ובמודעות לכלים האלה ביום יום. פשוט להסתכל על העולם ועל ההחלטות שלכן מתוך עיניים אחרות.</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לסיים את החלק הזה ולהשאיר אתכן עם הציטוט המדהים של וויין דייר: 'כשאת משנה את הדרך שבה את מסתכלת על הדברים, הדברים שאת מסתכלת עליהם משתנים.' זה הבסיס להכל. שינוי התפיסה שלכן הוא זה שישנה בסופו של דבר את המציאות הפיננסית שלכן. ועם הראש הפתוח והתודעה הזו, אנחנו יורדות עכשיו לקרקע, לחלק המעשי של הלייב הערב: נקודת המוצא שלנו.</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אחרי שעפנו גבוה והרשינו לעצמנו לחלום הכי רחוק שיש, אני רוצה שנחזיר את הרגליים אל הקרקע.</a:t>
            </a:r>
          </a:p>
          <a:p>
            <a:r>
              <a:t>עכשיו אנחנו נוחתות ישר לתוך המספרים, עם ראש פתוח וסקרנות של ילדות.</a:t>
            </a:r>
          </a:p>
          <a:p>
            <a:r>
              <a:t>השלב הבא במצפן שלנו הוא נקודת המוצא, וכאן בדיוק מתחיל הקסם האמיתי של העשייה.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תחשבו על זה רגע, כשאתן נכנסות לאוטו ומפעילות וויז, הדבר הראשון שהוא עושה זה לחפש קליטת GPS.</a:t>
            </a:r>
          </a:p>
          <a:p>
            <a:r>
              <a:t>הוא לא יכול לבנות לכן שום מסלול בעולם, גם אם היעד שלכן סופר ברור, אם הוא לא יודע איפה אתן עומדות כרגע.</a:t>
            </a:r>
          </a:p>
          <a:p>
            <a:r>
              <a:t>החזון שכתבנו עכשיו הוא נקודת היעד שלנו על המפה, ונקודת המוצא היא המיקום הנוכחי שלכן.</a:t>
            </a:r>
          </a:p>
          <a:p>
            <a:r>
              <a:t>בלי להבין בדיוק איפה אנחנו עומדות, אנחנו פשוט נמשיך להסתובב במעגלים ולא נגיע לשום מקום.</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להבין בדיוק איפה אנחנו נמצאות בדרך הזו, אנחנו צריכות להכיר בסך הכל שני מספרים פשוטים.</a:t>
            </a:r>
          </a:p>
          <a:p>
            <a:r>
              <a:t>המספר הראשון הוא השווי הנקי שלנו, שזה אומר כמה כסף ורכוש יש לנו כרגע.</a:t>
            </a:r>
          </a:p>
          <a:p>
            <a:r>
              <a:t>המספר השני הוא התזרים, שזה בעצם התנועה של הכסף שלנו בכל חודש מחדש.</a:t>
            </a:r>
          </a:p>
          <a:p>
            <a:r>
              <a:t>תחשבו על השווי הנקי כמו צילום סטילס קפוא של הרגע, ועל התזרים כמו סרט וידאו שמראה את החיים עצמם בתנועה.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בואו נתחיל עם המספר הראשון, השווי הנקי שלכן.</a:t>
            </a:r>
          </a:p>
          <a:p>
            <a:r>
              <a:t>זה פשוט מאוד, כל מה שיש לי בעולם, פחות כל מה שאני חייבת למישהו אחר.</a:t>
            </a:r>
          </a:p>
          <a:p>
            <a:r>
              <a:t>בלי דרמות, בלי שיפוטיות, ובלי להרגיש רע או טוב עם מה שיוצא.</a:t>
            </a:r>
          </a:p>
          <a:p>
            <a:r>
              <a:t>זה לא מבחן בבית ספר וזה לא אומר עליכן כלום, זו פשוט נקודה מדויקת על המפה שלכן שממנה אנחנו מתחילות לצעוד.</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אנחנו בעצם אוספות לתוך הסל שלנו כדי לחשב את השווי הנקי הזה?</a:t>
            </a:r>
          </a:p>
          <a:p>
            <a:r>
              <a:t>אנחנו בודקות את העו"ש, הפיקדונות בבנק, קרנות כספיות, תיקי השקעות, קופות גמל להשקעה וקרנות השתלמות.</a:t>
            </a:r>
          </a:p>
          <a:p>
            <a:r>
              <a:t>הפעם אנחנו מכניסות לחשבון גם את שווי הדירה שלכן, ומהצד השני מפחיתות את המשכנתא, הלוואות או מינוס אם יש.</a:t>
            </a:r>
          </a:p>
          <a:p>
            <a:r>
              <a:t>את התיק הפנסיוני שלכן אנחנו לא נוגעות ומכניסות עכשיו, כי לו תהיה פגישה נפרדת ומדויקת משלו עם הסוכן בהמשך הדרך.</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כאן מגיע השלב המרגש שאני הכי אוהבת, ציד האוצרות האמיתי שלנו.</a:t>
            </a:r>
          </a:p>
          <a:p>
            <a:r>
              <a:t>אנחנו הולכות לחפש את כל הכסף שלא ידעתן שקיים או שפשוט שכחתן ממנו בפינה.</a:t>
            </a:r>
          </a:p>
          <a:p>
            <a:r>
              <a:t>זה יכול להיות חיסכון ישן שפתחתן פעם, קופות ממקומות עבודה קודמים, כספים שיושבים בהר הכסף, או ביטוחים כפולים שמשלמים עליהם סתם.</a:t>
            </a:r>
          </a:p>
          <a:p>
            <a:r>
              <a:t>[[עדי: הדוגמה האישית שלך, כסף שגילית שהיה לך.]]</a:t>
            </a:r>
          </a:p>
          <a:p>
            <a:r>
              <a:t>אני רוצה שתרגישו את ההתרגשות הזו בגוף, כי כמעט תמיד אנחנו מגלות שם הפתעות מטורפות שמשנות את התמונה.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המטרה העיקרית שלנו לשבוע הקרוב היא פשוט להרים את הכסף הזה מהרצפה.</a:t>
            </a:r>
          </a:p>
          <a:p>
            <a:r>
              <a:t>אנחנו הולכות לאסוף את כל הנתונים של נקודת המוצא שלכן, לעשות סדר, ולאתר את כל הכספים האבודים האלה.</a:t>
            </a:r>
          </a:p>
          <a:p>
            <a:r>
              <a:t>אתן תראו שברגע שמתחילים להסתכל למספרים בעיניים, פתאום דברים מתחילים לזוז לטובתנו בצורה אוטומטית.</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אנחנו עוברות למספר השני שלנו, וזה התזרים שלכן.</a:t>
            </a:r>
          </a:p>
          <a:p>
            <a:r>
              <a:t>התזרים הוא המשוואה הפשוטה של כמה כסף נכנס לעומת כמה כסף יוצא, ומה שנשאר לכן ביד בסוף.</a:t>
            </a:r>
          </a:p>
          <a:p>
            <a:r>
              <a:t>החיבור למצפן שלנו פה הוא קריטי, כי מה שנשאר הוא הדלק האמיתי של האסטרטגיה שלנו.</a:t>
            </a:r>
          </a:p>
          <a:p>
            <a:r>
              <a:t>בלי להשאיר עודף חודשי קבוע, פשוט לא יהיה לנו עם מה לכוון למטרות הגדולות והחלומות שכתבנו קודם.</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בגלל זה אני תמיד אומרת שהתזרים הוא המלך האמיתי של המשחק הזה.</a:t>
            </a:r>
          </a:p>
          <a:p>
            <a:r>
              <a:t>אפשר להחזיק בנכסים ובשווי נקי סופר יפה, ועדיין לחיות בלחץ ובחרדה קיומית בכל חודש מחדש.</a:t>
            </a:r>
          </a:p>
          <a:p>
            <a:r>
              <a:t>זוכרות את המשפט שאחת מכן כתבה? "מרוויחים יפה ועדיין חיים בפחד ממחסור." זה בדיוק זה.</a:t>
            </a:r>
          </a:p>
          <a:p>
            <a:r>
              <a:t>התזרים החודשי הוא מה שקובע איך תרגישו ביום-יום שלכן, והוא זה שמביא את השקט הנפשי האמיתי.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להקריא לכן ציטוט חזק של רוברט קיוסאקי שילווה אותנו:</a:t>
            </a:r>
          </a:p>
          <a:p>
            <a:r>
              <a:t>"לא משנה כמה כסף את מרוויחה. משנה כמה כסף את שומרת."</a:t>
            </a:r>
          </a:p>
          <a:p>
            <a:r>
              <a:t>תחשבו על זה רגע, זו בדיוק נקודת המפנה שלכן מהרגע הזה והלאה.</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הכלל הראשון והכי חשוב שלנו בתזרים הוא פשוט מאוד, אנחנו תמיד מסיימות בפלוס.</a:t>
            </a:r>
          </a:p>
          <a:p>
            <a:r>
              <a:t>מינוס בעו"ש הוא ההלוואה הכי יקרה והכי גרועה שיש לכן בבנק, ואף אחד לא שואל אתכן או מבקש אישור לפני שהוא נותן לכן אותה ומחייב אתכן בריבית מטורפת.</a:t>
            </a:r>
          </a:p>
          <a:p>
            <a:r>
              <a:t>המטרה שלנו היא שכל חודש מהיום והלאה ייגמר בפלוס, גם אם הוא פלוס קטן בהתחלה, העיקר שהוא ירוק וחיובי.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כשאני אומרת ניהול תקציב, אני ממש לא מתכוונת לדיאטה חנוקה או לעונש.</a:t>
            </a:r>
          </a:p>
          <a:p>
            <a:r>
              <a:t>ניהול תקציב הוא בסך הכל קביעת סדרי עדיפויות, להחליט מראש לאן הכסף שלכן הולך במקום לתהות לאן הוא נעלם בסוף החודש.</a:t>
            </a:r>
          </a:p>
          <a:p>
            <a:r>
              <a:t>כל הוצאה מקבלת תווית אחת: חובה, חשוב לי, נחמד שיש, או נזילה.</a:t>
            </a:r>
          </a:p>
          <a:p>
            <a:r>
              <a:t>חשוב לי זה לגיטימי לגמרי, מותר לכן ליהנות ולבזבז, אבל אנחנו נעצור את הנזילה, את כל הכסף שנעלם לכן מהידיים בלי שבכלל בחרתן בו.</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והכלל שמחבר את הכל: קודם אני.</a:t>
            </a:r>
          </a:p>
          <a:p>
            <a:r>
              <a:t>ההשקעה החודשית שלכן לעתיד היא ההוצאה הקבועה הראשונה שיורדת מהחשבון, ולא מה שנשאר במקרה בסוף החודש.</a:t>
            </a:r>
          </a:p>
          <a:p>
            <a:r>
              <a:t>מי שחוסכת רק את מה שנשאר לה, בדרך כלל מגלה שלא נשאר לה כלום.</a:t>
            </a:r>
          </a:p>
          <a:p>
            <a:r>
              <a:t>מי שמשלמת לעצמה קודם, פשוט מתאימה את שאר ההוצאות שלה מסביב לזה בקלות ובלי לחץ, וזה בדיוק הגשר לכדים שנלמד בהמשך.</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בנג'מין פרנקלין: היזהרו מהוצאות קטנות. נזילה קטנה תטביע ספינה גדולה.</a:t>
            </a:r>
          </a:p>
          <a:p>
            <a:r>
              <a:t>לא ההוצאות הגדולות מטביעות אותנו. אותן אנחנו רואות. אלה הקטנות, שיורדות בשקט כל חודש, בלי שאף אחת בחרה בהן.</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וכאן נכנס אוטם הנזילות. תחנה אחרי תחנה: מנויים ששכחנו מהם, סלולר, אינטרנט וטלוויזיה, עמלות בנק, כרטיסי אשראי, ביטוחים כפולים.</a:t>
            </a:r>
          </a:p>
          <a:p>
            <a:r>
              <a:t>ולכל תחנה מחכה לך בכלי תסריט שיחה מוכן, מילה במילה. לא צריך להמציא מה להגיד לנציג. מתקשרות, קוראות, חוסכות. ברבע שעה לתחנה.</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זה נראה במספרים. דוגמה, להמחשה:</a:t>
            </a:r>
          </a:p>
          <a:p>
            <a:r>
              <a:t>70 ₪ באינטרנט. 100 ₪ בתוסף בסלולר שאף אחת לא צריכה. 50 ₪ מנוי שלא משתמשים בו. 30 ₪ עמלות בנק. 150 ₪ ביטוח כפול.</a:t>
            </a:r>
          </a:p>
          <a:p>
            <a:r>
              <a:t>יחד: 400 ₪ בחודש. 4,800 ₪ בשנה.</a:t>
            </a:r>
          </a:p>
          <a:p>
            <a:r>
              <a:t>ועכשיו תראו מה קורה כשה-400 ₪ האלה לא נוזלים, אלא עובדים בשבילנו: 20 שנה, בתשואה ממוצעת של 7% בשנה, זה יותר מ-200,000 ₪. להמחשה בלבד, בלי הבטחת תשואה. אבל תסתכלו על המספר הזה. רק מלסתום נזילות.</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ויש עוד מקום שכסף מחכה לך בו: החזר מס.</a:t>
            </a:r>
          </a:p>
          <a:p>
            <a:r>
              <a:t>אפשר לבקש החזר עד 6 שנים אחורה. הרבה שכירות פשוט לא יודעות לבדוק אם מגיע להן.</a:t>
            </a:r>
          </a:p>
          <a:p>
            <a:r>
              <a:t>בכלי יש שאלון קצר, כמה שאלות של כן ולא, והוא יגיד לך אם כדאי לבדוק. ואם כן, נחבר אותך לאיש מקצוע שעושה את זה.</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בואו נראה בדיוק איך עושים את זה. סרטון של שתי דקות, תחנה אחרי תחנה.</a:t>
            </a:r>
          </a:p>
          <a:p>
            <a:r>
              <a:t>(לשתף מסך עם הסרטון "נקודת המוצא - סרטון המשימה" משולחן העבודה. בזום לסמן Share sound ו-Optimize for video clip.)</a:t>
            </a:r>
          </a:p>
          <a:p>
            <a:r>
              <a:t>(אחרי הסרטון:) הסרטון מחכה לכן גם באזור האישי, בראש הכלי, למי שרוצה לראות שוב.</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הכי חשוב: כל מה שדיברנו עליו הוא לא אוסף של משימות מפוזרות. זה כלי אחד, באזור האישי, מהערב: "נקודת המוצא".</a:t>
            </a:r>
          </a:p>
          <a:p>
            <a:r>
              <a:t>שישה שלבים, אחד אחרי השני: השווי הנקי, התזרים, סדרי העדיפויות, אוטם הנזילות, החזר מס, ובסוף, נקודת המוצא שלי. כל שלב נשמר, אפשר לעצור ולחזור.</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בשלב השני של הכלי מתחברות ל-RiseUp. היא מחברת את החשבון והאשראי ומראה לך לאן כל שקל הולך, בלי אקסלים.</a:t>
            </a:r>
          </a:p>
          <a:p>
            <a:r>
              <a:t>דרך הלינק שבכלי: חודש ראשון חינם, ועוד חודשיים ב-50%.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והמטרה עד הלייב הבא: שלושה מספרים.</a:t>
            </a:r>
          </a:p>
          <a:p>
            <a:r>
              <a:t>השווי הנקי שלי. התזרים שלי. וכמה כבר חסכתי בחודש.</a:t>
            </a:r>
          </a:p>
          <a:p>
            <a:r>
              <a:t>לא "בערך", לא "נראה לי". מספר מוגדר וברור: "הוזלתי באינטרנט 70 ₪, בסלולר עוד 100 ₪". את שלושת המספרים האלה מביאות ללייב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הימור קטן בצ'אט: כמה את מנחשת שתמצאי עד יום שני הבא? תחושת בטן, מספר אחד. (להקריא כמה)</a:t>
            </a:r>
          </a:p>
          <a:p>
            <a:r>
              <a:t>שמרתי. ביום שני הבא נבדוק מי הפתיעה את עצמה.</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מארק טוויין: הסוד להתקדם הוא להתחיל.</a:t>
            </a:r>
          </a:p>
          <a:p>
            <a:r>
              <a:t>ואתן כבר התחלתן. הערב.</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היה לנו הערב?</a:t>
            </a:r>
          </a:p>
          <a:p>
            <a:r>
              <a:t>התחלנו בשיטת המצפן: חזון, מטרות, נקודת מוצא, אסטרטגיה.</a:t>
            </a:r>
          </a:p>
          <a:p>
            <a:r>
              <a:t>פתחנו את החזון ואת לוח החזון.</a:t>
            </a:r>
          </a:p>
          <a:p>
            <a:r>
              <a:t>קיבלנו שלושה כלים לחיים: מעגל התודעה, סולם התודעה, ו"איך אפשר?".</a:t>
            </a:r>
          </a:p>
          <a:p>
            <a:r>
              <a:t>וירדנו לקרקע: נקודת המוצא, השווי הנקי והתזרים.</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a:t>
            </a:r>
          </a:p>
          <a:p>
            <a:r>
              <a:t>אחת, לוח החזון. מי שעוד לא, הערב.</a:t>
            </a:r>
          </a:p>
          <a:p>
            <a:r>
              <a:t>שתיים, הכלי "נקודת המוצא", ששת השלבים.</a:t>
            </a:r>
          </a:p>
          <a:p>
            <a:r>
              <a:t>ושלוש, מגיעות ללייב הבא עם שלושה מספרים: שווי נקי, תזרים, וכמה חסכתי.</a:t>
            </a:r>
          </a:p>
          <a:p>
            <a:r>
              <a:t>אל תחפשי מושלם. בעיפרון, ותזוזי.</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וכמו שפתחנו, נסגור. מילה אחת בצ'אט: מה את לוקחת מהערב.</a:t>
            </a:r>
          </a:p>
          <a:p>
            <a:r>
              <a:t>(להקריא את כולן, לאט. זה השיא. אם חוזרת מילה מהפתיחה, לעצור עליה: "תראי מה קרה למילה שלך הערב.")</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2, מגינות.</a:t>
            </a:r>
          </a:p>
          <a:p>
            <a:r>
              <a:t>אחרי שיש חלום, ויש נקודת מוצא, נותנות לכל שקל תפקיד וטווח: המטרות עם סכום ותאריך, קרן החירום, ומה הולך לטווח קצר ומה לטווח ארוך.</a:t>
            </a:r>
          </a:p>
          <a:p>
            <a:r>
              <a:t>נתראה ביום שני. גאה בכל אחת מכן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0.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9.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ברוכות</a:t>
            </a:r>
          </a:p>
          <a:p>
            <a:pPr algn="r" rtl="1">
              <a:lnSpc>
                <a:spcPct val="95000"/>
              </a:lnSpc>
            </a:pPr>
            <a:r>
              <a:rPr sz="6959" b="1" lang="he-IL">
                <a:solidFill>
                  <a:srgbClr val="EF55A5"/>
                </a:solidFill>
                <a:latin typeface="Heebo"/>
                <a:ea typeface="Heebo"/>
                <a:cs typeface="Heebo"/>
              </a:rPr>
              <a:t>הבאות!!!</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1 · ממפות · החזון, התודעה ונקודת המוצא</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pic>
        <p:nvPicPr>
          <p:cNvPr id="4" name="Picture 3" descr="s27_light.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מילה אחת בצ'אט</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איך את הערב?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לייב 1 · ממפות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שיטת המצפן: איך מגיעים לכל מקום</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התודעה: למה לחלום בגדול זה כלי, ואיך מרחיבים אותה</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נקודת המוצא: אוספות את כל הכסף שלך לסל אחד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644396"/>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לאן אנחנו הולכות</a:t>
            </a:r>
          </a:p>
        </p:txBody>
      </p:sp>
      <p:sp>
        <p:nvSpPr>
          <p:cNvPr id="6" name="TextBox 5"/>
          <p:cNvSpPr txBox="1"/>
          <p:nvPr/>
        </p:nvSpPr>
        <p:spPr>
          <a:xfrm>
            <a:off x="5334000" y="2101596"/>
            <a:ext cx="5943600" cy="2045208"/>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בסוף החודש הזה:</a:t>
            </a:r>
          </a:p>
          <a:p>
            <a:pPr algn="r" rtl="1">
              <a:lnSpc>
                <a:spcPct val="110000"/>
              </a:lnSpc>
            </a:pPr>
            <a:r>
              <a:rPr sz="4320" b="1" lang="he-IL">
                <a:solidFill>
                  <a:srgbClr val="EF55A5"/>
                </a:solidFill>
                <a:latin typeface="Heebo"/>
                <a:ea typeface="Heebo"/>
                <a:cs typeface="Heebo"/>
              </a:rPr>
              <a:t>הוראת קבע להשקעות,</a:t>
            </a:r>
          </a:p>
          <a:p>
            <a:pPr algn="r" rtl="1">
              <a:lnSpc>
                <a:spcPct val="110000"/>
              </a:lnSpc>
            </a:pPr>
            <a:r>
              <a:rPr sz="4320" b="1" lang="he-IL">
                <a:solidFill>
                  <a:srgbClr val="EF55A5"/>
                </a:solidFill>
                <a:latin typeface="Heebo"/>
                <a:ea typeface="Heebo"/>
                <a:cs typeface="Heebo"/>
              </a:rPr>
              <a:t>וכל הכסף הפנוי מחולק נכון.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הדרך לשם · 4 שבועות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המסע של הליווי</a:t>
            </a:r>
          </a:p>
        </p:txBody>
      </p:sp>
      <p:sp>
        <p:nvSpPr>
          <p:cNvPr id="6" name="Rounded Rectangle 5"/>
          <p:cNvSpPr/>
          <p:nvPr/>
        </p:nvSpPr>
        <p:spPr>
          <a:xfrm>
            <a:off x="8839200" y="2209800"/>
            <a:ext cx="2438400" cy="32766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10546080" y="2438400"/>
            <a:ext cx="487680" cy="48768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680" b="1" lang="he-IL">
                <a:solidFill>
                  <a:srgbClr val="191A2E"/>
                </a:solidFill>
                <a:latin typeface="Heebo"/>
                <a:ea typeface="Heebo"/>
                <a:cs typeface="Heebo"/>
              </a:rPr>
              <a:t>1</a:t>
            </a:r>
          </a:p>
        </p:txBody>
      </p:sp>
      <p:sp>
        <p:nvSpPr>
          <p:cNvPr id="8" name="TextBox 7"/>
          <p:cNvSpPr txBox="1"/>
          <p:nvPr/>
        </p:nvSpPr>
        <p:spPr>
          <a:xfrm>
            <a:off x="9083040" y="3124200"/>
            <a:ext cx="1950720" cy="457200"/>
          </a:xfrm>
          <a:prstGeom prst="rect">
            <a:avLst/>
          </a:prstGeom>
          <a:noFill/>
        </p:spPr>
        <p:txBody>
          <a:bodyPr wrap="square" lIns="0" rIns="0" tIns="0" bIns="0" anchor="t">
            <a:spAutoFit/>
          </a:bodyPr>
          <a:lstStyle/>
          <a:p>
            <a:pPr algn="r" rtl="1">
              <a:lnSpc>
                <a:spcPct val="115000"/>
              </a:lnSpc>
            </a:pPr>
            <a:r>
              <a:rPr sz="1320" b="1" lang="he-IL">
                <a:solidFill>
                  <a:srgbClr val="6B6B7B"/>
                </a:solidFill>
                <a:latin typeface="Heebo"/>
                <a:ea typeface="Heebo"/>
                <a:cs typeface="Heebo"/>
              </a:rPr>
              <a:t>שבוע 1</a:t>
            </a:r>
          </a:p>
        </p:txBody>
      </p:sp>
      <p:sp>
        <p:nvSpPr>
          <p:cNvPr id="9" name="TextBox 8"/>
          <p:cNvSpPr txBox="1"/>
          <p:nvPr/>
        </p:nvSpPr>
        <p:spPr>
          <a:xfrm>
            <a:off x="9083040" y="3429000"/>
            <a:ext cx="1950720" cy="533400"/>
          </a:xfrm>
          <a:prstGeom prst="rect">
            <a:avLst/>
          </a:prstGeom>
          <a:noFill/>
        </p:spPr>
        <p:txBody>
          <a:bodyPr wrap="square" lIns="0" rIns="0" tIns="0" bIns="0" anchor="t">
            <a:spAutoFit/>
          </a:bodyPr>
          <a:lstStyle/>
          <a:p>
            <a:pPr algn="r" rtl="1">
              <a:lnSpc>
                <a:spcPct val="115000"/>
              </a:lnSpc>
            </a:pPr>
            <a:r>
              <a:rPr sz="2760" b="1" lang="he-IL">
                <a:solidFill>
                  <a:srgbClr val="191A2E"/>
                </a:solidFill>
                <a:latin typeface="Heebo"/>
                <a:ea typeface="Heebo"/>
                <a:cs typeface="Heebo"/>
              </a:rPr>
              <a:t>ממפות</a:t>
            </a:r>
          </a:p>
        </p:txBody>
      </p:sp>
      <p:sp>
        <p:nvSpPr>
          <p:cNvPr id="10" name="TextBox 9"/>
          <p:cNvSpPr txBox="1"/>
          <p:nvPr/>
        </p:nvSpPr>
        <p:spPr>
          <a:xfrm>
            <a:off x="9083040" y="4038600"/>
            <a:ext cx="1950720" cy="13716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כמה כסף יש לי היום, ואיפה עוד מסתתר.</a:t>
            </a:r>
          </a:p>
        </p:txBody>
      </p:sp>
      <p:sp>
        <p:nvSpPr>
          <p:cNvPr id="11" name="Rounded Rectangle 10"/>
          <p:cNvSpPr/>
          <p:nvPr/>
        </p:nvSpPr>
        <p:spPr>
          <a:xfrm>
            <a:off x="6202680" y="2209800"/>
            <a:ext cx="2438400" cy="32766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7909560" y="2438400"/>
            <a:ext cx="487680" cy="48768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680" b="1" lang="he-IL">
                <a:solidFill>
                  <a:srgbClr val="191A2E"/>
                </a:solidFill>
                <a:latin typeface="Heebo"/>
                <a:ea typeface="Heebo"/>
                <a:cs typeface="Heebo"/>
              </a:rPr>
              <a:t>2</a:t>
            </a:r>
          </a:p>
        </p:txBody>
      </p:sp>
      <p:sp>
        <p:nvSpPr>
          <p:cNvPr id="13" name="TextBox 12"/>
          <p:cNvSpPr txBox="1"/>
          <p:nvPr/>
        </p:nvSpPr>
        <p:spPr>
          <a:xfrm>
            <a:off x="6446520" y="3124200"/>
            <a:ext cx="1950720" cy="457200"/>
          </a:xfrm>
          <a:prstGeom prst="rect">
            <a:avLst/>
          </a:prstGeom>
          <a:noFill/>
        </p:spPr>
        <p:txBody>
          <a:bodyPr wrap="square" lIns="0" rIns="0" tIns="0" bIns="0" anchor="t">
            <a:spAutoFit/>
          </a:bodyPr>
          <a:lstStyle/>
          <a:p>
            <a:pPr algn="r" rtl="1">
              <a:lnSpc>
                <a:spcPct val="115000"/>
              </a:lnSpc>
            </a:pPr>
            <a:r>
              <a:rPr sz="1320" b="1" lang="he-IL">
                <a:solidFill>
                  <a:srgbClr val="6B6B7B"/>
                </a:solidFill>
                <a:latin typeface="Heebo"/>
                <a:ea typeface="Heebo"/>
                <a:cs typeface="Heebo"/>
              </a:rPr>
              <a:t>שבוע 2</a:t>
            </a:r>
          </a:p>
        </p:txBody>
      </p:sp>
      <p:sp>
        <p:nvSpPr>
          <p:cNvPr id="14" name="TextBox 13"/>
          <p:cNvSpPr txBox="1"/>
          <p:nvPr/>
        </p:nvSpPr>
        <p:spPr>
          <a:xfrm>
            <a:off x="6446520" y="3429000"/>
            <a:ext cx="1950720" cy="533400"/>
          </a:xfrm>
          <a:prstGeom prst="rect">
            <a:avLst/>
          </a:prstGeom>
          <a:noFill/>
        </p:spPr>
        <p:txBody>
          <a:bodyPr wrap="square" lIns="0" rIns="0" tIns="0" bIns="0" anchor="t">
            <a:spAutoFit/>
          </a:bodyPr>
          <a:lstStyle/>
          <a:p>
            <a:pPr algn="r" rtl="1">
              <a:lnSpc>
                <a:spcPct val="115000"/>
              </a:lnSpc>
            </a:pPr>
            <a:r>
              <a:rPr sz="2760" b="1" lang="he-IL">
                <a:solidFill>
                  <a:srgbClr val="191A2E"/>
                </a:solidFill>
                <a:latin typeface="Heebo"/>
                <a:ea typeface="Heebo"/>
                <a:cs typeface="Heebo"/>
              </a:rPr>
              <a:t>מגינות</a:t>
            </a:r>
          </a:p>
        </p:txBody>
      </p:sp>
      <p:sp>
        <p:nvSpPr>
          <p:cNvPr id="15" name="TextBox 14"/>
          <p:cNvSpPr txBox="1"/>
          <p:nvPr/>
        </p:nvSpPr>
        <p:spPr>
          <a:xfrm>
            <a:off x="6446520" y="4038600"/>
            <a:ext cx="1950720" cy="13716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לכל שקל טווח ותפקיד: עו"ש, קרן חירום, טווח קצר, טווח ארוך.</a:t>
            </a:r>
          </a:p>
        </p:txBody>
      </p:sp>
      <p:sp>
        <p:nvSpPr>
          <p:cNvPr id="16" name="Rounded Rectangle 15"/>
          <p:cNvSpPr/>
          <p:nvPr/>
        </p:nvSpPr>
        <p:spPr>
          <a:xfrm>
            <a:off x="3566160" y="2209800"/>
            <a:ext cx="2438400" cy="32766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5273040" y="2438400"/>
            <a:ext cx="487680" cy="48768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680" b="1" lang="he-IL">
                <a:solidFill>
                  <a:srgbClr val="191A2E"/>
                </a:solidFill>
                <a:latin typeface="Heebo"/>
                <a:ea typeface="Heebo"/>
                <a:cs typeface="Heebo"/>
              </a:rPr>
              <a:t>3</a:t>
            </a:r>
          </a:p>
        </p:txBody>
      </p:sp>
      <p:sp>
        <p:nvSpPr>
          <p:cNvPr id="18" name="TextBox 17"/>
          <p:cNvSpPr txBox="1"/>
          <p:nvPr/>
        </p:nvSpPr>
        <p:spPr>
          <a:xfrm>
            <a:off x="3810000" y="3124200"/>
            <a:ext cx="1950720" cy="457200"/>
          </a:xfrm>
          <a:prstGeom prst="rect">
            <a:avLst/>
          </a:prstGeom>
          <a:noFill/>
        </p:spPr>
        <p:txBody>
          <a:bodyPr wrap="square" lIns="0" rIns="0" tIns="0" bIns="0" anchor="t">
            <a:spAutoFit/>
          </a:bodyPr>
          <a:lstStyle/>
          <a:p>
            <a:pPr algn="r" rtl="1">
              <a:lnSpc>
                <a:spcPct val="115000"/>
              </a:lnSpc>
            </a:pPr>
            <a:r>
              <a:rPr sz="1320" b="1" lang="he-IL">
                <a:solidFill>
                  <a:srgbClr val="6B6B7B"/>
                </a:solidFill>
                <a:latin typeface="Heebo"/>
                <a:ea typeface="Heebo"/>
                <a:cs typeface="Heebo"/>
              </a:rPr>
              <a:t>שבוע 3</a:t>
            </a:r>
          </a:p>
        </p:txBody>
      </p:sp>
      <p:sp>
        <p:nvSpPr>
          <p:cNvPr id="19" name="TextBox 18"/>
          <p:cNvSpPr txBox="1"/>
          <p:nvPr/>
        </p:nvSpPr>
        <p:spPr>
          <a:xfrm>
            <a:off x="3810000" y="3429000"/>
            <a:ext cx="1950720" cy="533400"/>
          </a:xfrm>
          <a:prstGeom prst="rect">
            <a:avLst/>
          </a:prstGeom>
          <a:noFill/>
        </p:spPr>
        <p:txBody>
          <a:bodyPr wrap="square" lIns="0" rIns="0" tIns="0" bIns="0" anchor="t">
            <a:spAutoFit/>
          </a:bodyPr>
          <a:lstStyle/>
          <a:p>
            <a:pPr algn="r" rtl="1">
              <a:lnSpc>
                <a:spcPct val="115000"/>
              </a:lnSpc>
            </a:pPr>
            <a:r>
              <a:rPr sz="2760" b="1" lang="he-IL">
                <a:solidFill>
                  <a:srgbClr val="191A2E"/>
                </a:solidFill>
                <a:latin typeface="Heebo"/>
                <a:ea typeface="Heebo"/>
                <a:cs typeface="Heebo"/>
              </a:rPr>
              <a:t>מחלקות</a:t>
            </a:r>
          </a:p>
        </p:txBody>
      </p:sp>
      <p:sp>
        <p:nvSpPr>
          <p:cNvPr id="20" name="TextBox 19"/>
          <p:cNvSpPr txBox="1"/>
          <p:nvPr/>
        </p:nvSpPr>
        <p:spPr>
          <a:xfrm>
            <a:off x="3810000" y="4038600"/>
            <a:ext cx="1950720" cy="13716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עולם ההשקעות ושוק ההון. מנוהל או עצמאי.</a:t>
            </a:r>
          </a:p>
        </p:txBody>
      </p:sp>
      <p:sp>
        <p:nvSpPr>
          <p:cNvPr id="21" name="Rounded Rectangle 20"/>
          <p:cNvSpPr/>
          <p:nvPr/>
        </p:nvSpPr>
        <p:spPr>
          <a:xfrm>
            <a:off x="929640" y="2209800"/>
            <a:ext cx="2438400" cy="32766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2636520" y="2438400"/>
            <a:ext cx="487680" cy="48768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680" b="1" lang="he-IL">
                <a:solidFill>
                  <a:srgbClr val="191A2E"/>
                </a:solidFill>
                <a:latin typeface="Heebo"/>
                <a:ea typeface="Heebo"/>
                <a:cs typeface="Heebo"/>
              </a:rPr>
              <a:t>4</a:t>
            </a:r>
          </a:p>
        </p:txBody>
      </p:sp>
      <p:sp>
        <p:nvSpPr>
          <p:cNvPr id="23" name="TextBox 22"/>
          <p:cNvSpPr txBox="1"/>
          <p:nvPr/>
        </p:nvSpPr>
        <p:spPr>
          <a:xfrm>
            <a:off x="1173480" y="3124200"/>
            <a:ext cx="1950720" cy="457200"/>
          </a:xfrm>
          <a:prstGeom prst="rect">
            <a:avLst/>
          </a:prstGeom>
          <a:noFill/>
        </p:spPr>
        <p:txBody>
          <a:bodyPr wrap="square" lIns="0" rIns="0" tIns="0" bIns="0" anchor="t">
            <a:spAutoFit/>
          </a:bodyPr>
          <a:lstStyle/>
          <a:p>
            <a:pPr algn="r" rtl="1">
              <a:lnSpc>
                <a:spcPct val="115000"/>
              </a:lnSpc>
            </a:pPr>
            <a:r>
              <a:rPr sz="1320" b="1" lang="he-IL">
                <a:solidFill>
                  <a:srgbClr val="6B6B7B"/>
                </a:solidFill>
                <a:latin typeface="Heebo"/>
                <a:ea typeface="Heebo"/>
                <a:cs typeface="Heebo"/>
              </a:rPr>
              <a:t>שבוע 4</a:t>
            </a:r>
          </a:p>
        </p:txBody>
      </p:sp>
      <p:sp>
        <p:nvSpPr>
          <p:cNvPr id="24" name="TextBox 23"/>
          <p:cNvSpPr txBox="1"/>
          <p:nvPr/>
        </p:nvSpPr>
        <p:spPr>
          <a:xfrm>
            <a:off x="1173480" y="3429000"/>
            <a:ext cx="1950720" cy="533400"/>
          </a:xfrm>
          <a:prstGeom prst="rect">
            <a:avLst/>
          </a:prstGeom>
          <a:noFill/>
        </p:spPr>
        <p:txBody>
          <a:bodyPr wrap="square" lIns="0" rIns="0" tIns="0" bIns="0" anchor="t">
            <a:spAutoFit/>
          </a:bodyPr>
          <a:lstStyle/>
          <a:p>
            <a:pPr algn="r" rtl="1">
              <a:lnSpc>
                <a:spcPct val="115000"/>
              </a:lnSpc>
            </a:pPr>
            <a:r>
              <a:rPr sz="2760" b="1" lang="he-IL">
                <a:solidFill>
                  <a:srgbClr val="191A2E"/>
                </a:solidFill>
                <a:latin typeface="Heebo"/>
                <a:ea typeface="Heebo"/>
                <a:cs typeface="Heebo"/>
              </a:rPr>
              <a:t>מפעילות</a:t>
            </a:r>
          </a:p>
        </p:txBody>
      </p:sp>
      <p:sp>
        <p:nvSpPr>
          <p:cNvPr id="25" name="TextBox 24"/>
          <p:cNvSpPr txBox="1"/>
          <p:nvPr/>
        </p:nvSpPr>
        <p:spPr>
          <a:xfrm>
            <a:off x="1173480" y="4038600"/>
            <a:ext cx="1950720" cy="13716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הצעד הראשון ביחד: ההשקעה הראשונה והוראת קבע.</a:t>
            </a:r>
          </a:p>
        </p:txBody>
      </p:sp>
      <p:sp>
        <p:nvSpPr>
          <p:cNvPr id="26" name="TextBox 25"/>
          <p:cNvSpPr txBox="1"/>
          <p:nvPr/>
        </p:nvSpPr>
        <p:spPr>
          <a:xfrm>
            <a:off x="914400" y="5715000"/>
            <a:ext cx="10363200" cy="381000"/>
          </a:xfrm>
          <a:prstGeom prst="rect">
            <a:avLst/>
          </a:prstGeom>
          <a:noFill/>
        </p:spPr>
        <p:txBody>
          <a:bodyPr wrap="square" lIns="0" rIns="0" tIns="0" bIns="0" anchor="t">
            <a:spAutoFit/>
          </a:bodyPr>
          <a:lstStyle/>
          <a:p>
            <a:pPr algn="r" rtl="1">
              <a:lnSpc>
                <a:spcPct val="115000"/>
              </a:lnSpc>
            </a:pPr>
            <a:r>
              <a:rPr sz="1439" b="0" lang="he-IL">
                <a:solidFill>
                  <a:srgbClr val="6B6B7B"/>
                </a:solidFill>
                <a:latin typeface="Heebo"/>
                <a:ea typeface="Heebo"/>
                <a:cs typeface="Heebo"/>
              </a:rPr>
              <a:t>לייב כל יום שני ב-20:00 · באזור האישי צעד אחד ביום · פגישה אישית עם סוכן פנסיוני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ולכן הערב: ממפות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כדי לחלק נכון, קודם צריך לדעת כמה יש</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סדר מעשי</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כמה כסף יש לי, כסף אבוד שמחכה לי, ולפנות כסף להשקעות בהתנהלות נכונה.</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סדר מנטלי</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חזון שמושך קדימה, ותודעה שמאפשרת לפעול בלי פחד.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טעימה מלייב 2</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לכל שקל יש בית</a:t>
            </a:r>
          </a:p>
        </p:txBody>
      </p:sp>
      <p:sp>
        <p:nvSpPr>
          <p:cNvPr id="6" name="Rounded Rectangle 5"/>
          <p:cNvSpPr/>
          <p:nvPr/>
        </p:nvSpPr>
        <p:spPr>
          <a:xfrm>
            <a:off x="8846820" y="25146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עו"ש</a:t>
            </a:r>
          </a:p>
        </p:txBody>
      </p:sp>
      <p:sp>
        <p:nvSpPr>
          <p:cNvPr id="8" name="TextBox 7"/>
          <p:cNvSpPr txBox="1"/>
          <p:nvPr/>
        </p:nvSpPr>
        <p:spPr>
          <a:xfrm>
            <a:off x="912114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מה שצריך לחיים של החודש.</a:t>
            </a:r>
          </a:p>
        </p:txBody>
      </p:sp>
      <p:sp>
        <p:nvSpPr>
          <p:cNvPr id="9" name="Rounded Rectangle 8"/>
          <p:cNvSpPr/>
          <p:nvPr/>
        </p:nvSpPr>
        <p:spPr>
          <a:xfrm>
            <a:off x="6202680" y="25146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קרן חירום</a:t>
            </a:r>
          </a:p>
        </p:txBody>
      </p:sp>
      <p:sp>
        <p:nvSpPr>
          <p:cNvPr id="11" name="TextBox 10"/>
          <p:cNvSpPr txBox="1"/>
          <p:nvPr/>
        </p:nvSpPr>
        <p:spPr>
          <a:xfrm>
            <a:off x="647700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השקט: כמה חודשים של ביטחון.</a:t>
            </a:r>
          </a:p>
        </p:txBody>
      </p:sp>
      <p:sp>
        <p:nvSpPr>
          <p:cNvPr id="12" name="Rounded Rectangle 11"/>
          <p:cNvSpPr/>
          <p:nvPr/>
        </p:nvSpPr>
        <p:spPr>
          <a:xfrm>
            <a:off x="3558540" y="25146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טווח קצר</a:t>
            </a:r>
          </a:p>
        </p:txBody>
      </p:sp>
      <p:sp>
        <p:nvSpPr>
          <p:cNvPr id="14" name="TextBox 13"/>
          <p:cNvSpPr txBox="1"/>
          <p:nvPr/>
        </p:nvSpPr>
        <p:spPr>
          <a:xfrm>
            <a:off x="383286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מטרות של השנים הקרובות.</a:t>
            </a:r>
          </a:p>
        </p:txBody>
      </p:sp>
      <p:sp>
        <p:nvSpPr>
          <p:cNvPr id="15" name="Rounded Rectangle 14"/>
          <p:cNvSpPr/>
          <p:nvPr/>
        </p:nvSpPr>
        <p:spPr>
          <a:xfrm>
            <a:off x="914400" y="25146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טווח ארוך</a:t>
            </a:r>
          </a:p>
        </p:txBody>
      </p:sp>
      <p:sp>
        <p:nvSpPr>
          <p:cNvPr id="17" name="TextBox 16"/>
          <p:cNvSpPr txBox="1"/>
          <p:nvPr/>
        </p:nvSpPr>
        <p:spPr>
          <a:xfrm>
            <a:off x="118872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כל מה שלא צריך את שאר הבתים. הכסף שעובד בשבילך.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914400" y="1901952"/>
            <a:ext cx="10363200" cy="1834896"/>
          </a:xfrm>
          <a:prstGeom prst="rect">
            <a:avLst/>
          </a:prstGeom>
          <a:noFill/>
        </p:spPr>
        <p:txBody>
          <a:bodyPr wrap="square" lIns="0" rIns="0" tIns="0" bIns="0" anchor="t">
            <a:spAutoFit/>
          </a:bodyPr>
          <a:lstStyle/>
          <a:p>
            <a:pPr algn="r" rtl="1">
              <a:lnSpc>
                <a:spcPct val="110000"/>
              </a:lnSpc>
            </a:pPr>
            <a:r>
              <a:rPr sz="5759" b="1" lang="he-IL">
                <a:solidFill>
                  <a:srgbClr val="191A2E"/>
                </a:solidFill>
                <a:latin typeface="Heebo"/>
                <a:ea typeface="Heebo"/>
                <a:cs typeface="Heebo"/>
              </a:rPr>
              <a:t>כל אחת מתחילה</a:t>
            </a:r>
          </a:p>
          <a:p>
            <a:pPr algn="r" rtl="1">
              <a:lnSpc>
                <a:spcPct val="110000"/>
              </a:lnSpc>
            </a:pPr>
            <a:r>
              <a:rPr sz="5759" b="1" lang="he-IL">
                <a:solidFill>
                  <a:srgbClr val="EF55A5"/>
                </a:solidFill>
                <a:latin typeface="Heebo"/>
                <a:ea typeface="Heebo"/>
                <a:cs typeface="Heebo"/>
              </a:rPr>
              <a:t>מנקודה אחרת.</a:t>
            </a:r>
          </a:p>
        </p:txBody>
      </p:sp>
      <p:sp>
        <p:nvSpPr>
          <p:cNvPr id="5" name="TextBox 4"/>
          <p:cNvSpPr txBox="1"/>
          <p:nvPr/>
        </p:nvSpPr>
        <p:spPr>
          <a:xfrm>
            <a:off x="914400" y="3889248"/>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מי שעוד לא נכון לה להשקיע בשוק ההון, בונה עכשיו את כל התשתית, ומתחילה כשזה נכון לה. גם זו הצלחה של הליווי.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המעטפת שלך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אתן לא לבד באף שלב</a:t>
            </a:r>
          </a:p>
        </p:txBody>
      </p:sp>
      <p:sp>
        <p:nvSpPr>
          <p:cNvPr id="6" name="Rounded Rectangle 5"/>
          <p:cNvSpPr/>
          <p:nvPr/>
        </p:nvSpPr>
        <p:spPr>
          <a:xfrm>
            <a:off x="8846820" y="25146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לייב כל יום שני</a:t>
            </a:r>
          </a:p>
        </p:txBody>
      </p:sp>
      <p:sp>
        <p:nvSpPr>
          <p:cNvPr id="8" name="TextBox 7"/>
          <p:cNvSpPr txBox="1"/>
          <p:nvPr/>
        </p:nvSpPr>
        <p:spPr>
          <a:xfrm>
            <a:off x="9121140" y="37338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20:00, ארבעה שבועות ברצף. כל לייב מוקלט.</a:t>
            </a:r>
          </a:p>
        </p:txBody>
      </p:sp>
      <p:sp>
        <p:nvSpPr>
          <p:cNvPr id="9" name="Rounded Rectangle 8"/>
          <p:cNvSpPr/>
          <p:nvPr/>
        </p:nvSpPr>
        <p:spPr>
          <a:xfrm>
            <a:off x="6202680" y="25146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פגישה אישית</a:t>
            </a:r>
          </a:p>
        </p:txBody>
      </p:sp>
      <p:sp>
        <p:nvSpPr>
          <p:cNvPr id="11" name="TextBox 10"/>
          <p:cNvSpPr txBox="1"/>
          <p:nvPr/>
        </p:nvSpPr>
        <p:spPr>
          <a:xfrm>
            <a:off x="647700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בדיקה מעמיקה של המוצרים הפנסיונים, הביטוחים והחסכונות שלך, 1:1</a:t>
            </a:r>
          </a:p>
        </p:txBody>
      </p:sp>
      <p:sp>
        <p:nvSpPr>
          <p:cNvPr id="12" name="Rounded Rectangle 11"/>
          <p:cNvSpPr/>
          <p:nvPr/>
        </p:nvSpPr>
        <p:spPr>
          <a:xfrm>
            <a:off x="3558540" y="25146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יועץ השקעות</a:t>
            </a:r>
          </a:p>
        </p:txBody>
      </p:sp>
      <p:sp>
        <p:nvSpPr>
          <p:cNvPr id="14" name="TextBox 13"/>
          <p:cNvSpPr txBox="1"/>
          <p:nvPr/>
        </p:nvSpPr>
        <p:spPr>
          <a:xfrm>
            <a:off x="383286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מפגש על שוק ההון, עם שאלות ותשובות.</a:t>
            </a:r>
          </a:p>
        </p:txBody>
      </p:sp>
      <p:sp>
        <p:nvSpPr>
          <p:cNvPr id="15" name="Rounded Rectangle 14"/>
          <p:cNvSpPr/>
          <p:nvPr/>
        </p:nvSpPr>
        <p:spPr>
          <a:xfrm>
            <a:off x="914400" y="2514600"/>
            <a:ext cx="2430780" cy="3048000"/>
          </a:xfrm>
          <a:prstGeom prst="roundRect">
            <a:avLst>
              <a:gd name="adj" fmla="val 8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ריקאפ</a:t>
            </a:r>
          </a:p>
        </p:txBody>
      </p:sp>
      <p:sp>
        <p:nvSpPr>
          <p:cNvPr id="17" name="TextBox 16"/>
          <p:cNvSpPr txBox="1"/>
          <p:nvPr/>
        </p:nvSpPr>
        <p:spPr>
          <a:xfrm>
            <a:off x="118872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מפגש אחת לחודש 3 חודשים אחרי הסיום: איפה כל אחת, ואיך משמרים את כל מה שלמדנו בחיים עצמם.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TextBox 3"/>
          <p:cNvSpPr txBox="1"/>
          <p:nvPr/>
        </p:nvSpPr>
        <p:spPr>
          <a:xfrm>
            <a:off x="914400" y="2261235"/>
            <a:ext cx="10363200" cy="111633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זה אימון, לא מבחן.</a:t>
            </a:r>
          </a:p>
        </p:txBody>
      </p:sp>
      <p:sp>
        <p:nvSpPr>
          <p:cNvPr id="5" name="TextBox 4"/>
          <p:cNvSpPr txBox="1"/>
          <p:nvPr/>
        </p:nvSpPr>
        <p:spPr>
          <a:xfrm>
            <a:off x="914400" y="3529965"/>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בעיפרון. מהר. ביחד.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סבב היכרות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שם · עיסוק · ומשפט אחד: מה הביא אותך לפה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בין אם את חושבת שאת יכולה, ובין אם לא, את צודקת.</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הנרי פורד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914400" y="2108835"/>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שיטת המצפן</a:t>
            </a:r>
          </a:p>
        </p:txBody>
      </p:sp>
      <p:sp>
        <p:nvSpPr>
          <p:cNvPr id="5" name="TextBox 4"/>
          <p:cNvSpPr txBox="1"/>
          <p:nvPr/>
        </p:nvSpPr>
        <p:spPr>
          <a:xfrm>
            <a:off x="914400" y="2566035"/>
            <a:ext cx="10363200" cy="111633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אז מאיפה מתחילים?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אייקון.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8382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השיטה שאני עובדת לפיה בכל תחום בחיים</a:t>
            </a:r>
          </a:p>
        </p:txBody>
      </p:sp>
      <p:sp>
        <p:nvSpPr>
          <p:cNvPr id="7" name="TextBox 6"/>
          <p:cNvSpPr txBox="1"/>
          <p:nvPr/>
        </p:nvSpPr>
        <p:spPr>
          <a:xfrm>
            <a:off x="6096000" y="1143000"/>
            <a:ext cx="5181600" cy="6858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שיטת המצפן</a:t>
            </a:r>
          </a:p>
        </p:txBody>
      </p:sp>
      <p:sp>
        <p:nvSpPr>
          <p:cNvPr id="8" name="Oval 7"/>
          <p:cNvSpPr/>
          <p:nvPr/>
        </p:nvSpPr>
        <p:spPr>
          <a:xfrm>
            <a:off x="10850880" y="21336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9" name="TextBox 8"/>
          <p:cNvSpPr txBox="1"/>
          <p:nvPr/>
        </p:nvSpPr>
        <p:spPr>
          <a:xfrm>
            <a:off x="6096000" y="21183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חזון</a:t>
            </a:r>
          </a:p>
        </p:txBody>
      </p:sp>
      <p:sp>
        <p:nvSpPr>
          <p:cNvPr id="10" name="TextBox 9"/>
          <p:cNvSpPr txBox="1"/>
          <p:nvPr/>
        </p:nvSpPr>
        <p:spPr>
          <a:xfrm>
            <a:off x="6096000" y="25146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מה אני רוצה.</a:t>
            </a:r>
          </a:p>
        </p:txBody>
      </p:sp>
      <p:sp>
        <p:nvSpPr>
          <p:cNvPr id="11" name="Oval 10"/>
          <p:cNvSpPr/>
          <p:nvPr/>
        </p:nvSpPr>
        <p:spPr>
          <a:xfrm>
            <a:off x="10850880" y="31242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2" name="TextBox 11"/>
          <p:cNvSpPr txBox="1"/>
          <p:nvPr/>
        </p:nvSpPr>
        <p:spPr>
          <a:xfrm>
            <a:off x="6096000" y="31089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מטרות</a:t>
            </a:r>
          </a:p>
        </p:txBody>
      </p:sp>
      <p:sp>
        <p:nvSpPr>
          <p:cNvPr id="13" name="TextBox 12"/>
          <p:cNvSpPr txBox="1"/>
          <p:nvPr/>
        </p:nvSpPr>
        <p:spPr>
          <a:xfrm>
            <a:off x="6096000" y="35052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אבני הדרך שמקדמות אותי לשם.</a:t>
            </a:r>
          </a:p>
        </p:txBody>
      </p:sp>
      <p:sp>
        <p:nvSpPr>
          <p:cNvPr id="14" name="Oval 13"/>
          <p:cNvSpPr/>
          <p:nvPr/>
        </p:nvSpPr>
        <p:spPr>
          <a:xfrm>
            <a:off x="10850880" y="41148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5" name="TextBox 14"/>
          <p:cNvSpPr txBox="1"/>
          <p:nvPr/>
        </p:nvSpPr>
        <p:spPr>
          <a:xfrm>
            <a:off x="6096000" y="40995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נקודת מוצא</a:t>
            </a:r>
          </a:p>
        </p:txBody>
      </p:sp>
      <p:sp>
        <p:nvSpPr>
          <p:cNvPr id="16" name="TextBox 15"/>
          <p:cNvSpPr txBox="1"/>
          <p:nvPr/>
        </p:nvSpPr>
        <p:spPr>
          <a:xfrm>
            <a:off x="6096000" y="44958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מה יש לי היום, ומאיפה אני מתחילה.</a:t>
            </a:r>
          </a:p>
        </p:txBody>
      </p:sp>
      <p:sp>
        <p:nvSpPr>
          <p:cNvPr id="17" name="Oval 16"/>
          <p:cNvSpPr/>
          <p:nvPr/>
        </p:nvSpPr>
        <p:spPr>
          <a:xfrm>
            <a:off x="10850880" y="51054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8" name="TextBox 17"/>
          <p:cNvSpPr txBox="1"/>
          <p:nvPr/>
        </p:nvSpPr>
        <p:spPr>
          <a:xfrm>
            <a:off x="6096000" y="50901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אסטרטגיה</a:t>
            </a:r>
          </a:p>
        </p:txBody>
      </p:sp>
      <p:sp>
        <p:nvSpPr>
          <p:cNvPr id="19" name="TextBox 18"/>
          <p:cNvSpPr txBox="1"/>
          <p:nvPr/>
        </p:nvSpPr>
        <p:spPr>
          <a:xfrm>
            <a:off x="6096000" y="54864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איך אני מחברת בין מה שיש לי היום למטרות שלי, כדי להגיע לחזון.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2042160"/>
            <a:ext cx="10363200" cy="1554480"/>
          </a:xfrm>
          <a:prstGeom prst="rect">
            <a:avLst/>
          </a:prstGeom>
          <a:noFill/>
        </p:spPr>
        <p:txBody>
          <a:bodyPr wrap="square" lIns="0" rIns="0" tIns="0" bIns="0" anchor="t">
            <a:spAutoFit/>
          </a:bodyPr>
          <a:lstStyle/>
          <a:p>
            <a:pPr algn="r" rtl="1">
              <a:lnSpc>
                <a:spcPct val="110000"/>
              </a:lnSpc>
            </a:pPr>
            <a:r>
              <a:rPr sz="4800" b="1" lang="he-IL">
                <a:solidFill>
                  <a:srgbClr val="191A2E"/>
                </a:solidFill>
                <a:latin typeface="Heebo"/>
                <a:ea typeface="Heebo"/>
                <a:cs typeface="Heebo"/>
              </a:rPr>
              <a:t>מצפן לא אומר לך לאן ללכת.</a:t>
            </a:r>
          </a:p>
          <a:p>
            <a:pPr algn="r" rtl="1">
              <a:lnSpc>
                <a:spcPct val="110000"/>
              </a:lnSpc>
            </a:pPr>
            <a:r>
              <a:rPr sz="4800" b="1" lang="he-IL">
                <a:solidFill>
                  <a:srgbClr val="EF55A5"/>
                </a:solidFill>
                <a:latin typeface="Heebo"/>
                <a:ea typeface="Heebo"/>
                <a:cs typeface="Heebo"/>
              </a:rPr>
              <a:t>הוא נותן כיוון.</a:t>
            </a:r>
          </a:p>
        </p:txBody>
      </p:sp>
      <p:sp>
        <p:nvSpPr>
          <p:cNvPr id="5" name="TextBox 4"/>
          <p:cNvSpPr txBox="1"/>
          <p:nvPr/>
        </p:nvSpPr>
        <p:spPr>
          <a:xfrm>
            <a:off x="914400" y="374904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וכשיש כיוון, כל צעד הוא צעד נכון.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ארבעה לייבים, מצפן אחד</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המצפן על הליווי שלנו</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הערב: החזון ונקודת המוצא</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2: המטרות, ולכל שקל טווח ותפקיד</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3: עולם ההשקעות ושוק ההון. מנוהל או עצמאי</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4: הצעד הראשון ביחד, והוראת קבע</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1-חזון.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החזון</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מתחילות</a:t>
            </a:r>
          </a:p>
          <a:p>
            <a:pPr algn="r" rtl="1">
              <a:lnSpc>
                <a:spcPct val="100000"/>
              </a:lnSpc>
            </a:pPr>
            <a:r>
              <a:rPr sz="5759" b="1" lang="he-IL">
                <a:solidFill>
                  <a:srgbClr val="EF55A5"/>
                </a:solidFill>
                <a:latin typeface="Heebo"/>
                <a:ea typeface="Heebo"/>
                <a:cs typeface="Heebo"/>
              </a:rPr>
              <a:t>מהסוף.</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קודם החלום. אחר כך המטרות. ואז האסטרטגיה.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לחלום בגדול זה לא מותרות.</a:t>
            </a:r>
          </a:p>
          <a:p>
            <a:pPr algn="r" rtl="1">
              <a:lnSpc>
                <a:spcPct val="110000"/>
              </a:lnSpc>
            </a:pPr>
            <a:r>
              <a:rPr sz="4320" b="1" lang="he-IL">
                <a:solidFill>
                  <a:srgbClr val="EF55A5"/>
                </a:solidFill>
                <a:latin typeface="Heebo"/>
                <a:ea typeface="Heebo"/>
                <a:cs typeface="Heebo"/>
              </a:rPr>
              <a:t>זה כלי עבודה.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מה שהמוח יכול לתפוס ולהאמין בו, הוא יכול להשיג.</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נפוליון היל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sp>
        <p:nvSpPr>
          <p:cNvPr id="4" name="TextBox 3"/>
          <p:cNvSpPr txBox="1"/>
          <p:nvPr/>
        </p:nvSpPr>
        <p:spPr>
          <a:xfrm>
            <a:off x="914400" y="19964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אפשרי בעולם,</a:t>
            </a:r>
          </a:p>
          <a:p>
            <a:pPr algn="r" rtl="1">
              <a:lnSpc>
                <a:spcPct val="110000"/>
              </a:lnSpc>
            </a:pPr>
            <a:r>
              <a:rPr sz="7200" b="1" lang="he-IL">
                <a:solidFill>
                  <a:srgbClr val="EF55A5"/>
                </a:solidFill>
                <a:latin typeface="Heebo"/>
                <a:ea typeface="Heebo"/>
                <a:cs typeface="Heebo"/>
              </a:rPr>
              <a:t>אפשרי עבורך.</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מטרה גדולה ומרגשת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3 כללים לחלום</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ספציפית: רגע שאת יכולה לראות ולהרגיש</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בזמן הווה ובחיוב: ”אני מסתכלת על החשבון ומרגישה ביטחון ושלווה“</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רק מה שחשוב לך באמת: משהו בבטן זז?</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pic>
        <p:nvPicPr>
          <p:cNvPr id="4" name="Picture 3" descr="s59_path.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2516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החלום שלי</a:t>
            </a:r>
          </a:p>
        </p:txBody>
      </p:sp>
      <p:sp>
        <p:nvSpPr>
          <p:cNvPr id="6" name="TextBox 5"/>
          <p:cNvSpPr txBox="1"/>
          <p:nvPr/>
        </p:nvSpPr>
        <p:spPr>
          <a:xfrm>
            <a:off x="5334000" y="2182368"/>
            <a:ext cx="59436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”אני בחופשה בתאילנד.</a:t>
            </a:r>
          </a:p>
          <a:p>
            <a:pPr algn="r" rtl="1">
              <a:lnSpc>
                <a:spcPct val="110000"/>
              </a:lnSpc>
            </a:pPr>
            <a:r>
              <a:rPr sz="3840" b="1" lang="he-IL">
                <a:solidFill>
                  <a:srgbClr val="191A2E"/>
                </a:solidFill>
                <a:latin typeface="Heebo"/>
                <a:ea typeface="Heebo"/>
                <a:cs typeface="Heebo"/>
              </a:rPr>
              <a:t>הכסף עובד עבורי.“</a:t>
            </a:r>
          </a:p>
        </p:txBody>
      </p:sp>
      <p:sp>
        <p:nvSpPr>
          <p:cNvPr id="7" name="TextBox 6"/>
          <p:cNvSpPr txBox="1"/>
          <p:nvPr/>
        </p:nvSpPr>
        <p:spPr>
          <a:xfrm>
            <a:off x="5334000" y="3608832"/>
            <a:ext cx="5943600" cy="1524000"/>
          </a:xfrm>
          <a:prstGeom prst="rect">
            <a:avLst/>
          </a:prstGeom>
          <a:noFill/>
        </p:spPr>
        <p:txBody>
          <a:bodyPr wrap="square" lIns="0" rIns="0" tIns="0" bIns="0" anchor="t">
            <a:spAutoFit/>
          </a:bodyPr>
          <a:lstStyle/>
          <a:p>
            <a:pPr algn="r" rtl="1">
              <a:lnSpc>
                <a:spcPct val="145000"/>
              </a:lnSpc>
            </a:pPr>
            <a:r>
              <a:rPr sz="1800" b="0" lang="he-IL">
                <a:solidFill>
                  <a:srgbClr val="EF55A5"/>
                </a:solidFill>
                <a:latin typeface="Heebo"/>
                <a:ea typeface="Heebo"/>
                <a:cs typeface="Heebo"/>
              </a:rPr>
              <a:t>הכסף הוא אף פעם לא המטרה. הוא האמצעי.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הצבת מטרות היא הצעד הראשון בהפיכת הבלתי נראה לנראה.</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טוני רובינס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pic>
        <p:nvPicPr>
          <p:cNvPr id="4" name="Picture 3" descr="s12_mind.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598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לוח החזון</a:t>
            </a:r>
          </a:p>
        </p:txBody>
      </p:sp>
      <p:sp>
        <p:nvSpPr>
          <p:cNvPr id="6" name="TextBox 5"/>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מה שאת רואה כל יום,</a:t>
            </a:r>
          </a:p>
          <a:p>
            <a:pPr algn="r" rtl="1">
              <a:lnSpc>
                <a:spcPct val="110000"/>
              </a:lnSpc>
            </a:pPr>
            <a:r>
              <a:rPr sz="4320" b="1" lang="he-IL">
                <a:solidFill>
                  <a:srgbClr val="EF55A5"/>
                </a:solidFill>
                <a:latin typeface="Heebo"/>
                <a:ea typeface="Heebo"/>
                <a:cs typeface="Heebo"/>
              </a:rPr>
              <a:t>המוח מתחיל לחפש.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לוח החזון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הלוח שלך כבר מחכה לך</a:t>
            </a:r>
          </a:p>
        </p:txBody>
      </p:sp>
      <p:sp>
        <p:nvSpPr>
          <p:cNvPr id="6" name="Oval 5"/>
          <p:cNvSpPr/>
          <p:nvPr/>
        </p:nvSpPr>
        <p:spPr>
          <a:xfrm>
            <a:off x="11155680" y="2606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46888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באזור האישי: החלומות שלך, והדמיה של הרגע ב-AI ✨</a:t>
            </a:r>
          </a:p>
        </p:txBody>
      </p:sp>
      <p:sp>
        <p:nvSpPr>
          <p:cNvPr id="8" name="Oval 7"/>
          <p:cNvSpPr/>
          <p:nvPr/>
        </p:nvSpPr>
        <p:spPr>
          <a:xfrm>
            <a:off x="11155680" y="3550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41376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עשית בשאלון ההכנה? מעולה. להסתכל עליו כל בוקר.</a:t>
            </a:r>
          </a:p>
        </p:txBody>
      </p:sp>
      <p:sp>
        <p:nvSpPr>
          <p:cNvPr id="10" name="Oval 9"/>
          <p:cNvSpPr/>
          <p:nvPr/>
        </p:nvSpPr>
        <p:spPr>
          <a:xfrm>
            <a:off x="11155680" y="449580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35864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עוד לא? הערב, מיד אחרי הלייב.</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דמיון מודרך</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60 שניות, עיניים עצומות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חלום אחד. משפט אחד. בזמן הווה.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התודעה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אז אם החלום ברור, מה עוצר?</a:t>
            </a:r>
          </a:p>
        </p:txBody>
      </p:sp>
      <p:sp>
        <p:nvSpPr>
          <p:cNvPr id="6" name="Rounded Rectangle 5"/>
          <p:cNvSpPr/>
          <p:nvPr/>
        </p:nvSpPr>
        <p:spPr>
          <a:xfrm>
            <a:off x="914400" y="2286000"/>
            <a:ext cx="9448800" cy="990600"/>
          </a:xfrm>
          <a:prstGeom prst="roundRect">
            <a:avLst>
              <a:gd name="adj" fmla="val 23076"/>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”יש לי סכום כסף ואני לא יודעת איפה לשים אותו“</a:t>
            </a:r>
          </a:p>
        </p:txBody>
      </p:sp>
      <p:sp>
        <p:nvSpPr>
          <p:cNvPr id="7" name="Rounded Rectangle 6"/>
          <p:cNvSpPr/>
          <p:nvPr/>
        </p:nvSpPr>
        <p:spPr>
          <a:xfrm>
            <a:off x="1828800" y="3505200"/>
            <a:ext cx="9448800" cy="990600"/>
          </a:xfrm>
          <a:prstGeom prst="roundRect">
            <a:avLst>
              <a:gd name="adj" fmla="val 23076"/>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”מרוויחים יפה ועדיין חיים בפחד ממחסור“</a:t>
            </a:r>
          </a:p>
        </p:txBody>
      </p:sp>
      <p:sp>
        <p:nvSpPr>
          <p:cNvPr id="8" name="Rounded Rectangle 7"/>
          <p:cNvSpPr/>
          <p:nvPr/>
        </p:nvSpPr>
        <p:spPr>
          <a:xfrm>
            <a:off x="914400" y="4724400"/>
            <a:ext cx="9448800" cy="990600"/>
          </a:xfrm>
          <a:prstGeom prst="roundRect">
            <a:avLst>
              <a:gd name="adj" fmla="val 23076"/>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”נתחיל בזה שאני קלולס בכל עולם המושגים“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pic>
        <p:nvPicPr>
          <p:cNvPr id="4" name="Picture 3" descr="s12_mind.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לא ידע.</a:t>
            </a:r>
          </a:p>
          <a:p>
            <a:pPr algn="r" rtl="1">
              <a:lnSpc>
                <a:spcPct val="110000"/>
              </a:lnSpc>
            </a:pPr>
            <a:r>
              <a:rPr sz="4320" b="1" lang="he-IL">
                <a:solidFill>
                  <a:srgbClr val="EF55A5"/>
                </a:solidFill>
                <a:latin typeface="Heebo"/>
                <a:ea typeface="Heebo"/>
                <a:cs typeface="Heebo"/>
              </a:rPr>
              <a:t>תודעה.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דמיון חשוב יותר מידע.</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אלברט איינשטיין</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2336673"/>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מהי תודעה?</a:t>
            </a:r>
          </a:p>
        </p:txBody>
      </p:sp>
      <p:sp>
        <p:nvSpPr>
          <p:cNvPr id="5" name="TextBox 4"/>
          <p:cNvSpPr txBox="1"/>
          <p:nvPr/>
        </p:nvSpPr>
        <p:spPr>
          <a:xfrm>
            <a:off x="914400" y="2793873"/>
            <a:ext cx="10363200" cy="660654"/>
          </a:xfrm>
          <a:prstGeom prst="rect">
            <a:avLst/>
          </a:prstGeom>
          <a:noFill/>
        </p:spPr>
        <p:txBody>
          <a:bodyPr wrap="square" lIns="0" rIns="0" tIns="0" bIns="0" anchor="t">
            <a:spAutoFit/>
          </a:bodyPr>
          <a:lstStyle/>
          <a:p>
            <a:pPr algn="r" rtl="1">
              <a:lnSpc>
                <a:spcPct val="110000"/>
              </a:lnSpc>
            </a:pPr>
            <a:r>
              <a:rPr sz="3479" b="1" lang="he-IL">
                <a:solidFill>
                  <a:srgbClr val="191A2E"/>
                </a:solidFill>
                <a:latin typeface="Heebo"/>
                <a:ea typeface="Heebo"/>
                <a:cs typeface="Heebo"/>
              </a:rPr>
              <a:t>מכלול המחשבות, האמונות, הרגשות והערכים שמעצבים את הדרך שבה אנו תופסים את העולם, מקבלים החלטות ופועלים בחיים.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6553200" y="1295400"/>
            <a:ext cx="47244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הכלי הכי חשוב</a:t>
            </a:r>
          </a:p>
        </p:txBody>
      </p:sp>
      <p:sp>
        <p:nvSpPr>
          <p:cNvPr id="5" name="TextBox 4"/>
          <p:cNvSpPr txBox="1"/>
          <p:nvPr/>
        </p:nvSpPr>
        <p:spPr>
          <a:xfrm>
            <a:off x="6553200" y="1676400"/>
            <a:ext cx="4724400" cy="838200"/>
          </a:xfrm>
          <a:prstGeom prst="rect">
            <a:avLst/>
          </a:prstGeom>
          <a:noFill/>
        </p:spPr>
        <p:txBody>
          <a:bodyPr wrap="square" lIns="0" rIns="0" tIns="0" bIns="0" anchor="t">
            <a:spAutoFit/>
          </a:bodyPr>
          <a:lstStyle/>
          <a:p>
            <a:pPr algn="r" rtl="1">
              <a:lnSpc>
                <a:spcPct val="115000"/>
              </a:lnSpc>
            </a:pPr>
            <a:r>
              <a:rPr sz="5759" b="1" lang="he-IL">
                <a:solidFill>
                  <a:srgbClr val="191A2E"/>
                </a:solidFill>
                <a:latin typeface="Heebo"/>
                <a:ea typeface="Heebo"/>
                <a:cs typeface="Heebo"/>
              </a:rPr>
              <a:t>מעגל התודעה</a:t>
            </a:r>
          </a:p>
        </p:txBody>
      </p:sp>
      <p:sp>
        <p:nvSpPr>
          <p:cNvPr id="6" name="TextBox 5"/>
          <p:cNvSpPr txBox="1"/>
          <p:nvPr/>
        </p:nvSpPr>
        <p:spPr>
          <a:xfrm>
            <a:off x="6553200" y="2819400"/>
            <a:ext cx="4724400" cy="1905000"/>
          </a:xfrm>
          <a:prstGeom prst="rect">
            <a:avLst/>
          </a:prstGeom>
          <a:noFill/>
        </p:spPr>
        <p:txBody>
          <a:bodyPr wrap="square" lIns="0" rIns="0" tIns="0" bIns="0" anchor="t">
            <a:spAutoFit/>
          </a:bodyPr>
          <a:lstStyle/>
          <a:p>
            <a:pPr algn="r" rtl="1">
              <a:lnSpc>
                <a:spcPct val="150000"/>
              </a:lnSpc>
            </a:pPr>
            <a:r>
              <a:rPr sz="1920" b="0" lang="he-IL">
                <a:solidFill>
                  <a:srgbClr val="191A2E"/>
                </a:solidFill>
                <a:latin typeface="Heebo"/>
                <a:ea typeface="Heebo"/>
                <a:cs typeface="Heebo"/>
              </a:rPr>
              <a:t>מחשבות יוצרות רגשות. רגשות משפיעים על הפעולות. פעולות יוצרות תוצאות. ותוצאות יוצרות מחשבות חדשות.</a:t>
            </a:r>
          </a:p>
        </p:txBody>
      </p:sp>
      <p:sp>
        <p:nvSpPr>
          <p:cNvPr id="7" name="TextBox 6"/>
          <p:cNvSpPr txBox="1"/>
          <p:nvPr/>
        </p:nvSpPr>
        <p:spPr>
          <a:xfrm>
            <a:off x="6553200" y="4876800"/>
            <a:ext cx="4724400" cy="838200"/>
          </a:xfrm>
          <a:prstGeom prst="rect">
            <a:avLst/>
          </a:prstGeom>
          <a:noFill/>
        </p:spPr>
        <p:txBody>
          <a:bodyPr wrap="square" lIns="0" rIns="0" tIns="0" bIns="0" anchor="t">
            <a:spAutoFit/>
          </a:bodyPr>
          <a:lstStyle/>
          <a:p>
            <a:pPr algn="r" rtl="1">
              <a:lnSpc>
                <a:spcPct val="140000"/>
              </a:lnSpc>
            </a:pPr>
            <a:r>
              <a:rPr sz="1800" b="1" lang="he-IL">
                <a:solidFill>
                  <a:srgbClr val="EF55A5"/>
                </a:solidFill>
                <a:latin typeface="Heebo"/>
                <a:ea typeface="Heebo"/>
                <a:cs typeface="Heebo"/>
              </a:rPr>
              <a:t>זו ספירלה. או שהיא עולה, או שהיא יורדת.</a:t>
            </a:r>
          </a:p>
        </p:txBody>
      </p:sp>
      <p:sp>
        <p:nvSpPr>
          <p:cNvPr id="8" name="Oval 7"/>
          <p:cNvSpPr/>
          <p:nvPr/>
        </p:nvSpPr>
        <p:spPr>
          <a:xfrm>
            <a:off x="3276600" y="990600"/>
            <a:ext cx="1371600" cy="137160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מחשבות</a:t>
            </a:r>
          </a:p>
        </p:txBody>
      </p:sp>
      <p:sp>
        <p:nvSpPr>
          <p:cNvPr id="9" name="Oval 8"/>
          <p:cNvSpPr/>
          <p:nvPr/>
        </p:nvSpPr>
        <p:spPr>
          <a:xfrm>
            <a:off x="5181600" y="2895600"/>
            <a:ext cx="1371600" cy="137160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רגשות</a:t>
            </a:r>
          </a:p>
        </p:txBody>
      </p:sp>
      <p:sp>
        <p:nvSpPr>
          <p:cNvPr id="10" name="Oval 9"/>
          <p:cNvSpPr/>
          <p:nvPr/>
        </p:nvSpPr>
        <p:spPr>
          <a:xfrm>
            <a:off x="3276600" y="4800600"/>
            <a:ext cx="1371600" cy="137160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פעולות</a:t>
            </a:r>
          </a:p>
        </p:txBody>
      </p:sp>
      <p:sp>
        <p:nvSpPr>
          <p:cNvPr id="11" name="Oval 10"/>
          <p:cNvSpPr/>
          <p:nvPr/>
        </p:nvSpPr>
        <p:spPr>
          <a:xfrm>
            <a:off x="1371600" y="2895600"/>
            <a:ext cx="1371600" cy="137160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תוצאות</a:t>
            </a:r>
          </a:p>
        </p:txBody>
      </p:sp>
      <p:sp>
        <p:nvSpPr>
          <p:cNvPr id="12" name="Right Arrow 11"/>
          <p:cNvSpPr/>
          <p:nvPr/>
        </p:nvSpPr>
        <p:spPr>
          <a:xfrm rot="2700000">
            <a:off x="4876800" y="19050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ight Arrow 12"/>
          <p:cNvSpPr/>
          <p:nvPr/>
        </p:nvSpPr>
        <p:spPr>
          <a:xfrm rot="8100000">
            <a:off x="4876800" y="44958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ight Arrow 13"/>
          <p:cNvSpPr/>
          <p:nvPr/>
        </p:nvSpPr>
        <p:spPr>
          <a:xfrm rot="13500000">
            <a:off x="2286000" y="44958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ight Arrow 14"/>
          <p:cNvSpPr/>
          <p:nvPr/>
        </p:nvSpPr>
        <p:spPr>
          <a:xfrm rot="18900000">
            <a:off x="2286000" y="19050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מעגל התודעה, על כסף</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הספירלה שיורדת</a:t>
            </a:r>
          </a:p>
        </p:txBody>
      </p:sp>
      <p:sp>
        <p:nvSpPr>
          <p:cNvPr id="6" name="Rounded Rectangle 5"/>
          <p:cNvSpPr/>
          <p:nvPr/>
        </p:nvSpPr>
        <p:spPr>
          <a:xfrm>
            <a:off x="9485376"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לא מבינה בזה“</a:t>
            </a:r>
          </a:p>
        </p:txBody>
      </p:sp>
      <p:sp>
        <p:nvSpPr>
          <p:cNvPr id="7" name="TextBox 6"/>
          <p:cNvSpPr txBox="1"/>
          <p:nvPr/>
        </p:nvSpPr>
        <p:spPr>
          <a:xfrm>
            <a:off x="9134856"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7342632"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פחד</a:t>
            </a:r>
          </a:p>
        </p:txBody>
      </p:sp>
      <p:sp>
        <p:nvSpPr>
          <p:cNvPr id="9" name="TextBox 8"/>
          <p:cNvSpPr txBox="1"/>
          <p:nvPr/>
        </p:nvSpPr>
        <p:spPr>
          <a:xfrm>
            <a:off x="6992112"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5199888"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הכסף נשאר בעו"ש</a:t>
            </a:r>
          </a:p>
        </p:txBody>
      </p:sp>
      <p:sp>
        <p:nvSpPr>
          <p:cNvPr id="11" name="TextBox 10"/>
          <p:cNvSpPr txBox="1"/>
          <p:nvPr/>
        </p:nvSpPr>
        <p:spPr>
          <a:xfrm>
            <a:off x="4849368"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3057144"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נשחק</a:t>
            </a:r>
          </a:p>
        </p:txBody>
      </p:sp>
      <p:sp>
        <p:nvSpPr>
          <p:cNvPr id="13" name="TextBox 12"/>
          <p:cNvSpPr txBox="1"/>
          <p:nvPr/>
        </p:nvSpPr>
        <p:spPr>
          <a:xfrm>
            <a:off x="2706624"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4" name="Rounded Rectangle 13"/>
          <p:cNvSpPr/>
          <p:nvPr/>
        </p:nvSpPr>
        <p:spPr>
          <a:xfrm>
            <a:off x="914400" y="2895600"/>
            <a:ext cx="1792224" cy="1600200"/>
          </a:xfrm>
          <a:prstGeom prst="roundRect">
            <a:avLst>
              <a:gd name="adj" fmla="val 14285"/>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”רואה? זה לא בשבילי“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מילה אחת שונה</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אותו רגע. מחשבה אחרת.</a:t>
            </a:r>
          </a:p>
        </p:txBody>
      </p:sp>
      <p:sp>
        <p:nvSpPr>
          <p:cNvPr id="6" name="Rounded Rectangle 5"/>
          <p:cNvSpPr/>
          <p:nvPr/>
        </p:nvSpPr>
        <p:spPr>
          <a:xfrm>
            <a:off x="9485376" y="2895600"/>
            <a:ext cx="1792224"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לא יודעת איך, עדיין“</a:t>
            </a:r>
          </a:p>
        </p:txBody>
      </p:sp>
      <p:sp>
        <p:nvSpPr>
          <p:cNvPr id="7" name="TextBox 6"/>
          <p:cNvSpPr txBox="1"/>
          <p:nvPr/>
        </p:nvSpPr>
        <p:spPr>
          <a:xfrm>
            <a:off x="9134856"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7342632" y="2895600"/>
            <a:ext cx="1792224"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סקרנות</a:t>
            </a:r>
          </a:p>
        </p:txBody>
      </p:sp>
      <p:sp>
        <p:nvSpPr>
          <p:cNvPr id="9" name="TextBox 8"/>
          <p:cNvSpPr txBox="1"/>
          <p:nvPr/>
        </p:nvSpPr>
        <p:spPr>
          <a:xfrm>
            <a:off x="6992112"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5199888" y="2895600"/>
            <a:ext cx="1792224" cy="1600200"/>
          </a:xfrm>
          <a:prstGeom prst="roundRect">
            <a:avLst>
              <a:gd name="adj" fmla="val 14285"/>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צעד אחד קטן</a:t>
            </a:r>
          </a:p>
        </p:txBody>
      </p:sp>
      <p:sp>
        <p:nvSpPr>
          <p:cNvPr id="11" name="TextBox 10"/>
          <p:cNvSpPr txBox="1"/>
          <p:nvPr/>
        </p:nvSpPr>
        <p:spPr>
          <a:xfrm>
            <a:off x="4849368"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3057144" y="2895600"/>
            <a:ext cx="1792224"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תוצאה קטנה</a:t>
            </a:r>
          </a:p>
        </p:txBody>
      </p:sp>
      <p:sp>
        <p:nvSpPr>
          <p:cNvPr id="13" name="TextBox 12"/>
          <p:cNvSpPr txBox="1"/>
          <p:nvPr/>
        </p:nvSpPr>
        <p:spPr>
          <a:xfrm>
            <a:off x="2706624"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4" name="Rounded Rectangle 13"/>
          <p:cNvSpPr/>
          <p:nvPr/>
        </p:nvSpPr>
        <p:spPr>
          <a:xfrm>
            <a:off x="914400" y="2895600"/>
            <a:ext cx="1792224" cy="1600200"/>
          </a:xfrm>
          <a:prstGeom prst="roundRect">
            <a:avLst>
              <a:gd name="adj" fmla="val 14285"/>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יכולה“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pic>
        <p:nvPicPr>
          <p:cNvPr id="4" name="Picture 3" descr="s26_scale.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95272"/>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כלי 2 · סולם התודעה</a:t>
            </a:r>
          </a:p>
        </p:txBody>
      </p:sp>
      <p:sp>
        <p:nvSpPr>
          <p:cNvPr id="6" name="TextBox 5"/>
          <p:cNvSpPr txBox="1"/>
          <p:nvPr/>
        </p:nvSpPr>
        <p:spPr>
          <a:xfrm>
            <a:off x="5334000" y="2252472"/>
            <a:ext cx="5943600" cy="1133856"/>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יש רגעים שאת יכולה הכל.</a:t>
            </a:r>
          </a:p>
          <a:p>
            <a:pPr algn="r" rtl="1">
              <a:lnSpc>
                <a:spcPct val="110000"/>
              </a:lnSpc>
            </a:pPr>
            <a:r>
              <a:rPr sz="3360" b="1" lang="he-IL">
                <a:solidFill>
                  <a:srgbClr val="EF55A5"/>
                </a:solidFill>
                <a:latin typeface="Heebo"/>
                <a:ea typeface="Heebo"/>
                <a:cs typeface="Heebo"/>
              </a:rPr>
              <a:t>ויש רגעים שאין סיכוי.</a:t>
            </a:r>
          </a:p>
        </p:txBody>
      </p:sp>
      <p:sp>
        <p:nvSpPr>
          <p:cNvPr id="7" name="TextBox 6"/>
          <p:cNvSpPr txBox="1"/>
          <p:nvPr/>
        </p:nvSpPr>
        <p:spPr>
          <a:xfrm>
            <a:off x="5334000" y="3538728"/>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את לא משוגעת. זה קורה לכולן.</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מתוך "עוצמה מול כוח", דיוויד הוקינס</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סולם התודעה</a:t>
            </a:r>
          </a:p>
        </p:txBody>
      </p:sp>
      <p:sp>
        <p:nvSpPr>
          <p:cNvPr id="6" name="Rounded Rectangle 5"/>
          <p:cNvSpPr/>
          <p:nvPr/>
        </p:nvSpPr>
        <p:spPr>
          <a:xfrm>
            <a:off x="9936480" y="5105400"/>
            <a:ext cx="1341120" cy="91440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בושה · אשמה</a:t>
            </a:r>
          </a:p>
        </p:txBody>
      </p:sp>
      <p:sp>
        <p:nvSpPr>
          <p:cNvPr id="7" name="Rounded Rectangle 6"/>
          <p:cNvSpPr/>
          <p:nvPr/>
        </p:nvSpPr>
        <p:spPr>
          <a:xfrm>
            <a:off x="8427720" y="4632960"/>
            <a:ext cx="1341120" cy="138684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פחד · ספק</a:t>
            </a:r>
          </a:p>
        </p:txBody>
      </p:sp>
      <p:sp>
        <p:nvSpPr>
          <p:cNvPr id="8" name="Rounded Rectangle 7"/>
          <p:cNvSpPr/>
          <p:nvPr/>
        </p:nvSpPr>
        <p:spPr>
          <a:xfrm>
            <a:off x="6918960" y="4160520"/>
            <a:ext cx="1341120" cy="1859280"/>
          </a:xfrm>
          <a:prstGeom prst="roundRect">
            <a:avLst>
              <a:gd name="adj" fmla="val 10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כעס · קורבנות</a:t>
            </a:r>
          </a:p>
        </p:txBody>
      </p:sp>
      <p:sp>
        <p:nvSpPr>
          <p:cNvPr id="9" name="Rounded Rectangle 8"/>
          <p:cNvSpPr/>
          <p:nvPr/>
        </p:nvSpPr>
        <p:spPr>
          <a:xfrm>
            <a:off x="5410200" y="3688080"/>
            <a:ext cx="1341120" cy="233172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אומץ</a:t>
            </a:r>
          </a:p>
        </p:txBody>
      </p:sp>
      <p:sp>
        <p:nvSpPr>
          <p:cNvPr id="10" name="Rounded Rectangle 9"/>
          <p:cNvSpPr/>
          <p:nvPr/>
        </p:nvSpPr>
        <p:spPr>
          <a:xfrm>
            <a:off x="3901440" y="3215640"/>
            <a:ext cx="1341120" cy="2804160"/>
          </a:xfrm>
          <a:prstGeom prst="roundRect">
            <a:avLst>
              <a:gd name="adj" fmla="val 1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קבלה · אהבה</a:t>
            </a:r>
          </a:p>
        </p:txBody>
      </p:sp>
      <p:sp>
        <p:nvSpPr>
          <p:cNvPr id="11" name="Rounded Rectangle 10"/>
          <p:cNvSpPr/>
          <p:nvPr/>
        </p:nvSpPr>
        <p:spPr>
          <a:xfrm>
            <a:off x="2392680" y="2743200"/>
            <a:ext cx="1341120" cy="3276600"/>
          </a:xfrm>
          <a:prstGeom prst="roundRect">
            <a:avLst>
              <a:gd name="adj" fmla="val 1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שמחה · הכרת תודה</a:t>
            </a:r>
          </a:p>
        </p:txBody>
      </p:sp>
      <p:sp>
        <p:nvSpPr>
          <p:cNvPr id="12" name="Rounded Rectangle 11"/>
          <p:cNvSpPr/>
          <p:nvPr/>
        </p:nvSpPr>
        <p:spPr>
          <a:xfrm>
            <a:off x="883920" y="2270760"/>
            <a:ext cx="1341120" cy="3749040"/>
          </a:xfrm>
          <a:prstGeom prst="roundRect">
            <a:avLst>
              <a:gd name="adj" fmla="val 1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שלווה</a:t>
            </a:r>
          </a:p>
        </p:txBody>
      </p:sp>
      <p:sp>
        <p:nvSpPr>
          <p:cNvPr id="13" name="TextBox 12"/>
          <p:cNvSpPr txBox="1"/>
          <p:nvPr/>
        </p:nvSpPr>
        <p:spPr>
          <a:xfrm>
            <a:off x="6248400" y="2057400"/>
            <a:ext cx="5029200" cy="457200"/>
          </a:xfrm>
          <a:prstGeom prst="rect">
            <a:avLst/>
          </a:prstGeom>
          <a:noFill/>
        </p:spPr>
        <p:txBody>
          <a:bodyPr wrap="square" lIns="0" rIns="0" tIns="0" bIns="0" anchor="t">
            <a:spAutoFit/>
          </a:bodyPr>
          <a:lstStyle/>
          <a:p>
            <a:pPr algn="r" rtl="1">
              <a:lnSpc>
                <a:spcPct val="115000"/>
              </a:lnSpc>
            </a:pPr>
            <a:r>
              <a:rPr sz="2039" b="1" lang="he-IL">
                <a:solidFill>
                  <a:srgbClr val="EF55A5"/>
                </a:solidFill>
                <a:latin typeface="Heebo"/>
                <a:ea typeface="Heebo"/>
                <a:cs typeface="Heebo"/>
              </a:rPr>
              <a:t>נקודת המפנה: אומץ</a:t>
            </a:r>
          </a:p>
        </p:txBody>
      </p:sp>
      <p:sp>
        <p:nvSpPr>
          <p:cNvPr id="14" name="TextBox 13"/>
          <p:cNvSpPr txBox="1"/>
          <p:nvPr/>
        </p:nvSpPr>
        <p:spPr>
          <a:xfrm>
            <a:off x="6248400" y="2476500"/>
            <a:ext cx="5029200" cy="914400"/>
          </a:xfrm>
          <a:prstGeom prst="rect">
            <a:avLst/>
          </a:prstGeom>
          <a:noFill/>
        </p:spPr>
        <p:txBody>
          <a:bodyPr wrap="square" lIns="0" rIns="0" tIns="0" bIns="0" anchor="t">
            <a:spAutoFit/>
          </a:bodyPr>
          <a:lstStyle/>
          <a:p>
            <a:pPr algn="r" rtl="1">
              <a:lnSpc>
                <a:spcPct val="140000"/>
              </a:lnSpc>
            </a:pPr>
            <a:r>
              <a:rPr sz="1680" b="0" lang="he-IL">
                <a:solidFill>
                  <a:srgbClr val="6B6B7B"/>
                </a:solidFill>
                <a:latin typeface="Heebo"/>
                <a:ea typeface="Heebo"/>
                <a:cs typeface="Heebo"/>
              </a:rPr>
              <a:t>מתחתיו אנרגיה שלוקחת. מעליו אנרגיה שבונה.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סולם התודעה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איך משתמשים בסולם</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מודעות: איפה אני עכשיו?</a:t>
            </a:r>
          </a:p>
        </p:txBody>
      </p:sp>
      <p:sp>
        <p:nvSpPr>
          <p:cNvPr id="8" name="Oval 7"/>
          <p:cNvSpPr/>
          <p:nvPr/>
        </p:nvSpPr>
        <p:spPr>
          <a:xfrm>
            <a:off x="10850880" y="302895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04419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למעלה? פועלות!</a:t>
            </a:r>
          </a:p>
        </p:txBody>
      </p:sp>
      <p:sp>
        <p:nvSpPr>
          <p:cNvPr id="10" name="Oval 9"/>
          <p:cNvSpPr/>
          <p:nvPr/>
        </p:nvSpPr>
        <p:spPr>
          <a:xfrm>
            <a:off x="10850880" y="3771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378714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למטה? עוצרות. לא מקבלות החלטות.</a:t>
            </a:r>
          </a:p>
        </p:txBody>
      </p:sp>
      <p:sp>
        <p:nvSpPr>
          <p:cNvPr id="12" name="Oval 11"/>
          <p:cNvSpPr/>
          <p:nvPr/>
        </p:nvSpPr>
        <p:spPr>
          <a:xfrm>
            <a:off x="10850880" y="451485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53009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מעלות תדר: מנוחה, שיר, ספורט, חברה, מחשבה אחרת</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 מקבלים החלטה על כסף מתוך פחד.</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איפה את על הסולם, עכשיו, ברגע הזה?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3 סוגי תודעה</a:t>
            </a:r>
          </a:p>
        </p:txBody>
      </p:sp>
      <p:sp>
        <p:nvSpPr>
          <p:cNvPr id="5" name="Rounded Rectangle 4"/>
          <p:cNvSpPr/>
          <p:nvPr/>
        </p:nvSpPr>
        <p:spPr>
          <a:xfrm>
            <a:off x="7965440" y="23241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הישרדותית</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”רק לגמור את החודש“</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תגובתית</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”נחכה לראות מה יקרה“</a:t>
            </a:r>
          </a:p>
        </p:txBody>
      </p:sp>
      <p:sp>
        <p:nvSpPr>
          <p:cNvPr id="11" name="Rounded Rectangle 10"/>
          <p:cNvSpPr/>
          <p:nvPr/>
        </p:nvSpPr>
        <p:spPr>
          <a:xfrm>
            <a:off x="914400" y="2324100"/>
            <a:ext cx="3312160" cy="3048000"/>
          </a:xfrm>
          <a:prstGeom prst="roundRect">
            <a:avLst>
              <a:gd name="adj" fmla="val 8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יזמית</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”זו המטרה שלי, עכשיו אבנה את הדרך אליה“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מספר. 1, 2 או 3.</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איפה את, עם הכסף, רוב הזמן?</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כלי 3 · ניפוץ אמונות מגבילות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4 אמונות החוסר</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”אין מספיק כסף“</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”זה לא בסדר להרוויח שפע של כסף“</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”זה לא בטוח להרוויח הרבה“</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”אני לא יכולה להרוויח הרבה“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1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”אין מספיק כסף“</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יש מספיק.</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רק בישראל, מאות מיליארדי שקלים יושבים בעו"ש.</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2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”זה לא בסדר להרוויח שפע“</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כסף הוא אנרגיה.</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מה שאפשר לעשות איתו טוב, תלוי במי מחזיקה אותו.</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3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”זה לא בטוח“</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מה באמת לא בטוח?</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כסף שיושב ונשחק, כל שנה, בשקט.</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45</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4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”אני לא יכולה“</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אני לא יודעת איך. עדיין.</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”לא יכולה“ זה קיר. ”לא יודעת איך“ זו דלת.</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46</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אי אפשר!</a:t>
            </a:r>
          </a:p>
          <a:p>
            <a:pPr algn="r" rtl="1">
              <a:lnSpc>
                <a:spcPct val="110000"/>
              </a:lnSpc>
            </a:pPr>
            <a:r>
              <a:rPr sz="4320" b="1" lang="he-IL">
                <a:solidFill>
                  <a:srgbClr val="EF55A5"/>
                </a:solidFill>
                <a:latin typeface="Heebo"/>
                <a:ea typeface="Heebo"/>
                <a:cs typeface="Heebo"/>
              </a:rPr>
              <a:t>איך אפשר?</a:t>
            </a:r>
          </a:p>
        </p:txBody>
      </p:sp>
      <p:sp>
        <p:nvSpPr>
          <p:cNvPr id="6" name="TextBox 5"/>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להחליף סימן קריאה בסימן שאלה.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עכשיו אתן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בזוגות, 8 דקות בחדרים</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את מקריאה את האמונה שדירגת הכי גבוה. בלי להסביר, בלי להתנצל.</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בת הזוג הופכת אותה לשאלה ”איך אפשר?“ ומביאה הוכחה אחת: מישהי שהיא מכירה שכן.</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מתחלפות.</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48</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בחזרה מהחדרים · מילה 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 קיבלה הוכחה שהפתיעה אותה?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49</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0574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מעגל התודעה</a:t>
            </a:r>
          </a:p>
        </p:txBody>
      </p:sp>
      <p:sp>
        <p:nvSpPr>
          <p:cNvPr id="7" name="TextBox 6"/>
          <p:cNvSpPr txBox="1"/>
          <p:nvPr/>
        </p:nvSpPr>
        <p:spPr>
          <a:xfrm>
            <a:off x="823976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מחשבה ← רגש ← פעולה ← תוצאה</a:t>
            </a:r>
          </a:p>
        </p:txBody>
      </p:sp>
      <p:sp>
        <p:nvSpPr>
          <p:cNvPr id="8" name="Rounded Rectangle 7"/>
          <p:cNvSpPr/>
          <p:nvPr/>
        </p:nvSpPr>
        <p:spPr>
          <a:xfrm>
            <a:off x="4439920" y="20574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סולם התודעה</a:t>
            </a:r>
          </a:p>
        </p:txBody>
      </p:sp>
      <p:sp>
        <p:nvSpPr>
          <p:cNvPr id="10" name="TextBox 9"/>
          <p:cNvSpPr txBox="1"/>
          <p:nvPr/>
        </p:nvSpPr>
        <p:spPr>
          <a:xfrm>
            <a:off x="471424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איפה אני עכשיו? ומחליטה רק מלמעלה.</a:t>
            </a:r>
          </a:p>
        </p:txBody>
      </p:sp>
      <p:sp>
        <p:nvSpPr>
          <p:cNvPr id="11" name="Rounded Rectangle 10"/>
          <p:cNvSpPr/>
          <p:nvPr/>
        </p:nvSpPr>
        <p:spPr>
          <a:xfrm>
            <a:off x="914400" y="20574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איך אפשר?</a:t>
            </a:r>
          </a:p>
        </p:txBody>
      </p:sp>
      <p:sp>
        <p:nvSpPr>
          <p:cNvPr id="13" name="TextBox 12"/>
          <p:cNvSpPr txBox="1"/>
          <p:nvPr/>
        </p:nvSpPr>
        <p:spPr>
          <a:xfrm>
            <a:off x="118872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סימן שאלה במקום סימן קריאה, והוכחה אחת.</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רק להיות בהקשבה ובמודעות. להסתכל על העולם בעיניים אחרות.</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50</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כשאת משנה את הדרך שבה את מסתכלת על הדברים, הדברים שאת מסתכלת עליהם משתנים.</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וויין דייר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51</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3-נקודת-מוצא.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4 · נקודת המוצא</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את נמצאת</a:t>
            </a:r>
          </a:p>
          <a:p>
            <a:pPr algn="r" rtl="1">
              <a:lnSpc>
                <a:spcPct val="100000"/>
              </a:lnSpc>
            </a:pPr>
            <a:r>
              <a:rPr sz="5759" b="1" lang="he-IL">
                <a:solidFill>
                  <a:srgbClr val="EF55A5"/>
                </a:solidFill>
                <a:latin typeface="Heebo"/>
                <a:ea typeface="Heebo"/>
                <a:cs typeface="Heebo"/>
              </a:rPr>
              <a:t>כאן.</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מהחלום, למספרים.</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52</a:t>
            </a:r>
          </a:p>
        </p:txBody>
      </p:sp>
      <p:sp>
        <p:nvSpPr>
          <p:cNvPr id="4" name="TextBox 3"/>
          <p:cNvSpPr txBox="1"/>
          <p:nvPr/>
        </p:nvSpPr>
        <p:spPr>
          <a:xfrm>
            <a:off x="914400" y="2382012"/>
            <a:ext cx="10363200" cy="1484376"/>
          </a:xfrm>
          <a:prstGeom prst="rect">
            <a:avLst/>
          </a:prstGeom>
          <a:noFill/>
        </p:spPr>
        <p:txBody>
          <a:bodyPr wrap="square" lIns="0" rIns="0" tIns="0" bIns="0" anchor="t">
            <a:spAutoFit/>
          </a:bodyPr>
          <a:lstStyle/>
          <a:p>
            <a:pPr algn="r" rtl="1">
              <a:lnSpc>
                <a:spcPct val="110000"/>
              </a:lnSpc>
            </a:pPr>
            <a:r>
              <a:rPr sz="4560" b="1" lang="he-IL">
                <a:solidFill>
                  <a:srgbClr val="191A2E"/>
                </a:solidFill>
                <a:latin typeface="Heebo"/>
                <a:ea typeface="Heebo"/>
                <a:cs typeface="Heebo"/>
              </a:rPr>
              <a:t>גם ווייז לא יודע לנווט</a:t>
            </a:r>
          </a:p>
          <a:p>
            <a:pPr algn="r" rtl="1">
              <a:lnSpc>
                <a:spcPct val="110000"/>
              </a:lnSpc>
            </a:pPr>
            <a:r>
              <a:rPr sz="4560" b="1" lang="he-IL">
                <a:solidFill>
                  <a:srgbClr val="EF55A5"/>
                </a:solidFill>
                <a:latin typeface="Heebo"/>
                <a:ea typeface="Heebo"/>
                <a:cs typeface="Heebo"/>
              </a:rPr>
              <a:t>בלי לדעת איפה את עומדת.</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המוצא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מספרים</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3000" b="1" lang="he-IL">
                <a:solidFill>
                  <a:srgbClr val="191A2E"/>
                </a:solidFill>
                <a:latin typeface="Heebo"/>
                <a:ea typeface="Heebo"/>
                <a:cs typeface="Heebo"/>
              </a:rPr>
              <a:t>השווי הנקי</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כמה יש לי. תמונת מצב.</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3000" b="1" lang="he-IL">
                <a:solidFill>
                  <a:srgbClr val="191A2E"/>
                </a:solidFill>
                <a:latin typeface="Heebo"/>
                <a:ea typeface="Heebo"/>
                <a:cs typeface="Heebo"/>
              </a:rPr>
              <a:t>התזרים</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מה קורה לי כל חודש. הסרט, לא התמונה.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54</a:t>
            </a:r>
          </a:p>
        </p:txBody>
      </p:sp>
      <p:sp>
        <p:nvSpPr>
          <p:cNvPr id="4" name="TextBox 3"/>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השווי הנקי:</a:t>
            </a:r>
          </a:p>
          <a:p>
            <a:pPr algn="r" rtl="1">
              <a:lnSpc>
                <a:spcPct val="110000"/>
              </a:lnSpc>
            </a:pPr>
            <a:r>
              <a:rPr sz="4320" b="1" lang="he-IL">
                <a:solidFill>
                  <a:srgbClr val="EF55A5"/>
                </a:solidFill>
                <a:latin typeface="Heebo"/>
                <a:ea typeface="Heebo"/>
                <a:cs typeface="Heebo"/>
              </a:rPr>
              <a:t>כל מה שיש לי, פחות כל מה שאני חייבת.</a:t>
            </a:r>
          </a:p>
        </p:txBody>
      </p:sp>
      <p:sp>
        <p:nvSpPr>
          <p:cNvPr id="5" name="TextBox 4"/>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טוב ולא רע. נקודה על המפה.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השווי הנקי</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אוספות לסל</a:t>
            </a:r>
          </a:p>
        </p:txBody>
      </p:sp>
      <p:sp>
        <p:nvSpPr>
          <p:cNvPr id="6" name="Rounded Rectangle 5"/>
          <p:cNvSpPr/>
          <p:nvPr/>
        </p:nvSpPr>
        <p:spPr>
          <a:xfrm>
            <a:off x="796544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סופרות</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עו"ש · פיקדונות · קרן כספית · תיק השקעות · גמל להשקעה · קרן השתלמות · חיסכון לכל ילד · דירה (שווי משוער)</a:t>
            </a:r>
          </a:p>
        </p:txBody>
      </p:sp>
      <p:sp>
        <p:nvSpPr>
          <p:cNvPr id="9" name="Rounded Rectangle 8"/>
          <p:cNvSpPr/>
          <p:nvPr/>
        </p:nvSpPr>
        <p:spPr>
          <a:xfrm>
            <a:off x="443992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מורידות</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משכנתא · הלוואות · מינוס</a:t>
            </a:r>
          </a:p>
        </p:txBody>
      </p:sp>
      <p:sp>
        <p:nvSpPr>
          <p:cNvPr id="12" name="Rounded Rectangle 11"/>
          <p:cNvSpPr/>
          <p:nvPr/>
        </p:nvSpPr>
        <p:spPr>
          <a:xfrm>
            <a:off x="914400" y="25146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בהמשך, עם הסוכן</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התיק הפנסיוני. לא צריך להתעסק בו עכשיו.</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56</a:t>
            </a:r>
          </a:p>
        </p:txBody>
      </p:sp>
      <p:pic>
        <p:nvPicPr>
          <p:cNvPr id="4" name="Picture 3" descr="s21_coins.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ציד האוצר 🔍</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והכסף שלא ידעת שקיים</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מההורים, מסבתא, ירושה או מתנה שמחכה</a:t>
            </a:r>
          </a:p>
        </p:txBody>
      </p:sp>
      <p:sp>
        <p:nvSpPr>
          <p:cNvPr id="9" name="Oval 8"/>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1623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חיסכון ישן ”לא מעניין“, קופות ממקום עבודה ישן</a:t>
            </a:r>
          </a:p>
        </p:txBody>
      </p:sp>
      <p:sp>
        <p:nvSpPr>
          <p:cNvPr id="11" name="Oval 10"/>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40386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הר הכסף · ביטוחים כפולים</a:t>
            </a:r>
          </a:p>
        </p:txBody>
      </p:sp>
      <p:sp>
        <p:nvSpPr>
          <p:cNvPr id="13" name="Oval 12"/>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9149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פיקדון שכירות · כסף שחייבים לך</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57</a:t>
            </a:r>
          </a:p>
        </p:txBody>
      </p:sp>
      <p:sp>
        <p:nvSpPr>
          <p:cNvPr id="4" name="TextBox 3"/>
          <p:cNvSpPr txBox="1"/>
          <p:nvPr/>
        </p:nvSpPr>
        <p:spPr>
          <a:xfrm>
            <a:off x="914400" y="16040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להרים כסף</a:t>
            </a:r>
          </a:p>
          <a:p>
            <a:pPr algn="r" rtl="1">
              <a:lnSpc>
                <a:spcPct val="110000"/>
              </a:lnSpc>
            </a:pPr>
            <a:r>
              <a:rPr sz="7800" b="1" lang="he-IL">
                <a:solidFill>
                  <a:srgbClr val="EF55A5"/>
                </a:solidFill>
                <a:latin typeface="Heebo"/>
                <a:ea typeface="Heebo"/>
                <a:cs typeface="Heebo"/>
              </a:rPr>
              <a:t>מהרצפה.</a:t>
            </a:r>
          </a:p>
        </p:txBody>
      </p:sp>
      <p:sp>
        <p:nvSpPr>
          <p:cNvPr id="5" name="TextBox 4"/>
          <p:cNvSpPr txBox="1"/>
          <p:nvPr/>
        </p:nvSpPr>
        <p:spPr>
          <a:xfrm>
            <a:off x="914400" y="418719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המטרה של השבוע: לאסוף את כל הנתונים, ולאתר כל שקל שהלך לאיבוד.</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58</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המוצא · המספר השני</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התזרים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נכנס</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יוצא</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מה שנשאר</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ומה שנשאר הוא הדלק של כל המצפן.</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59</a:t>
            </a:r>
          </a:p>
        </p:txBody>
      </p:sp>
      <p:sp>
        <p:nvSpPr>
          <p:cNvPr id="4" name="TextBox 3"/>
          <p:cNvSpPr txBox="1"/>
          <p:nvPr/>
        </p:nvSpPr>
        <p:spPr>
          <a:xfrm>
            <a:off x="914400" y="18211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התזרים</a:t>
            </a:r>
          </a:p>
          <a:p>
            <a:pPr algn="r" rtl="1">
              <a:lnSpc>
                <a:spcPct val="110000"/>
              </a:lnSpc>
            </a:pPr>
            <a:r>
              <a:rPr sz="8400" b="1" lang="he-IL">
                <a:solidFill>
                  <a:srgbClr val="EF55A5"/>
                </a:solidFill>
                <a:latin typeface="Heebo"/>
                <a:ea typeface="Heebo"/>
                <a:cs typeface="Heebo"/>
              </a:rPr>
              <a:t>הוא המלך.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60</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לא משנה כמה כסף את מרוויחה. משנה כמה כסף את שומרת.</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רוברט קיוסאקי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61</a:t>
            </a:r>
          </a:p>
        </p:txBody>
      </p:sp>
      <p:sp>
        <p:nvSpPr>
          <p:cNvPr id="4" name="TextBox 3"/>
          <p:cNvSpPr txBox="1"/>
          <p:nvPr/>
        </p:nvSpPr>
        <p:spPr>
          <a:xfrm>
            <a:off x="914400" y="16916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הכלל:</a:t>
            </a:r>
          </a:p>
          <a:p>
            <a:pPr algn="r" rtl="1">
              <a:lnSpc>
                <a:spcPct val="110000"/>
              </a:lnSpc>
            </a:pPr>
            <a:r>
              <a:rPr sz="7200" b="1" lang="he-IL">
                <a:solidFill>
                  <a:srgbClr val="EF55A5"/>
                </a:solidFill>
                <a:latin typeface="Heebo"/>
                <a:ea typeface="Heebo"/>
                <a:cs typeface="Heebo"/>
              </a:rPr>
              <a:t>תמיד בפלוס. ➕</a:t>
            </a:r>
          </a:p>
        </p:txBody>
      </p:sp>
      <p:sp>
        <p:nvSpPr>
          <p:cNvPr id="5" name="TextBox 4"/>
          <p:cNvSpPr txBox="1"/>
          <p:nvPr/>
        </p:nvSpPr>
        <p:spPr>
          <a:xfrm>
            <a:off x="914400" y="409956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כל חודש נגמר בפלוס, גם אם קטן.</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62</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ניהול תקציב = סדרי עדיפויות</a:t>
            </a:r>
          </a:p>
        </p:txBody>
      </p:sp>
      <p:sp>
        <p:nvSpPr>
          <p:cNvPr id="5" name="Rounded Rectangle 4"/>
          <p:cNvSpPr/>
          <p:nvPr/>
        </p:nvSpPr>
        <p:spPr>
          <a:xfrm>
            <a:off x="8846820" y="20574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2114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חובה</a:t>
            </a:r>
          </a:p>
        </p:txBody>
      </p:sp>
      <p:sp>
        <p:nvSpPr>
          <p:cNvPr id="7" name="TextBox 6"/>
          <p:cNvSpPr txBox="1"/>
          <p:nvPr/>
        </p:nvSpPr>
        <p:spPr>
          <a:xfrm>
            <a:off x="912114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דיור, מזון, חשבונות, ביטוחים</a:t>
            </a:r>
          </a:p>
        </p:txBody>
      </p:sp>
      <p:sp>
        <p:nvSpPr>
          <p:cNvPr id="8" name="Rounded Rectangle 7"/>
          <p:cNvSpPr/>
          <p:nvPr/>
        </p:nvSpPr>
        <p:spPr>
          <a:xfrm>
            <a:off x="6202680" y="20574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7700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חשוב לי</a:t>
            </a:r>
          </a:p>
        </p:txBody>
      </p:sp>
      <p:sp>
        <p:nvSpPr>
          <p:cNvPr id="10" name="TextBox 9"/>
          <p:cNvSpPr txBox="1"/>
          <p:nvPr/>
        </p:nvSpPr>
        <p:spPr>
          <a:xfrm>
            <a:off x="647700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מה שעושה לי טוב, בבחירה</a:t>
            </a:r>
          </a:p>
        </p:txBody>
      </p:sp>
      <p:sp>
        <p:nvSpPr>
          <p:cNvPr id="11" name="Rounded Rectangle 10"/>
          <p:cNvSpPr/>
          <p:nvPr/>
        </p:nvSpPr>
        <p:spPr>
          <a:xfrm>
            <a:off x="3558540" y="20574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83286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נחמד שיש</a:t>
            </a:r>
          </a:p>
        </p:txBody>
      </p:sp>
      <p:sp>
        <p:nvSpPr>
          <p:cNvPr id="13" name="TextBox 12"/>
          <p:cNvSpPr txBox="1"/>
          <p:nvPr/>
        </p:nvSpPr>
        <p:spPr>
          <a:xfrm>
            <a:off x="383286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אפשר פחות, אפשר אחר כך</a:t>
            </a:r>
          </a:p>
        </p:txBody>
      </p:sp>
      <p:sp>
        <p:nvSpPr>
          <p:cNvPr id="14" name="Rounded Rectangle 13"/>
          <p:cNvSpPr/>
          <p:nvPr/>
        </p:nvSpPr>
        <p:spPr>
          <a:xfrm>
            <a:off x="914400" y="20574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18872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נזילה</a:t>
            </a:r>
          </a:p>
        </p:txBody>
      </p:sp>
      <p:sp>
        <p:nvSpPr>
          <p:cNvPr id="16" name="TextBox 15"/>
          <p:cNvSpPr txBox="1"/>
          <p:nvPr/>
        </p:nvSpPr>
        <p:spPr>
          <a:xfrm>
            <a:off x="118872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הולך בלי שבחרתי בו</a:t>
            </a:r>
          </a:p>
        </p:txBody>
      </p:sp>
      <p:sp>
        <p:nvSpPr>
          <p:cNvPr id="17" name="TextBox 16"/>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תקציב הוא לא דיאטה. הוא החלטה לאן הכסף שלי הולך.</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63</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ההשקעה החודשית היא ההוצאה הקבועה הראשונה, לא מה שנשאר בסוף.</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64</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היזהרו מהוצאות קטנות. נזילה קטנה תטביע ספינה גדולה.</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בנג'מין פרנקלין</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65</a:t>
            </a:r>
          </a:p>
        </p:txBody>
      </p:sp>
      <p:pic>
        <p:nvPicPr>
          <p:cNvPr id="4" name="Picture 3" descr="s19_door.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תחנה אחרי תחנה, עם תסריט שיחה מוכן</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אוטם הנזילות</a:t>
            </a:r>
          </a:p>
        </p:txBody>
      </p:sp>
      <p:sp>
        <p:nvSpPr>
          <p:cNvPr id="7" name="Oval 6"/>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3012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מנויים</a:t>
            </a:r>
          </a:p>
        </p:txBody>
      </p:sp>
      <p:sp>
        <p:nvSpPr>
          <p:cNvPr id="9" name="Oval 8"/>
          <p:cNvSpPr/>
          <p:nvPr/>
        </p:nvSpPr>
        <p:spPr>
          <a:xfrm>
            <a:off x="10850880" y="28702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28854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סלולר</a:t>
            </a:r>
          </a:p>
        </p:txBody>
      </p:sp>
      <p:sp>
        <p:nvSpPr>
          <p:cNvPr id="11" name="Oval 10"/>
          <p:cNvSpPr/>
          <p:nvPr/>
        </p:nvSpPr>
        <p:spPr>
          <a:xfrm>
            <a:off x="10850880" y="34544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2" name="TextBox 11"/>
          <p:cNvSpPr txBox="1"/>
          <p:nvPr/>
        </p:nvSpPr>
        <p:spPr>
          <a:xfrm>
            <a:off x="4876800" y="34696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אינטרנט וטלוויזיה</a:t>
            </a:r>
          </a:p>
        </p:txBody>
      </p:sp>
      <p:sp>
        <p:nvSpPr>
          <p:cNvPr id="13" name="Oval 12"/>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4" name="TextBox 13"/>
          <p:cNvSpPr txBox="1"/>
          <p:nvPr/>
        </p:nvSpPr>
        <p:spPr>
          <a:xfrm>
            <a:off x="4876800" y="40538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עמלות בנק</a:t>
            </a:r>
          </a:p>
        </p:txBody>
      </p:sp>
      <p:sp>
        <p:nvSpPr>
          <p:cNvPr id="15" name="Oval 14"/>
          <p:cNvSpPr/>
          <p:nvPr/>
        </p:nvSpPr>
        <p:spPr>
          <a:xfrm>
            <a:off x="10850880" y="46228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5</a:t>
            </a:r>
          </a:p>
        </p:txBody>
      </p:sp>
      <p:sp>
        <p:nvSpPr>
          <p:cNvPr id="16" name="TextBox 15"/>
          <p:cNvSpPr txBox="1"/>
          <p:nvPr/>
        </p:nvSpPr>
        <p:spPr>
          <a:xfrm>
            <a:off x="4876800" y="46380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כרטיסי אשראי</a:t>
            </a:r>
          </a:p>
        </p:txBody>
      </p:sp>
      <p:sp>
        <p:nvSpPr>
          <p:cNvPr id="17" name="Oval 16"/>
          <p:cNvSpPr/>
          <p:nvPr/>
        </p:nvSpPr>
        <p:spPr>
          <a:xfrm>
            <a:off x="10850880" y="5207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6</a:t>
            </a:r>
          </a:p>
        </p:txBody>
      </p:sp>
      <p:sp>
        <p:nvSpPr>
          <p:cNvPr id="18" name="TextBox 17"/>
          <p:cNvSpPr txBox="1"/>
          <p:nvPr/>
        </p:nvSpPr>
        <p:spPr>
          <a:xfrm>
            <a:off x="4876800" y="52222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ביטוחים כפולים</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דוגמה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70 ₪ פה, 100 ₪ שם</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אינטרנט</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70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תוסף בסלולר</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 ₪</a:t>
            </a:r>
          </a:p>
        </p:txBody>
      </p:sp>
      <p:sp>
        <p:nvSpPr>
          <p:cNvPr id="12" name="Rounded Rectangle 11"/>
          <p:cNvSpPr/>
          <p:nvPr/>
        </p:nvSpPr>
        <p:spPr>
          <a:xfrm>
            <a:off x="4876800" y="348996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181600" y="359664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מנוי שלא משתמשים</a:t>
            </a:r>
          </a:p>
        </p:txBody>
      </p:sp>
      <p:sp>
        <p:nvSpPr>
          <p:cNvPr id="14" name="TextBox 13"/>
          <p:cNvSpPr txBox="1"/>
          <p:nvPr/>
        </p:nvSpPr>
        <p:spPr>
          <a:xfrm>
            <a:off x="5181600" y="359664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50 ₪</a:t>
            </a:r>
          </a:p>
        </p:txBody>
      </p:sp>
      <p:sp>
        <p:nvSpPr>
          <p:cNvPr id="15" name="Rounded Rectangle 14"/>
          <p:cNvSpPr/>
          <p:nvPr/>
        </p:nvSpPr>
        <p:spPr>
          <a:xfrm>
            <a:off x="4876800" y="413004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181600" y="423672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עמלות בנק</a:t>
            </a:r>
          </a:p>
        </p:txBody>
      </p:sp>
      <p:sp>
        <p:nvSpPr>
          <p:cNvPr id="17" name="TextBox 16"/>
          <p:cNvSpPr txBox="1"/>
          <p:nvPr/>
        </p:nvSpPr>
        <p:spPr>
          <a:xfrm>
            <a:off x="5181600" y="423672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30 ₪</a:t>
            </a:r>
          </a:p>
        </p:txBody>
      </p:sp>
      <p:sp>
        <p:nvSpPr>
          <p:cNvPr id="18" name="Rounded Rectangle 17"/>
          <p:cNvSpPr/>
          <p:nvPr/>
        </p:nvSpPr>
        <p:spPr>
          <a:xfrm>
            <a:off x="4876800" y="477012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181600" y="487680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ביטוח כפול</a:t>
            </a:r>
          </a:p>
        </p:txBody>
      </p:sp>
      <p:sp>
        <p:nvSpPr>
          <p:cNvPr id="20" name="TextBox 19"/>
          <p:cNvSpPr txBox="1"/>
          <p:nvPr/>
        </p:nvSpPr>
        <p:spPr>
          <a:xfrm>
            <a:off x="5181600" y="487680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150 ₪</a:t>
            </a:r>
          </a:p>
        </p:txBody>
      </p:sp>
      <p:sp>
        <p:nvSpPr>
          <p:cNvPr id="21" name="Rounded Rectangle 20"/>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400 ₪ בחודש</a:t>
            </a:r>
          </a:p>
          <a:p>
            <a:pPr algn="ctr" rtl="1">
              <a:lnSpc>
                <a:spcPct val="115000"/>
              </a:lnSpc>
            </a:pPr>
            <a:r>
              <a:rPr sz="3000" b="1" lang="he-IL">
                <a:solidFill>
                  <a:srgbClr val="EF55A5"/>
                </a:solidFill>
                <a:latin typeface="Heebo"/>
                <a:ea typeface="Heebo"/>
                <a:cs typeface="Heebo"/>
              </a:rPr>
              <a:t>4,800 ₪ בשנה</a:t>
            </a:r>
          </a:p>
        </p:txBody>
      </p:sp>
      <p:sp>
        <p:nvSpPr>
          <p:cNvPr id="22" name="TextBox 21"/>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400 ₪ בחודש, 20 שנה, בתשואה ממוצעת של 7%: יותר מ-200,000 ₪. להמחשה בלבד, ללא הבטחת תשואה.</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כסף שמחכה 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ובונוס: החזר מס 💸</a:t>
            </a:r>
          </a:p>
        </p:txBody>
      </p:sp>
      <p:sp>
        <p:nvSpPr>
          <p:cNvPr id="6" name="Oval 5"/>
          <p:cNvSpPr/>
          <p:nvPr/>
        </p:nvSpPr>
        <p:spPr>
          <a:xfrm>
            <a:off x="11155680" y="2606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46888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אפשר לבקש עד 6 שנים אחורה</a:t>
            </a:r>
          </a:p>
        </p:txBody>
      </p:sp>
      <p:sp>
        <p:nvSpPr>
          <p:cNvPr id="8" name="Oval 7"/>
          <p:cNvSpPr/>
          <p:nvPr/>
        </p:nvSpPr>
        <p:spPr>
          <a:xfrm>
            <a:off x="11155680" y="3550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41376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שאלון קצר בכלי יגיד לך אם כדאי לבדוק</a:t>
            </a:r>
          </a:p>
        </p:txBody>
      </p:sp>
      <p:sp>
        <p:nvSpPr>
          <p:cNvPr id="10" name="Oval 9"/>
          <p:cNvSpPr/>
          <p:nvPr/>
        </p:nvSpPr>
        <p:spPr>
          <a:xfrm>
            <a:off x="11155680" y="449580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35864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ואם כן, נחבר אותך לאיש מקצוע</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68</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סרטון קצר · 2 דקות</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320" b="1" lang="he-IL">
                <a:solidFill>
                  <a:srgbClr val="191A2E"/>
                </a:solidFill>
                <a:latin typeface="Heebo"/>
                <a:ea typeface="Heebo"/>
                <a:cs typeface="Heebo"/>
              </a:rPr>
              <a:t>בואו נראה איך זה עובד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מהערב · כלי אחד, 6 שלבים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הכלי: נקודת המוצא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השווי הנקי</a:t>
            </a:r>
          </a:p>
        </p:txBody>
      </p:sp>
      <p:sp>
        <p:nvSpPr>
          <p:cNvPr id="8" name="Oval 7"/>
          <p:cNvSpPr/>
          <p:nvPr/>
        </p:nvSpPr>
        <p:spPr>
          <a:xfrm>
            <a:off x="10850880" y="28702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28854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התזרים (מתחברות ל-RiseUp)</a:t>
            </a:r>
          </a:p>
        </p:txBody>
      </p:sp>
      <p:sp>
        <p:nvSpPr>
          <p:cNvPr id="10" name="Oval 9"/>
          <p:cNvSpPr/>
          <p:nvPr/>
        </p:nvSpPr>
        <p:spPr>
          <a:xfrm>
            <a:off x="10850880" y="34544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34696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סדרי העדיפויות</a:t>
            </a:r>
          </a:p>
        </p:txBody>
      </p:sp>
      <p:sp>
        <p:nvSpPr>
          <p:cNvPr id="12" name="Oval 11"/>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0538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אוטם הנזילות</a:t>
            </a:r>
          </a:p>
        </p:txBody>
      </p:sp>
      <p:sp>
        <p:nvSpPr>
          <p:cNvPr id="14" name="Oval 13"/>
          <p:cNvSpPr/>
          <p:nvPr/>
        </p:nvSpPr>
        <p:spPr>
          <a:xfrm>
            <a:off x="10850880" y="46228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5</a:t>
            </a:r>
          </a:p>
        </p:txBody>
      </p:sp>
      <p:sp>
        <p:nvSpPr>
          <p:cNvPr id="15" name="TextBox 14"/>
          <p:cNvSpPr txBox="1"/>
          <p:nvPr/>
        </p:nvSpPr>
        <p:spPr>
          <a:xfrm>
            <a:off x="914400" y="46380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החזר מס</a:t>
            </a:r>
          </a:p>
        </p:txBody>
      </p:sp>
      <p:sp>
        <p:nvSpPr>
          <p:cNvPr id="16" name="Oval 15"/>
          <p:cNvSpPr/>
          <p:nvPr/>
        </p:nvSpPr>
        <p:spPr>
          <a:xfrm>
            <a:off x="10850880" y="5207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6</a:t>
            </a:r>
          </a:p>
        </p:txBody>
      </p:sp>
      <p:sp>
        <p:nvSpPr>
          <p:cNvPr id="17" name="TextBox 16"/>
          <p:cNvSpPr txBox="1"/>
          <p:nvPr/>
        </p:nvSpPr>
        <p:spPr>
          <a:xfrm>
            <a:off x="914400" y="52222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נקודת המוצא שלי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70</a:t>
            </a:r>
          </a:p>
        </p:txBody>
      </p:sp>
      <p:pic>
        <p:nvPicPr>
          <p:cNvPr id="4" name="Picture 3" descr="s26_scale.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70532"/>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שלב 2 בכלי</a:t>
            </a:r>
          </a:p>
        </p:txBody>
      </p:sp>
      <p:sp>
        <p:nvSpPr>
          <p:cNvPr id="6" name="TextBox 5"/>
          <p:cNvSpPr txBox="1"/>
          <p:nvPr/>
        </p:nvSpPr>
        <p:spPr>
          <a:xfrm>
            <a:off x="5334000" y="2427732"/>
            <a:ext cx="5943600" cy="783336"/>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RiseUp</a:t>
            </a:r>
          </a:p>
        </p:txBody>
      </p:sp>
      <p:sp>
        <p:nvSpPr>
          <p:cNvPr id="7" name="TextBox 6"/>
          <p:cNvSpPr txBox="1"/>
          <p:nvPr/>
        </p:nvSpPr>
        <p:spPr>
          <a:xfrm>
            <a:off x="5334000" y="3363468"/>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חודש ראשון חינם + חודשיים ב-50%, דרך הלינק שבכלי.</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עד הלייב הבא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יש לך 3 מספרים</a:t>
            </a:r>
          </a:p>
        </p:txBody>
      </p:sp>
      <p:sp>
        <p:nvSpPr>
          <p:cNvPr id="6" name="Rounded Rectangle 5"/>
          <p:cNvSpPr/>
          <p:nvPr/>
        </p:nvSpPr>
        <p:spPr>
          <a:xfrm>
            <a:off x="7955280" y="2286000"/>
            <a:ext cx="3322320" cy="27432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השווי הנקי שלי</a:t>
            </a:r>
          </a:p>
        </p:txBody>
      </p:sp>
      <p:sp>
        <p:nvSpPr>
          <p:cNvPr id="8" name="TextBox 7"/>
          <p:cNvSpPr txBox="1"/>
          <p:nvPr/>
        </p:nvSpPr>
        <p:spPr>
          <a:xfrm>
            <a:off x="822960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a:t>
            </a:r>
          </a:p>
        </p:txBody>
      </p:sp>
      <p:sp>
        <p:nvSpPr>
          <p:cNvPr id="9" name="Rounded Rectangle 8"/>
          <p:cNvSpPr/>
          <p:nvPr/>
        </p:nvSpPr>
        <p:spPr>
          <a:xfrm>
            <a:off x="4434840" y="2286000"/>
            <a:ext cx="3322320" cy="27432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0916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התזרים שלי</a:t>
            </a:r>
          </a:p>
        </p:txBody>
      </p:sp>
      <p:sp>
        <p:nvSpPr>
          <p:cNvPr id="11" name="TextBox 10"/>
          <p:cNvSpPr txBox="1"/>
          <p:nvPr/>
        </p:nvSpPr>
        <p:spPr>
          <a:xfrm>
            <a:off x="470916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 בחודש</a:t>
            </a:r>
          </a:p>
        </p:txBody>
      </p:sp>
      <p:sp>
        <p:nvSpPr>
          <p:cNvPr id="12" name="Rounded Rectangle 11"/>
          <p:cNvSpPr/>
          <p:nvPr/>
        </p:nvSpPr>
        <p:spPr>
          <a:xfrm>
            <a:off x="914400" y="2286000"/>
            <a:ext cx="3322320" cy="27432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חסכתי</a:t>
            </a:r>
          </a:p>
        </p:txBody>
      </p:sp>
      <p:sp>
        <p:nvSpPr>
          <p:cNvPr id="14" name="TextBox 13"/>
          <p:cNvSpPr txBox="1"/>
          <p:nvPr/>
        </p:nvSpPr>
        <p:spPr>
          <a:xfrm>
            <a:off x="118872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 בחודש</a:t>
            </a:r>
          </a:p>
        </p:txBody>
      </p:sp>
      <p:sp>
        <p:nvSpPr>
          <p:cNvPr id="15" name="TextBox 14"/>
          <p:cNvSpPr txBox="1"/>
          <p:nvPr/>
        </p:nvSpPr>
        <p:spPr>
          <a:xfrm>
            <a:off x="914400" y="53340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”הוזלתי באינטרנט 70 ₪, בסלולר עוד 100 ₪“. מספר מוגדר וברור.</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72</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הימור קטן</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כמה את מנחשת שתמצאי עד יום שני הבא?</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73</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הסוד להתקדם הוא להתחיל.</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מארק טוויין</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הערב</a:t>
            </a:r>
          </a:p>
        </p:txBody>
      </p:sp>
      <p:sp>
        <p:nvSpPr>
          <p:cNvPr id="5" name="Oval 4"/>
          <p:cNvSpPr/>
          <p:nvPr/>
        </p:nvSpPr>
        <p:spPr>
          <a:xfrm>
            <a:off x="10850880" y="1905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6" name="TextBox 5"/>
          <p:cNvSpPr txBox="1"/>
          <p:nvPr/>
        </p:nvSpPr>
        <p:spPr>
          <a:xfrm>
            <a:off x="914400" y="192024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שיטת המצפן</a:t>
            </a:r>
          </a:p>
        </p:txBody>
      </p:sp>
      <p:sp>
        <p:nvSpPr>
          <p:cNvPr id="7" name="Oval 6"/>
          <p:cNvSpPr/>
          <p:nvPr/>
        </p:nvSpPr>
        <p:spPr>
          <a:xfrm>
            <a:off x="10850880" y="2849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8" name="TextBox 7"/>
          <p:cNvSpPr txBox="1"/>
          <p:nvPr/>
        </p:nvSpPr>
        <p:spPr>
          <a:xfrm>
            <a:off x="914400" y="286512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החזון ולוח החזון</a:t>
            </a:r>
          </a:p>
        </p:txBody>
      </p:sp>
      <p:sp>
        <p:nvSpPr>
          <p:cNvPr id="9" name="Oval 8"/>
          <p:cNvSpPr/>
          <p:nvPr/>
        </p:nvSpPr>
        <p:spPr>
          <a:xfrm>
            <a:off x="10850880" y="3794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0" name="TextBox 9"/>
          <p:cNvSpPr txBox="1"/>
          <p:nvPr/>
        </p:nvSpPr>
        <p:spPr>
          <a:xfrm>
            <a:off x="914400" y="381000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מעגל, סולם, ו”איך אפשר?“</a:t>
            </a:r>
          </a:p>
        </p:txBody>
      </p:sp>
      <p:sp>
        <p:nvSpPr>
          <p:cNvPr id="11" name="Oval 10"/>
          <p:cNvSpPr/>
          <p:nvPr/>
        </p:nvSpPr>
        <p:spPr>
          <a:xfrm>
            <a:off x="10850880" y="4739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2" name="TextBox 11"/>
          <p:cNvSpPr txBox="1"/>
          <p:nvPr/>
        </p:nvSpPr>
        <p:spPr>
          <a:xfrm>
            <a:off x="914400" y="475488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נקודת המוצא: שווי נקי ותזרים</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עד יום שני הבא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לוח החזון: אם עוד לא, הערב</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הכלי ”נקודת המוצא“: ששת השלבים</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מגיעות עם 3 מספרים: שווי נקי, תזרים, כמה חסכתי</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76</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 לוקחת מהערב</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77</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01802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10946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10" name="TextBox 9"/>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1" name="Oval 10"/>
          <p:cNvSpPr/>
          <p:nvPr/>
        </p:nvSpPr>
        <p:spPr>
          <a:xfrm>
            <a:off x="411480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2 · מגינות: לכל שקל טווח ותפקיד.</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המטרות עם סכום ותאריך, קרן החירום, ומה הולך לטווח קצר ומה לטווח ארוך.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