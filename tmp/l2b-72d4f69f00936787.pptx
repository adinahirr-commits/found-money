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01</a:t>
            </a:r>
          </a:p>
        </p:txBody>
      </p:sp>
      <p:pic>
        <p:nvPicPr>
          <p:cNvPr id="4" name="Picture 3" descr="s56_hammo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38200"/>
            <a:ext cx="4876800" cy="48768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6248400" y="1143000"/>
            <a:ext cx="5029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הרצאה 2 · מעיסוק &gt;&gt; לעסק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0" y="1524000"/>
            <a:ext cx="5029200" cy="259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8000"/>
              </a:lnSpc>
            </a:pPr>
            <a:r>
              <a:rPr sz="60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העסק</a:t>
            </a:r>
          </a:p>
          <a:p>
            <a:pPr algn="r" rtl="1">
              <a:lnSpc>
                <a:spcPct val="98000"/>
              </a:lnSpc>
            </a:pPr>
            <a:r>
              <a:rPr sz="60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שעובד גם</a:t>
            </a:r>
          </a:p>
          <a:p>
            <a:pPr algn="r" rtl="1">
              <a:lnSpc>
                <a:spcPct val="98000"/>
              </a:lnSpc>
            </a:pPr>
            <a:r>
              <a:rPr sz="600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כשאני לא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0" y="4267200"/>
            <a:ext cx="50292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לחשוב כמו בעלי עסק בעידן ה־AI: מינוף, אוטומציות וסיסטמים, במקום עוד עבודה קשה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50880" y="5379720"/>
            <a:ext cx="426720" cy="45720"/>
          </a:xfrm>
          <a:prstGeom prst="roundRect">
            <a:avLst>
              <a:gd name="adj" fmla="val 50000"/>
            </a:avLst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8400" y="5273040"/>
            <a:ext cx="44500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39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עדי סומך · מנכ״לית ומייסדת אמא משקיעה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24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רגע לפני שמתחילים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05000"/>
            <a:ext cx="1036320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84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היי :) נעים להכיר!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4000" y="3657600"/>
            <a:ext cx="9753600" cy="1524000"/>
          </a:xfrm>
          <a:prstGeom prst="roundRect">
            <a:avLst>
              <a:gd name="adj" fmla="val 15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35280" rIns="335280" tIns="201168" bIns="201168"/>
          <a:lstStyle/>
          <a:p>
            <a:pPr algn="r" rtl="1">
              <a:lnSpc>
                <a:spcPct val="115000"/>
              </a:lnSpc>
            </a:pPr>
            <a:r>
              <a:rPr sz="21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כתבו לי בצ׳אט: מי אתם, ומה בעסק שלכם עדיין תלוי רק בכם?</a:t>
            </a:r>
          </a:p>
          <a:p>
            <a:pPr algn="r" rtl="1">
              <a:lnSpc>
                <a:spcPct val="115000"/>
              </a:lnSpc>
              <a:spcBef>
                <a:spcPts val="840"/>
              </a:spcBef>
            </a:pPr>
            <a:r>
              <a:rPr sz="21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אני אחזור לתשובות שלכם לאורך הערב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8496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רגע לפני שאני מציגה את עצמי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42160"/>
            <a:ext cx="10363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4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בזמן שאנחנו יושבים כאן,</a:t>
            </a:r>
          </a:p>
          <a:p>
            <a:pPr algn="r" rtl="1">
              <a:lnSpc>
                <a:spcPct val="110000"/>
              </a:lnSpc>
            </a:pPr>
            <a:r>
              <a:rPr sz="4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שמונה עובדות שלי </a:t>
            </a:r>
            <a:r>
              <a:rPr sz="480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עובדות</a:t>
            </a:r>
            <a:r>
              <a:rPr sz="4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40"/>
            <a:ext cx="10363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ואף אחת מהן לא לקחה היום יום מחלה.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תכירו את הצוות שלי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28700"/>
            <a:ext cx="10363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1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שמונה עובדות. אפס משכורות. אפס ימי מחלה.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363200" cy="838200"/>
          </a:xfrm>
          <a:prstGeom prst="roundRect">
            <a:avLst>
              <a:gd name="adj" fmla="val 27272"/>
            </a:avLst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04800" rIns="304800" tIns="182880" bIns="182880"/>
          <a:lstStyle/>
          <a:p>
            <a:pPr algn="r" rtl="1">
              <a:lnSpc>
                <a:spcPct val="115000"/>
              </a:lnSpc>
            </a:pPr>
            <a:r>
              <a:rPr sz="1560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ריטה · מנהלת העבודה   </a:t>
            </a:r>
            <a:r>
              <a:rPr sz="1560" b="0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בודקת כל רבע שעה שכולן עובדות, מתקנת לבד מה שאפשר, ומקפיצה לי רק מה שבאמת צריך אותי.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01100" y="2857500"/>
            <a:ext cx="2476500" cy="1524000"/>
          </a:xfrm>
          <a:prstGeom prst="roundRect">
            <a:avLst>
              <a:gd name="adj" fmla="val 8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99220" y="2994660"/>
            <a:ext cx="20802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נוגה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9220" y="3329940"/>
            <a:ext cx="20802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לידים ושיווק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9220" y="3619500"/>
            <a:ext cx="208026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קולטת כל נרשמת חדשה ומכניסה אותה לרשימה הנכונה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857500"/>
            <a:ext cx="2476500" cy="15240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0320" y="2994660"/>
            <a:ext cx="20802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מאיה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320" y="3329940"/>
            <a:ext cx="20802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מכירות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320" y="3619500"/>
            <a:ext cx="208026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משייכת כל פנייה לאשת המכירות, ומזכירה מי מחכה לתשובה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3300" y="2857500"/>
            <a:ext cx="2476500" cy="1524000"/>
          </a:xfrm>
          <a:prstGeom prst="roundRect">
            <a:avLst>
              <a:gd name="adj" fmla="val 8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1420" y="2994660"/>
            <a:ext cx="20802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תמר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1420" y="3329940"/>
            <a:ext cx="20802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משתתפות וליווי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1420" y="3619500"/>
            <a:ext cx="208026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פותחת גישה לאזור האישי לכל רוכשת, תוך דקה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2857500"/>
            <a:ext cx="2476500" cy="1524000"/>
          </a:xfrm>
          <a:prstGeom prst="roundRect">
            <a:avLst>
              <a:gd name="adj" fmla="val 8000"/>
            </a:avLst>
          </a:prstGeom>
          <a:solidFill>
            <a:srgbClr val="E5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2520" y="2994660"/>
            <a:ext cx="20802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שירה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2520" y="3329940"/>
            <a:ext cx="20802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הפניות לסוכנים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2520" y="3619500"/>
            <a:ext cx="208026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מעבירה לסוכנים את מי שביקשה פגישה, ועוקבת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1100" y="4533900"/>
            <a:ext cx="2476500" cy="1524000"/>
          </a:xfrm>
          <a:prstGeom prst="roundRect">
            <a:avLst>
              <a:gd name="adj" fmla="val 8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99220" y="4671060"/>
            <a:ext cx="20802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אביגיל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9220" y="5006340"/>
            <a:ext cx="20802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כסף ודוחות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9220" y="5295900"/>
            <a:ext cx="208026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מסדרת קבלות ומעדכנת את התזרים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533900"/>
            <a:ext cx="2476500" cy="15240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0320" y="4671060"/>
            <a:ext cx="20802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הילה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0320" y="5006340"/>
            <a:ext cx="20802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תוכן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320" y="5295900"/>
            <a:ext cx="208026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מכינה טיוטות ותזכורות תוכן לשבוע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43300" y="4533900"/>
            <a:ext cx="2476500" cy="1524000"/>
          </a:xfrm>
          <a:prstGeom prst="roundRect">
            <a:avLst>
              <a:gd name="adj" fmla="val 8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1420" y="4671060"/>
            <a:ext cx="20802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יעל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1420" y="5006340"/>
            <a:ext cx="20802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תשתית וגיבוי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1420" y="5295900"/>
            <a:ext cx="208026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מגבה את כל הנתונים כל לילה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533900"/>
            <a:ext cx="2476500" cy="1524000"/>
          </a:xfrm>
          <a:prstGeom prst="roundRect">
            <a:avLst>
              <a:gd name="adj" fmla="val 15000"/>
            </a:avLst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98120" rIns="198120" tIns="118872" bIns="118872"/>
          <a:lstStyle/>
          <a:p>
            <a:pPr algn="r" rtl="1">
              <a:lnSpc>
                <a:spcPct val="140000"/>
              </a:lnSpc>
            </a:pPr>
            <a:r>
              <a:rPr sz="14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וכולן עובדות בשבילי.</a:t>
            </a:r>
          </a:p>
          <a:p>
            <a:pPr algn="r" rtl="1">
              <a:lnSpc>
                <a:spcPct val="140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גם עכשיו, בזמן שאני מדברת איתכם.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05</a:t>
            </a:r>
          </a:p>
        </p:txBody>
      </p:sp>
      <p:pic>
        <p:nvPicPr>
          <p:cNvPr id="4" name="Picture 3" descr="s03_whe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47800"/>
            <a:ext cx="3657600" cy="36576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Rounded Rectangle 4"/>
          <p:cNvSpPr/>
          <p:nvPr/>
        </p:nvSpPr>
        <p:spPr>
          <a:xfrm>
            <a:off x="5029200" y="1905000"/>
            <a:ext cx="6248400" cy="2895600"/>
          </a:xfrm>
          <a:prstGeom prst="roundRect">
            <a:avLst>
              <a:gd name="adj" fmla="val 9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0" y="2438400"/>
            <a:ext cx="515112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שאלה לקהל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2834640"/>
            <a:ext cx="5151120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ומה העסק שלכם עושה עכשיו, כשאתם כאן?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06</a:t>
            </a:r>
          </a:p>
        </p:txBody>
      </p:sp>
      <p:pic>
        <p:nvPicPr>
          <p:cNvPr id="4" name="Picture 3" descr="ad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3352800" cy="426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800" y="1143000"/>
            <a:ext cx="64008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ועכשיו קצת עליי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0" y="1485900"/>
            <a:ext cx="64008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55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עדי סומך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0" y="2400300"/>
            <a:ext cx="64008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מנכ״לית ומייסדת אמא משקיעה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0" y="2781300"/>
            <a:ext cx="640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נשואה למני ואמא של אלה ואביב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800" y="3276600"/>
            <a:ext cx="6400800" cy="1524000"/>
          </a:xfrm>
          <a:prstGeom prst="roundRect">
            <a:avLst>
              <a:gd name="adj" fmla="val 15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43840" rIns="243840" tIns="146304" bIns="146304"/>
          <a:lstStyle/>
          <a:p>
            <a:pPr algn="r" rtl="1">
              <a:lnSpc>
                <a:spcPct val="140000"/>
              </a:lnSpc>
            </a:pPr>
            <a:r>
              <a:rPr sz="14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אמא משקיעה =</a:t>
            </a:r>
          </a:p>
          <a:p>
            <a:pPr algn="r" rtl="1">
              <a:lnSpc>
                <a:spcPct val="140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אמא שלא משאירה את העתיד ליד המקרה. משקיעה ובונה את המשפחה בלי לוותר על עצמה בדרך. אמא שלא צריכה לבחור בין ההנאות של היום לבין הביטחון של העתיד.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07</a:t>
            </a:r>
          </a:p>
        </p:txBody>
      </p:sp>
      <p:pic>
        <p:nvPicPr>
          <p:cNvPr id="4" name="Picture 3" descr="s06_c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95400"/>
            <a:ext cx="3810000" cy="38100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5334000" y="1655064"/>
            <a:ext cx="59436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הסיפור שלי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0" y="2112264"/>
            <a:ext cx="5943600" cy="1414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432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10 שנים</a:t>
            </a:r>
            <a:r>
              <a:rPr sz="43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 הייתי שכירה</a:t>
            </a:r>
          </a:p>
          <a:p>
            <a:pPr algn="r" rtl="1">
              <a:lnSpc>
                <a:spcPct val="110000"/>
              </a:lnSpc>
            </a:pPr>
            <a:r>
              <a:rPr sz="43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בעסק של עצמי.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0" y="3678936"/>
            <a:ext cx="5943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מאפרת. הלקוחות, התיאומים, הנסיעות, השיווק, הגבייה. הכל עליי. יום בלי כלות היה יום בלי הכנסה.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44752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ורק אחרי שנים הבנתי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01952"/>
            <a:ext cx="10363200" cy="1834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575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לא באמת היה לי עסק.</a:t>
            </a:r>
          </a:p>
          <a:p>
            <a:pPr algn="r" rtl="1">
              <a:lnSpc>
                <a:spcPct val="110000"/>
              </a:lnSpc>
            </a:pPr>
            <a:r>
              <a:rPr sz="575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היה לי </a:t>
            </a:r>
            <a:r>
              <a:rPr sz="5759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עיסוק</a:t>
            </a:r>
            <a:r>
              <a:rPr sz="575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9248"/>
            <a:ext cx="10363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עבדתי קשה, הרווחתי יפה, ובניתי לעצמי כלוב של זהב. כל עוד אני שם, יש כסף. ברגע שאני לא, הכל נעצר.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09</a:t>
            </a:r>
          </a:p>
        </p:txBody>
      </p:sp>
      <p:pic>
        <p:nvPicPr>
          <p:cNvPr id="4" name="Picture 3" descr="s30_bl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95400"/>
            <a:ext cx="3810000" cy="38100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5334000" y="1497330"/>
            <a:ext cx="59436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ומה השתנה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0" y="1954530"/>
            <a:ext cx="5943600" cy="1729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היום אני בהריון.</a:t>
            </a:r>
          </a:p>
          <a:p>
            <a:pPr algn="r" rtl="1">
              <a:lnSpc>
                <a:spcPct val="110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בדצמבר, חופשת לידה.</a:t>
            </a:r>
          </a:p>
          <a:p>
            <a:pPr algn="r" rtl="1">
              <a:lnSpc>
                <a:spcPct val="110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והעסק? </a:t>
            </a:r>
            <a:r>
              <a:rPr sz="360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ממשיך לעבוד.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0" y="3836670"/>
            <a:ext cx="5943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לא כי אני עובדת קשה יותר. כי אני חושבת אחרת.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הדרך של הערב · ארבע תחנות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301240"/>
            <a:ext cx="7620000" cy="30480"/>
          </a:xfrm>
          <a:prstGeom prst="rect">
            <a:avLst/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12680" y="1737360"/>
            <a:ext cx="1158240" cy="1158240"/>
          </a:xfrm>
          <a:prstGeom prst="ellipse">
            <a:avLst/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04120" y="1828800"/>
            <a:ext cx="975360" cy="975360"/>
          </a:xfrm>
          <a:prstGeom prst="ellipse">
            <a:avLst/>
          </a:prstGeom>
          <a:solidFill>
            <a:srgbClr val="EF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2987040"/>
            <a:ext cx="2438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החשיבה</a:t>
            </a:r>
          </a:p>
        </p:txBody>
      </p:sp>
      <p:sp>
        <p:nvSpPr>
          <p:cNvPr id="9" name="Oval 8"/>
          <p:cNvSpPr/>
          <p:nvPr/>
        </p:nvSpPr>
        <p:spPr>
          <a:xfrm>
            <a:off x="7109460" y="1828800"/>
            <a:ext cx="975360" cy="975360"/>
          </a:xfrm>
          <a:prstGeom prst="ellipse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7940" y="2987040"/>
            <a:ext cx="2438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המינוף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0" y="1828800"/>
            <a:ext cx="975360" cy="975360"/>
          </a:xfrm>
          <a:prstGeom prst="ellipse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987040"/>
            <a:ext cx="2438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הכלים</a:t>
            </a:r>
          </a:p>
        </p:txBody>
      </p:sp>
      <p:sp>
        <p:nvSpPr>
          <p:cNvPr id="13" name="Oval 12"/>
          <p:cNvSpPr/>
          <p:nvPr/>
        </p:nvSpPr>
        <p:spPr>
          <a:xfrm>
            <a:off x="1120140" y="1828800"/>
            <a:ext cx="975360" cy="975360"/>
          </a:xfrm>
          <a:prstGeom prst="ellipse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" y="2987040"/>
            <a:ext cx="2438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הכפולות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10000"/>
            <a:ext cx="10363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7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איך חושבים כמו בעלי עסק, איך ממנפים אנשים, טכנולוגיה ואוטומציות, באילו כלים אני משתמשת, ואיך כל צעד הופך מפלוס לכפולה.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62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ההבדל הוא לא בכישרון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71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שכירים של עצמנו מול בעלי עסק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400" y="2057400"/>
            <a:ext cx="5029200" cy="3810000"/>
          </a:xfrm>
          <a:prstGeom prst="roundRect">
            <a:avLst>
              <a:gd name="adj" fmla="val 6000"/>
            </a:avLst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2324100"/>
            <a:ext cx="426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שכירים של עצמנו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933700"/>
            <a:ext cx="4267200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שואלים: ״איך אני אעשה את זה?״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רוצים להרוויח יותר? עובדים יותר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כל משימה מתחילה מאפס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הם המוצר. בלעדיהם אין עסק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יום חופש = יום בלי הכנסה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57400"/>
            <a:ext cx="5029200" cy="3810000"/>
          </a:xfrm>
          <a:prstGeom prst="roundRect">
            <a:avLst>
              <a:gd name="adj" fmla="val 6000"/>
            </a:avLst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5400" y="2324100"/>
            <a:ext cx="426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בעלי עסק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2933700"/>
            <a:ext cx="4267200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שואלים: ״מי או מה יעשה את זה?״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רוצים להרוויח יותר? בונים מנגנון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בונים פעם אחת, וזה רץ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הם המנכ״לים של העסק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יום חופש = המערכת עובדת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62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מה השתנה אצלי, צעד אחרי צעד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חמש תזוזות בראש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39072" y="1981200"/>
            <a:ext cx="1938528" cy="3962400"/>
          </a:xfrm>
          <a:prstGeom prst="roundRect">
            <a:avLst>
              <a:gd name="adj" fmla="val 7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2432" y="2179320"/>
            <a:ext cx="1511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מעשייה לסיסטם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2432" y="2842260"/>
            <a:ext cx="1511808" cy="327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משהו קורה פעמיים? הוא כבר תהליך. כותבים אותו, ובונים אותו פעם אחת.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32904" y="1981200"/>
            <a:ext cx="1938528" cy="3962400"/>
          </a:xfrm>
          <a:prstGeom prst="roundRect">
            <a:avLst>
              <a:gd name="adj" fmla="val 7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46264" y="2179320"/>
            <a:ext cx="1511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מ״אני״ ל״מי״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6264" y="2842260"/>
            <a:ext cx="1511808" cy="327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השאלה הראשונה היא לא איך אני אעשה, אלא מי או מה יעשה את זה.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6736" y="1981200"/>
            <a:ext cx="1938528" cy="3962400"/>
          </a:xfrm>
          <a:prstGeom prst="roundRect">
            <a:avLst>
              <a:gd name="adj" fmla="val 7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0096" y="2179320"/>
            <a:ext cx="1511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מעבודה קשה למינוף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2842260"/>
            <a:ext cx="1511808" cy="327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יותר תוצאה, מפחות שעות שלי. אנשים, טכנולוגיה, אוטומציות.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20568" y="1981200"/>
            <a:ext cx="1938528" cy="3962400"/>
          </a:xfrm>
          <a:prstGeom prst="roundRect">
            <a:avLst>
              <a:gd name="adj" fmla="val 7000"/>
            </a:avLst>
          </a:prstGeom>
          <a:solidFill>
            <a:srgbClr val="E5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33928" y="2179320"/>
            <a:ext cx="1511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מתחושה למספרים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3928" y="2842260"/>
            <a:ext cx="1511808" cy="327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במבט אחד אני יודעת מה קורה בעסק. בלי לנחש, בלי לחפש.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981200"/>
            <a:ext cx="1938528" cy="3962400"/>
          </a:xfrm>
          <a:prstGeom prst="roundRect">
            <a:avLst>
              <a:gd name="adj" fmla="val 7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7760" y="2179320"/>
            <a:ext cx="1511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מביצוע להחלטות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60" y="2842260"/>
            <a:ext cx="1511808" cy="327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הזמן שלי הולך למה שרק אני יכולה לעשות: מסרים, יצירה, אנשים.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דוגמה אחת מהעסק שלי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11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71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 קורה כשמישהי קונה ממני?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79000" y="2438400"/>
            <a:ext cx="1498600" cy="1295400"/>
          </a:xfrm>
          <a:prstGeom prst="roundRect">
            <a:avLst>
              <a:gd name="adj" fmla="val 17647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6680" rIns="106680" tIns="64008" bIns="64008"/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תשלום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4680" y="2895600"/>
            <a:ext cx="27432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6080" y="2438400"/>
            <a:ext cx="1498600" cy="1295400"/>
          </a:xfrm>
          <a:prstGeom prst="roundRect">
            <a:avLst>
              <a:gd name="adj" fmla="val 17647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6680" rIns="106680" tIns="64008" bIns="64008"/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קבלה נשלחת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31760" y="2895600"/>
            <a:ext cx="27432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160" y="2438400"/>
            <a:ext cx="1498600" cy="1295400"/>
          </a:xfrm>
          <a:prstGeom prst="roundRect">
            <a:avLst>
              <a:gd name="adj" fmla="val 17647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6680" rIns="106680" tIns="64008" bIns="64008"/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גישה לאזור האישי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58840" y="2895600"/>
            <a:ext cx="27432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0240" y="2438400"/>
            <a:ext cx="1498600" cy="1295400"/>
          </a:xfrm>
          <a:prstGeom prst="roundRect">
            <a:avLst>
              <a:gd name="adj" fmla="val 17647"/>
            </a:avLst>
          </a:prstGeom>
          <a:solidFill>
            <a:srgbClr val="E5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6680" rIns="106680" tIns="64008" bIns="64008"/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מייל ברוכה הבאה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5920" y="2895600"/>
            <a:ext cx="27432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87320" y="2438400"/>
            <a:ext cx="1498600" cy="1295400"/>
          </a:xfrm>
          <a:prstGeom prst="roundRect">
            <a:avLst>
              <a:gd name="adj" fmla="val 17647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6680" rIns="106680" tIns="64008" bIns="64008"/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הצטרפות לקבוצה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3000" y="2895600"/>
            <a:ext cx="27432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438400"/>
            <a:ext cx="1498600" cy="1295400"/>
          </a:xfrm>
          <a:prstGeom prst="roundRect">
            <a:avLst>
              <a:gd name="adj" fmla="val 17647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6680" rIns="106680" tIns="64008" bIns="64008"/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תזכורת לפני המפגש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1036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4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פעם הכל היה עליי, ביד, לכל לקוחה. היום: </a:t>
            </a:r>
            <a:r>
              <a:rPr sz="240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שישה צעדים, אפס ידיים.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53000"/>
            <a:ext cx="10363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בניתי את זה פעם אחת. מאז זה קורה לבד, גם בשבת וגם באמצע הלילה.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05000"/>
            <a:ext cx="10363200" cy="2895600"/>
          </a:xfrm>
          <a:prstGeom prst="roundRect">
            <a:avLst>
              <a:gd name="adj" fmla="val 9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438400"/>
            <a:ext cx="926592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תרגיל · כתבו בצ׳אט דבר אחד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834640"/>
            <a:ext cx="9265920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44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 אתם עושים שוב ושוב, כל שבוע, בעצמכם?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איפה אנחנו בדרך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301240"/>
            <a:ext cx="7620000" cy="30480"/>
          </a:xfrm>
          <a:prstGeom prst="rect">
            <a:avLst/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0412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2987040"/>
            <a:ext cx="2438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החשיבה</a:t>
            </a:r>
          </a:p>
        </p:txBody>
      </p:sp>
      <p:sp>
        <p:nvSpPr>
          <p:cNvPr id="8" name="Oval 7"/>
          <p:cNvSpPr/>
          <p:nvPr/>
        </p:nvSpPr>
        <p:spPr>
          <a:xfrm>
            <a:off x="7018020" y="1737360"/>
            <a:ext cx="1158240" cy="1158240"/>
          </a:xfrm>
          <a:prstGeom prst="ellipse">
            <a:avLst/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09460" y="1828800"/>
            <a:ext cx="975360" cy="975360"/>
          </a:xfrm>
          <a:prstGeom prst="ellipse">
            <a:avLst/>
          </a:prstGeom>
          <a:solidFill>
            <a:srgbClr val="EF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7940" y="2987040"/>
            <a:ext cx="2438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המינוף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0" y="1828800"/>
            <a:ext cx="975360" cy="975360"/>
          </a:xfrm>
          <a:prstGeom prst="ellipse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987040"/>
            <a:ext cx="2438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הכלים</a:t>
            </a:r>
          </a:p>
        </p:txBody>
      </p:sp>
      <p:sp>
        <p:nvSpPr>
          <p:cNvPr id="13" name="Oval 12"/>
          <p:cNvSpPr/>
          <p:nvPr/>
        </p:nvSpPr>
        <p:spPr>
          <a:xfrm>
            <a:off x="1120140" y="1828800"/>
            <a:ext cx="975360" cy="975360"/>
          </a:xfrm>
          <a:prstGeom prst="ellipse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" y="2987040"/>
            <a:ext cx="2438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הכפולות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10000"/>
            <a:ext cx="10363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7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אז מצאנו משימה שחוזרת. עכשיו השאלה: מי או מה יעשה אותה במקומכם? ובשביל זה יש לנו כלי אחד, הכי חזק שיש. מינוף.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16</a:t>
            </a:r>
          </a:p>
        </p:txBody>
      </p:sp>
      <p:pic>
        <p:nvPicPr>
          <p:cNvPr id="4" name="Picture 3" descr="s54_le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95400"/>
            <a:ext cx="3810000" cy="38100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5334000" y="1339596"/>
            <a:ext cx="59436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הכוח שהפך לי את העסק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0" y="1796796"/>
            <a:ext cx="5943600" cy="2045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43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מינוף:</a:t>
            </a:r>
          </a:p>
          <a:p>
            <a:pPr algn="r" rtl="1">
              <a:lnSpc>
                <a:spcPct val="110000"/>
              </a:lnSpc>
            </a:pPr>
            <a:r>
              <a:rPr sz="43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יותר תוצאה,</a:t>
            </a:r>
          </a:p>
          <a:p>
            <a:pPr algn="r" rtl="1">
              <a:lnSpc>
                <a:spcPct val="110000"/>
              </a:lnSpc>
            </a:pPr>
            <a:r>
              <a:rPr sz="43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פחות </a:t>
            </a:r>
            <a:r>
              <a:rPr sz="432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ממכם</a:t>
            </a:r>
            <a:r>
              <a:rPr sz="43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0" y="3994404"/>
            <a:ext cx="5943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לא לעבוד יותר. לגרום לדברים לעבוד בשבילכם.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62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ואצלי, כל אחד מהם עובד כל יום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שלושה סוגי מינוף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34960" y="2133600"/>
            <a:ext cx="3342640" cy="3505200"/>
          </a:xfrm>
          <a:prstGeom prst="roundRect">
            <a:avLst>
              <a:gd name="adj" fmla="val 7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48320" y="2331720"/>
            <a:ext cx="291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6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אנשים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48320" y="2868168"/>
            <a:ext cx="2915920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אשת מכירות שסוגרת בשבילי, סוכנים פנסיוניים, מנטורים. אני לא צריכה לדעת הכל. אני צריכה לדעת מי יודע.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4680" y="2133600"/>
            <a:ext cx="3342640" cy="3505200"/>
          </a:xfrm>
          <a:prstGeom prst="roundRect">
            <a:avLst>
              <a:gd name="adj" fmla="val 7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8040" y="2331720"/>
            <a:ext cx="291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6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טכנולוגיה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8040" y="2868168"/>
            <a:ext cx="2915920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AI כשותף עסקי. כותב איתי, מנתח, בונה מצגות, דפים ודשבורדים. מה שלקח שבוע לוקח שעה.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133600"/>
            <a:ext cx="3342640" cy="3505200"/>
          </a:xfrm>
          <a:prstGeom prst="roundRect">
            <a:avLst>
              <a:gd name="adj" fmla="val 7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7760" y="2331720"/>
            <a:ext cx="291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6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אוטומציות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60" y="2868168"/>
            <a:ext cx="2915920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מערכות שעובדות לבד: תשלום, קבלה, גישה, מייל, תזכורת. בלי שאני נוגעת.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62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מה זה מאפשר לי, בפועל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ה־AI הוא השותף העסקי שלי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12530" y="2057400"/>
            <a:ext cx="2465070" cy="3276600"/>
          </a:xfrm>
          <a:prstGeom prst="roundRect">
            <a:avLst>
              <a:gd name="adj" fmla="val 7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25890" y="2255520"/>
            <a:ext cx="2038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1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בוקר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5890" y="2694432"/>
            <a:ext cx="2038350" cy="259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מקבלת סיכום קצר: מה קרה אתמול, מה דחוף היום, ומה מחכה לי.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9820" y="2057400"/>
            <a:ext cx="2465070" cy="3276600"/>
          </a:xfrm>
          <a:prstGeom prst="roundRect">
            <a:avLst>
              <a:gd name="adj" fmla="val 7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3180" y="2255520"/>
            <a:ext cx="2038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1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כתיבה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3180" y="2694432"/>
            <a:ext cx="2038350" cy="259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מיילים, דפים ופוסטים. אני נותנת את המסר והקול, והוא כותב איתי טיוטה.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110" y="2057400"/>
            <a:ext cx="2465070" cy="3276600"/>
          </a:xfrm>
          <a:prstGeom prst="roundRect">
            <a:avLst>
              <a:gd name="adj" fmla="val 7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0470" y="2255520"/>
            <a:ext cx="2038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1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בנייה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0470" y="2694432"/>
            <a:ext cx="2038350" cy="259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מצגות, דפי נחיתה, שאלונים ודשבורדים. בלי מתכנת ובלי מעצב לכל דבר.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057400"/>
            <a:ext cx="2465070" cy="3276600"/>
          </a:xfrm>
          <a:prstGeom prst="roundRect">
            <a:avLst>
              <a:gd name="adj" fmla="val 7000"/>
            </a:avLst>
          </a:prstGeom>
          <a:solidFill>
            <a:srgbClr val="E5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7760" y="2255520"/>
            <a:ext cx="2038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1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שקט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60" y="2694432"/>
            <a:ext cx="2038350" cy="259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משהו נשבר? מתוקן לפני שאני בכלל שמה לב. ואליי מגיע רק מה שבאמת צריך אותי.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24500"/>
            <a:ext cx="10363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92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אני מחליטה. הוא מבצע.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איפה אנחנו בדרך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301240"/>
            <a:ext cx="7620000" cy="30480"/>
          </a:xfrm>
          <a:prstGeom prst="rect">
            <a:avLst/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0412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2987040"/>
            <a:ext cx="2438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החשיבה</a:t>
            </a:r>
          </a:p>
        </p:txBody>
      </p:sp>
      <p:sp>
        <p:nvSpPr>
          <p:cNvPr id="8" name="Oval 7"/>
          <p:cNvSpPr/>
          <p:nvPr/>
        </p:nvSpPr>
        <p:spPr>
          <a:xfrm>
            <a:off x="710946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7940" y="2987040"/>
            <a:ext cx="2438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המינוף</a:t>
            </a:r>
          </a:p>
        </p:txBody>
      </p:sp>
      <p:sp>
        <p:nvSpPr>
          <p:cNvPr id="10" name="Oval 9"/>
          <p:cNvSpPr/>
          <p:nvPr/>
        </p:nvSpPr>
        <p:spPr>
          <a:xfrm>
            <a:off x="4023360" y="1737360"/>
            <a:ext cx="1158240" cy="1158240"/>
          </a:xfrm>
          <a:prstGeom prst="ellipse">
            <a:avLst/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14800" y="1828800"/>
            <a:ext cx="975360" cy="975360"/>
          </a:xfrm>
          <a:prstGeom prst="ellipse">
            <a:avLst/>
          </a:prstGeom>
          <a:solidFill>
            <a:srgbClr val="EF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987040"/>
            <a:ext cx="2438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הכלים</a:t>
            </a:r>
          </a:p>
        </p:txBody>
      </p:sp>
      <p:sp>
        <p:nvSpPr>
          <p:cNvPr id="13" name="Oval 12"/>
          <p:cNvSpPr/>
          <p:nvPr/>
        </p:nvSpPr>
        <p:spPr>
          <a:xfrm>
            <a:off x="1120140" y="1828800"/>
            <a:ext cx="975360" cy="975360"/>
          </a:xfrm>
          <a:prstGeom prst="ellipse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" y="2987040"/>
            <a:ext cx="2438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הכפולות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10000"/>
            <a:ext cx="10363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7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אנשים, טכנולוגיה ואוטומציות. נשמע גדול? זה מתחיל בכמה כלים פשוטים. בואו אראה לכם במה אני משתמשת.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62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הכלים שאני עובדת איתם כל יום, ומה הם מאפשרים לי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ארגז הכלים שלי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12530" y="1905000"/>
            <a:ext cx="2465070" cy="1973580"/>
          </a:xfrm>
          <a:prstGeom prst="roundRect">
            <a:avLst>
              <a:gd name="adj" fmla="val 7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25890" y="2103120"/>
            <a:ext cx="2038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Claude · ChatGPT · 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5890" y="2699766"/>
            <a:ext cx="2038350" cy="1287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חשיבה, כתיבה, ניתוח ובנייה. השותפים הדיגיטליים שלי.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9820" y="1905000"/>
            <a:ext cx="2465070" cy="1973580"/>
          </a:xfrm>
          <a:prstGeom prst="roundRect">
            <a:avLst>
              <a:gd name="adj" fmla="val 7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3180" y="2103120"/>
            <a:ext cx="2038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Canva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3180" y="2432304"/>
            <a:ext cx="2038350" cy="1287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כל מצגת, פוסט ומודעה. גם בלי להיות מעצבת.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110" y="1905000"/>
            <a:ext cx="2465070" cy="1973580"/>
          </a:xfrm>
          <a:prstGeom prst="roundRect">
            <a:avLst>
              <a:gd name="adj" fmla="val 7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0470" y="2103120"/>
            <a:ext cx="2038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סמוב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0470" y="2432304"/>
            <a:ext cx="2038350" cy="1287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מיילים ורצפים אוטומטיים. כל נרשמת מקבלת את הדבר הנכון בזמן הנכון.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1905000"/>
            <a:ext cx="2465070" cy="1973580"/>
          </a:xfrm>
          <a:prstGeom prst="roundRect">
            <a:avLst>
              <a:gd name="adj" fmla="val 7000"/>
            </a:avLst>
          </a:prstGeom>
          <a:solidFill>
            <a:srgbClr val="E5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7760" y="2103120"/>
            <a:ext cx="2038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ManyChat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60" y="2432304"/>
            <a:ext cx="2038350" cy="1287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מענה אוטומטי בהודעות באינסטגרם, גם כשאני לא מחוברת.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12530" y="4046220"/>
            <a:ext cx="2465070" cy="1973580"/>
          </a:xfrm>
          <a:prstGeom prst="roundRect">
            <a:avLst>
              <a:gd name="adj" fmla="val 7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890" y="4244340"/>
            <a:ext cx="2038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קארדקום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890" y="4573524"/>
            <a:ext cx="2038350" cy="1287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סליקה ותשלומים. כל תשלום מפעיל לבד את כל מה שקורה אחריו.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9820" y="4046220"/>
            <a:ext cx="2465070" cy="1973580"/>
          </a:xfrm>
          <a:prstGeom prst="roundRect">
            <a:avLst>
              <a:gd name="adj" fmla="val 7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3180" y="4244340"/>
            <a:ext cx="2038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איזיקאונט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3180" y="4573524"/>
            <a:ext cx="2038350" cy="1287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קבלות וחשבוניות, שיוצאות לבד.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47110" y="4046220"/>
            <a:ext cx="2465070" cy="1973580"/>
          </a:xfrm>
          <a:prstGeom prst="roundRect">
            <a:avLst>
              <a:gd name="adj" fmla="val 7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60470" y="4244340"/>
            <a:ext cx="2038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Calendly · Zoom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60470" y="4573524"/>
            <a:ext cx="2038350" cy="1287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פגישות שנקבעות לבד, עם תזכורות. ודוח אחרי כל וובינר.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046220"/>
            <a:ext cx="2465070" cy="1973580"/>
          </a:xfrm>
          <a:prstGeom prst="roundRect">
            <a:avLst>
              <a:gd name="adj" fmla="val 7000"/>
            </a:avLst>
          </a:prstGeom>
          <a:solidFill>
            <a:srgbClr val="E5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7760" y="4244340"/>
            <a:ext cx="2038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RiseUp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760" y="4573524"/>
            <a:ext cx="2038350" cy="1287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התזרים הפרטי במבט אחד. לדעת לאן הולך הכסף.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49908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טיפ קטן שעושה הבדל גדול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07108"/>
            <a:ext cx="10363200" cy="162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50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אצלי, לכל אוטומציה</a:t>
            </a:r>
          </a:p>
          <a:p>
            <a:pPr algn="r" rtl="1">
              <a:lnSpc>
                <a:spcPct val="110000"/>
              </a:lnSpc>
            </a:pPr>
            <a:r>
              <a:rPr sz="50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יש </a:t>
            </a:r>
            <a:r>
              <a:rPr sz="50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שם של עובדת</a:t>
            </a:r>
            <a:r>
              <a:rPr sz="50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84092"/>
            <a:ext cx="10363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כי אני לא מנהלת תהליכים. אני מנהלת צוות. ״שירה לא עדכנה היום״ אומר לי הרבה יותר מאשר ״הסנכרון נכשל״.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22</a:t>
            </a:r>
          </a:p>
        </p:txBody>
      </p:sp>
      <p:pic>
        <p:nvPicPr>
          <p:cNvPr id="4" name="Picture 3" descr="s59_pa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24000"/>
            <a:ext cx="3505200" cy="35052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4876800" y="838200"/>
            <a:ext cx="64008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חמישה צעדים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0" y="1219200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איך מתחילים, מחר בבוקר?</a:t>
            </a:r>
          </a:p>
        </p:txBody>
      </p:sp>
      <p:sp>
        <p:nvSpPr>
          <p:cNvPr id="7" name="Oval 6"/>
          <p:cNvSpPr/>
          <p:nvPr/>
        </p:nvSpPr>
        <p:spPr>
          <a:xfrm>
            <a:off x="10850880" y="2286000"/>
            <a:ext cx="426720" cy="42672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0" y="2301240"/>
            <a:ext cx="576072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5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רושמים </a:t>
            </a:r>
            <a:r>
              <a:rPr sz="185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כל מה שאתם עושים יותר מפעמיים בשבוע</a:t>
            </a:r>
          </a:p>
        </p:txBody>
      </p:sp>
      <p:sp>
        <p:nvSpPr>
          <p:cNvPr id="9" name="Oval 8"/>
          <p:cNvSpPr/>
          <p:nvPr/>
        </p:nvSpPr>
        <p:spPr>
          <a:xfrm>
            <a:off x="10850880" y="2987040"/>
            <a:ext cx="426720" cy="42672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800" y="3002280"/>
            <a:ext cx="576072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5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בוחרים </a:t>
            </a:r>
            <a:r>
              <a:rPr sz="185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דבר אחד</a:t>
            </a:r>
            <a:r>
              <a:rPr sz="185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, ושואלים: מי או מה יכול לעשות את זה במקומי?</a:t>
            </a:r>
          </a:p>
        </p:txBody>
      </p:sp>
      <p:sp>
        <p:nvSpPr>
          <p:cNvPr id="11" name="Oval 10"/>
          <p:cNvSpPr/>
          <p:nvPr/>
        </p:nvSpPr>
        <p:spPr>
          <a:xfrm>
            <a:off x="10850880" y="3688080"/>
            <a:ext cx="426720" cy="42672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800" y="3703320"/>
            <a:ext cx="576072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5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בונים אותו </a:t>
            </a:r>
            <a:r>
              <a:rPr sz="185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פעם אחת</a:t>
            </a:r>
            <a:r>
              <a:rPr sz="185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. עם כלי, עם אדם, או עם AI</a:t>
            </a:r>
          </a:p>
        </p:txBody>
      </p:sp>
      <p:sp>
        <p:nvSpPr>
          <p:cNvPr id="13" name="Oval 12"/>
          <p:cNvSpPr/>
          <p:nvPr/>
        </p:nvSpPr>
        <p:spPr>
          <a:xfrm>
            <a:off x="10850880" y="4389120"/>
            <a:ext cx="426720" cy="42672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6800" y="4404360"/>
            <a:ext cx="576072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5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נותנים לו </a:t>
            </a:r>
            <a:r>
              <a:rPr sz="185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שם</a:t>
            </a:r>
            <a:r>
              <a:rPr sz="185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, ובודקים פעם בשבוע שהוא עובד</a:t>
            </a:r>
          </a:p>
        </p:txBody>
      </p:sp>
      <p:sp>
        <p:nvSpPr>
          <p:cNvPr id="15" name="Oval 14"/>
          <p:cNvSpPr/>
          <p:nvPr/>
        </p:nvSpPr>
        <p:spPr>
          <a:xfrm>
            <a:off x="10850880" y="5090160"/>
            <a:ext cx="426720" cy="42672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800" y="5105400"/>
            <a:ext cx="576072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5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ורק אז עוברים </a:t>
            </a:r>
            <a:r>
              <a:rPr sz="185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לדבר הבא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איפה אנחנו בדרך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301240"/>
            <a:ext cx="7620000" cy="30480"/>
          </a:xfrm>
          <a:prstGeom prst="rect">
            <a:avLst/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0412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2987040"/>
            <a:ext cx="2438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החשיבה</a:t>
            </a:r>
          </a:p>
        </p:txBody>
      </p:sp>
      <p:sp>
        <p:nvSpPr>
          <p:cNvPr id="8" name="Oval 7"/>
          <p:cNvSpPr/>
          <p:nvPr/>
        </p:nvSpPr>
        <p:spPr>
          <a:xfrm>
            <a:off x="710946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7940" y="2987040"/>
            <a:ext cx="2438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המינוף</a:t>
            </a:r>
          </a:p>
        </p:txBody>
      </p:sp>
      <p:sp>
        <p:nvSpPr>
          <p:cNvPr id="10" name="Oval 9"/>
          <p:cNvSpPr/>
          <p:nvPr/>
        </p:nvSpPr>
        <p:spPr>
          <a:xfrm>
            <a:off x="411480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987040"/>
            <a:ext cx="2438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הכלים</a:t>
            </a:r>
          </a:p>
        </p:txBody>
      </p:sp>
      <p:sp>
        <p:nvSpPr>
          <p:cNvPr id="12" name="Oval 11"/>
          <p:cNvSpPr/>
          <p:nvPr/>
        </p:nvSpPr>
        <p:spPr>
          <a:xfrm>
            <a:off x="1028700" y="1737360"/>
            <a:ext cx="1158240" cy="1158240"/>
          </a:xfrm>
          <a:prstGeom prst="ellipse">
            <a:avLst/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0140" y="1828800"/>
            <a:ext cx="975360" cy="975360"/>
          </a:xfrm>
          <a:prstGeom prst="ellipse">
            <a:avLst/>
          </a:prstGeom>
          <a:solidFill>
            <a:srgbClr val="EF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" y="2987040"/>
            <a:ext cx="2438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הכפולות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10000"/>
            <a:ext cx="10363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7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ועכשיו הסוד שמחבר את הכל: כל דבר שבניתם לא מתחיל מאפס. הוא מתווסף למה שכבר עשיתם. ואז זה כבר לא פלוסים. זה כפולות.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62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כל פעולה מתווספת למה שכבר עשיתי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71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פלוסים או כפולות?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400" y="2057400"/>
            <a:ext cx="5029200" cy="3810000"/>
          </a:xfrm>
          <a:prstGeom prst="roundRect">
            <a:avLst>
              <a:gd name="adj" fmla="val 6000"/>
            </a:avLst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2324100"/>
            <a:ext cx="426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פלוסים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933700"/>
            <a:ext cx="4267200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עוד לקוחה = עוד הכנסה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עוד שעה = עוד שקל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כל חודש מתחיל מאפס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עוצרים? הכל נעצר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57400"/>
            <a:ext cx="5029200" cy="3810000"/>
          </a:xfrm>
          <a:prstGeom prst="roundRect">
            <a:avLst>
              <a:gd name="adj" fmla="val 6000"/>
            </a:avLst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5400" y="2324100"/>
            <a:ext cx="426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5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כפולות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2933700"/>
            <a:ext cx="4267200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תהליך שבניתי פעם אחת עובד על כל לקוחה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כל אוטומציה נבנית על הקודמת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כל חודש מתחיל ממה שכבר נבנה</a:t>
            </a:r>
          </a:p>
          <a:p>
            <a:pPr algn="r" rtl="1">
              <a:lnSpc>
                <a:spcPct val="135000"/>
              </a:lnSpc>
              <a:spcBef>
                <a:spcPts val="960"/>
              </a:spcBef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עוצרים? זה ממשיך לגדול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חוק ה־1%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11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להשתפר באחוז אחד, כל יום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400" y="2209800"/>
            <a:ext cx="5029200" cy="2514600"/>
          </a:xfrm>
          <a:prstGeom prst="roundRect">
            <a:avLst>
              <a:gd name="adj" fmla="val 909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19456" bIns="219456"/>
          <a:lstStyle/>
          <a:p>
            <a:pPr algn="r" rtl="1">
              <a:lnSpc>
                <a:spcPct val="125000"/>
              </a:lnSpc>
            </a:pPr>
            <a:r>
              <a:rPr sz="24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1.01</a:t>
            </a:r>
            <a:r>
              <a:rPr sz="24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 בחזקת 365</a:t>
            </a:r>
          </a:p>
          <a:p>
            <a:pPr algn="r" rtl="1">
              <a:lnSpc>
                <a:spcPct val="125000"/>
              </a:lnSpc>
            </a:pPr>
            <a:r>
              <a:rPr sz="660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37.8</a:t>
            </a:r>
          </a:p>
          <a:p>
            <a:pPr algn="r" rtl="1">
              <a:lnSpc>
                <a:spcPct val="125000"/>
              </a:lnSpc>
            </a:pPr>
            <a:r>
              <a:rPr sz="24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פי 37 בסוף השנה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09800"/>
            <a:ext cx="5029200" cy="2514600"/>
          </a:xfrm>
          <a:prstGeom prst="roundRect">
            <a:avLst>
              <a:gd name="adj" fmla="val 909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19456" bIns="219456"/>
          <a:lstStyle/>
          <a:p>
            <a:pPr algn="r" rtl="1">
              <a:lnSpc>
                <a:spcPct val="125000"/>
              </a:lnSpc>
            </a:pPr>
            <a:r>
              <a:rPr sz="24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0.99</a:t>
            </a:r>
            <a:r>
              <a:rPr sz="24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 בחזקת 365</a:t>
            </a:r>
          </a:p>
          <a:p>
            <a:pPr algn="r" rtl="1">
              <a:lnSpc>
                <a:spcPct val="125000"/>
              </a:lnSpc>
            </a:pPr>
            <a:r>
              <a:rPr sz="660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0.03</a:t>
            </a:r>
          </a:p>
          <a:p>
            <a:pPr algn="r" rtl="1">
              <a:lnSpc>
                <a:spcPct val="125000"/>
              </a:lnSpc>
            </a:pPr>
            <a:r>
              <a:rPr sz="24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כמעט כלום נשאר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6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20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אחוז אחד ביום זה כמעט לא מורגש. אבל הוא לא מתווסף, הוא </a:t>
            </a:r>
            <a:r>
              <a:rPr sz="2039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מוכפל</a:t>
            </a:r>
            <a:r>
              <a:rPr sz="20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. זה לא עוד צעד. זו כבר כפולה.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96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״הפלא השמיני של הטבע״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63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1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וגם בכסף זה עובד בדיוק ככה: ריבית דריבית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5900"/>
            <a:ext cx="1036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רווחים שמצטברים על הרווחים · לדוגמה: 1,000 ₪ בחודש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62400" y="1943100"/>
            <a:ext cx="7315200" cy="472440"/>
          </a:xfrm>
          <a:prstGeom prst="roundRect">
            <a:avLst>
              <a:gd name="adj" fmla="val 15000"/>
            </a:avLst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6000" y="2049780"/>
            <a:ext cx="121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שנה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8600" y="2049780"/>
            <a:ext cx="1981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סה״כ הפקדות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049780"/>
            <a:ext cx="3657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20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אותו סכום אבל עם ריבית דריבית (10% בשנה)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62400" y="2491740"/>
            <a:ext cx="7315200" cy="472440"/>
          </a:xfrm>
          <a:prstGeom prst="roundRect">
            <a:avLst>
              <a:gd name="adj" fmla="val 15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2598420"/>
            <a:ext cx="121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8600" y="2598420"/>
            <a:ext cx="1981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60,000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598420"/>
            <a:ext cx="3657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77,470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62400" y="3040380"/>
            <a:ext cx="7315200" cy="472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06000" y="3147060"/>
            <a:ext cx="121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3147060"/>
            <a:ext cx="1981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120,000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147060"/>
            <a:ext cx="3657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204,840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62400" y="3589020"/>
            <a:ext cx="7315200" cy="472440"/>
          </a:xfrm>
          <a:prstGeom prst="roundRect">
            <a:avLst>
              <a:gd name="adj" fmla="val 15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6000" y="3695700"/>
            <a:ext cx="121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8600" y="3695700"/>
            <a:ext cx="1981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180,000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695700"/>
            <a:ext cx="3657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417,924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62400" y="4137660"/>
            <a:ext cx="7315200" cy="472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06000" y="4244340"/>
            <a:ext cx="121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8600" y="4244340"/>
            <a:ext cx="1981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240,000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244340"/>
            <a:ext cx="3657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765,700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62400" y="4686300"/>
            <a:ext cx="7315200" cy="472440"/>
          </a:xfrm>
          <a:prstGeom prst="roundRect">
            <a:avLst>
              <a:gd name="adj" fmla="val 15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06000" y="4792980"/>
            <a:ext cx="121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8600" y="4792980"/>
            <a:ext cx="1981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300,000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792980"/>
            <a:ext cx="3657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1,346,790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62400" y="5234940"/>
            <a:ext cx="7315200" cy="472440"/>
          </a:xfrm>
          <a:prstGeom prst="roundRect">
            <a:avLst>
              <a:gd name="adj" fmla="val 15000"/>
            </a:avLst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06000" y="5341620"/>
            <a:ext cx="121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8600" y="5341620"/>
            <a:ext cx="1981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360,000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5341620"/>
            <a:ext cx="3657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2,279,325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2209800"/>
            <a:ext cx="2743200" cy="2286000"/>
          </a:xfrm>
          <a:prstGeom prst="roundRect">
            <a:avLst>
              <a:gd name="adj" fmla="val 10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59080" rIns="259080" tIns="155448" bIns="155448"/>
          <a:lstStyle/>
          <a:p>
            <a:pPr algn="r" rtl="1">
              <a:lnSpc>
                <a:spcPct val="130000"/>
              </a:lnSpc>
            </a:pPr>
            <a:r>
              <a:rPr sz="2039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פי 7!!!!!!</a:t>
            </a:r>
          </a:p>
          <a:p>
            <a:pPr algn="r" rtl="1">
              <a:lnSpc>
                <a:spcPct val="130000"/>
              </a:lnSpc>
            </a:pPr>
            <a:r>
              <a:rPr sz="20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אותה הפקדה.</a:t>
            </a:r>
          </a:p>
          <a:p>
            <a:pPr algn="r" rtl="1">
              <a:lnSpc>
                <a:spcPct val="130000"/>
              </a:lnSpc>
            </a:pPr>
            <a:r>
              <a:rPr sz="20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רק נתנו לזמן לעבוד.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867400"/>
            <a:ext cx="1036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19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להמחשה בלבד, לא תחזית ולא המלצה. תשואה עבר אינה מבטיחה תשואה עתידית.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37538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מאחורי הקלעים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94738"/>
            <a:ext cx="10363200" cy="1449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44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לקח לי 5 שנים לפתוח פנסיה,</a:t>
            </a:r>
          </a:p>
          <a:p>
            <a:pPr algn="r" rtl="1">
              <a:lnSpc>
                <a:spcPct val="110000"/>
              </a:lnSpc>
            </a:pPr>
            <a:r>
              <a:rPr sz="44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אפילו שידעתי שצריך.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96462"/>
            <a:ext cx="10363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כל פעם שהתיישבתי מול הטופס, קפצה שאלה שלא ידעתי לענות עליה. ודחיתי. 5 שנים של תשואה שאף אחד לא יחזיר לי.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62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הכפולה שהמדינה נותנת לבעלי עסק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קרן השתלמות: ריבית דריבית, בלי מס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2057400"/>
            <a:ext cx="3322320" cy="2514600"/>
          </a:xfrm>
          <a:prstGeom prst="roundRect">
            <a:avLst>
              <a:gd name="adj" fmla="val 8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2286000"/>
            <a:ext cx="27736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3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4.5%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971800"/>
            <a:ext cx="277368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מההכנסה מוכרים כהוצאה, עד הכנסה של 293,397 ₪ בשנה. כלומר פחות מס כבר היום.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057400"/>
            <a:ext cx="3322320" cy="2514600"/>
          </a:xfrm>
          <a:prstGeom prst="roundRect">
            <a:avLst>
              <a:gd name="adj" fmla="val 8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286000"/>
            <a:ext cx="27736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3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פטור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971800"/>
            <a:ext cx="277368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ממס רווחי הון על הרווחים, על הפקדה של עד 20,566 ₪ בשנה. הכפולות נשארות אצלכם.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057400"/>
            <a:ext cx="3322320" cy="2514600"/>
          </a:xfrm>
          <a:prstGeom prst="roundRect">
            <a:avLst>
              <a:gd name="adj" fmla="val 8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286000"/>
            <a:ext cx="27736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3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6 שנים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71800"/>
            <a:ext cx="277368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ואז הכסף נזיל. אפשר למשוך, או להשאיר אותו להמשיך להכפיל.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ואת זה הרבה עצמאים פשוט לא מנצלים. </a:t>
            </a: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לא כי אין להם כסף, אלא כי אף אחד לא עצר לבדוק.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38800"/>
            <a:ext cx="1036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8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מקור: רשות המסים, סכומים לשנת 2026. הסכומים מתעדכנים כל שנה.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62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כפולות שמחכות לכם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עד כמה אתם מנצלים את מה שכבר מגיע לכם?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34960" y="2057400"/>
            <a:ext cx="3342640" cy="2971800"/>
          </a:xfrm>
          <a:prstGeom prst="roundRect">
            <a:avLst>
              <a:gd name="adj" fmla="val 7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48320" y="2255520"/>
            <a:ext cx="291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2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הר הכסף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48320" y="2718816"/>
            <a:ext cx="29159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5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אתר ממשלתי שמראה את כל הקופות שעל שמכם. כולל כאלה ששכחתם. עשר דקות, חינם.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4680" y="2057400"/>
            <a:ext cx="3342640" cy="2971800"/>
          </a:xfrm>
          <a:prstGeom prst="roundRect">
            <a:avLst>
              <a:gd name="adj" fmla="val 7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8040" y="2255520"/>
            <a:ext cx="291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2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פנסיה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8040" y="2718816"/>
            <a:ext cx="29159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5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חובה לעצמאים, ועם הטבת מס. וכל אחוז של דמי ניהול מוכפל לאורך עשרות שנים.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057400"/>
            <a:ext cx="3342640" cy="2971800"/>
          </a:xfrm>
          <a:prstGeom prst="roundRect">
            <a:avLst>
              <a:gd name="adj" fmla="val 7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7760" y="2255520"/>
            <a:ext cx="291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2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ביטוחים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60" y="2718816"/>
            <a:ext cx="29159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5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לבדוק שאין כפילויות ושאין חורים. במיוחד אובדן כושר עבודה: המשכורת שלכם ביום שלא תוכלו לעבוד.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363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ואת זה אני לא עושה לבד. בודקת איתי </a:t>
            </a:r>
            <a:r>
              <a:rPr sz="180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רות, היועצת הפנסיונית מהצוות שלי</a:t>
            </a: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. כי זה המקצוע שלה, לא שלי. וזה בדיוק מינוף.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30</a:t>
            </a:r>
          </a:p>
        </p:txBody>
      </p:sp>
      <p:pic>
        <p:nvPicPr>
          <p:cNvPr id="4" name="Picture 3" descr="s56_hammo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47800"/>
            <a:ext cx="3657600" cy="36576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Rounded Rectangle 4"/>
          <p:cNvSpPr/>
          <p:nvPr/>
        </p:nvSpPr>
        <p:spPr>
          <a:xfrm>
            <a:off x="5029200" y="1905000"/>
            <a:ext cx="6248400" cy="2895600"/>
          </a:xfrm>
          <a:prstGeom prst="roundRect">
            <a:avLst>
              <a:gd name="adj" fmla="val 9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0" y="2438400"/>
            <a:ext cx="515112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המבחן של עסק אמיתי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2834640"/>
            <a:ext cx="5151120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 קורה לעסק שלכם אם אתם יוצאים לחודש?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שלוש תשובות אפשריות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11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71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איפה העסק שלכם היום?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65440" y="2209800"/>
            <a:ext cx="3312160" cy="3200400"/>
          </a:xfrm>
          <a:prstGeom prst="roundRect">
            <a:avLst>
              <a:gd name="adj" fmla="val 7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39760" y="2514600"/>
            <a:ext cx="276352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״הכל נעצר״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9760" y="3048000"/>
            <a:ext cx="276352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יש לכם עיסוק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39760" y="3810000"/>
            <a:ext cx="2763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5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הכסף תלוי בשעות שלכם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9920" y="2209800"/>
            <a:ext cx="3312160" cy="3200400"/>
          </a:xfrm>
          <a:prstGeom prst="roundRect">
            <a:avLst>
              <a:gd name="adj" fmla="val 7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4240" y="2514600"/>
            <a:ext cx="276352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״חלק ממשיך״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3048000"/>
            <a:ext cx="276352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אתם בדרך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4240" y="3810000"/>
            <a:ext cx="2763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5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כבר יש מנגנונים. עכשיו מוסיפים עוד אחד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209800"/>
            <a:ext cx="3312160" cy="3200400"/>
          </a:xfrm>
          <a:prstGeom prst="roundRect">
            <a:avLst>
              <a:gd name="adj" fmla="val 7000"/>
            </a:avLst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514600"/>
            <a:ext cx="276352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״זה ממשיך לעבוד״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48000"/>
            <a:ext cx="276352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יש לכם עסק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810000"/>
            <a:ext cx="2763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5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וזה כבר נכס, שעובד בשבילכם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906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אז מה עברנו הערב? הדרך כולה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301240"/>
            <a:ext cx="7620000" cy="30480"/>
          </a:xfrm>
          <a:prstGeom prst="rect">
            <a:avLst/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0412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2987040"/>
            <a:ext cx="2438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החשיבה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0" y="3390900"/>
            <a:ext cx="259080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״מי או מה יעשה את זה?״ במקום ״איך אני אעשה?״</a:t>
            </a:r>
          </a:p>
        </p:txBody>
      </p:sp>
      <p:sp>
        <p:nvSpPr>
          <p:cNvPr id="9" name="Oval 8"/>
          <p:cNvSpPr/>
          <p:nvPr/>
        </p:nvSpPr>
        <p:spPr>
          <a:xfrm>
            <a:off x="710946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7940" y="2987040"/>
            <a:ext cx="2438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המינוף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1740" y="3390900"/>
            <a:ext cx="259080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אנשים, טכנולוגיה, אוטומציות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987040"/>
            <a:ext cx="2438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הכלים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7080" y="3390900"/>
            <a:ext cx="259080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ארגז כלים, ולכל אוטומציה שם</a:t>
            </a:r>
          </a:p>
        </p:txBody>
      </p:sp>
      <p:sp>
        <p:nvSpPr>
          <p:cNvPr id="15" name="Oval 14"/>
          <p:cNvSpPr/>
          <p:nvPr/>
        </p:nvSpPr>
        <p:spPr>
          <a:xfrm>
            <a:off x="112014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" y="2987040"/>
            <a:ext cx="2438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הכפולות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420" y="3390900"/>
            <a:ext cx="259080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1%, ריבית דריבית, וכל מה שכבר מגיע לכם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48200"/>
            <a:ext cx="10363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2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לא צריך לעבוד יותר כדי להרוויח יותר. צריך לבנות מערכת שעובדת גם כשאתם לא שם, ולתת לכפולות לעשות את שלהן.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ולסיום, שתי מתנות ממני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1100"/>
            <a:ext cx="10363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71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כדי שזה לא יישאר רק הרצאה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400" y="2133600"/>
            <a:ext cx="5029200" cy="3200400"/>
          </a:xfrm>
          <a:prstGeom prst="roundRect">
            <a:avLst>
              <a:gd name="adj" fmla="val 7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4160" y="243840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2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מתנה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4160" y="2781300"/>
            <a:ext cx="429768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פגישה עם רות, היועצת הפנסיונית מהצוות שלי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4160" y="3924300"/>
            <a:ext cx="429768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עוברת איתכם על התיק הפנסיוני והביטוחי, ונותנת לכם המלצות קונקרטיות. בלי עלות.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33600"/>
            <a:ext cx="5029200" cy="3200400"/>
          </a:xfrm>
          <a:prstGeom prst="roundRect">
            <a:avLst>
              <a:gd name="adj" fmla="val 7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43840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2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מתנה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81300"/>
            <a:ext cx="429768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ארגז הכלים שלי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924300"/>
            <a:ext cx="429768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כל הכלים שאני עובדת איתם, מה כל אחד מאפשר, ואיך מתחילים. כולל פרומפטים מוכנים ל־AI.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62600"/>
            <a:ext cx="1036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6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את שתי המתנות תקבלו בקבוצת הווטסאפ, מיד בסוף ההרצאה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990600"/>
            <a:ext cx="59436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ומה עכשיו? שלושה צעדים לשבוע הקרוב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1333500"/>
            <a:ext cx="59436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1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עסק שעובד בלעדיכם</a:t>
            </a:r>
          </a:p>
          <a:p>
            <a:pPr algn="r" rtl="1">
              <a:lnSpc>
                <a:spcPct val="110000"/>
              </a:lnSpc>
            </a:pPr>
            <a:r>
              <a:rPr sz="31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מתחיל בדבר אחד</a:t>
            </a:r>
          </a:p>
        </p:txBody>
      </p:sp>
      <p:sp>
        <p:nvSpPr>
          <p:cNvPr id="6" name="Oval 5"/>
          <p:cNvSpPr/>
          <p:nvPr/>
        </p:nvSpPr>
        <p:spPr>
          <a:xfrm>
            <a:off x="10911840" y="2819400"/>
            <a:ext cx="365760" cy="36576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320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0" y="2834640"/>
            <a:ext cx="5410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לרשום את כל מה שאתם עושים יותר מפעמיים בשבוע</a:t>
            </a:r>
          </a:p>
        </p:txBody>
      </p:sp>
      <p:sp>
        <p:nvSpPr>
          <p:cNvPr id="8" name="Oval 7"/>
          <p:cNvSpPr/>
          <p:nvPr/>
        </p:nvSpPr>
        <p:spPr>
          <a:xfrm>
            <a:off x="10911840" y="3657600"/>
            <a:ext cx="365760" cy="36576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320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0" y="3672840"/>
            <a:ext cx="5410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לבחור דבר אחד, ולבנות אותו פעם אחת. עם כלי, עם אדם, או עם AI</a:t>
            </a:r>
          </a:p>
        </p:txBody>
      </p:sp>
      <p:sp>
        <p:nvSpPr>
          <p:cNvPr id="10" name="Oval 9"/>
          <p:cNvSpPr/>
          <p:nvPr/>
        </p:nvSpPr>
        <p:spPr>
          <a:xfrm>
            <a:off x="10911840" y="4495800"/>
            <a:ext cx="365760" cy="36576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320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0" y="4511040"/>
            <a:ext cx="5410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לקבוע את הפגישה עם רות, ולבדוק את הכסף שכבר מגיע לכם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1143000"/>
            <a:ext cx="3962400" cy="3733800"/>
          </a:xfrm>
          <a:prstGeom prst="roundRect">
            <a:avLst>
              <a:gd name="adj" fmla="val 8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1371600"/>
            <a:ext cx="350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1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קהילת הווטסאפ של אמא משקיעה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645920"/>
            <a:ext cx="350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שתי המתנות מחכות לכם שם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057400"/>
            <a:ext cx="3505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וגם המדריכים החינמיים, ישר אליכם</a:t>
            </a:r>
          </a:p>
        </p:txBody>
      </p:sp>
      <p:pic>
        <p:nvPicPr>
          <p:cNvPr id="16" name="Picture 15" descr="qr_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438400"/>
            <a:ext cx="1905000" cy="1905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43000" y="4457700"/>
            <a:ext cx="350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8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סרקו עם המצלמה להצטרפות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BEE0F2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BEE0F2"/>
                </a:solidFill>
                <a:latin typeface="Heebo"/>
                <a:ea typeface="Heebo"/>
                <a:cs typeface="Heebo"/>
              </a:rPr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981200"/>
            <a:ext cx="594360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8400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תודה 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3352800"/>
            <a:ext cx="59436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360" b="0" lang="he-IL">
                <a:solidFill>
                  <a:srgbClr val="BEE0F2"/>
                </a:solidFill>
                <a:latin typeface="Heebo"/>
                <a:ea typeface="Heebo"/>
                <a:cs typeface="Heebo"/>
              </a:rPr>
              <a:t>שאלות?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50880" y="4267200"/>
            <a:ext cx="426720" cy="45720"/>
          </a:xfrm>
          <a:prstGeom prst="roundRect">
            <a:avLst>
              <a:gd name="adj" fmla="val 50000"/>
            </a:avLst>
          </a:prstGeom>
          <a:solidFill>
            <a:srgbClr val="EF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0" y="41529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60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@adi_somech_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295400"/>
            <a:ext cx="3962400" cy="3733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524000"/>
            <a:ext cx="350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1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קהילת הווטסאפ של אמא משקיעה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98320"/>
            <a:ext cx="350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שתי המתנות מחכות לכם שם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09800"/>
            <a:ext cx="3505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וגם המדריכים החינמיים, ישר אליכם</a:t>
            </a:r>
          </a:p>
        </p:txBody>
      </p:sp>
      <p:pic>
        <p:nvPicPr>
          <p:cNvPr id="12" name="Picture 11" descr="qr_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590800"/>
            <a:ext cx="1905000" cy="1905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3000" y="4610100"/>
            <a:ext cx="350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8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סרקו עם המצלמה להצטרפות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