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עוצרים. זאת השאלה הראשונה של הערב, ואני רוצה מספר בצ׳אט מכל אחת.</a:t>
            </a:r>
          </a:p>
          <a:p>
            <a:r>
              <a:t>לא כמה כסף. כמה חודשים. אם מחר ההכנסה נעצרת, כמה חודשים אני ממשיכה לחיות בדיוק אותו דבר.</a:t>
            </a:r>
          </a:p>
          <a:p>
            <a:r>
              <a:t>מי שלא יודעת, שתכתוב "לא יודעת" — זה גם תשובה, וזה בדיוק מה שנסגור הערב.</a:t>
            </a:r>
          </a:p>
          <a:p>
            <a:r>
              <a:t>אני קוראת כמה תשובות בקול. ואז: תחזיקו את המספר הזה, בסוף הערב נחזור אליו.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זה אתם. 35 שאלוני כניסה מולאו, וככה זה נראה.</a:t>
            </a:r>
          </a:p>
          <a:p>
            <a:r>
              <a:t>18 כתבו שאין כרית בכלל. 10 כתבו שיש כסף בצד אבל בלי הגדרה. 5 כתבו שהן לא יודעות כמה צריך. ולשתיים יש כרית מוגדרת.</a:t>
            </a:r>
          </a:p>
          <a:p>
            <a:r>
              <a:t>שימו לב מה זה אומר: רוב מי שכן יש להן כסף בצד, פשוט אין להן מספר. הכסף קיים, ההגדרה לא.</a:t>
            </a:r>
          </a:p>
          <a:p>
            <a:r>
              <a:t>ולכן זה לא ערב של "תתחילו לחסוך". זה ערב של לתת למה שכבר יש תפקיד ומספר.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שאלה שאני נשאלת כל שבוע: למה לא פשוט להשאיר את זה בעו"ש?</a:t>
            </a:r>
          </a:p>
          <a:p>
            <a:r>
              <a:t>כי בעו"ש הכסף מקבל אפס. ריבית בנק ישראל היום היא 3.25 אחוז (נכון ל-21 באוקטובר 2026), וקרן כספית שקלית צפויה להניב בערך 3 אחוז בשנה אחרי דמי ניהול.</a:t>
            </a:r>
          </a:p>
          <a:p>
            <a:r>
              <a:t>על 30,000 שקל זה בערך 900 שקל בשנה. על אותו כסף בדיוק, באותה נזילות.</a:t>
            </a:r>
          </a:p>
          <a:p>
            <a:r>
              <a:t>ובצד השני, האינפלציה. ב-12 החודשים האחרונים היא 1.6 אחוז (הלמ"ס, מדד ספטמבר 2026). כסף שעומד באפס מאבד מהערך שלו בשקט.</a:t>
            </a:r>
          </a:p>
          <a:p>
            <a:r>
              <a:t>המספרים משתנים עם הריבית, זאת לא הבטחה. העיקרון לא משתנה: לכסף שמחכה יש בית שמתאים לו.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הבטחתי לכם בשבוע שעבר שהערב תדעו לשרוק מה זו קרן כספית. אז בואו.</a:t>
            </a:r>
          </a:p>
          <a:p>
            <a:r>
              <a:t>קרן כספית היא קרן נאמנות שקונה בשבילכם את הדברים הכי משעממים והכי בטוחים שיש: פיקדונות קצרים ומק"מ, שזאת הלוואה לטווח קצר למדינה.</a:t>
            </a:r>
          </a:p>
          <a:p>
            <a:r>
              <a:t>איפה קונים? באפליקציה של הבנק שלכם, במסך של מסחר בניירות ערך. לא פותחים חשבון חדש, לא מעבירים כסף לשום מקום.</a:t>
            </a:r>
          </a:p>
          <a:p>
            <a:r>
              <a:t>אם האפשרות הזאת סגורה אצלכם באפליקציה, שיחה אחת לבנק פותחת אותה.</a:t>
            </a:r>
          </a:p>
          <a:p>
            <a:r>
              <a:t>אין נעילה לתקופה. מוכרות מתי שרוצות, והכסף חוזר לעו"ש תוך יום-יומיים.</a:t>
            </a:r>
          </a:p>
          <a:p>
            <a:r>
              <a:t>דמי הניהול זעירים, ועל המס: 25 אחוז רק על הרווח הריאלי, כלומר רק על מה שמעבר לאינפלציה. בפועל זה כמעט כלום.</a:t>
            </a:r>
          </a:p>
          <a:p>
            <a:r>
              <a:t>איזו קרן ספציפית? יש לכם בפורטל בונוס עם רשימה מתעדכנת. בוחרות את זו עם הכי מעט דמי ניהול ולא מתעכבות על זה.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השאלה הבאה היא תמיד: אז מה עדיף, קרן כספית או פיקדון?</a:t>
            </a:r>
          </a:p>
          <a:p>
            <a:r>
              <a:t>והתשובה הכנה: שתיהן בסדר גמור לכרית. ההבדל ביניהן הוא שקלים בודדים בשנה.</a:t>
            </a:r>
          </a:p>
          <a:p>
            <a:r>
              <a:t>הפיקדון: הבנק מבטיח לכם ריבית מראש, ואת הריבית הזאת אפשר ולגיטימי להתמקח עליה. תתקשרו, תגידו שיש לכם הצעה אחרת, זה עובד.</a:t>
            </a:r>
          </a:p>
          <a:p>
            <a:r>
              <a:t>הקרן הכספית: אין הבטחה מראש, היא נעה עם ריבית בנק ישראל, אבל היא נזילה בכל יום מסחר.</a:t>
            </a:r>
          </a:p>
          <a:p>
            <a:r>
              <a:t>מה שחשוב באמת: שהכסף לא יישאר בעו"ש בזמן שאתן מתלבטות. תבחרו אחת, ואפשר תמיד לשנות.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רגע לכל מי שההכנסה שלה לא נכנסת באותו יום בכל חודש. ובקבוצה הזאת זאת כמעט מחצית מכן: 15 עצמאיות או משלבות, 8 שלא עובדות כרגע, ו-3 בחופשת לידה.</a:t>
            </a:r>
          </a:p>
          <a:p>
            <a:r>
              <a:t>עצמאיות: חשבון נפרד לעסק, ומשכורת קבועה הביתה. לא משנה אם היה חודש מעולה או חודש חלש, הבית מקבל את אותו סכום. וכרית גם בעסק, שלושה חודשי משכורת.</a:t>
            </a:r>
          </a:p>
          <a:p>
            <a:r>
              <a:t>מי שיודעת שמגיעה תקופה בלי הכנסה: לידה, מעבר עבודה, לימודים. מוסיפים לכרית עוד חודשים מראש, ואז מושכים משם כמו משכורת.</a:t>
            </a:r>
          </a:p>
          <a:p>
            <a:r>
              <a:t>ומי שהחודשים שלה פשוט משתנים: מחשבים את הכרית לפי חודש ממוצע, לא לפי החודש הכי טוב. החודש הטוב תמיד משקר.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ליווי אמא משקיעה · לייב 2 · מגינות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905000"/>
            <a:ext cx="10363200" cy="2895600"/>
          </a:xfrm>
          <a:prstGeom prst="roundRect">
            <a:avLst>
              <a:gd name="adj" fmla="val 9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438400"/>
            <a:ext cx="926592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1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בצ׳אט · 0 · פחות מחודש · 1-2 · 3 ומעלה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834640"/>
            <a:ext cx="9265920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444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כמה חודשי הוצאות יש לך בצד היום?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ליווי אמא משקיעה · לייב 2 · מגינות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07720"/>
            <a:ext cx="103632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8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35 שאלונים · כרית הביטחון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192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6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כתבתם בשאלוני הכניסה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334000"/>
            <a:ext cx="10363200" cy="30480"/>
          </a:xfrm>
          <a:prstGeom prst="rect">
            <a:avLst/>
          </a:prstGeom>
          <a:solidFill>
            <a:srgbClr val="ECE7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77300" y="2514600"/>
            <a:ext cx="1981200" cy="2834640"/>
          </a:xfrm>
          <a:prstGeom prst="roundRect">
            <a:avLst>
              <a:gd name="adj" fmla="val 8000"/>
            </a:avLst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8700" y="2042160"/>
            <a:ext cx="243840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48700" y="5471160"/>
            <a:ext cx="24384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5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אין כרית בכלל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62700" y="3767667"/>
            <a:ext cx="1981200" cy="1581573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34100" y="3295227"/>
            <a:ext cx="243840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4100" y="5471160"/>
            <a:ext cx="24384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5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יש כסף בצד
בלי הגדרה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8100" y="4550833"/>
            <a:ext cx="1981200" cy="798407"/>
          </a:xfrm>
          <a:prstGeom prst="roundRect">
            <a:avLst>
              <a:gd name="adj" fmla="val 8000"/>
            </a:avLst>
          </a:prstGeom>
          <a:solidFill>
            <a:srgbClr val="8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9500" y="4078393"/>
            <a:ext cx="243840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5471160"/>
            <a:ext cx="24384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5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לא יודעת
כמה צריך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33500" y="5020733"/>
            <a:ext cx="1981200" cy="328507"/>
          </a:xfrm>
          <a:prstGeom prst="roundRect">
            <a:avLst>
              <a:gd name="adj" fmla="val 30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04900" y="4548293"/>
            <a:ext cx="2438400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40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900" y="5471160"/>
            <a:ext cx="24384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5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יש כרית
מוגדרת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67400"/>
            <a:ext cx="1036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56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33 מתוך 35 בלי מספר. זה לא חוסר כסף, זה חוסר מספר.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96000"/>
            <a:ext cx="10363200" cy="25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2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מתוך שאלוני הכניסה של המחזור הזה · אנונימי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ליווי אמא משקיעה · לייב 2 · מגינות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07720"/>
            <a:ext cx="103632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8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אותו סכום. אותה נזילות. הפרש אחד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192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30,000 ₪ שיושבים שנה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02680" y="2247900"/>
            <a:ext cx="5074920" cy="3048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7000" y="2552700"/>
            <a:ext cx="452628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בעו"ש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77000" y="3162300"/>
            <a:ext cx="452628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0 ₪ ריבית.
והאינפלציה שוחקת את הערך.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47900"/>
            <a:ext cx="5074920" cy="30480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552700"/>
            <a:ext cx="452628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בקרן כספית או בפיקדון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162300"/>
            <a:ext cx="452628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בערך 900 ₪ בשנה
על אותו כסף בדיוק.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562600"/>
            <a:ext cx="1036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לא עשיתם כלום מסוכן. רק הזזתם את הכסף לבית שמתאים לו.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ליווי אמא משקיעה · לייב 2 · מגינות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07720"/>
            <a:ext cx="103632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8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הבטחתי לכם שתדעו לשרוק מה זה. אז הנה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192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96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מה זו קרן כספית, בפשטות</a:t>
            </a:r>
          </a:p>
        </p:txBody>
      </p:sp>
      <p:sp>
        <p:nvSpPr>
          <p:cNvPr id="6" name="Oval 5"/>
          <p:cNvSpPr/>
          <p:nvPr/>
        </p:nvSpPr>
        <p:spPr>
          <a:xfrm>
            <a:off x="10850880" y="2286000"/>
            <a:ext cx="426720" cy="42672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1240"/>
            <a:ext cx="972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1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קרן שקונה בשבילכם פיקדונות קצרים ומק"מ. הסיכון הכי נמוך בשוק ההון.</a:t>
            </a:r>
          </a:p>
        </p:txBody>
      </p:sp>
      <p:sp>
        <p:nvSpPr>
          <p:cNvPr id="8" name="Oval 7"/>
          <p:cNvSpPr/>
          <p:nvPr/>
        </p:nvSpPr>
        <p:spPr>
          <a:xfrm>
            <a:off x="10850880" y="2880360"/>
            <a:ext cx="426720" cy="426720"/>
          </a:xfrm>
          <a:prstGeom prst="ellipse">
            <a:avLst/>
          </a:prstGeom>
          <a:solidFill>
            <a:srgbClr val="8C9E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95600"/>
            <a:ext cx="972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1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קונים אותה מאפליקציית הבנק, במסך מסחר בניירות ערך.</a:t>
            </a:r>
          </a:p>
        </p:txBody>
      </p:sp>
      <p:sp>
        <p:nvSpPr>
          <p:cNvPr id="10" name="Oval 9"/>
          <p:cNvSpPr/>
          <p:nvPr/>
        </p:nvSpPr>
        <p:spPr>
          <a:xfrm>
            <a:off x="10850880" y="3474720"/>
            <a:ext cx="426720" cy="426720"/>
          </a:xfrm>
          <a:prstGeom prst="ellipse">
            <a:avLst/>
          </a:prstGeom>
          <a:solidFill>
            <a:srgbClr val="EF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89960"/>
            <a:ext cx="972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1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אין נעילה לזמן. מוכרים מתי שרוצים, והכסף בעו"ש תוך יום-יומיים.</a:t>
            </a:r>
          </a:p>
        </p:txBody>
      </p:sp>
      <p:sp>
        <p:nvSpPr>
          <p:cNvPr id="12" name="Oval 11"/>
          <p:cNvSpPr/>
          <p:nvPr/>
        </p:nvSpPr>
        <p:spPr>
          <a:xfrm>
            <a:off x="10850880" y="4069080"/>
            <a:ext cx="426720" cy="426720"/>
          </a:xfrm>
          <a:prstGeom prst="ellipse">
            <a:avLst/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84320"/>
            <a:ext cx="972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1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דמי ניהול זעירים, ובדרך כלל בלי עמלת קנייה ומכירה.</a:t>
            </a:r>
          </a:p>
        </p:txBody>
      </p:sp>
      <p:sp>
        <p:nvSpPr>
          <p:cNvPr id="14" name="Oval 13"/>
          <p:cNvSpPr/>
          <p:nvPr/>
        </p:nvSpPr>
        <p:spPr>
          <a:xfrm>
            <a:off x="10850880" y="4663440"/>
            <a:ext cx="426720" cy="426720"/>
          </a:xfrm>
          <a:prstGeom prst="ellipse">
            <a:avLst/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 rtl="1">
              <a:lnSpc>
                <a:spcPct val="115000"/>
              </a:lnSpc>
            </a:pPr>
            <a:r>
              <a:rPr sz="143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78680"/>
            <a:ext cx="97231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216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מס 25% רק על הרווח הריאלי. בפועל, כמעט ולא משלמים.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62600"/>
            <a:ext cx="1036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איזו קרן בדיוק? בפורטל, בבונוס "קרן חירום בפשטות", יש רשימה מתעדכנת.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ליווי אמא משקיעה · לייב 2 · מגינות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07720"/>
            <a:ext cx="103632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8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שתיהן מתאימות לכרית. באמת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192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47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קרן כספית או פיקדון?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76521" y="2209800"/>
            <a:ext cx="3755441" cy="579120"/>
          </a:xfrm>
          <a:prstGeom prst="roundRect">
            <a:avLst>
              <a:gd name="adj" fmla="val 39473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 rtl="1">
              <a:lnSpc>
                <a:spcPct val="115000"/>
              </a:lnSpc>
            </a:pP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קרן כספית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209800"/>
            <a:ext cx="3755441" cy="579120"/>
          </a:xfrm>
          <a:prstGeom prst="roundRect">
            <a:avLst>
              <a:gd name="adj" fmla="val 39473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 rtl="1">
              <a:lnSpc>
                <a:spcPct val="115000"/>
              </a:lnSpc>
            </a:pPr>
            <a:r>
              <a:rPr sz="192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פיקדון בבנק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38642" y="2865120"/>
            <a:ext cx="2638958" cy="579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91042" y="2994660"/>
            <a:ext cx="2334158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מתי אפשר למשוך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76521" y="2865120"/>
            <a:ext cx="3755441" cy="579120"/>
          </a:xfrm>
          <a:prstGeom prst="roundRect">
            <a:avLst>
              <a:gd name="adj" fmla="val 2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28921" y="2994660"/>
            <a:ext cx="3450641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כל יום מסחר
והכסף תוך יום-יומיים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865120"/>
            <a:ext cx="3755441" cy="579120"/>
          </a:xfrm>
          <a:prstGeom prst="roundRect">
            <a:avLst>
              <a:gd name="adj" fmla="val 2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800" y="2994660"/>
            <a:ext cx="3450641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בסוף התקופה
(או יומי, בריבית נמוכה יותר)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38642" y="3520440"/>
            <a:ext cx="2638958" cy="579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91042" y="3649980"/>
            <a:ext cx="2334158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כמה מקבלים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76521" y="3520440"/>
            <a:ext cx="3755441" cy="579120"/>
          </a:xfrm>
          <a:prstGeom prst="roundRect">
            <a:avLst>
              <a:gd name="adj" fmla="val 2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28921" y="3649980"/>
            <a:ext cx="3450641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משתנה עם ריבית בנק ישראל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520440"/>
            <a:ext cx="3755441" cy="579120"/>
          </a:xfrm>
          <a:prstGeom prst="roundRect">
            <a:avLst>
              <a:gd name="adj" fmla="val 2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6800" y="3649980"/>
            <a:ext cx="3450641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ריבית שסוכמה מראש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38642" y="4175760"/>
            <a:ext cx="2638958" cy="579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91042" y="4305300"/>
            <a:ext cx="2334158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איפה פותחים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76521" y="4175760"/>
            <a:ext cx="3755441" cy="579120"/>
          </a:xfrm>
          <a:prstGeom prst="roundRect">
            <a:avLst>
              <a:gd name="adj" fmla="val 2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28921" y="4305300"/>
            <a:ext cx="3450641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אפליקציית הבנק ←
מסחר בניירות ערך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175760"/>
            <a:ext cx="3755441" cy="579120"/>
          </a:xfrm>
          <a:prstGeom prst="roundRect">
            <a:avLst>
              <a:gd name="adj" fmla="val 2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6800" y="4305300"/>
            <a:ext cx="3450641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אפליקציית הבנק ←
פיקדונות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38642" y="4831080"/>
            <a:ext cx="2638958" cy="5791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91042" y="4960620"/>
            <a:ext cx="2334158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שווה לדעת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76521" y="4831080"/>
            <a:ext cx="3755441" cy="579120"/>
          </a:xfrm>
          <a:prstGeom prst="roundRect">
            <a:avLst>
              <a:gd name="adj" fmla="val 2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28921" y="4960620"/>
            <a:ext cx="3450641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דמי ניהול זעירים
ומס רק על הרווח הריאלי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831080"/>
            <a:ext cx="3755441" cy="579120"/>
          </a:xfrm>
          <a:prstGeom prst="roundRect">
            <a:avLst>
              <a:gd name="adj" fmla="val 25000"/>
            </a:avLst>
          </a:prstGeom>
          <a:solidFill>
            <a:srgbClr val="F4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6800" y="4960620"/>
            <a:ext cx="3450641" cy="335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68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אפשר להתמקח
על הריבית!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867400"/>
            <a:ext cx="103632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2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ההבדל ביניהן הוא שקלים בודדים. בוחרות את מה שנוח ונגיש לכן, ולא נתקעות על מה הכי טובה.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0" y="6385560"/>
            <a:ext cx="441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ליווי אמא משקיעה · לייב 2 · מגינות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385560"/>
            <a:ext cx="152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960" b="0" lang="he-IL">
                <a:solidFill>
                  <a:srgbClr val="6B6B7B"/>
                </a:solidFill>
                <a:latin typeface="Heebo"/>
                <a:ea typeface="Heebo"/>
                <a:cs typeface="Heeb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07720"/>
            <a:ext cx="10363200" cy="289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38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חצי מהקבוצה הזאת · עצמאיות, בין עבודות, או בחופשת לידה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19200"/>
            <a:ext cx="10363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3719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ואם ההכנסה שלי לא קבועה?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65440" y="2247900"/>
            <a:ext cx="3312160" cy="3048000"/>
          </a:xfrm>
          <a:prstGeom prst="roundRect">
            <a:avLst>
              <a:gd name="adj" fmla="val 8000"/>
            </a:avLst>
          </a:prstGeom>
          <a:solidFill>
            <a:srgbClr val="BE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39760" y="2552700"/>
            <a:ext cx="276352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עצמאית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39760" y="3162300"/>
            <a:ext cx="276352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חשבון נפרד לעסק
ומשכורת קבועה הביתה.
וכרית של 3 חודשים גם בעסק.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9920" y="2247900"/>
            <a:ext cx="3312160" cy="3048000"/>
          </a:xfrm>
          <a:prstGeom prst="roundRect">
            <a:avLst>
              <a:gd name="adj" fmla="val 8000"/>
            </a:avLst>
          </a:prstGeom>
          <a:solidFill>
            <a:srgbClr val="FCE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14240" y="2552700"/>
            <a:ext cx="276352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תקופה בלי הכנסה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14240" y="3162300"/>
            <a:ext cx="276352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לידה או מעבר עבודה:
מוסיפים חודשים לכרית מראש
ומושכים משם כמו משכורת.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247900"/>
            <a:ext cx="3312160" cy="3048000"/>
          </a:xfrm>
          <a:prstGeom prst="roundRect">
            <a:avLst>
              <a:gd name="adj" fmla="val 8000"/>
            </a:avLst>
          </a:prstGeom>
          <a:solidFill>
            <a:srgbClr val="CCD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552700"/>
            <a:ext cx="2763520" cy="838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0000"/>
              </a:lnSpc>
            </a:pPr>
            <a:r>
              <a:rPr sz="2280" b="1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חודשים משתנים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62300"/>
            <a:ext cx="276352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1800" b="0" lang="he-IL">
                <a:solidFill>
                  <a:srgbClr val="191A2E"/>
                </a:solidFill>
                <a:latin typeface="Heebo"/>
                <a:ea typeface="Heebo"/>
                <a:cs typeface="Heebo"/>
              </a:rPr>
              <a:t>מחשבים את הכרית
לפי חודש ממוצע
ולא לפי החודש הכי טוב.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562600"/>
            <a:ext cx="1036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80" b="1" lang="he-IL">
                <a:solidFill>
                  <a:srgbClr val="EF55A5"/>
                </a:solidFill>
                <a:latin typeface="Heebo"/>
                <a:ea typeface="Heebo"/>
                <a:cs typeface="Heebo"/>
              </a:rPr>
              <a:t>ככל שההכנסה פחות צפויה, הכרית חשובה יותר. לא פחות.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