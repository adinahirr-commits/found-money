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ערב טוב לכולן! איזה כיף לראות אתכן כאן, הפנים שלכן על המסך עושות לי להתרגש כמו ילדה קטנה.</a:t>
            </a:r>
          </a:p>
          <a:p>
            <a:r>
              <a:t>הלב שלי דופק מהר, ואני לא סתם מתרגשת, אני יודעת מה הולך לקרות לכן ב-28 הימים הקרובים.</a:t>
            </a:r>
          </a:p>
          <a:p>
            <a:r>
              <a:t>הדבר הזה שדחיתן שוב ושוב, התירוץ הזה של "כשיהיה לי רגע פנוי" או "כשנסיים את החגים", מתחיל ממש עכשיו, ברגע זה.</a:t>
            </a:r>
          </a:p>
          <a:p>
            <a:r>
              <a:t>אנחנו יוצאות לדרך משנה חיים, והרגע הזה הוא עכשיו, ובחברה הכי טובה שיש. יאללה.</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בואו נתחיל בחימום קצר למקלדות.</a:t>
            </a:r>
          </a:p>
          <a:p>
            <a:r>
              <a:t>תכתבו לי מילה אחת בצ'אט, איך אתן מרגישות הערב? איך הגעתן לזום הזה?</a:t>
            </a:r>
          </a:p>
          <a:p>
            <a:r>
              <a:t>(להקריא 4-5 תשובות מהצ'אט)</a:t>
            </a:r>
          </a:p>
          <a:p>
            <a:r>
              <a:t>(לשקף מילה מכל אחת)</a:t>
            </a:r>
          </a:p>
          <a:p>
            <a:r>
              <a:t>לכל מי שכתבה שהיא בלחץ או בפחד מהמספרים, אני רוצה שתחזיקי את המילה הזו קרוב.</a:t>
            </a:r>
          </a:p>
          <a:p>
            <a:r>
              <a:t>אנחנו נחזור אליה בסוף המפגש, ואני מבטיחה לך שהיא הולכת להשתנות לחלוטין.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אז מה הולך לקרות פה הערב? חילקתי את המפגש שלנו לשלושה חלקים סופר מדויקים.</a:t>
            </a:r>
          </a:p>
          <a:p>
            <a:r>
              <a:t>בחלק הראשון נלמד את שיטת המצפן, הדרך היחידה להגיע לכל יעד בלי ללכת לאיבוד.</a:t>
            </a:r>
          </a:p>
          <a:p>
            <a:r>
              <a:t>אחר כך נדבר על תודעה ועל הסיבה שלחלום בגדול זה כלי עבודה אמיתי, לא קלישאה רוחנית.</a:t>
            </a:r>
          </a:p>
          <a:p>
            <a:r>
              <a:t>ובסוף נרד לקרקע, לנקודת המוצא, ונאסוף את כל מה שיש לך לסל אחד.</a:t>
            </a:r>
          </a:p>
          <a:p>
            <a:r>
              <a:t>אני מבטיחה לכן שתצאו מכאן עם ראש שונה לחלוטין, ועם משימה אחת סופר פשוטה לשבוע הקרוב.</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הליווי שלנו בנוי מ-4 שבועות מדויקים של עשייה, 4 מילים שיובילו אתכן לשקט המיוחל.</a:t>
            </a:r>
          </a:p>
          <a:p>
            <a:r>
              <a:t>ממפות, מגינות, מחלקות ומפעילות.</a:t>
            </a:r>
          </a:p>
          <a:p>
            <a:r>
              <a:t>בכל יום שני ב-20:00 ניפגש כאן בלייב, ובאזור האישי שלכן יחכו משימות יומיות קטנות של צעד אחד ביום.</a:t>
            </a:r>
          </a:p>
          <a:p>
            <a:r>
              <a:t>בנוסף, מחכה לכן פגישה אישית עם סוכן פנסיוני וכלים מטורפים שיעשו לכן סדר בבלגן.</a:t>
            </a:r>
          </a:p>
          <a:p>
            <a:r>
              <a:t>השבוע אנחנו מתמקדות במילה הראשונה: ממפות. אנחנו מבינות בדיוק איפה אנחנו עומדות.</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והדבר הכי חשוב שתדעו: אתן לא לבד באף שלב.</a:t>
            </a:r>
          </a:p>
          <a:p>
            <a:r>
              <a:t>לייב כל יום שני ב-20:00, ארבעה שבועות ברצף, וכל לייב מוקלט.</a:t>
            </a:r>
          </a:p>
          <a:p>
            <a:r>
              <a:t>פגישה אישית, אחת על אחת: בדיקה מעמיקה של המוצרים הפנסיוניים, הביטוחים והחסכונות שלך.</a:t>
            </a:r>
          </a:p>
          <a:p>
            <a:r>
              <a:t>מפגש עם יועץ השקעות על שוק ההון, עם שאלות ותשובות.</a:t>
            </a:r>
          </a:p>
          <a:p>
            <a:r>
              <a:t>וריקאפ: מפגש אחת לחודש, שלושה חודשים אחרי הסיום. איפה כל אחת, ואיך משמרים את כל מה שלמדנו בחיים עצמם.</a:t>
            </a:r>
          </a:p>
          <a:p>
            <a:r>
              <a:t>התפקיד שלי הוא לא רק להעביר לכן ידע. הוא להביא אתכן ל"עשיתי".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תנשמו עמוק, כי חוק הברזל של הליווי הזה הוא שזה אימון, לא מבחן.</a:t>
            </a:r>
          </a:p>
          <a:p>
            <a:r>
              <a:t>אין פה ציונים, אין פה טעויות, ואף אחת לא הולכת לעמוד בפינה.</a:t>
            </a:r>
          </a:p>
          <a:p>
            <a:r>
              <a:t>אנחנו כותבות הכל בעיפרון, כי הכל בחיים האלה דינמי ואפשר לשנות בהתאם למה שקורה לנו במציאות.</a:t>
            </a:r>
          </a:p>
          <a:p>
            <a:r>
              <a:t>אנחנו עובדות מהר ומחליטות מהר, כי מהירות מנצחת שלמות בכל יום בשבוע.</a:t>
            </a:r>
          </a:p>
          <a:p>
            <a:r>
              <a:t>והכי חשוב, אנחנו עושות את זה ביחד, כקבוצה חזקה ותומכת של נשים שרוצות בדיוק את אותו הדבר.</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עכשיו, כדי שנרגיש את הביחד הזה, נעשה סבב היכרות קצר ומהיר.</a:t>
            </a:r>
          </a:p>
          <a:p>
            <a:r>
              <a:t>כל אחת בתורה תפעיל מיקרופון ותספר לנו ב-30 שניות: שם, עיסוק, ומשפט אחד קצר על מה שהביא אותה לפה הערב.</a:t>
            </a:r>
          </a:p>
          <a:p>
            <a:r>
              <a:t>(לעבור בין המשתתפות ולתת לכל אחת 30 שניות)</a:t>
            </a:r>
          </a:p>
          <a:p>
            <a:r>
              <a:t>תודה לכולכן. שמתן לב למשהו מטורף עכשיו?</a:t>
            </a:r>
          </a:p>
          <a:p>
            <a:r>
              <a:t>כמעט אף אחת מכן לא אמרה "אין לי כסף". תחזיקו את זה. עוד מעט נבין למה.</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אני רוצה להקריא לכן ציטוט של הנרי פורד שאני לוקחת איתי לכל מקום בחיים:</a:t>
            </a:r>
          </a:p>
          <a:p>
            <a:r>
              <a:t>"בין אם את חושבת שאת יכולה, ובין אם לא, את צודקת."</a:t>
            </a:r>
          </a:p>
          <a:p>
            <a:r>
              <a:t>תחשבו על המילים האלה חזק.</a:t>
            </a:r>
          </a:p>
          <a:p>
            <a:r>
              <a:t>אם את מגיעה לכאן בתחושה שזה גדול עלייך, שאת לא מבינה במספרים, המוח שלך יוכיח לך שאת צודקת.</a:t>
            </a:r>
          </a:p>
          <a:p>
            <a:r>
              <a:t>אבל אם תבחרי להאמין שאת יכולה, את תפתחי דלתות שלא דמיינת שקיימות.</a:t>
            </a:r>
          </a:p>
          <a:p>
            <a:r>
              <a:t>תחזיקו את המשפט הזה בראש, הוא הולך ללוות אותנו לאורך כל הערב.</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אז מאיפה באמת מתחילים את השינוי הזה?</a:t>
            </a:r>
          </a:p>
          <a:p>
            <a:r>
              <a:t>כאן נכנסת השיטה שאני עובדת לפיה בכל תחום בחיים שלי, לא רק בכסף.</a:t>
            </a:r>
          </a:p>
          <a:p>
            <a:r>
              <a:t>רוב הנשים שמגיעות אליי רוצות לקפוץ ישר לסוף ושואלות אותי: "עדי, איפה לשים את הכסף שלי? באיזו קרן להשקיע?".</a:t>
            </a:r>
          </a:p>
          <a:p>
            <a:r>
              <a:t>אבל זו השאלה האחרונה שאת צריכה לשאול, ממש לא הראשונה.</a:t>
            </a:r>
          </a:p>
          <a:p>
            <a:r>
              <a:t>קודם כל אנחנו צריכות מפת דרכים ברורה שתראה לנו את התמונה המלאה.</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לשיטה הזו קוראים שיטת המצפן והיא מורכבת מארבעה שלבים ברורים.</a:t>
            </a:r>
          </a:p>
          <a:p>
            <a:r>
              <a:t>הראשון הוא החזון: ה"למה" שלנו, מה אנחנו באמת רוצות מהחיים שלנו.</a:t>
            </a:r>
          </a:p>
          <a:p>
            <a:r>
              <a:t>השני הוא המטרות: אבני הדרך המדויקות והמספריות בדרך לשם.</a:t>
            </a:r>
          </a:p>
          <a:p>
            <a:r>
              <a:t>השלישי הוא נקודת המוצא: מה יש לי היום בידיים. ופה קורה הקסם האמיתי, כי פתאום אתן מגלות שכבר יש לכן המון כסף שפשוט לא עובד בשבילכן.</a:t>
            </a:r>
          </a:p>
          <a:p>
            <a:r>
              <a:t>והשלב הרביעי הוא האסטרטגיה: הגשר שמחבר בין נקודת המוצא למטרות שלכן, כדי להגשים את החזון.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מצפן לא אומר לך בדיוק באיזה שביל לפנות, הוא פשוט נותן לך כיוון ברור.</a:t>
            </a:r>
          </a:p>
          <a:p>
            <a:r>
              <a:t>וכשיש לך כיוון, כל צעד שאת עושה הוא בהכרח צעד נכון קדימה.</a:t>
            </a:r>
          </a:p>
          <a:p>
            <a:r>
              <a:t>זה בדיוק כמו באפליקציית ניווט בטלפון.</a:t>
            </a:r>
          </a:p>
          <a:p>
            <a:r>
              <a:t>אם לא תגדירי לה לאן את רוצה להגיע, ואיפה את נמצאת ברגע זה, אין לה שום סיכוי לחשב לך מסלול.</a:t>
            </a:r>
          </a:p>
          <a:p>
            <a:r>
              <a:t>אנחנו מפסיקות ללכת במעגלים סביב הזנב של עצמנו. אנחנו מגדירות את היעד ואת נקודת המוצא, וככה הדרך נפתחת בפנינו בקלות.</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בואו נראה איך המצפן הזה מתלבש על הליווי שלנו בארבעת השבועות הקרובים.</a:t>
            </a:r>
          </a:p>
          <a:p>
            <a:r>
              <a:t>הערב אנחנו עושות את שתי הקצוות של המצפן: החזון, כלומר לאן אנחנו רוצות להגיע, ונקודת המוצא, כלומר מאיפה אנחנו מתחילות.</a:t>
            </a:r>
          </a:p>
          <a:p>
            <a:r>
              <a:t>בלייב השני נגדיר את המטרות הפיננסיות שלכן, בדיוק כמה כסף צריך ומתי.</a:t>
            </a:r>
          </a:p>
          <a:p>
            <a:r>
              <a:t>בלייב השלישי נבנה את האסטרטגיה ונכיר את חלוקת הכדים שלכן. וביום האחרון נדבר על ההשקעות עצמן.</a:t>
            </a:r>
          </a:p>
          <a:p>
            <a:r>
              <a:t>כשנעשה את זה לפי הסדר, הכל יהפוך לפשוט והגיוני.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אנחנו רגילות לקרוא לעצמנו "ריאליות". מסתכלות על המציאות כמו שהיא היום, ומציבות רק את המטרה הבאה, הקרובה, הבטוחה.</a:t>
            </a:r>
          </a:p>
          <a:p>
            <a:r>
              <a:t>אבל בשיטת המצפן מתחילות מהסוף. קודם החלום: מה באמת הייתי רוצה להשיג בחיים. אחר כך המטרות, שהן המיילסטונים לאורך הדרך. ורק אז האסטרטגיה, שתיקח אותנו אליהם בדרך הכי מהירה ופשוטה.</a:t>
            </a:r>
          </a:p>
          <a:p>
            <a:r>
              <a:t>כי את לא יכולה לתת לכסף תפקיד ברור, אם את עוד לא יודעת מה את רוצה שהוא יעשה בשבילך.</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לחלום בגדול זה לא מותרות. זה כלי עבודה.</a:t>
            </a:r>
          </a:p>
          <a:p>
            <a:r>
              <a:t>ברגע שהמצפן שלנו מכוון לעבר חלום רחוק ומרגש באמת, התודעה נפתחת, וכל מיני הזדמנויות ואפשרויות שאפילו לא הכרנו מתחילות להיפתח.</a:t>
            </a:r>
          </a:p>
          <a:p>
            <a:r>
              <a:t>ומי שחולמת בקטן? מגיעה בדיוק לקטן. אף אחת לא מגיעה רחוק יותר מהחלום שלה. אז הערב אנחנו מגדילות את החלום.</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(להקריא לאט)</a:t>
            </a:r>
          </a:p>
          <a:p>
            <a:r>
              <a:t>נפוליון היל. מה שהמוח יכול לתפוס ולהאמין בו, הוא יכול להשיג.</a:t>
            </a:r>
          </a:p>
          <a:p>
            <a:r>
              <a:t>שימו לב לשתי המילים: לתפוס, וגם להאמין. לחלום זה חצי מהדרך. החצי השני הוא להאמין שזה אפשרי. ושני החצאים האלה הם בדיוק מה שאנחנו עושות הערב.</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יש משפט שאני רוצה שתיקחי איתך מעכשיו לכל הליווי, וגם לכל החיים שאחריו.</a:t>
            </a:r>
          </a:p>
          <a:p>
            <a:r>
              <a:t>אפשרי בעולם, אפשרי עבורך.</a:t>
            </a:r>
          </a:p>
          <a:p>
            <a:r>
              <a:t>אם מישהו אחר הצליח להשיג את זה, גם את יכולה. השאלה היא אף פעם לא "האם". השאלה היא רק מהם הצעדים והדרך, כדי שתשיגי את זה גם את.</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אז איך כותבים חלום כזה? שלושה כללים פשוטים.</a:t>
            </a:r>
          </a:p>
          <a:p>
            <a:r>
              <a:t>כלל ראשון: להיות ספציפית. חלום שאת יכולה באמת לראות בעיני רוחך, להרגיש אותו מתגשם, לתאר מה קורה סביבך. ברגע שאת מפעילה את כל החושים, התודעה כבר מתחילה לחפש דרכים לגרום לזה לקרות.</a:t>
            </a:r>
          </a:p>
          <a:p>
            <a:r>
              <a:t>כלל שני: בזמן הווה ובחיוב. לא "שאני לא אפחד מכסף". התת-מודע לא יודע להפריד בין שלילי לחיובי. זה כמו שאגיד לך: אל תחשבי על פיל סגול. מה עלה לך בראש? (חיוך) אז כותבות: "אני מסתכלת על החשבון שלי ומרגישה ביטחון ושלווה".</a:t>
            </a:r>
          </a:p>
          <a:p>
            <a:r>
              <a:t>כלל שלישי: רק מה שחשוב לך באמת. לא מה שאמא שלך רוצה, לא מה שחברה שלך עשתה. הבדיקה: כשאת כותבת את זה, משהו בבטן זז? זה נכנס.</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אני אשתף אתכן באחד שהיה לי:</a:t>
            </a:r>
          </a:p>
          <a:p>
            <a:r>
              <a:t>"אני בחופשה בתאילנד. הכסף עובד עבורי. אני לא צריכה לעבוד החודש, כי אני יודעת שהמשכורת כבר נכנסת לי לחשבון. אני יודעת שהכסף להשקעות יורד אוטומטית. ואני יודעת שהכסף שאני מרוויחה הוא כסף שמח, שעוזר לאנשים אחרים להתקדם ולמצות את הפוטנציאל שלהם."</a:t>
            </a:r>
          </a:p>
          <a:p>
            <a:r>
              <a:t>רואות? אין שם מספר אחד. יש רגע. ותזכרי: הכסף הוא אף פעם לא המטרה. הוא האמצעי שלנו להשיג את המטרות שלנו.</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(להקריא) טוני רובינס: הצבת מטרות היא הצעד הראשון בהפיכת הבלתי נראה לנראה.</a:t>
            </a:r>
          </a:p>
          <a:p>
            <a:r>
              <a:t>כל עוד החלום בראש, הוא בלתי נראה. ברגע שכתבת אותו, הוא התחיל להיות אמיתי.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ולמה לוח חזון? במוח שלנו יש מערכת סינון שנקראת RAS. מכל אלפי הדברים שקורים סביבנו בכל רגע, היא מחליטה מה נכנס למודעות ומה לא.</a:t>
            </a:r>
          </a:p>
          <a:p>
            <a:r>
              <a:t>מכירות את זה שקונות רכב לבן, ופתאום כל הכביש מלא ברכבים לבנים? הם תמיד היו שם. פשוט עכשיו המוח יודע מה לחפש.</a:t>
            </a:r>
          </a:p>
          <a:p>
            <a:r>
              <a:t>לוח חזון עושה בדיוק את זה. מה שאת רואה כל יום, המוח מתחיל לחפש. וככל שהחלום יותר ממשי ומוחשי, כך קל יותר לתת-מודע שלנו להגדיר אותו כמשהו שכבר קרה.</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והלוח שלך כבר מחכה לך באזור האישי. החלומות שכתבת, ולכל חלום אפשר ליצור בלחיצה הדמיה של הרגע עצמו, ב-AI.</a:t>
            </a:r>
          </a:p>
          <a:p>
            <a:r>
              <a:t>מי שכבר עשתה את זה בשאלון ההכנה: מעולה. עכשיו התפקיד שלך הוא להסתכל עליו. כל בוקר, דקה.</a:t>
            </a:r>
          </a:p>
          <a:p>
            <a:r>
              <a:t>מי שעוד לא: הערב, מיד אחרי הלייב, לפני השינה. מגיע לך ללכת לישון עם התמונה הזאת בראש.</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עכשיו בואו נעשה את זה ביחד. 60 שניות.</a:t>
            </a:r>
          </a:p>
          <a:p>
            <a:r>
              <a:t>שבי נוח. עצמי עיניים אם נוח לך. נשימה עמוקה.</a:t>
            </a:r>
          </a:p>
          <a:p>
            <a:r>
              <a:t>תבחרי חלום אחד. איפה את? מה את רואה סביבך? מי איתך? מה את שומעת?</a:t>
            </a:r>
          </a:p>
          <a:p>
            <a:r>
              <a:t>ומה את מרגישה בגוף? בכתפיים, בבטן, בנשימה.</a:t>
            </a:r>
          </a:p>
          <a:p>
            <a:r>
              <a:t>הכסף כבר עשה את שלו. את פשוט שם. (שקט, 5 שניות)</a:t>
            </a:r>
          </a:p>
          <a:p>
            <a:r>
              <a:t>תחזיקי את התחושה הזאת. ולאט, פקחי עיניים.</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בצ'אט: חלום אחד, משפט אחד, בזמן הווה. (להקריא 5-6 בהתלהבות, לשקף מילה מכל אחת)</a:t>
            </a:r>
          </a:p>
          <a:p>
            <a:r>
              <a:t>וואו. תסתכלו על הצ'אט הזה רגע.</a:t>
            </a:r>
          </a:p>
          <a:p>
            <a:r>
              <a:t>ועכשיו השאלה האמיתית: אם החלום כל כך ברור, ואם כולנו רוצות להגיע אליו, מה עוצר אותנו?</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אז בואו נחזור לשאלה. אלה משפטים שכתבתן לי בשבועות האחרונים. תקראו אותם רגע:</a:t>
            </a:r>
          </a:p>
          <a:p>
            <a:r>
              <a:t>"יש לי סכום כסף ואני לא יודעת איפה לשים אותו."</a:t>
            </a:r>
          </a:p>
          <a:p>
            <a:r>
              <a:t>"מרוויחים יפה ועדיין חיים בפחד ממחסור."</a:t>
            </a:r>
          </a:p>
          <a:p>
            <a:r>
              <a:t>"נתחיל בזה שאני קלולס בכל עולם המושגים."</a:t>
            </a:r>
          </a:p>
          <a:p/>
          <a:p>
            <a:r>
              <a:t>רואות מה משותף לכל המשפטים האלה?</a:t>
            </a:r>
          </a:p>
          <a:p>
            <a:r>
              <a:t>אף אחת מכן לא אמרה "אין לי כסף".</a:t>
            </a:r>
          </a:p>
          <a:p>
            <a:r>
              <a:t>הכסף נמצא שם, אתן עובדות קשה ומביאות אותו הביתה.</a:t>
            </a:r>
          </a:p>
          <a:p>
            <a:r>
              <a:t>הבעיה היא לא הכסף, הבעיה היא שהתנועה שלו נעצרה, ויחד איתה נעלם השקט שלכן.</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רוב האמהות בטוחות שהן לא מתחילות להשקיע פשוט כי חסר להן ידע.</a:t>
            </a:r>
          </a:p>
          <a:p>
            <a:r>
              <a:t>הן חושבות שהן צריכות לקרוא עוד עשרה ספרים או לעשות תואר בכלכלה כדי להזיז את הכסף מהעו"ש.</a:t>
            </a:r>
          </a:p>
          <a:p>
            <a:r>
              <a:t>וזו הטעות הכי גדולה שמחזיקה אותנו מאחור.</a:t>
            </a:r>
          </a:p>
          <a:p/>
          <a:p>
            <a:r>
              <a:t>האמת היא שידע יש היום בכל פינה ברשת, בחינם ובכמויות מטורפות.</a:t>
            </a:r>
          </a:p>
          <a:p>
            <a:r>
              <a:t>אם ידע היה הבעיה, כולנו היינו משקיעות מזמן.</a:t>
            </a:r>
          </a:p>
          <a:p>
            <a:r>
              <a:t>מה שמחזיק את הכסף שלך במקום, קפוא בבנק, זה לא מה שאת יודעת או לא יודעת.</a:t>
            </a:r>
          </a:p>
          <a:p>
            <a:r>
              <a:t>זה מה שאת מאמינה.</a:t>
            </a:r>
          </a:p>
          <a:p>
            <a:r>
              <a:t>זה לא ידע, זה הכל עניין של תודעה.</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אפילו אלברט איינשטיין, הגאון הכי גדול של המאה הקודמת, אמר שדמיון חשוב יותר מידע.</a:t>
            </a:r>
          </a:p>
          <a:p>
            <a:r>
              <a:t>הוא הבין שידע הוא מוגבל למה שאנחנו כבר מכירים, בזמן שהדמיון מקיף את כל מה שיהיה אי פעם.</a:t>
            </a:r>
          </a:p>
          <a:p/>
          <a:p>
            <a:r>
              <a:t>ידע כספי יבש לא יגרום לך לפתוח חשבון השקעות בערב.</a:t>
            </a:r>
          </a:p>
          <a:p>
            <a:r>
              <a:t>מה שיגרום לך לפעול זו היכולת שלך לדמיין את החלום שראית לפני רגע בעיניים עצומות, ולהאמין באמת שזה אפשרי עבורך.</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אז מה זה בכלל תודעה כשאנחנו מדברות על כסף?</a:t>
            </a:r>
          </a:p>
          <a:p>
            <a:r>
              <a:t>תודעה מוגדרת כמכלול המחשבות, האמונות, הרגשות והערכים שמעצבים את הדרך שבה אנו תופסים את העולם, מקבלים החלטות ופועלים בחיים.</a:t>
            </a:r>
          </a:p>
          <a:p/>
          <a:p>
            <a:r>
              <a:t>זה בעצם המשקפיים שדרכם את מסתכלת על המציאות שלך.</a:t>
            </a:r>
          </a:p>
          <a:p>
            <a:r>
              <a:t>אם המשקפיים האלה אומרים לך שכסף הוא מסובך ומפחיד, כל פעולה שתעשי תרגיש כמו טיפוס על האוורסט.</a:t>
            </a:r>
          </a:p>
          <a:p>
            <a:r>
              <a:t>ושינוי בתודעה מוביל לשינוי בחיים, כי המציאות שבחוץ היא השתקפות של מה שאנחנו מחזיקות בפנים.</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כדי להבין איך זה עובד בגוף ובחשבון הבנק שלנו, בואו נכיר את הכלי הראשון שהוא מעגל התודעה.</a:t>
            </a:r>
          </a:p>
          <a:p>
            <a:r>
              <a:t>זה מעגל סגור שמזין את עצמו כל הזמן, והוא מורכב מארבע תחנות קבועות.</a:t>
            </a:r>
          </a:p>
          <a:p/>
          <a:p>
            <a:r>
              <a:t>המחשבות שלנו מייצרות את הרגשות שלנו.</a:t>
            </a:r>
          </a:p>
          <a:p>
            <a:r>
              <a:t>הרגשות האלה מנהלים את הפעולות שאנחנו עושות, או לא עושות.</a:t>
            </a:r>
          </a:p>
          <a:p>
            <a:r>
              <a:t>הפעולות מייצרות את התוצאות בשטח.</a:t>
            </a:r>
          </a:p>
          <a:p>
            <a:r>
              <a:t>והתוצאות האלה חוזרות ומחזקות את המחשבה המקורית שלנו.</a:t>
            </a:r>
          </a:p>
          <a:p>
            <a:r>
              <a:t>המעגל הזה אף פעם לא עומד במקום, הוא תמיד בתנועה, כמו ספירלה שנוסעת למעלה או למטה.</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בואו נראה איך נראית הספירלה שיורדת למטה, כי רובנו היינו שם.</a:t>
            </a:r>
          </a:p>
          <a:p>
            <a:r>
              <a:t>הכל מתחיל במחשבה, "אני לא מבינה בכספים וזה גדול עליי".</a:t>
            </a:r>
          </a:p>
          <a:p>
            <a:r>
              <a:t>המחשבה הזו מייצרת בגוף רגש חזק של פחד, לחץ קל בחזה או סתם רצון לברוח.</a:t>
            </a:r>
          </a:p>
          <a:p/>
          <a:p>
            <a:r>
              <a:t>בגלל הרגש הזה, הפעולה שלנו היא פשוט לא לעשות כלום, להשאיר את הכסף בעו"ש ולסגור את המסך של הבנק.</a:t>
            </a:r>
          </a:p>
          <a:p>
            <a:r>
              <a:t>התוצאה היא שהכסף לא עובד ונשחק בשקט בגלל האינפלציה.</a:t>
            </a:r>
          </a:p>
          <a:p>
            <a:r>
              <a:t>כשאנחנו רואות את זה, המחשבה המקורית שלנו מקבלת אישור חזק, "רואה? אמרתי לך שזה לא בשבילי".</a:t>
            </a:r>
          </a:p>
          <a:p>
            <a:r>
              <a:t>וככה הספירלה ממשיכה לרדת ולסגור עלינו.</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עכשיו תראו את הקסם הבא, אותה אישה, אותו מצב בחשבון הבנק, ואותו רגע בדיוק.</a:t>
            </a:r>
          </a:p>
          <a:p>
            <a:r>
              <a:t>הדבר היחיד שמשתנה זו המחשבה הראשונה, אנחנו פשוט מוסיפות מילה אחת קטנה, "אני לא יודעת איך לעשות את זה, עדיין".</a:t>
            </a:r>
          </a:p>
          <a:p/>
          <a:p>
            <a:r>
              <a:t>המילה הקטנה הזו משנה את הרגש מפחד משתק לסקרנות בריאה.</a:t>
            </a:r>
          </a:p>
          <a:p>
            <a:r>
              <a:t>הפעולה הבאה היא כבר לא הימנעות, אלא צעד קטן, כמו לפתוח את הפורטל שלנו או לעשות שיחת טלפון אחת פשוטה.</a:t>
            </a:r>
          </a:p>
          <a:p>
            <a:r>
              <a:t>התוצאה היא שפתאום גילית שיש לך כסף אבוד, וזה מייצר מחשבה חדשה ומעצימה, "רגע, אני לגמרי מסוגלת לעשות את זה".</a:t>
            </a:r>
          </a:p>
          <a:p>
            <a:r>
              <a:t>החלפנו את כיוון הספירלה בלי ללמוד תואר שלם, רק בזכות שינוי מחשבתי אחד.</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אתן מכירות את זה שיש רגעים ביום שאנחנו מרגישות שאנחנו יכולות הכל?</a:t>
            </a:r>
          </a:p>
          <a:p>
            <a:r>
              <a:t>שאנחנו טורפות את העולם, פותרות בעיות ומנהלות את הכל כמו מנכ"ליות על?</a:t>
            </a:r>
          </a:p>
          <a:p>
            <a:r>
              <a:t>ופתאום, שעתיים אחרי, מישהו אומר מילה לא במקום ואנחנו מתכנסות פנימה ומרגישות ששום דבר לא יצליח לנו?</a:t>
            </a:r>
          </a:p>
          <a:p/>
          <a:p>
            <a:r>
              <a:t>לא, את לא משוגעת, זה קורה לכולם!</a:t>
            </a:r>
          </a:p>
          <a:p>
            <a:r>
              <a:t>זה מה שנקרא סולם התודעה.</a:t>
            </a:r>
          </a:p>
          <a:p>
            <a:r>
              <a:t>המודל הזה מבוסס על ספרו של דיוויד הוקינס, עוצמה מול כוח, והוא מסביר בדיוק למה אנחנו חווים את התנודות הקיצוניות האלה ביום יום שלנו.</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הסולם הזה מחלק את החיים שלנו לשני אזורים ברורים מאוד.</a:t>
            </a:r>
          </a:p>
          <a:p>
            <a:r>
              <a:t>בחלק התחתון של הסולם נמצאים הרגשות הנמוכים שמכווצים אותנו, כמו בושה, אשמה על הוצאות, פחד מהעתיד או ספק בעצמנו.</a:t>
            </a:r>
          </a:p>
          <a:p>
            <a:r>
              <a:t>הרגשות האלה לוקחים מאיתנו אנרגיה ומשאירים אותנו במצב הישרדותי.</a:t>
            </a:r>
          </a:p>
          <a:p/>
          <a:p>
            <a:r>
              <a:t>נקודת המפנה, קו פרשת המים האמיתי על הסולם, היא האומץ.</a:t>
            </a:r>
          </a:p>
          <a:p>
            <a:r>
              <a:t>ברגע שאנחנו מגייסות אומץ, אנחנו מתחילות לעלות לחלק העליון של הסולם, שם נמצאים רגשות גבוהים כמו קבלה, אהבה, שמחה והכרת תודה.</a:t>
            </a:r>
          </a:p>
          <a:p>
            <a:r>
              <a:t>שם האנרגיה שלנו מתרחבת, וככל שהתדר שלנו גבוה יותר, אנחנו מסוגלות לראות הזדמנויות ומושכות שפע ואפשרויות חדשות לחיים שלנו.</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אז איך אנחנו לוקחות את הכלי הזה ומיישמות אותו בכסף שלנו?</a:t>
            </a:r>
          </a:p>
          <a:p>
            <a:r>
              <a:t>קודם כל מפתחות מודעות ושואלות את עצמנו, איפה אני נמצאת על הסולם ברגע זה?</a:t>
            </a:r>
          </a:p>
          <a:p/>
          <a:p>
            <a:r>
              <a:t>כלל הזהב שלי בכסף הוא פשוט, לעולם לא מקבלים החלטות כספיות כשאתן נמצאות בחלק התחתון של הסולם.</a:t>
            </a:r>
          </a:p>
          <a:p>
            <a:r>
              <a:t>כשאתן בפחד או באשמה, אתן לא קונות, לא מוכרות ולא עושות שום שינוי בחשבון הבנק.</a:t>
            </a:r>
          </a:p>
          <a:p>
            <a:r>
              <a:t>אם אתן למטה, עוצרים הכל ועושים משהו שמקפיץ אתכן למעלה, שמים שיר טוב, יוצאים להליכה קצרה, נושמים עמוק או מדברים עם חברה.</a:t>
            </a:r>
          </a:p>
          <a:p>
            <a:r>
              <a:t>ורק כשעליתן למעלה, לתדר של אומץ וקבלה, רק אז אתן פועלות ומקבלות החלטות.</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בואו נעשה תרגיל קטן ומהיר.</a:t>
            </a:r>
          </a:p>
          <a:p>
            <a:r>
              <a:t>תכתבו לי עכשיו בצ'אט, בכנות מוחלטת, איפה אתן מרגישות שאתן נמצאות על הסולם ברגע הזה ממש?</a:t>
            </a:r>
          </a:p>
          <a:p/>
          <a:p>
            <a:r>
              <a:t>(להקריא 4-5 תשובות מהצ'אט)</a:t>
            </a:r>
          </a:p>
          <a:p>
            <a:r>
              <a:t>תראו כמה עוצמה יש בזה.</a:t>
            </a:r>
          </a:p>
          <a:p>
            <a:r>
              <a:t>רק לפני חצי שעה אולי הייתן לחוצות ועמוסות, ופתאום אנחנו יחד, לומדות ומשתפות, והתדר של כולנו עולה.</a:t>
            </a:r>
          </a:p>
          <a:p>
            <a:r>
              <a:t>ראיתן כמה אנחנו זזות רק משעה אחת ביחד?</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חוץ מהסולם, יש לנו שלושה סוגי תודעה קבועים שמנהלים את מערכת היחסים שלנו עם העולם ועם כסף.</a:t>
            </a:r>
          </a:p>
          <a:p>
            <a:r>
              <a:t>הראשונה היא תודעה הישרדותית, שכל מטרתה היא רק לגמור את החודש ולשרוד את היום, היא שואלת תמיד "למה זה קורה לי?".</a:t>
            </a:r>
          </a:p>
          <a:p/>
          <a:p>
            <a:r>
              <a:t>השנייה היא תודעה תגובתית, אנחנו לא יוזמות כלום אלא פשוט מחכות לראות מה יקרה ומגיבות למציאות בשטח.</a:t>
            </a:r>
          </a:p>
          <a:p>
            <a:r>
              <a:t>והשלישית היא התודעה היזמית, היא מתחילה מהסוף, מגדירה מטרה ברורה ואז בונה את הדרך אליה.</a:t>
            </a:r>
          </a:p>
          <a:p>
            <a:r>
              <a:t>תודעה יזמית שואלת תמיד "מה אני בוחרת לעשות עם המצב הזה?".</a:t>
            </a:r>
          </a:p>
          <a:p>
            <a:r>
              <a:t>המעבר לתודעה יזמית הוא לא אופי מולד, הוא פשוט החלטה יומיומית.</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עכשיו תורכן, תכתבו לי בצ'אט את המספר שלכן, אחת, שתיים או שלוש.</a:t>
            </a:r>
          </a:p>
          <a:p>
            <a:r>
              <a:t>איפה את נמצאת עם הכסף שלך רוב הזמן בחיים?</a:t>
            </a:r>
          </a:p>
          <a:p/>
          <a:p>
            <a:r>
              <a:t>(להקריא 4-5 תשובות מהצ'אט)</a:t>
            </a:r>
          </a:p>
          <a:p>
            <a:r>
              <a:t>(אם רואים הרבה "2":) הרבה שתיים.</a:t>
            </a:r>
          </a:p>
          <a:p>
            <a:r>
              <a:t>וזה בסדר גמור, זה בדיוק המקום שממנו אנחנו מתחילות לצעוד הערב.</a:t>
            </a:r>
          </a:p>
          <a:p>
            <a:r>
              <a:t>העובדה שאתן כאן אומרת שבחרתן להפעיל את התודעה היזמית שלכן ולעבור למושב הנהגת.</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כדי לבסס את התודעה היזמית שלנו, אנחנו חייבות לנקות את המנוע מאמונות ישנות שמחבלות לנו בדרך.</a:t>
            </a:r>
          </a:p>
          <a:p>
            <a:r>
              <a:t>מתחת לתודעה ההישרדותית והתגובתית יושבות ארבע אמונות חוסר עמוקות מאוד.</a:t>
            </a:r>
          </a:p>
          <a:p/>
          <a:p>
            <a:r>
              <a:t>אלה אמונות שירשנו מההורים, מהסביבה או משמועות ששמענו לאורך השנים סביב שולחן השבת.</a:t>
            </a:r>
          </a:p>
          <a:p>
            <a:r>
              <a:t>אם לא נעצור עכשיו כדי לזהות אותן ולנפץ אותן, אנחנו נעביר אותן בצורה לא מודעת גם לילדים שלנו.</a:t>
            </a:r>
          </a:p>
          <a:p>
            <a:r>
              <a:t>בואו נעבור עליהן אחת אחת, ונראה איך אנחנו מפרקות אותן מהיסוד.</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אין מספיק כסף? בואו נסתכל רגע על המציאות בעיניים. רק כאן בישראל יושבים בעו"ש מאות מיליארדי שקלים. לא בהשקעות, לא בתוכניות חיסכון, פשוט בעו"ש. הכסף קיים, הוא לא חסר, הוא פשוט שוכב במקום הלא נכון ולא זז. עכשיו, תהיו כנות איתי ותכתבו לי בצ'אט מספר מ-1 עד 5: כמה המחשבה הזו שאין מספיק מנהלת אתכן ביום יום?</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זה לא בסדר להרוויח שפע? בואו נפתח את זה. כסף הוא בסך הכל אנרגיה, הוא דלתות שנפתחות, הוא אפשרויות לבחור מה לעשות עם הזמן שלנו. הוא לא הופך מישהו לטוב או לרע, הכל תלוי בידיים של מי הוא נמצא. אמא שיש לה שקט כלכלי היא אמא שיש לה הרבה יותר פניות לתת, לילדים שלה ולעולם כולו. תכתבו לי בצ'אט מ-1 עד 5 כמה המחשבה הזו יושבת אצלכן.</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זה לא בטוח? בואו נהפוך רגע את השאלה הזו ונבין מה באמת לא בטוח. להשקיע את הכסף במנגנונים יציבים ומנוהלים היטב לאורך שנים, או להשאיר אותו בעו"ש כשהאינפלציה שוחקת אותו בכל יום בשקט, בלי שאף אחת רואה? הסיכון הכי גדול שלנו הוא פשוט לא לעשות כלום. תדרגו לי בצ'אט מ-1 עד 5 כמה האמונה הזו עוצרת אתכן מלהתקדם.</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והנה האמונה הכי נפוצה, שמרתי אותה לסוף כי היא הכי חזקה: אני לא יכולה. תשמעו לי טוב, יש הבדל עצום בין לא יכולה לבין לא יודעת איך, עדיין. לא יכולה זה קיר אטום. לא יודעת איך זו פשוט דלת שעוד לא פתחנו. כל מה שנעשה בליווי הזה הוא לקחת אתכן יד ביד וללמוד את האיך. תדרגו לי 1 עד 5 בצ'אט כמה המשפט הזה עובר לכן בראש. (להקריא כמה תשובות מהצ'אט).</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והנה הכלי המעשי הראשון שלכן להערב, והוא פשוט בצורה מטורפת. בכל פעם שעולה לכן בראש המשפט 'אי אפשר' עם סימן קריאה, תורידו אותו ותשימו במקומו סימן שאלה. 'איך אפשר?'. המוח שלנו הוא מכונה מדהימה למציאת פתרונות, אבל הוא נדלק רק כשאנחנו שואלות אותו שאלות. הכרזה כמו 'אי אפשר' פשוט מכבה אותו בשנייה. ברגע שתשאלו 'איך אפשר', המוח יתחיל לחפש הוכחות של נשים אחרות שכבר עשו את זה. ואם זה אפשרי עבורן, זה אפשרי גם בשבילכן.</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עכשיו אנחנו עוברות לתרגול מעשי בזום. אנחנו נחלק אתכן לזוגות בחדרים לשמונה דקות, ארבע דקות לכל אחת. הראשונה מקריאה את האמונה שהיא דירגה הכי גבוה, בלי להסביר ובלי להתנצל. בת הזוג שלה עושה רק דבר אחד: הופכת את זה לשאלת 'איך אפשר' ומביאה הוכחה אחת של מישהי שהיא מכירה שכן עשתה את זה. ואז מתחלפות. מה שאתן לא רואות על עצמכן, החברה מולכן תראה בשנייה. יאללה, צאו לדרך. (להפעיל חדרים וטיימר ל-8 דקות).</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ברוכות השבות מהחדרים. אני רוצה לשמוע מכן בצ'אט: מי קיבלה מהפרטנרית שלה הוכחה שהפתיעה אותה וגרמה לה לחשוב אחרת? תכתבו לי מילה אחת בצ'אט. (להקריא 4-5 תשובות מהצ'אט). מעולה, זה בדיוק הקסם של הוכחות במציאות. כשיש הוכחה, המוח מבין שזה אמיתי ומתחיל לעבוד בשבילנו.</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השלמנו עכשיו שלושה כלים חזקים של תודעה. את מעגל התודעה שמראה איך המחשבה שלנו מייצרת את התוצאה בשטח, את סולם התודעה שמבוסס על 'עוצמה מול כוח' ומראה לנו שאומץ הוא נקודת המפנה, ואת כלי ה'איך אפשר'. אתן לא צריכות לשנן שום דבר. התפקיד שלכן מעכשיו הוא רק להיות בהקשבה ובמודעות לכלים האלה ביום יום. פשוט להסתכל על העולם ועל ההחלטות שלכן מתוך עיניים אחרות.</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אני רוצה לסיים את החלק הזה ולהשאיר אתכן עם הציטוט המדהים של וויין דייר: 'כשאת משנה את הדרך שבה את מסתכלת על הדברים, הדברים שאת מסתכלת עליהם משתנים.' זה הבסיס להכל. שינוי התפיסה שלכן הוא זה שישנה בסופו של דבר את המציאות הפיננסית שלכן. ועם הראש הפתוח והתודעה הזו, אנחנו יורדות עכשיו לקרקע, לחלק המעשי של הלייב הערב: נקודת המוצא שלנו.</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אחרי שעפנו גבוה והרשינו לעצמנו לחלום הכי רחוק שיש, אני רוצה שנחזיר את הרגליים אל הקרקע.</a:t>
            </a:r>
          </a:p>
          <a:p>
            <a:r>
              <a:t>עכשיו אנחנו נוחתות ישר לתוך המספרים, עם ראש פתוח וסקרנות של ילדות.</a:t>
            </a:r>
          </a:p>
          <a:p>
            <a:r>
              <a:t>השלב הבא במצפן שלנו הוא נקודת המוצא, וכאן בדיוק מתחיל הקסם האמיתי של העשייה.</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תחשבו על זה רגע, כשאתן נכנסות לאוטו ומפעילות וויז, הדבר הראשון שהוא עושה זה לחפש קליטת GPS.</a:t>
            </a:r>
          </a:p>
          <a:p>
            <a:r>
              <a:t>הוא לא יכול לבנות לכן שום מסלול בעולם, גם אם היעד שלכן סופר ברור, אם הוא לא יודע איפה אתן עומדות כרגע.</a:t>
            </a:r>
          </a:p>
          <a:p>
            <a:r>
              <a:t>החזון שכתבנו עכשיו הוא נקודת היעד שלנו על המפה, ונקודת המוצא היא המיקום הנוכחי שלכן.</a:t>
            </a:r>
          </a:p>
          <a:p>
            <a:r>
              <a:t>בלי להבין בדיוק איפה אנחנו עומדות, אנחנו פשוט נמשיך להסתובב במעגלים ולא נגיע לשום מקום.</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כדי להבין בדיוק איפה אנחנו נמצאות בדרך הזו, אנחנו צריכות להכיר בסך הכל שני מספרים פשוטים.</a:t>
            </a:r>
          </a:p>
          <a:p>
            <a:r>
              <a:t>המספר הראשון הוא השווי הנקי שלנו, שזה אומר כמה כסף ורכוש יש לנו כרגע.</a:t>
            </a:r>
          </a:p>
          <a:p>
            <a:r>
              <a:t>המספר השני הוא התזרים, שזה בעצם התנועה של הכסף שלנו בכל חודש מחדש.</a:t>
            </a:r>
          </a:p>
          <a:p>
            <a:r>
              <a:t>תחשבו על השווי הנקי כמו צילום סטילס קפוא של הרגע, ועל התזרים כמו סרט וידאו שמראה את החיים עצמם בתנועה.</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אז בואו נתחיל עם המספר הראשון, השווי הנקי שלכן.</a:t>
            </a:r>
          </a:p>
          <a:p>
            <a:r>
              <a:t>זה פשוט מאוד, כל מה שיש לי בעולם, פחות כל מה שאני חייבת למישהו אחר.</a:t>
            </a:r>
          </a:p>
          <a:p>
            <a:r>
              <a:t>בלי דרמות, בלי שיפוטיות, ובלי להרגיש רע או טוב עם מה שיוצא.</a:t>
            </a:r>
          </a:p>
          <a:p>
            <a:r>
              <a:t>זה לא מבחן בבית ספר וזה לא אומר עליכן כלום, זו פשוט נקודה מדויקת על המפה שלכן שממנה אנחנו מתחילות לצעוד.</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אז מה אנחנו בעצם אוספות לתוך הסל שלנו כדי לחשב את השווי הנקי הזה?</a:t>
            </a:r>
          </a:p>
          <a:p>
            <a:r>
              <a:t>אנחנו בודקות את העו"ש, הפיקדונות בבנק, קרנות כספיות, תיקי השקעות, קופות גמל להשקעה וקרנות השתלמות.</a:t>
            </a:r>
          </a:p>
          <a:p>
            <a:r>
              <a:t>הפעם אנחנו מכניסות לחשבון גם את שווי הדירה שלכן, ומהצד השני מפחיתות את המשכנתא, הלוואות או מינוס אם יש.</a:t>
            </a:r>
          </a:p>
          <a:p>
            <a:r>
              <a:t>את התיק הפנסיוני שלכן אנחנו לא נוגעות ומכניסות עכשיו, כי לו תהיה פגישה נפרדת ומדויקת משלו עם הסוכן בהמשך הדרך.</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כאן מגיע השלב המרגש שאני הכי אוהבת, ציד האוצרות האמיתי שלנו.</a:t>
            </a:r>
          </a:p>
          <a:p>
            <a:r>
              <a:t>אנחנו הולכות לחפש את כל הכסף שלא ידעתן שקיים או שפשוט שכחתן ממנו בפינה.</a:t>
            </a:r>
          </a:p>
          <a:p>
            <a:r>
              <a:t>זה יכול להיות חיסכון ישן שפתחתן פעם, קופות ממקומות עבודה קודמים, כספים שיושבים בהר הכסף, או ביטוחים כפולים שמשלמים עליהם סתם.</a:t>
            </a:r>
          </a:p>
          <a:p>
            <a:r>
              <a:t>[[עדי: הדוגמה האישית שלך, כסף שגילית שהיה לך.]]</a:t>
            </a:r>
          </a:p>
          <a:p>
            <a:r>
              <a:t>אני רוצה שתרגישו את ההתרגשות הזו בגוף, כי כמעט תמיד אנחנו מגלות שם הפתעות מטורפות שמשנות את התמונה.</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המטרה העיקרית שלנו לשבוע הקרוב היא פשוט להרים את הכסף הזה מהרצפה.</a:t>
            </a:r>
          </a:p>
          <a:p>
            <a:r>
              <a:t>אנחנו הולכות לאסוף את כל הנתונים של נקודת המוצא שלכן, לעשות סדר, ולאתר את כל הכספים האבודים האלה.</a:t>
            </a:r>
          </a:p>
          <a:p>
            <a:r>
              <a:t>אתן תראו שברגע שמתחילים להסתכל למספרים בעיניים, פתאום דברים מתחילים לזוז לטובתנו בצורה אוטומטית.</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עכשיו אנחנו עוברות למספר השני שלנו, וזה התזרים שלכן.</a:t>
            </a:r>
          </a:p>
          <a:p>
            <a:r>
              <a:t>התזרים הוא המשוואה הפשוטה של כמה כסף נכנס לעומת כמה כסף יוצא, ומה שנשאר לכן ביד בסוף.</a:t>
            </a:r>
          </a:p>
          <a:p>
            <a:r>
              <a:t>החיבור למצפן שלנו פה הוא קריטי, כי מה שנשאר הוא הדלק האמיתי של האסטרטגיה שלנו.</a:t>
            </a:r>
          </a:p>
          <a:p>
            <a:r>
              <a:t>בלי להשאיר עודף חודשי קבוע, פשוט לא יהיה לנו עם מה לכוון למטרות הגדולות והחלומות שכתבנו קודם.</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בגלל זה אני תמיד אומרת שהתזרים הוא המלך האמיתי של המשחק הזה.</a:t>
            </a:r>
          </a:p>
          <a:p>
            <a:r>
              <a:t>אפשר להחזיק בנכסים ובשווי נקי סופר יפה, ועדיין לחיות בלחץ ובחרדה קיומית בכל חודש מחדש.</a:t>
            </a:r>
          </a:p>
          <a:p>
            <a:r>
              <a:t>זוכרות את המשפט שאחת מכן כתבה? "מרוויחים יפה ועדיין חיים בפחד ממחסור." זה בדיוק זה.</a:t>
            </a:r>
          </a:p>
          <a:p>
            <a:r>
              <a:t>התזרים החודשי הוא מה שקובע איך תרגישו ביום-יום שלכן, והוא זה שמביא את השקט הנפשי האמיתי.</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אני רוצה להקריא לכן ציטוט חזק של רוברט קיוסאקי שילווה אותנו:</a:t>
            </a:r>
          </a:p>
          <a:p>
            <a:r>
              <a:t>"לא משנה כמה כסף את מרוויחה. משנה כמה כסף את שומרת."</a:t>
            </a:r>
          </a:p>
          <a:p>
            <a:r>
              <a:t>תחשבו על זה רגע, זו בדיוק נקודת המפנה שלכן מהרגע הזה והלאה.</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הכלל הראשון והכי חשוב שלנו בתזרים הוא פשוט מאוד, אנחנו תמיד מסיימות בפלוס.</a:t>
            </a:r>
          </a:p>
          <a:p>
            <a:r>
              <a:t>מינוס בעו"ש הוא ההלוואה הכי יקרה והכי גרועה שיש לכן בבנק, ואף אחד לא שואל אתכן או מבקש אישור לפני שהוא נותן לכן אותה ומחייב אתכן בריבית מטורפת.</a:t>
            </a:r>
          </a:p>
          <a:p>
            <a:r>
              <a:t>המטרה שלנו היא שכל חודש מהיום והלאה ייגמר בפלוס, גם אם הוא פלוס קטן בהתחלה, העיקר שהוא ירוק וחיובי.</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כשאני אומרת ניהול תקציב, אני ממש לא מתכוונת לדיאטה חנוקה או לעונש.</a:t>
            </a:r>
          </a:p>
          <a:p>
            <a:r>
              <a:t>ניהול תקציב הוא בסך הכל קביעת סדרי עדיפויות, להחליט מראש לאן הכסף שלכן הולך במקום לתהות לאן הוא נעלם בסוף החודש.</a:t>
            </a:r>
          </a:p>
          <a:p>
            <a:r>
              <a:t>כל הוצאה מקבלת תווית אחת: חובה, חשוב לי, נחמד שיש, או נזילה.</a:t>
            </a:r>
          </a:p>
          <a:p>
            <a:r>
              <a:t>חשוב לי זה לגיטימי לגמרי, מותר לכן ליהנות ולבזבז, אבל אנחנו נעצור את הנזילה, את כל הכסף שנעלם לכן מהידיים בלי שבכלל בחרתן בו.</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והכלל שמחבר את הכל: קודם אני.</a:t>
            </a:r>
          </a:p>
          <a:p>
            <a:r>
              <a:t>ההשקעה החודשית שלכן לעתיד היא ההוצאה הקבועה הראשונה שיורדת מהחשבון, ולא מה שנשאר במקרה בסוף החודש.</a:t>
            </a:r>
          </a:p>
          <a:p>
            <a:r>
              <a:t>מי שחוסכת רק את מה שנשאר לה, בדרך כלל מגלה שלא נשאר לה כלום.</a:t>
            </a:r>
          </a:p>
          <a:p>
            <a:r>
              <a:t>מי שמשלמת לעצמה קודם, פשוט מתאימה את שאר ההוצאות שלה מסביב לזה בקלות ובלי לחץ, וזה בדיוק הגשר לכדים שנלמד בהמשך.</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(להקריא) בנג'מין פרנקלין: היזהרו מהוצאות קטנות. נזילה קטנה תטביע ספינה גדולה.</a:t>
            </a:r>
          </a:p>
          <a:p>
            <a:r>
              <a:t>לא ההוצאות הגדולות מטביעות אותנו. אותן אנחנו רואות. אלה הקטנות, שיורדות בשקט כל חודש, בלי שאף אחת בחרה בהן.</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וכאן נכנס אוטם הנזילות. תחנה אחרי תחנה: מנויים ששכחנו מהם, סלולר, אינטרנט וטלוויזיה, עמלות בנק, כרטיסי אשראי, ביטוחים כפולים.</a:t>
            </a:r>
          </a:p>
          <a:p>
            <a:r>
              <a:t>ולכל תחנה מחכה לך בכלי תסריט שיחה מוכן, מילה במילה. לא צריך להמציא מה להגיד לנציג. מתקשרות, קוראות, חוסכות. ברבע שעה לתחנה.</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בואו נראה איך זה נראה במספרים. דוגמה, להמחשה:</a:t>
            </a:r>
          </a:p>
          <a:p>
            <a:r>
              <a:t>70 ₪ באינטרנט. 100 ₪ בתוסף בסלולר שאף אחת לא צריכה. 50 ₪ מנוי שלא משתמשים בו. 30 ₪ עמלות בנק. 150 ₪ ביטוח כפול.</a:t>
            </a:r>
          </a:p>
          <a:p>
            <a:r>
              <a:t>יחד: 400 ₪ בחודש. 4,800 ₪ בשנה.</a:t>
            </a:r>
          </a:p>
          <a:p>
            <a:r>
              <a:t>ועכשיו תראו מה קורה כשה-400 ₪ האלה לא נוזלים, אלא עובדים בשבילנו: 20 שנה, בתשואה ממוצעת של 7% בשנה, זה יותר מ-200,000 ₪. להמחשה בלבד, בלי הבטחת תשואה. אבל תסתכלו על המספר הזה. רק מלסתום נזילות.</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ויש עוד מקום שכסף מחכה לך בו: החזר מס.</a:t>
            </a:r>
          </a:p>
          <a:p>
            <a:r>
              <a:t>אפשר לבקש החזר עד 6 שנים אחורה. הרבה שכירות פשוט לא יודעות לבדוק אם מגיע להן.</a:t>
            </a:r>
          </a:p>
          <a:p>
            <a:r>
              <a:t>בכלי יש שאלון קצר, כמה שאלות של כן ולא, והוא יגיד לך אם כדאי לבדוק. ואם כן, נחבר אותך לאיש מקצוע שעושה את זה.</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ועכשיו הכי חשוב: כל מה שדיברנו עליו הוא לא אוסף של משימות מפוזרות. זה כלי אחד, באזור האישי, מהערב: "נקודת המוצא".</a:t>
            </a:r>
          </a:p>
          <a:p>
            <a:r>
              <a:t>שישה שלבים, אחד אחרי השני: השווי הנקי, התזרים, סדרי העדיפויות, אוטם הנזילות, החזר מס, ובסוף, נקודת המוצא שלי. כל שלב נשמר, אפשר לעצור ולחזור.</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בשלב השני של הכלי מתחברות ל-RiseUp. היא מחברת את החשבון והאשראי ומראה לך לאן כל שקל הולך, בלי אקסלים.</a:t>
            </a:r>
          </a:p>
          <a:p>
            <a:r>
              <a:t>דרך הלינק שבכלי: חודש ראשון חינם, ועוד חודשיים ב-50%.</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והמטרה עד הלייב הבא: שלושה מספרים.</a:t>
            </a:r>
          </a:p>
          <a:p>
            <a:r>
              <a:t>השווי הנקי שלי. התזרים שלי. וכמה כבר חסכתי בחודש.</a:t>
            </a:r>
          </a:p>
          <a:p>
            <a:r>
              <a:t>לא "בערך", לא "נראה לי". מספר מוגדר וברור: "הוזלתי באינטרנט 70 ₪, בסלולר עוד 100 ₪". את שלושת המספרים האלה מביאות ללייב 2.</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הימור קטן בצ'אט: כמה את מנחשת שתמצאי עד יום שני הבא? תחושת בטן, מספר אחד. (להקריא כמה)</a:t>
            </a:r>
          </a:p>
          <a:p>
            <a:r>
              <a:t>שמרתי. ביום שני הבא נבדוק מי הפתיעה את עצמה.</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(להקריא) מארק טוויין: הסוד להתקדם הוא להתחיל.</a:t>
            </a:r>
          </a:p>
          <a:p>
            <a:r>
              <a:t>ואתן כבר התחלתן. הערב.</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אז מה היה לנו הערב?</a:t>
            </a:r>
          </a:p>
          <a:p>
            <a:r>
              <a:t>התחלנו בשיטת המצפן: חזון, מטרות, נקודת מוצא, אסטרטגיה.</a:t>
            </a:r>
          </a:p>
          <a:p>
            <a:r>
              <a:t>פתחנו את החזון ואת לוח החזון.</a:t>
            </a:r>
          </a:p>
          <a:p>
            <a:r>
              <a:t>קיבלנו שלושה כלים לחיים: מעגל התודעה, סולם התודעה, ו"איך אפשר?".</a:t>
            </a:r>
          </a:p>
          <a:p>
            <a:r>
              <a:t>וירדנו לקרקע: נקודת המוצא, השווי הנקי והתזרים.</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המשימה לשבוע, באזור האישי:</a:t>
            </a:r>
          </a:p>
          <a:p>
            <a:r>
              <a:t>אחת, לוח החזון. מי שעוד לא, הערב.</a:t>
            </a:r>
          </a:p>
          <a:p>
            <a:r>
              <a:t>שתיים, הכלי "נקודת המוצא", ששת השלבים.</a:t>
            </a:r>
          </a:p>
          <a:p>
            <a:r>
              <a:t>ושלוש, מגיעות ללייב הבא עם שלושה מספרים: שווי נקי, תזרים, וכמה חסכתי.</a:t>
            </a:r>
          </a:p>
          <a:p>
            <a:r>
              <a:t>אל תחפשי מושלם. בעיפרון, ותזוזי.</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וכמו שפתחנו, נסגור. מילה אחת בצ'אט: מה את לוקחת מהערב.</a:t>
            </a:r>
          </a:p>
          <a:p>
            <a:r>
              <a:t>(להקריא את כולן, לאט. זה השיא. אם חוזרת מילה מהפתיחה, לעצור עליה: "תראי מה קרה למילה שלך הערב.")</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ובשבוע הבא, לייב 2: המטרות הפיננסיות.</a:t>
            </a:r>
          </a:p>
          <a:p>
            <a:r>
              <a:t>אחרי שיש חלום, ויש נקודת מוצא, מחברות ביניהם. כל חלום מהלוח מקבל סכום ותאריך. כמה, ומתי.</a:t>
            </a:r>
          </a:p>
          <a:p>
            <a:r>
              <a:t>נתראה ביום שני. גאה בכל אחת מכן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7.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8.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8.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9.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10.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1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12.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image" Target="../media/image10.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 Id="rId3" Type="http://schemas.openxmlformats.org/officeDocument/2006/relationships/image" Target="../media/image9.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01</a:t>
            </a:r>
          </a:p>
        </p:txBody>
      </p:sp>
      <p:pic>
        <p:nvPicPr>
          <p:cNvPr id="4" name="Picture 3" descr="hero_gift.jpg"/>
          <p:cNvPicPr>
            <a:picLocks noChangeAspect="1"/>
          </p:cNvPicPr>
          <p:nvPr/>
        </p:nvPicPr>
        <p:blipFill>
          <a:blip r:embed="rId3"/>
          <a:stretch>
            <a:fillRect/>
          </a:stretch>
        </p:blipFill>
        <p:spPr>
          <a:xfrm>
            <a:off x="914400" y="838200"/>
            <a:ext cx="4876800" cy="4876800"/>
          </a:xfrm>
          <a:prstGeom prst="roundRect">
            <a:avLst>
              <a:gd name="adj" fmla="val 8000"/>
            </a:avLst>
          </a:prstGeom>
        </p:spPr>
      </p:pic>
      <p:sp>
        <p:nvSpPr>
          <p:cNvPr id="5" name="TextBox 4"/>
          <p:cNvSpPr txBox="1"/>
          <p:nvPr/>
        </p:nvSpPr>
        <p:spPr>
          <a:xfrm>
            <a:off x="6248400" y="1295400"/>
            <a:ext cx="5029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ליווי אמא משקיעה · מחזור אוקטובר</a:t>
            </a:r>
          </a:p>
        </p:txBody>
      </p:sp>
      <p:sp>
        <p:nvSpPr>
          <p:cNvPr id="6" name="TextBox 5"/>
          <p:cNvSpPr txBox="1"/>
          <p:nvPr/>
        </p:nvSpPr>
        <p:spPr>
          <a:xfrm>
            <a:off x="6248400" y="1638300"/>
            <a:ext cx="5029200" cy="2514600"/>
          </a:xfrm>
          <a:prstGeom prst="rect">
            <a:avLst/>
          </a:prstGeom>
          <a:noFill/>
        </p:spPr>
        <p:txBody>
          <a:bodyPr wrap="square" lIns="0" rIns="0" tIns="0" bIns="0" anchor="t">
            <a:spAutoFit/>
          </a:bodyPr>
          <a:lstStyle/>
          <a:p>
            <a:pPr algn="r" rtl="1">
              <a:lnSpc>
                <a:spcPct val="95000"/>
              </a:lnSpc>
            </a:pPr>
            <a:r>
              <a:rPr sz="6959" b="1" lang="he-IL">
                <a:solidFill>
                  <a:srgbClr val="191A2E"/>
                </a:solidFill>
                <a:latin typeface="Heebo"/>
                <a:ea typeface="Heebo"/>
                <a:cs typeface="Heebo"/>
              </a:rPr>
              <a:t>ברוכות</a:t>
            </a:r>
          </a:p>
          <a:p>
            <a:pPr algn="r" rtl="1">
              <a:lnSpc>
                <a:spcPct val="95000"/>
              </a:lnSpc>
            </a:pPr>
            <a:r>
              <a:rPr sz="6959" b="1" lang="he-IL">
                <a:solidFill>
                  <a:srgbClr val="EF55A5"/>
                </a:solidFill>
                <a:latin typeface="Heebo"/>
                <a:ea typeface="Heebo"/>
                <a:cs typeface="Heebo"/>
              </a:rPr>
              <a:t>הבאות!!!</a:t>
            </a:r>
          </a:p>
        </p:txBody>
      </p:sp>
      <p:sp>
        <p:nvSpPr>
          <p:cNvPr id="7" name="TextBox 6"/>
          <p:cNvSpPr txBox="1"/>
          <p:nvPr/>
        </p:nvSpPr>
        <p:spPr>
          <a:xfrm>
            <a:off x="6248400" y="4267200"/>
            <a:ext cx="5029200" cy="762000"/>
          </a:xfrm>
          <a:prstGeom prst="rect">
            <a:avLst/>
          </a:prstGeom>
          <a:noFill/>
        </p:spPr>
        <p:txBody>
          <a:bodyPr wrap="square" lIns="0" rIns="0" tIns="0" bIns="0" anchor="t">
            <a:spAutoFit/>
          </a:bodyPr>
          <a:lstStyle/>
          <a:p>
            <a:pPr algn="r" rtl="1">
              <a:lnSpc>
                <a:spcPct val="130000"/>
              </a:lnSpc>
            </a:pPr>
            <a:r>
              <a:rPr sz="1920" b="0" lang="he-IL">
                <a:solidFill>
                  <a:srgbClr val="191A2E"/>
                </a:solidFill>
                <a:latin typeface="Heebo"/>
                <a:ea typeface="Heebo"/>
                <a:cs typeface="Heebo"/>
              </a:rPr>
              <a:t>לייב 1 · ממפות · החזון, התודעה ונקודת המוצא</a:t>
            </a:r>
          </a:p>
        </p:txBody>
      </p:sp>
      <p:sp>
        <p:nvSpPr>
          <p:cNvPr id="8" name="Rounded Rectangle 7"/>
          <p:cNvSpPr/>
          <p:nvPr/>
        </p:nvSpPr>
        <p:spPr>
          <a:xfrm>
            <a:off x="10850880" y="5303520"/>
            <a:ext cx="426720" cy="45720"/>
          </a:xfrm>
          <a:prstGeom prst="roundRect">
            <a:avLst>
              <a:gd name="adj" fmla="val 50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6248400" y="5196840"/>
            <a:ext cx="4450080" cy="304800"/>
          </a:xfrm>
          <a:prstGeom prst="rect">
            <a:avLst/>
          </a:prstGeom>
          <a:noFill/>
        </p:spPr>
        <p:txBody>
          <a:bodyPr wrap="square" lIns="0" rIns="0" tIns="0" bIns="0" anchor="t">
            <a:spAutoFit/>
          </a:bodyPr>
          <a:lstStyle/>
          <a:p>
            <a:pPr algn="r" rtl="1">
              <a:lnSpc>
                <a:spcPct val="115000"/>
              </a:lnSpc>
            </a:pPr>
            <a:r>
              <a:rPr sz="1439" b="1" lang="he-IL">
                <a:solidFill>
                  <a:srgbClr val="6B6B7B"/>
                </a:solidFill>
                <a:latin typeface="Heebo"/>
                <a:ea typeface="Heebo"/>
                <a:cs typeface="Heebo"/>
              </a:rPr>
              <a:t>עדי סומך · אמא משקיעה</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02</a:t>
            </a:r>
          </a:p>
        </p:txBody>
      </p:sp>
      <p:pic>
        <p:nvPicPr>
          <p:cNvPr id="4" name="Picture 3" descr="s27_light.jpg"/>
          <p:cNvPicPr>
            <a:picLocks noChangeAspect="1"/>
          </p:cNvPicPr>
          <p:nvPr/>
        </p:nvPicPr>
        <p:blipFill>
          <a:blip r:embed="rId3"/>
          <a:stretch>
            <a:fillRect/>
          </a:stretch>
        </p:blipFill>
        <p:spPr>
          <a:xfrm>
            <a:off x="914400" y="1447800"/>
            <a:ext cx="3657600" cy="3657600"/>
          </a:xfrm>
          <a:prstGeom prst="roundRect">
            <a:avLst>
              <a:gd name="adj" fmla="val 8000"/>
            </a:avLst>
          </a:prstGeom>
        </p:spPr>
      </p:pic>
      <p:sp>
        <p:nvSpPr>
          <p:cNvPr id="5" name="Rounded Rectangle 4"/>
          <p:cNvSpPr/>
          <p:nvPr/>
        </p:nvSpPr>
        <p:spPr>
          <a:xfrm>
            <a:off x="5029200" y="1905000"/>
            <a:ext cx="6248400" cy="2895600"/>
          </a:xfrm>
          <a:prstGeom prst="roundRect">
            <a:avLst>
              <a:gd name="adj" fmla="val 9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577840" y="2438400"/>
            <a:ext cx="51511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מילה אחת בצ'אט</a:t>
            </a:r>
          </a:p>
        </p:txBody>
      </p:sp>
      <p:sp>
        <p:nvSpPr>
          <p:cNvPr id="7" name="TextBox 6"/>
          <p:cNvSpPr txBox="1"/>
          <p:nvPr/>
        </p:nvSpPr>
        <p:spPr>
          <a:xfrm>
            <a:off x="5577840" y="2834640"/>
            <a:ext cx="5151120" cy="1752600"/>
          </a:xfrm>
          <a:prstGeom prst="rect">
            <a:avLst/>
          </a:prstGeom>
          <a:noFill/>
        </p:spPr>
        <p:txBody>
          <a:bodyPr wrap="square" lIns="0" rIns="0" tIns="0" bIns="0" anchor="t">
            <a:spAutoFit/>
          </a:bodyPr>
          <a:lstStyle/>
          <a:p>
            <a:pPr algn="r" rtl="1">
              <a:lnSpc>
                <a:spcPct val="115000"/>
              </a:lnSpc>
            </a:pPr>
            <a:r>
              <a:rPr sz="3600" b="1" lang="he-IL">
                <a:solidFill>
                  <a:srgbClr val="191A2E"/>
                </a:solidFill>
                <a:latin typeface="Heebo"/>
                <a:ea typeface="Heebo"/>
                <a:cs typeface="Heebo"/>
              </a:rPr>
              <a:t>איך את הערב?</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03</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לייב 1 · ממפות</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מה מחכה לנו הערב</a:t>
            </a:r>
          </a:p>
        </p:txBody>
      </p:sp>
      <p:sp>
        <p:nvSpPr>
          <p:cNvPr id="6" name="Oval 5"/>
          <p:cNvSpPr/>
          <p:nvPr/>
        </p:nvSpPr>
        <p:spPr>
          <a:xfrm>
            <a:off x="10850880" y="246888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1</a:t>
            </a:r>
          </a:p>
        </p:txBody>
      </p:sp>
      <p:sp>
        <p:nvSpPr>
          <p:cNvPr id="7" name="TextBox 6"/>
          <p:cNvSpPr txBox="1"/>
          <p:nvPr/>
        </p:nvSpPr>
        <p:spPr>
          <a:xfrm>
            <a:off x="914400" y="2484120"/>
            <a:ext cx="9723120" cy="94488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שיטת המצפן: איך מגיעים לכל מקום</a:t>
            </a:r>
          </a:p>
        </p:txBody>
      </p:sp>
      <p:sp>
        <p:nvSpPr>
          <p:cNvPr id="8" name="Oval 7"/>
          <p:cNvSpPr/>
          <p:nvPr/>
        </p:nvSpPr>
        <p:spPr>
          <a:xfrm>
            <a:off x="10850880" y="341376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2</a:t>
            </a:r>
          </a:p>
        </p:txBody>
      </p:sp>
      <p:sp>
        <p:nvSpPr>
          <p:cNvPr id="9" name="TextBox 8"/>
          <p:cNvSpPr txBox="1"/>
          <p:nvPr/>
        </p:nvSpPr>
        <p:spPr>
          <a:xfrm>
            <a:off x="914400" y="3429000"/>
            <a:ext cx="9723120" cy="94488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התודעה: למה לחלום בגדול זה כלי, ואיך מרחיבים אותה</a:t>
            </a:r>
          </a:p>
        </p:txBody>
      </p:sp>
      <p:sp>
        <p:nvSpPr>
          <p:cNvPr id="10" name="Oval 9"/>
          <p:cNvSpPr/>
          <p:nvPr/>
        </p:nvSpPr>
        <p:spPr>
          <a:xfrm>
            <a:off x="10850880" y="435864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3</a:t>
            </a:r>
          </a:p>
        </p:txBody>
      </p:sp>
      <p:sp>
        <p:nvSpPr>
          <p:cNvPr id="11" name="TextBox 10"/>
          <p:cNvSpPr txBox="1"/>
          <p:nvPr/>
        </p:nvSpPr>
        <p:spPr>
          <a:xfrm>
            <a:off x="914400" y="4373880"/>
            <a:ext cx="9723120" cy="94488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נקודת המוצא: אוספות את כל הכסף שלך לסל אחד</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04</a:t>
            </a:r>
          </a:p>
        </p:txBody>
      </p:sp>
      <p:sp>
        <p:nvSpPr>
          <p:cNvPr id="4" name="TextBox 3"/>
          <p:cNvSpPr txBox="1"/>
          <p:nvPr/>
        </p:nvSpPr>
        <p:spPr>
          <a:xfrm>
            <a:off x="914400" y="11430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איך זה עובד ב-28 הימים</a:t>
            </a:r>
          </a:p>
        </p:txBody>
      </p:sp>
      <p:sp>
        <p:nvSpPr>
          <p:cNvPr id="5" name="Rectangle 4"/>
          <p:cNvSpPr/>
          <p:nvPr/>
        </p:nvSpPr>
        <p:spPr>
          <a:xfrm>
            <a:off x="2286000" y="2453640"/>
            <a:ext cx="7620000" cy="30480"/>
          </a:xfrm>
          <a:prstGeom prst="rect">
            <a:avLst/>
          </a:prstGeom>
          <a:solidFill>
            <a:srgbClr val="ECE7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Oval 5"/>
          <p:cNvSpPr/>
          <p:nvPr/>
        </p:nvSpPr>
        <p:spPr>
          <a:xfrm>
            <a:off x="10012680" y="1889760"/>
            <a:ext cx="1158240" cy="1158240"/>
          </a:xfrm>
          <a:prstGeom prst="ellipse">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p:cNvSpPr/>
          <p:nvPr/>
        </p:nvSpPr>
        <p:spPr>
          <a:xfrm>
            <a:off x="10104120" y="1981200"/>
            <a:ext cx="975360" cy="97536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3240" b="1" lang="he-IL">
                <a:solidFill>
                  <a:srgbClr val="191A2E"/>
                </a:solidFill>
                <a:latin typeface="Heebo"/>
                <a:ea typeface="Heebo"/>
                <a:cs typeface="Heebo"/>
              </a:rPr>
              <a:t>1</a:t>
            </a:r>
          </a:p>
        </p:txBody>
      </p:sp>
      <p:sp>
        <p:nvSpPr>
          <p:cNvPr id="8" name="TextBox 7"/>
          <p:cNvSpPr txBox="1"/>
          <p:nvPr/>
        </p:nvSpPr>
        <p:spPr>
          <a:xfrm>
            <a:off x="9448800" y="3169920"/>
            <a:ext cx="2286000" cy="304800"/>
          </a:xfrm>
          <a:prstGeom prst="rect">
            <a:avLst/>
          </a:prstGeom>
          <a:noFill/>
        </p:spPr>
        <p:txBody>
          <a:bodyPr wrap="square" lIns="0" rIns="0" tIns="0" bIns="0" anchor="t">
            <a:spAutoFit/>
          </a:bodyPr>
          <a:lstStyle/>
          <a:p>
            <a:pPr algn="ctr" rtl="1">
              <a:lnSpc>
                <a:spcPct val="115000"/>
              </a:lnSpc>
            </a:pPr>
            <a:r>
              <a:rPr sz="1620" b="1" lang="he-IL">
                <a:solidFill>
                  <a:srgbClr val="191A2E"/>
                </a:solidFill>
                <a:latin typeface="Heebo"/>
                <a:ea typeface="Heebo"/>
                <a:cs typeface="Heebo"/>
              </a:rPr>
              <a:t>שבוע 1 · ממפות</a:t>
            </a:r>
          </a:p>
        </p:txBody>
      </p:sp>
      <p:sp>
        <p:nvSpPr>
          <p:cNvPr id="9" name="Oval 8"/>
          <p:cNvSpPr/>
          <p:nvPr/>
        </p:nvSpPr>
        <p:spPr>
          <a:xfrm>
            <a:off x="7109460" y="1981200"/>
            <a:ext cx="975360" cy="975360"/>
          </a:xfrm>
          <a:prstGeom prst="ellipse">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3240" b="1" lang="he-IL">
                <a:solidFill>
                  <a:srgbClr val="9A9AA6"/>
                </a:solidFill>
                <a:latin typeface="Heebo"/>
                <a:ea typeface="Heebo"/>
                <a:cs typeface="Heebo"/>
              </a:rPr>
              <a:t>2</a:t>
            </a:r>
          </a:p>
        </p:txBody>
      </p:sp>
      <p:sp>
        <p:nvSpPr>
          <p:cNvPr id="10" name="TextBox 9"/>
          <p:cNvSpPr txBox="1"/>
          <p:nvPr/>
        </p:nvSpPr>
        <p:spPr>
          <a:xfrm>
            <a:off x="6454140" y="3169920"/>
            <a:ext cx="2286000" cy="304800"/>
          </a:xfrm>
          <a:prstGeom prst="rect">
            <a:avLst/>
          </a:prstGeom>
          <a:noFill/>
        </p:spPr>
        <p:txBody>
          <a:bodyPr wrap="square" lIns="0" rIns="0" tIns="0" bIns="0" anchor="t">
            <a:spAutoFit/>
          </a:bodyPr>
          <a:lstStyle/>
          <a:p>
            <a:pPr algn="ctr" rtl="1">
              <a:lnSpc>
                <a:spcPct val="115000"/>
              </a:lnSpc>
            </a:pPr>
            <a:r>
              <a:rPr sz="1620" b="1" lang="he-IL">
                <a:solidFill>
                  <a:srgbClr val="9A9AA6"/>
                </a:solidFill>
                <a:latin typeface="Heebo"/>
                <a:ea typeface="Heebo"/>
                <a:cs typeface="Heebo"/>
              </a:rPr>
              <a:t>שבוע 2 · מגינות</a:t>
            </a:r>
          </a:p>
        </p:txBody>
      </p:sp>
      <p:sp>
        <p:nvSpPr>
          <p:cNvPr id="11" name="Oval 10"/>
          <p:cNvSpPr/>
          <p:nvPr/>
        </p:nvSpPr>
        <p:spPr>
          <a:xfrm>
            <a:off x="4114800" y="1981200"/>
            <a:ext cx="975360" cy="975360"/>
          </a:xfrm>
          <a:prstGeom prst="ellipse">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3240" b="1" lang="he-IL">
                <a:solidFill>
                  <a:srgbClr val="9A9AA6"/>
                </a:solidFill>
                <a:latin typeface="Heebo"/>
                <a:ea typeface="Heebo"/>
                <a:cs typeface="Heebo"/>
              </a:rPr>
              <a:t>3</a:t>
            </a:r>
          </a:p>
        </p:txBody>
      </p:sp>
      <p:sp>
        <p:nvSpPr>
          <p:cNvPr id="12" name="TextBox 11"/>
          <p:cNvSpPr txBox="1"/>
          <p:nvPr/>
        </p:nvSpPr>
        <p:spPr>
          <a:xfrm>
            <a:off x="3459480" y="3169920"/>
            <a:ext cx="2286000" cy="304800"/>
          </a:xfrm>
          <a:prstGeom prst="rect">
            <a:avLst/>
          </a:prstGeom>
          <a:noFill/>
        </p:spPr>
        <p:txBody>
          <a:bodyPr wrap="square" lIns="0" rIns="0" tIns="0" bIns="0" anchor="t">
            <a:spAutoFit/>
          </a:bodyPr>
          <a:lstStyle/>
          <a:p>
            <a:pPr algn="ctr" rtl="1">
              <a:lnSpc>
                <a:spcPct val="115000"/>
              </a:lnSpc>
            </a:pPr>
            <a:r>
              <a:rPr sz="1620" b="1" lang="he-IL">
                <a:solidFill>
                  <a:srgbClr val="9A9AA6"/>
                </a:solidFill>
                <a:latin typeface="Heebo"/>
                <a:ea typeface="Heebo"/>
                <a:cs typeface="Heebo"/>
              </a:rPr>
              <a:t>שבוע 3 · מחלקות</a:t>
            </a:r>
          </a:p>
        </p:txBody>
      </p:sp>
      <p:sp>
        <p:nvSpPr>
          <p:cNvPr id="13" name="Oval 12"/>
          <p:cNvSpPr/>
          <p:nvPr/>
        </p:nvSpPr>
        <p:spPr>
          <a:xfrm>
            <a:off x="1120140" y="1981200"/>
            <a:ext cx="975360" cy="975360"/>
          </a:xfrm>
          <a:prstGeom prst="ellipse">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3240" b="1" lang="he-IL">
                <a:solidFill>
                  <a:srgbClr val="9A9AA6"/>
                </a:solidFill>
                <a:latin typeface="Heebo"/>
                <a:ea typeface="Heebo"/>
                <a:cs typeface="Heebo"/>
              </a:rPr>
              <a:t>4</a:t>
            </a:r>
          </a:p>
        </p:txBody>
      </p:sp>
      <p:sp>
        <p:nvSpPr>
          <p:cNvPr id="14" name="TextBox 13"/>
          <p:cNvSpPr txBox="1"/>
          <p:nvPr/>
        </p:nvSpPr>
        <p:spPr>
          <a:xfrm>
            <a:off x="464820" y="3169920"/>
            <a:ext cx="2286000" cy="304800"/>
          </a:xfrm>
          <a:prstGeom prst="rect">
            <a:avLst/>
          </a:prstGeom>
          <a:noFill/>
        </p:spPr>
        <p:txBody>
          <a:bodyPr wrap="square" lIns="0" rIns="0" tIns="0" bIns="0" anchor="t">
            <a:spAutoFit/>
          </a:bodyPr>
          <a:lstStyle/>
          <a:p>
            <a:pPr algn="ctr" rtl="1">
              <a:lnSpc>
                <a:spcPct val="115000"/>
              </a:lnSpc>
            </a:pPr>
            <a:r>
              <a:rPr sz="1620" b="1" lang="he-IL">
                <a:solidFill>
                  <a:srgbClr val="9A9AA6"/>
                </a:solidFill>
                <a:latin typeface="Heebo"/>
                <a:ea typeface="Heebo"/>
                <a:cs typeface="Heebo"/>
              </a:rPr>
              <a:t>שבוע 4 · מפעילות</a:t>
            </a:r>
          </a:p>
        </p:txBody>
      </p:sp>
      <p:sp>
        <p:nvSpPr>
          <p:cNvPr id="15" name="TextBox 14"/>
          <p:cNvSpPr txBox="1"/>
          <p:nvPr/>
        </p:nvSpPr>
        <p:spPr>
          <a:xfrm>
            <a:off x="914400" y="3962400"/>
            <a:ext cx="10363200" cy="1295400"/>
          </a:xfrm>
          <a:prstGeom prst="rect">
            <a:avLst/>
          </a:prstGeom>
          <a:noFill/>
        </p:spPr>
        <p:txBody>
          <a:bodyPr wrap="square" lIns="0" rIns="0" tIns="0" bIns="0" anchor="t">
            <a:spAutoFit/>
          </a:bodyPr>
          <a:lstStyle/>
          <a:p>
            <a:pPr algn="r" rtl="1">
              <a:lnSpc>
                <a:spcPct val="120000"/>
              </a:lnSpc>
            </a:pPr>
            <a:r>
              <a:rPr sz="3240" b="1" lang="he-IL">
                <a:solidFill>
                  <a:srgbClr val="191A2E"/>
                </a:solidFill>
                <a:latin typeface="Heebo"/>
                <a:ea typeface="Heebo"/>
                <a:cs typeface="Heebo"/>
              </a:rPr>
              <a:t>מה מחכה לנו בחודש הקרוב?</a:t>
            </a:r>
          </a:p>
        </p:txBody>
      </p:sp>
      <p:sp>
        <p:nvSpPr>
          <p:cNvPr id="16" name="TextBox 15"/>
          <p:cNvSpPr txBox="1"/>
          <p:nvPr/>
        </p:nvSpPr>
        <p:spPr>
          <a:xfrm>
            <a:off x="914400" y="5334000"/>
            <a:ext cx="10363200" cy="762000"/>
          </a:xfrm>
          <a:prstGeom prst="rect">
            <a:avLst/>
          </a:prstGeom>
          <a:noFill/>
        </p:spPr>
        <p:txBody>
          <a:bodyPr wrap="square" lIns="0" rIns="0" tIns="0" bIns="0" anchor="t">
            <a:spAutoFit/>
          </a:bodyPr>
          <a:lstStyle/>
          <a:p>
            <a:pPr algn="r" rtl="1">
              <a:lnSpc>
                <a:spcPct val="145000"/>
              </a:lnSpc>
            </a:pPr>
            <a:r>
              <a:rPr sz="1680" b="0" lang="he-IL">
                <a:solidFill>
                  <a:srgbClr val="6B6B7B"/>
                </a:solidFill>
                <a:latin typeface="Heebo"/>
                <a:ea typeface="Heebo"/>
                <a:cs typeface="Heebo"/>
              </a:rPr>
              <a:t>לייב כל יום שני ב-20:00 · האזור האישי, צעד אחד ביום · פגישה אישית עם סוכן פנסיוני, כלים ובונוסים שווים</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05</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המעטפת שלך</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אתן לא לבד באף שלב</a:t>
            </a:r>
          </a:p>
        </p:txBody>
      </p:sp>
      <p:sp>
        <p:nvSpPr>
          <p:cNvPr id="6" name="Rounded Rectangle 5"/>
          <p:cNvSpPr/>
          <p:nvPr/>
        </p:nvSpPr>
        <p:spPr>
          <a:xfrm>
            <a:off x="8846820" y="2514600"/>
            <a:ext cx="2430780" cy="30480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9121140" y="2819400"/>
            <a:ext cx="1882140" cy="838200"/>
          </a:xfrm>
          <a:prstGeom prst="rect">
            <a:avLst/>
          </a:prstGeom>
          <a:noFill/>
        </p:spPr>
        <p:txBody>
          <a:bodyPr wrap="square" lIns="0" rIns="0" tIns="0" bIns="0" anchor="t">
            <a:spAutoFit/>
          </a:bodyPr>
          <a:lstStyle/>
          <a:p>
            <a:pPr algn="r" rtl="1">
              <a:lnSpc>
                <a:spcPct val="110000"/>
              </a:lnSpc>
            </a:pPr>
            <a:r>
              <a:rPr sz="2039" b="1" lang="he-IL">
                <a:solidFill>
                  <a:srgbClr val="191A2E"/>
                </a:solidFill>
                <a:latin typeface="Heebo"/>
                <a:ea typeface="Heebo"/>
                <a:cs typeface="Heebo"/>
              </a:rPr>
              <a:t>לייב כל יום שני</a:t>
            </a:r>
          </a:p>
        </p:txBody>
      </p:sp>
      <p:sp>
        <p:nvSpPr>
          <p:cNvPr id="8" name="TextBox 7"/>
          <p:cNvSpPr txBox="1"/>
          <p:nvPr/>
        </p:nvSpPr>
        <p:spPr>
          <a:xfrm>
            <a:off x="9121140" y="3733800"/>
            <a:ext cx="1882140" cy="1905000"/>
          </a:xfrm>
          <a:prstGeom prst="rect">
            <a:avLst/>
          </a:prstGeom>
          <a:noFill/>
        </p:spPr>
        <p:txBody>
          <a:bodyPr wrap="square" lIns="0" rIns="0" tIns="0" bIns="0" anchor="t">
            <a:spAutoFit/>
          </a:bodyPr>
          <a:lstStyle/>
          <a:p>
            <a:pPr algn="r" rtl="1">
              <a:lnSpc>
                <a:spcPct val="140000"/>
              </a:lnSpc>
            </a:pPr>
            <a:r>
              <a:rPr sz="1560" b="0" lang="he-IL">
                <a:solidFill>
                  <a:srgbClr val="191A2E"/>
                </a:solidFill>
                <a:latin typeface="Heebo"/>
                <a:ea typeface="Heebo"/>
                <a:cs typeface="Heebo"/>
              </a:rPr>
              <a:t>20:00, ארבעה שבועות ברצף. כל לייב מוקלט.</a:t>
            </a:r>
          </a:p>
        </p:txBody>
      </p:sp>
      <p:sp>
        <p:nvSpPr>
          <p:cNvPr id="9" name="Rounded Rectangle 8"/>
          <p:cNvSpPr/>
          <p:nvPr/>
        </p:nvSpPr>
        <p:spPr>
          <a:xfrm>
            <a:off x="6202680" y="2514600"/>
            <a:ext cx="2430780" cy="3048000"/>
          </a:xfrm>
          <a:prstGeom prst="roundRect">
            <a:avLst>
              <a:gd name="adj" fmla="val 8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477000" y="2819400"/>
            <a:ext cx="1882140" cy="838200"/>
          </a:xfrm>
          <a:prstGeom prst="rect">
            <a:avLst/>
          </a:prstGeom>
          <a:noFill/>
        </p:spPr>
        <p:txBody>
          <a:bodyPr wrap="square" lIns="0" rIns="0" tIns="0" bIns="0" anchor="t">
            <a:spAutoFit/>
          </a:bodyPr>
          <a:lstStyle/>
          <a:p>
            <a:pPr algn="r" rtl="1">
              <a:lnSpc>
                <a:spcPct val="110000"/>
              </a:lnSpc>
            </a:pPr>
            <a:r>
              <a:rPr sz="2039" b="1" lang="he-IL">
                <a:solidFill>
                  <a:srgbClr val="191A2E"/>
                </a:solidFill>
                <a:latin typeface="Heebo"/>
                <a:ea typeface="Heebo"/>
                <a:cs typeface="Heebo"/>
              </a:rPr>
              <a:t>פגישה אישית</a:t>
            </a:r>
          </a:p>
        </p:txBody>
      </p:sp>
      <p:sp>
        <p:nvSpPr>
          <p:cNvPr id="11" name="TextBox 10"/>
          <p:cNvSpPr txBox="1"/>
          <p:nvPr/>
        </p:nvSpPr>
        <p:spPr>
          <a:xfrm>
            <a:off x="6477000" y="3429000"/>
            <a:ext cx="1882140" cy="1905000"/>
          </a:xfrm>
          <a:prstGeom prst="rect">
            <a:avLst/>
          </a:prstGeom>
          <a:noFill/>
        </p:spPr>
        <p:txBody>
          <a:bodyPr wrap="square" lIns="0" rIns="0" tIns="0" bIns="0" anchor="t">
            <a:spAutoFit/>
          </a:bodyPr>
          <a:lstStyle/>
          <a:p>
            <a:pPr algn="r" rtl="1">
              <a:lnSpc>
                <a:spcPct val="140000"/>
              </a:lnSpc>
            </a:pPr>
            <a:r>
              <a:rPr sz="1560" b="0" lang="he-IL">
                <a:solidFill>
                  <a:srgbClr val="191A2E"/>
                </a:solidFill>
                <a:latin typeface="Heebo"/>
                <a:ea typeface="Heebo"/>
                <a:cs typeface="Heebo"/>
              </a:rPr>
              <a:t>בדיקה מעמיקה של המוצרים הפנסיונים, הביטוחים והחסכונות שלך, 1:1</a:t>
            </a:r>
          </a:p>
        </p:txBody>
      </p:sp>
      <p:sp>
        <p:nvSpPr>
          <p:cNvPr id="12" name="Rounded Rectangle 11"/>
          <p:cNvSpPr/>
          <p:nvPr/>
        </p:nvSpPr>
        <p:spPr>
          <a:xfrm>
            <a:off x="3558540" y="2514600"/>
            <a:ext cx="243078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3832860" y="2819400"/>
            <a:ext cx="1882140" cy="838200"/>
          </a:xfrm>
          <a:prstGeom prst="rect">
            <a:avLst/>
          </a:prstGeom>
          <a:noFill/>
        </p:spPr>
        <p:txBody>
          <a:bodyPr wrap="square" lIns="0" rIns="0" tIns="0" bIns="0" anchor="t">
            <a:spAutoFit/>
          </a:bodyPr>
          <a:lstStyle/>
          <a:p>
            <a:pPr algn="r" rtl="1">
              <a:lnSpc>
                <a:spcPct val="110000"/>
              </a:lnSpc>
            </a:pPr>
            <a:r>
              <a:rPr sz="2039" b="1" lang="he-IL">
                <a:solidFill>
                  <a:srgbClr val="191A2E"/>
                </a:solidFill>
                <a:latin typeface="Heebo"/>
                <a:ea typeface="Heebo"/>
                <a:cs typeface="Heebo"/>
              </a:rPr>
              <a:t>יועץ השקעות</a:t>
            </a:r>
          </a:p>
        </p:txBody>
      </p:sp>
      <p:sp>
        <p:nvSpPr>
          <p:cNvPr id="14" name="TextBox 13"/>
          <p:cNvSpPr txBox="1"/>
          <p:nvPr/>
        </p:nvSpPr>
        <p:spPr>
          <a:xfrm>
            <a:off x="3832860" y="3429000"/>
            <a:ext cx="1882140" cy="1905000"/>
          </a:xfrm>
          <a:prstGeom prst="rect">
            <a:avLst/>
          </a:prstGeom>
          <a:noFill/>
        </p:spPr>
        <p:txBody>
          <a:bodyPr wrap="square" lIns="0" rIns="0" tIns="0" bIns="0" anchor="t">
            <a:spAutoFit/>
          </a:bodyPr>
          <a:lstStyle/>
          <a:p>
            <a:pPr algn="r" rtl="1">
              <a:lnSpc>
                <a:spcPct val="140000"/>
              </a:lnSpc>
            </a:pPr>
            <a:r>
              <a:rPr sz="1560" b="0" lang="he-IL">
                <a:solidFill>
                  <a:srgbClr val="191A2E"/>
                </a:solidFill>
                <a:latin typeface="Heebo"/>
                <a:ea typeface="Heebo"/>
                <a:cs typeface="Heebo"/>
              </a:rPr>
              <a:t>מפגש על שוק ההון, עם שאלות ותשובות.</a:t>
            </a:r>
          </a:p>
        </p:txBody>
      </p:sp>
      <p:sp>
        <p:nvSpPr>
          <p:cNvPr id="15" name="Rounded Rectangle 14"/>
          <p:cNvSpPr/>
          <p:nvPr/>
        </p:nvSpPr>
        <p:spPr>
          <a:xfrm>
            <a:off x="914400" y="2514600"/>
            <a:ext cx="2430780" cy="3048000"/>
          </a:xfrm>
          <a:prstGeom prst="roundRect">
            <a:avLst>
              <a:gd name="adj" fmla="val 8000"/>
            </a:avLst>
          </a:prstGeom>
          <a:solidFill>
            <a:srgbClr val="8C9E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1188720" y="2819400"/>
            <a:ext cx="1882140" cy="838200"/>
          </a:xfrm>
          <a:prstGeom prst="rect">
            <a:avLst/>
          </a:prstGeom>
          <a:noFill/>
        </p:spPr>
        <p:txBody>
          <a:bodyPr wrap="square" lIns="0" rIns="0" tIns="0" bIns="0" anchor="t">
            <a:spAutoFit/>
          </a:bodyPr>
          <a:lstStyle/>
          <a:p>
            <a:pPr algn="r" rtl="1">
              <a:lnSpc>
                <a:spcPct val="110000"/>
              </a:lnSpc>
            </a:pPr>
            <a:r>
              <a:rPr sz="2039" b="1" lang="he-IL">
                <a:solidFill>
                  <a:srgbClr val="191A2E"/>
                </a:solidFill>
                <a:latin typeface="Heebo"/>
                <a:ea typeface="Heebo"/>
                <a:cs typeface="Heebo"/>
              </a:rPr>
              <a:t>ריקאפ</a:t>
            </a:r>
          </a:p>
        </p:txBody>
      </p:sp>
      <p:sp>
        <p:nvSpPr>
          <p:cNvPr id="17" name="TextBox 16"/>
          <p:cNvSpPr txBox="1"/>
          <p:nvPr/>
        </p:nvSpPr>
        <p:spPr>
          <a:xfrm>
            <a:off x="1188720" y="3429000"/>
            <a:ext cx="1882140" cy="1905000"/>
          </a:xfrm>
          <a:prstGeom prst="rect">
            <a:avLst/>
          </a:prstGeom>
          <a:noFill/>
        </p:spPr>
        <p:txBody>
          <a:bodyPr wrap="square" lIns="0" rIns="0" tIns="0" bIns="0" anchor="t">
            <a:spAutoFit/>
          </a:bodyPr>
          <a:lstStyle/>
          <a:p>
            <a:pPr algn="r" rtl="1">
              <a:lnSpc>
                <a:spcPct val="140000"/>
              </a:lnSpc>
            </a:pPr>
            <a:r>
              <a:rPr sz="1560" b="0" lang="he-IL">
                <a:solidFill>
                  <a:srgbClr val="191A2E"/>
                </a:solidFill>
                <a:latin typeface="Heebo"/>
                <a:ea typeface="Heebo"/>
                <a:cs typeface="Heebo"/>
              </a:rPr>
              <a:t>מפגש אחת לחודש 3 חודשים אחרי הסיום: איפה כל אחת, ואיך משמרים את כל מה שלמדנו בחיים עצמם.</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06</a:t>
            </a:r>
          </a:p>
        </p:txBody>
      </p:sp>
      <p:sp>
        <p:nvSpPr>
          <p:cNvPr id="4" name="TextBox 3"/>
          <p:cNvSpPr txBox="1"/>
          <p:nvPr/>
        </p:nvSpPr>
        <p:spPr>
          <a:xfrm>
            <a:off x="914400" y="2261235"/>
            <a:ext cx="10363200" cy="1116330"/>
          </a:xfrm>
          <a:prstGeom prst="rect">
            <a:avLst/>
          </a:prstGeom>
          <a:noFill/>
        </p:spPr>
        <p:txBody>
          <a:bodyPr wrap="square" lIns="0" rIns="0" tIns="0" bIns="0" anchor="t">
            <a:spAutoFit/>
          </a:bodyPr>
          <a:lstStyle/>
          <a:p>
            <a:pPr algn="r" rtl="1">
              <a:lnSpc>
                <a:spcPct val="110000"/>
              </a:lnSpc>
            </a:pPr>
            <a:r>
              <a:rPr sz="6600" b="1" lang="he-IL">
                <a:solidFill>
                  <a:srgbClr val="191A2E"/>
                </a:solidFill>
                <a:latin typeface="Heebo"/>
                <a:ea typeface="Heebo"/>
                <a:cs typeface="Heebo"/>
              </a:rPr>
              <a:t>זה אימון, לא מבחן.</a:t>
            </a:r>
          </a:p>
        </p:txBody>
      </p:sp>
      <p:sp>
        <p:nvSpPr>
          <p:cNvPr id="5" name="TextBox 4"/>
          <p:cNvSpPr txBox="1"/>
          <p:nvPr/>
        </p:nvSpPr>
        <p:spPr>
          <a:xfrm>
            <a:off x="914400" y="3529965"/>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בעיפרון. מהר. ביחד.</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07</a:t>
            </a:r>
          </a:p>
        </p:txBody>
      </p:sp>
      <p:pic>
        <p:nvPicPr>
          <p:cNvPr id="4" name="Picture 3" descr="s46_talk.jpg"/>
          <p:cNvPicPr>
            <a:picLocks noChangeAspect="1"/>
          </p:cNvPicPr>
          <p:nvPr/>
        </p:nvPicPr>
        <p:blipFill>
          <a:blip r:embed="rId3"/>
          <a:stretch>
            <a:fillRect/>
          </a:stretch>
        </p:blipFill>
        <p:spPr>
          <a:xfrm>
            <a:off x="914400" y="1447800"/>
            <a:ext cx="3657600" cy="3657600"/>
          </a:xfrm>
          <a:prstGeom prst="roundRect">
            <a:avLst>
              <a:gd name="adj" fmla="val 8000"/>
            </a:avLst>
          </a:prstGeom>
        </p:spPr>
      </p:pic>
      <p:sp>
        <p:nvSpPr>
          <p:cNvPr id="5" name="Rounded Rectangle 4"/>
          <p:cNvSpPr/>
          <p:nvPr/>
        </p:nvSpPr>
        <p:spPr>
          <a:xfrm>
            <a:off x="5029200" y="1905000"/>
            <a:ext cx="6248400" cy="2895600"/>
          </a:xfrm>
          <a:prstGeom prst="roundRect">
            <a:avLst>
              <a:gd name="adj" fmla="val 9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577840" y="2438400"/>
            <a:ext cx="51511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סבב היכרות</a:t>
            </a:r>
          </a:p>
        </p:txBody>
      </p:sp>
      <p:sp>
        <p:nvSpPr>
          <p:cNvPr id="7" name="TextBox 6"/>
          <p:cNvSpPr txBox="1"/>
          <p:nvPr/>
        </p:nvSpPr>
        <p:spPr>
          <a:xfrm>
            <a:off x="5577840" y="2834640"/>
            <a:ext cx="5151120" cy="1752600"/>
          </a:xfrm>
          <a:prstGeom prst="rect">
            <a:avLst/>
          </a:prstGeom>
          <a:noFill/>
        </p:spPr>
        <p:txBody>
          <a:bodyPr wrap="square" lIns="0" rIns="0" tIns="0" bIns="0" anchor="t">
            <a:spAutoFit/>
          </a:bodyPr>
          <a:lstStyle/>
          <a:p>
            <a:pPr algn="r" rtl="1">
              <a:lnSpc>
                <a:spcPct val="115000"/>
              </a:lnSpc>
            </a:pPr>
            <a:r>
              <a:rPr sz="3479" b="1" lang="he-IL">
                <a:solidFill>
                  <a:srgbClr val="191A2E"/>
                </a:solidFill>
                <a:latin typeface="Heebo"/>
                <a:ea typeface="Heebo"/>
                <a:cs typeface="Heebo"/>
              </a:rPr>
              <a:t>שם · עיסוק · ומשפט אחד: מה הביא אותך לפה</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08</a:t>
            </a:r>
          </a:p>
        </p:txBody>
      </p:sp>
      <p:sp>
        <p:nvSpPr>
          <p:cNvPr id="4" name="TextBox 3"/>
          <p:cNvSpPr txBox="1"/>
          <p:nvPr/>
        </p:nvSpPr>
        <p:spPr>
          <a:xfrm>
            <a:off x="10515600" y="1143000"/>
            <a:ext cx="762000" cy="914400"/>
          </a:xfrm>
          <a:prstGeom prst="rect">
            <a:avLst/>
          </a:prstGeom>
          <a:noFill/>
        </p:spPr>
        <p:txBody>
          <a:bodyPr wrap="square" lIns="0" rIns="0" tIns="0" bIns="0" anchor="t">
            <a:spAutoFit/>
          </a:bodyPr>
          <a:lstStyle/>
          <a:p>
            <a:pPr algn="r" rtl="1">
              <a:lnSpc>
                <a:spcPct val="80000"/>
              </a:lnSpc>
            </a:pPr>
            <a:r>
              <a:rPr sz="10200" b="1" lang="he-IL">
                <a:solidFill>
                  <a:srgbClr val="EF55A5"/>
                </a:solidFill>
                <a:latin typeface="Heebo"/>
                <a:ea typeface="Heebo"/>
                <a:cs typeface="Heebo"/>
              </a:rPr>
              <a:t>”</a:t>
            </a:r>
          </a:p>
        </p:txBody>
      </p:sp>
      <p:sp>
        <p:nvSpPr>
          <p:cNvPr id="5" name="TextBox 4"/>
          <p:cNvSpPr txBox="1"/>
          <p:nvPr/>
        </p:nvSpPr>
        <p:spPr>
          <a:xfrm>
            <a:off x="914400" y="2286000"/>
            <a:ext cx="10363200" cy="2286000"/>
          </a:xfrm>
          <a:prstGeom prst="rect">
            <a:avLst/>
          </a:prstGeom>
          <a:noFill/>
        </p:spPr>
        <p:txBody>
          <a:bodyPr wrap="square" lIns="0" rIns="0" tIns="0" bIns="0" anchor="t">
            <a:spAutoFit/>
          </a:bodyPr>
          <a:lstStyle/>
          <a:p>
            <a:pPr algn="r" rtl="1">
              <a:lnSpc>
                <a:spcPct val="130000"/>
              </a:lnSpc>
            </a:pPr>
            <a:r>
              <a:rPr sz="3719" b="1" lang="he-IL">
                <a:solidFill>
                  <a:srgbClr val="191A2E"/>
                </a:solidFill>
                <a:latin typeface="Heebo"/>
                <a:ea typeface="Heebo"/>
                <a:cs typeface="Heebo"/>
              </a:rPr>
              <a:t>בין אם את חושבת שאת יכולה, ובין אם לא, את צודקת.</a:t>
            </a:r>
          </a:p>
        </p:txBody>
      </p:sp>
      <p:sp>
        <p:nvSpPr>
          <p:cNvPr id="6" name="Rounded Rectangle 5"/>
          <p:cNvSpPr/>
          <p:nvPr/>
        </p:nvSpPr>
        <p:spPr>
          <a:xfrm>
            <a:off x="10942320" y="5029200"/>
            <a:ext cx="335280" cy="30480"/>
          </a:xfrm>
          <a:prstGeom prst="roundRect">
            <a:avLst>
              <a:gd name="adj" fmla="val 50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48400" y="4892040"/>
            <a:ext cx="4541520" cy="304800"/>
          </a:xfrm>
          <a:prstGeom prst="rect">
            <a:avLst/>
          </a:prstGeom>
          <a:noFill/>
        </p:spPr>
        <p:txBody>
          <a:bodyPr wrap="square" lIns="0" rIns="0" tIns="0" bIns="0" anchor="t">
            <a:spAutoFit/>
          </a:bodyPr>
          <a:lstStyle/>
          <a:p>
            <a:pPr algn="r" rtl="1">
              <a:lnSpc>
                <a:spcPct val="115000"/>
              </a:lnSpc>
            </a:pPr>
            <a:r>
              <a:rPr sz="1560" b="1" lang="he-IL">
                <a:solidFill>
                  <a:srgbClr val="191A2E"/>
                </a:solidFill>
                <a:latin typeface="Heebo"/>
                <a:ea typeface="Heebo"/>
                <a:cs typeface="Heebo"/>
              </a:rPr>
              <a:t>הנרי פורד</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09</a:t>
            </a:r>
          </a:p>
        </p:txBody>
      </p:sp>
      <p:sp>
        <p:nvSpPr>
          <p:cNvPr id="4" name="TextBox 3"/>
          <p:cNvSpPr txBox="1"/>
          <p:nvPr/>
        </p:nvSpPr>
        <p:spPr>
          <a:xfrm>
            <a:off x="914400" y="2108835"/>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חלק 1 · שיטת המצפן</a:t>
            </a:r>
          </a:p>
        </p:txBody>
      </p:sp>
      <p:sp>
        <p:nvSpPr>
          <p:cNvPr id="5" name="TextBox 4"/>
          <p:cNvSpPr txBox="1"/>
          <p:nvPr/>
        </p:nvSpPr>
        <p:spPr>
          <a:xfrm>
            <a:off x="914400" y="2566035"/>
            <a:ext cx="10363200" cy="1116330"/>
          </a:xfrm>
          <a:prstGeom prst="rect">
            <a:avLst/>
          </a:prstGeom>
          <a:noFill/>
        </p:spPr>
        <p:txBody>
          <a:bodyPr wrap="square" lIns="0" rIns="0" tIns="0" bIns="0" anchor="t">
            <a:spAutoFit/>
          </a:bodyPr>
          <a:lstStyle/>
          <a:p>
            <a:pPr algn="r" rtl="1">
              <a:lnSpc>
                <a:spcPct val="110000"/>
              </a:lnSpc>
            </a:pPr>
            <a:r>
              <a:rPr sz="6600" b="1" lang="he-IL">
                <a:solidFill>
                  <a:srgbClr val="191A2E"/>
                </a:solidFill>
                <a:latin typeface="Heebo"/>
                <a:ea typeface="Heebo"/>
                <a:cs typeface="Heebo"/>
              </a:rPr>
              <a:t>אז מאיפה מתחילים?</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10</a:t>
            </a:r>
          </a:p>
        </p:txBody>
      </p:sp>
      <p:sp>
        <p:nvSpPr>
          <p:cNvPr id="4" name="Rounded Rectangle 3"/>
          <p:cNvSpPr/>
          <p:nvPr/>
        </p:nvSpPr>
        <p:spPr>
          <a:xfrm>
            <a:off x="914400" y="1143000"/>
            <a:ext cx="4572000" cy="4572000"/>
          </a:xfrm>
          <a:prstGeom prst="roundRect">
            <a:avLst>
              <a:gd name="adj" fmla="val 8000"/>
            </a:avLst>
          </a:prstGeom>
          <a:solidFill>
            <a:srgbClr val="0B1B3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5" name="Picture 4" descr="מצפן-אייקון.png"/>
          <p:cNvPicPr>
            <a:picLocks noChangeAspect="1"/>
          </p:cNvPicPr>
          <p:nvPr/>
        </p:nvPicPr>
        <p:blipFill>
          <a:blip r:embed="rId3"/>
          <a:stretch>
            <a:fillRect/>
          </a:stretch>
        </p:blipFill>
        <p:spPr>
          <a:xfrm>
            <a:off x="1188720" y="1417320"/>
            <a:ext cx="4023360" cy="4023360"/>
          </a:xfrm>
          <a:prstGeom prst="rect">
            <a:avLst/>
          </a:prstGeom>
        </p:spPr>
      </p:pic>
      <p:sp>
        <p:nvSpPr>
          <p:cNvPr id="6" name="TextBox 5"/>
          <p:cNvSpPr txBox="1"/>
          <p:nvPr/>
        </p:nvSpPr>
        <p:spPr>
          <a:xfrm>
            <a:off x="6096000" y="838200"/>
            <a:ext cx="51816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השיטה שאני עובדת לפיה בכל תחום בחיים</a:t>
            </a:r>
          </a:p>
        </p:txBody>
      </p:sp>
      <p:sp>
        <p:nvSpPr>
          <p:cNvPr id="7" name="TextBox 6"/>
          <p:cNvSpPr txBox="1"/>
          <p:nvPr/>
        </p:nvSpPr>
        <p:spPr>
          <a:xfrm>
            <a:off x="6096000" y="1143000"/>
            <a:ext cx="5181600" cy="685800"/>
          </a:xfrm>
          <a:prstGeom prst="rect">
            <a:avLst/>
          </a:prstGeom>
          <a:noFill/>
        </p:spPr>
        <p:txBody>
          <a:bodyPr wrap="square" lIns="0" rIns="0" tIns="0" bIns="0" anchor="t">
            <a:spAutoFit/>
          </a:bodyPr>
          <a:lstStyle/>
          <a:p>
            <a:pPr algn="r" rtl="1">
              <a:lnSpc>
                <a:spcPct val="115000"/>
              </a:lnSpc>
            </a:pPr>
            <a:r>
              <a:rPr sz="4200" b="1" lang="he-IL">
                <a:solidFill>
                  <a:srgbClr val="191A2E"/>
                </a:solidFill>
                <a:latin typeface="Heebo"/>
                <a:ea typeface="Heebo"/>
                <a:cs typeface="Heebo"/>
              </a:rPr>
              <a:t>שיטת המצפן</a:t>
            </a:r>
          </a:p>
        </p:txBody>
      </p:sp>
      <p:sp>
        <p:nvSpPr>
          <p:cNvPr id="8" name="Oval 7"/>
          <p:cNvSpPr/>
          <p:nvPr/>
        </p:nvSpPr>
        <p:spPr>
          <a:xfrm>
            <a:off x="10850880" y="2133600"/>
            <a:ext cx="426720" cy="4267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1</a:t>
            </a:r>
          </a:p>
        </p:txBody>
      </p:sp>
      <p:sp>
        <p:nvSpPr>
          <p:cNvPr id="9" name="TextBox 8"/>
          <p:cNvSpPr txBox="1"/>
          <p:nvPr/>
        </p:nvSpPr>
        <p:spPr>
          <a:xfrm>
            <a:off x="6096000" y="2118360"/>
            <a:ext cx="4572000" cy="381000"/>
          </a:xfrm>
          <a:prstGeom prst="rect">
            <a:avLst/>
          </a:prstGeom>
          <a:noFill/>
        </p:spPr>
        <p:txBody>
          <a:bodyPr wrap="square" lIns="0" rIns="0" tIns="0" bIns="0" anchor="t">
            <a:spAutoFit/>
          </a:bodyPr>
          <a:lstStyle/>
          <a:p>
            <a:pPr algn="r" rtl="1">
              <a:lnSpc>
                <a:spcPct val="115000"/>
              </a:lnSpc>
            </a:pPr>
            <a:r>
              <a:rPr sz="2280" b="1" lang="he-IL">
                <a:solidFill>
                  <a:srgbClr val="191A2E"/>
                </a:solidFill>
                <a:latin typeface="Heebo"/>
                <a:ea typeface="Heebo"/>
                <a:cs typeface="Heebo"/>
              </a:rPr>
              <a:t>חזון</a:t>
            </a:r>
          </a:p>
        </p:txBody>
      </p:sp>
      <p:sp>
        <p:nvSpPr>
          <p:cNvPr id="10" name="TextBox 9"/>
          <p:cNvSpPr txBox="1"/>
          <p:nvPr/>
        </p:nvSpPr>
        <p:spPr>
          <a:xfrm>
            <a:off x="6096000" y="2514600"/>
            <a:ext cx="4572000" cy="609600"/>
          </a:xfrm>
          <a:prstGeom prst="rect">
            <a:avLst/>
          </a:prstGeom>
          <a:noFill/>
        </p:spPr>
        <p:txBody>
          <a:bodyPr wrap="square" lIns="0" rIns="0" tIns="0" bIns="0" anchor="t">
            <a:spAutoFit/>
          </a:bodyPr>
          <a:lstStyle/>
          <a:p>
            <a:pPr algn="r" rtl="1">
              <a:lnSpc>
                <a:spcPct val="130000"/>
              </a:lnSpc>
            </a:pPr>
            <a:r>
              <a:rPr sz="1560" b="0" lang="he-IL">
                <a:solidFill>
                  <a:srgbClr val="6B6B7B"/>
                </a:solidFill>
                <a:latin typeface="Heebo"/>
                <a:ea typeface="Heebo"/>
                <a:cs typeface="Heebo"/>
              </a:rPr>
              <a:t>מה אני רוצה.</a:t>
            </a:r>
          </a:p>
        </p:txBody>
      </p:sp>
      <p:sp>
        <p:nvSpPr>
          <p:cNvPr id="11" name="Oval 10"/>
          <p:cNvSpPr/>
          <p:nvPr/>
        </p:nvSpPr>
        <p:spPr>
          <a:xfrm>
            <a:off x="10850880" y="3124200"/>
            <a:ext cx="426720" cy="4267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2</a:t>
            </a:r>
          </a:p>
        </p:txBody>
      </p:sp>
      <p:sp>
        <p:nvSpPr>
          <p:cNvPr id="12" name="TextBox 11"/>
          <p:cNvSpPr txBox="1"/>
          <p:nvPr/>
        </p:nvSpPr>
        <p:spPr>
          <a:xfrm>
            <a:off x="6096000" y="3108960"/>
            <a:ext cx="4572000" cy="381000"/>
          </a:xfrm>
          <a:prstGeom prst="rect">
            <a:avLst/>
          </a:prstGeom>
          <a:noFill/>
        </p:spPr>
        <p:txBody>
          <a:bodyPr wrap="square" lIns="0" rIns="0" tIns="0" bIns="0" anchor="t">
            <a:spAutoFit/>
          </a:bodyPr>
          <a:lstStyle/>
          <a:p>
            <a:pPr algn="r" rtl="1">
              <a:lnSpc>
                <a:spcPct val="115000"/>
              </a:lnSpc>
            </a:pPr>
            <a:r>
              <a:rPr sz="2280" b="1" lang="he-IL">
                <a:solidFill>
                  <a:srgbClr val="191A2E"/>
                </a:solidFill>
                <a:latin typeface="Heebo"/>
                <a:ea typeface="Heebo"/>
                <a:cs typeface="Heebo"/>
              </a:rPr>
              <a:t>מטרות</a:t>
            </a:r>
          </a:p>
        </p:txBody>
      </p:sp>
      <p:sp>
        <p:nvSpPr>
          <p:cNvPr id="13" name="TextBox 12"/>
          <p:cNvSpPr txBox="1"/>
          <p:nvPr/>
        </p:nvSpPr>
        <p:spPr>
          <a:xfrm>
            <a:off x="6096000" y="3505200"/>
            <a:ext cx="4572000" cy="609600"/>
          </a:xfrm>
          <a:prstGeom prst="rect">
            <a:avLst/>
          </a:prstGeom>
          <a:noFill/>
        </p:spPr>
        <p:txBody>
          <a:bodyPr wrap="square" lIns="0" rIns="0" tIns="0" bIns="0" anchor="t">
            <a:spAutoFit/>
          </a:bodyPr>
          <a:lstStyle/>
          <a:p>
            <a:pPr algn="r" rtl="1">
              <a:lnSpc>
                <a:spcPct val="130000"/>
              </a:lnSpc>
            </a:pPr>
            <a:r>
              <a:rPr sz="1560" b="0" lang="he-IL">
                <a:solidFill>
                  <a:srgbClr val="6B6B7B"/>
                </a:solidFill>
                <a:latin typeface="Heebo"/>
                <a:ea typeface="Heebo"/>
                <a:cs typeface="Heebo"/>
              </a:rPr>
              <a:t>אבני הדרך שמקדמות אותי לשם.</a:t>
            </a:r>
          </a:p>
        </p:txBody>
      </p:sp>
      <p:sp>
        <p:nvSpPr>
          <p:cNvPr id="14" name="Oval 13"/>
          <p:cNvSpPr/>
          <p:nvPr/>
        </p:nvSpPr>
        <p:spPr>
          <a:xfrm>
            <a:off x="10850880" y="4114800"/>
            <a:ext cx="426720" cy="4267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3</a:t>
            </a:r>
          </a:p>
        </p:txBody>
      </p:sp>
      <p:sp>
        <p:nvSpPr>
          <p:cNvPr id="15" name="TextBox 14"/>
          <p:cNvSpPr txBox="1"/>
          <p:nvPr/>
        </p:nvSpPr>
        <p:spPr>
          <a:xfrm>
            <a:off x="6096000" y="4099560"/>
            <a:ext cx="4572000" cy="381000"/>
          </a:xfrm>
          <a:prstGeom prst="rect">
            <a:avLst/>
          </a:prstGeom>
          <a:noFill/>
        </p:spPr>
        <p:txBody>
          <a:bodyPr wrap="square" lIns="0" rIns="0" tIns="0" bIns="0" anchor="t">
            <a:spAutoFit/>
          </a:bodyPr>
          <a:lstStyle/>
          <a:p>
            <a:pPr algn="r" rtl="1">
              <a:lnSpc>
                <a:spcPct val="115000"/>
              </a:lnSpc>
            </a:pPr>
            <a:r>
              <a:rPr sz="2280" b="1" lang="he-IL">
                <a:solidFill>
                  <a:srgbClr val="191A2E"/>
                </a:solidFill>
                <a:latin typeface="Heebo"/>
                <a:ea typeface="Heebo"/>
                <a:cs typeface="Heebo"/>
              </a:rPr>
              <a:t>נקודת מוצא</a:t>
            </a:r>
          </a:p>
        </p:txBody>
      </p:sp>
      <p:sp>
        <p:nvSpPr>
          <p:cNvPr id="16" name="TextBox 15"/>
          <p:cNvSpPr txBox="1"/>
          <p:nvPr/>
        </p:nvSpPr>
        <p:spPr>
          <a:xfrm>
            <a:off x="6096000" y="4495800"/>
            <a:ext cx="4572000" cy="609600"/>
          </a:xfrm>
          <a:prstGeom prst="rect">
            <a:avLst/>
          </a:prstGeom>
          <a:noFill/>
        </p:spPr>
        <p:txBody>
          <a:bodyPr wrap="square" lIns="0" rIns="0" tIns="0" bIns="0" anchor="t">
            <a:spAutoFit/>
          </a:bodyPr>
          <a:lstStyle/>
          <a:p>
            <a:pPr algn="r" rtl="1">
              <a:lnSpc>
                <a:spcPct val="130000"/>
              </a:lnSpc>
            </a:pPr>
            <a:r>
              <a:rPr sz="1560" b="0" lang="he-IL">
                <a:solidFill>
                  <a:srgbClr val="6B6B7B"/>
                </a:solidFill>
                <a:latin typeface="Heebo"/>
                <a:ea typeface="Heebo"/>
                <a:cs typeface="Heebo"/>
              </a:rPr>
              <a:t>מה יש לי היום, ומאיפה אני מתחילה.</a:t>
            </a:r>
          </a:p>
        </p:txBody>
      </p:sp>
      <p:sp>
        <p:nvSpPr>
          <p:cNvPr id="17" name="Oval 16"/>
          <p:cNvSpPr/>
          <p:nvPr/>
        </p:nvSpPr>
        <p:spPr>
          <a:xfrm>
            <a:off x="10850880" y="5105400"/>
            <a:ext cx="426720" cy="4267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4</a:t>
            </a:r>
          </a:p>
        </p:txBody>
      </p:sp>
      <p:sp>
        <p:nvSpPr>
          <p:cNvPr id="18" name="TextBox 17"/>
          <p:cNvSpPr txBox="1"/>
          <p:nvPr/>
        </p:nvSpPr>
        <p:spPr>
          <a:xfrm>
            <a:off x="6096000" y="5090160"/>
            <a:ext cx="4572000" cy="381000"/>
          </a:xfrm>
          <a:prstGeom prst="rect">
            <a:avLst/>
          </a:prstGeom>
          <a:noFill/>
        </p:spPr>
        <p:txBody>
          <a:bodyPr wrap="square" lIns="0" rIns="0" tIns="0" bIns="0" anchor="t">
            <a:spAutoFit/>
          </a:bodyPr>
          <a:lstStyle/>
          <a:p>
            <a:pPr algn="r" rtl="1">
              <a:lnSpc>
                <a:spcPct val="115000"/>
              </a:lnSpc>
            </a:pPr>
            <a:r>
              <a:rPr sz="2280" b="1" lang="he-IL">
                <a:solidFill>
                  <a:srgbClr val="191A2E"/>
                </a:solidFill>
                <a:latin typeface="Heebo"/>
                <a:ea typeface="Heebo"/>
                <a:cs typeface="Heebo"/>
              </a:rPr>
              <a:t>אסטרטגיה</a:t>
            </a:r>
          </a:p>
        </p:txBody>
      </p:sp>
      <p:sp>
        <p:nvSpPr>
          <p:cNvPr id="19" name="TextBox 18"/>
          <p:cNvSpPr txBox="1"/>
          <p:nvPr/>
        </p:nvSpPr>
        <p:spPr>
          <a:xfrm>
            <a:off x="6096000" y="5486400"/>
            <a:ext cx="4572000" cy="609600"/>
          </a:xfrm>
          <a:prstGeom prst="rect">
            <a:avLst/>
          </a:prstGeom>
          <a:noFill/>
        </p:spPr>
        <p:txBody>
          <a:bodyPr wrap="square" lIns="0" rIns="0" tIns="0" bIns="0" anchor="t">
            <a:spAutoFit/>
          </a:bodyPr>
          <a:lstStyle/>
          <a:p>
            <a:pPr algn="r" rtl="1">
              <a:lnSpc>
                <a:spcPct val="130000"/>
              </a:lnSpc>
            </a:pPr>
            <a:r>
              <a:rPr sz="1560" b="0" lang="he-IL">
                <a:solidFill>
                  <a:srgbClr val="6B6B7B"/>
                </a:solidFill>
                <a:latin typeface="Heebo"/>
                <a:ea typeface="Heebo"/>
                <a:cs typeface="Heebo"/>
              </a:rPr>
              <a:t>איך אני מחברת בין מה שיש לי היום למטרות שלי, כדי להגיע לחזון.</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11</a:t>
            </a:r>
          </a:p>
        </p:txBody>
      </p:sp>
      <p:sp>
        <p:nvSpPr>
          <p:cNvPr id="4" name="TextBox 3"/>
          <p:cNvSpPr txBox="1"/>
          <p:nvPr/>
        </p:nvSpPr>
        <p:spPr>
          <a:xfrm>
            <a:off x="914400" y="2042160"/>
            <a:ext cx="10363200" cy="1554480"/>
          </a:xfrm>
          <a:prstGeom prst="rect">
            <a:avLst/>
          </a:prstGeom>
          <a:noFill/>
        </p:spPr>
        <p:txBody>
          <a:bodyPr wrap="square" lIns="0" rIns="0" tIns="0" bIns="0" anchor="t">
            <a:spAutoFit/>
          </a:bodyPr>
          <a:lstStyle/>
          <a:p>
            <a:pPr algn="r" rtl="1">
              <a:lnSpc>
                <a:spcPct val="110000"/>
              </a:lnSpc>
            </a:pPr>
            <a:r>
              <a:rPr sz="4800" b="1" lang="he-IL">
                <a:solidFill>
                  <a:srgbClr val="191A2E"/>
                </a:solidFill>
                <a:latin typeface="Heebo"/>
                <a:ea typeface="Heebo"/>
                <a:cs typeface="Heebo"/>
              </a:rPr>
              <a:t>מצפן לא אומר לך לאן ללכת.</a:t>
            </a:r>
          </a:p>
          <a:p>
            <a:pPr algn="r" rtl="1">
              <a:lnSpc>
                <a:spcPct val="110000"/>
              </a:lnSpc>
            </a:pPr>
            <a:r>
              <a:rPr sz="4800" b="1" lang="he-IL">
                <a:solidFill>
                  <a:srgbClr val="EF55A5"/>
                </a:solidFill>
                <a:latin typeface="Heebo"/>
                <a:ea typeface="Heebo"/>
                <a:cs typeface="Heebo"/>
              </a:rPr>
              <a:t>הוא נותן כיוון.</a:t>
            </a:r>
          </a:p>
        </p:txBody>
      </p:sp>
      <p:sp>
        <p:nvSpPr>
          <p:cNvPr id="5" name="TextBox 4"/>
          <p:cNvSpPr txBox="1"/>
          <p:nvPr/>
        </p:nvSpPr>
        <p:spPr>
          <a:xfrm>
            <a:off x="914400" y="3749040"/>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וכשיש כיוון, כל צעד הוא צעד נכון.</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12</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ארבעה לייבים, מצפן אחד</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המצפן על הליווי שלנו</a:t>
            </a:r>
          </a:p>
        </p:txBody>
      </p:sp>
      <p:sp>
        <p:nvSpPr>
          <p:cNvPr id="6" name="Oval 5"/>
          <p:cNvSpPr/>
          <p:nvPr/>
        </p:nvSpPr>
        <p:spPr>
          <a:xfrm>
            <a:off x="10850880" y="22860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1</a:t>
            </a:r>
          </a:p>
        </p:txBody>
      </p:sp>
      <p:sp>
        <p:nvSpPr>
          <p:cNvPr id="7" name="TextBox 6"/>
          <p:cNvSpPr txBox="1"/>
          <p:nvPr/>
        </p:nvSpPr>
        <p:spPr>
          <a:xfrm>
            <a:off x="914400" y="2301240"/>
            <a:ext cx="9723120" cy="87630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הערב: החזון ונקודת המוצא</a:t>
            </a:r>
          </a:p>
        </p:txBody>
      </p:sp>
      <p:sp>
        <p:nvSpPr>
          <p:cNvPr id="8" name="Oval 7"/>
          <p:cNvSpPr/>
          <p:nvPr/>
        </p:nvSpPr>
        <p:spPr>
          <a:xfrm>
            <a:off x="10850880" y="31623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2</a:t>
            </a:r>
          </a:p>
        </p:txBody>
      </p:sp>
      <p:sp>
        <p:nvSpPr>
          <p:cNvPr id="9" name="TextBox 8"/>
          <p:cNvSpPr txBox="1"/>
          <p:nvPr/>
        </p:nvSpPr>
        <p:spPr>
          <a:xfrm>
            <a:off x="914400" y="3177540"/>
            <a:ext cx="9723120" cy="87630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לייב 2: המטרות הפיננסיות. כמה, ומתי.</a:t>
            </a:r>
          </a:p>
        </p:txBody>
      </p:sp>
      <p:sp>
        <p:nvSpPr>
          <p:cNvPr id="10" name="Oval 9"/>
          <p:cNvSpPr/>
          <p:nvPr/>
        </p:nvSpPr>
        <p:spPr>
          <a:xfrm>
            <a:off x="10850880" y="40386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3</a:t>
            </a:r>
          </a:p>
        </p:txBody>
      </p:sp>
      <p:sp>
        <p:nvSpPr>
          <p:cNvPr id="11" name="TextBox 10"/>
          <p:cNvSpPr txBox="1"/>
          <p:nvPr/>
        </p:nvSpPr>
        <p:spPr>
          <a:xfrm>
            <a:off x="914400" y="4053840"/>
            <a:ext cx="9723120" cy="87630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לייב 3: האסטרטגיה. חלוקת הכדים.</a:t>
            </a:r>
          </a:p>
        </p:txBody>
      </p:sp>
      <p:sp>
        <p:nvSpPr>
          <p:cNvPr id="12" name="Oval 11"/>
          <p:cNvSpPr/>
          <p:nvPr/>
        </p:nvSpPr>
        <p:spPr>
          <a:xfrm>
            <a:off x="10850880" y="49149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4</a:t>
            </a:r>
          </a:p>
        </p:txBody>
      </p:sp>
      <p:sp>
        <p:nvSpPr>
          <p:cNvPr id="13" name="TextBox 12"/>
          <p:cNvSpPr txBox="1"/>
          <p:nvPr/>
        </p:nvSpPr>
        <p:spPr>
          <a:xfrm>
            <a:off x="914400" y="4930140"/>
            <a:ext cx="9723120" cy="87630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לייב 4: ההשקעות עצמן</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13</a:t>
            </a:r>
          </a:p>
        </p:txBody>
      </p:sp>
      <p:sp>
        <p:nvSpPr>
          <p:cNvPr id="4" name="Rounded Rectangle 3"/>
          <p:cNvSpPr/>
          <p:nvPr/>
        </p:nvSpPr>
        <p:spPr>
          <a:xfrm>
            <a:off x="914400" y="1143000"/>
            <a:ext cx="4572000" cy="4572000"/>
          </a:xfrm>
          <a:prstGeom prst="roundRect">
            <a:avLst>
              <a:gd name="adj" fmla="val 8000"/>
            </a:avLst>
          </a:prstGeom>
          <a:solidFill>
            <a:srgbClr val="0B1B3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5" name="Picture 4" descr="מצפן-שלב-1-חזון.png"/>
          <p:cNvPicPr>
            <a:picLocks noChangeAspect="1"/>
          </p:cNvPicPr>
          <p:nvPr/>
        </p:nvPicPr>
        <p:blipFill>
          <a:blip r:embed="rId3"/>
          <a:stretch>
            <a:fillRect/>
          </a:stretch>
        </p:blipFill>
        <p:spPr>
          <a:xfrm>
            <a:off x="1188720" y="1417320"/>
            <a:ext cx="4023360" cy="4023360"/>
          </a:xfrm>
          <a:prstGeom prst="rect">
            <a:avLst/>
          </a:prstGeom>
        </p:spPr>
      </p:pic>
      <p:sp>
        <p:nvSpPr>
          <p:cNvPr id="6" name="TextBox 5"/>
          <p:cNvSpPr txBox="1"/>
          <p:nvPr/>
        </p:nvSpPr>
        <p:spPr>
          <a:xfrm>
            <a:off x="6096000" y="2133600"/>
            <a:ext cx="51816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חלק 2 · החזון</a:t>
            </a:r>
          </a:p>
        </p:txBody>
      </p:sp>
      <p:sp>
        <p:nvSpPr>
          <p:cNvPr id="7" name="TextBox 6"/>
          <p:cNvSpPr txBox="1"/>
          <p:nvPr/>
        </p:nvSpPr>
        <p:spPr>
          <a:xfrm>
            <a:off x="6096000" y="2514600"/>
            <a:ext cx="5181600" cy="1676400"/>
          </a:xfrm>
          <a:prstGeom prst="rect">
            <a:avLst/>
          </a:prstGeom>
          <a:noFill/>
        </p:spPr>
        <p:txBody>
          <a:bodyPr wrap="square" lIns="0" rIns="0" tIns="0" bIns="0" anchor="t">
            <a:spAutoFit/>
          </a:bodyPr>
          <a:lstStyle/>
          <a:p>
            <a:pPr algn="r" rtl="1">
              <a:lnSpc>
                <a:spcPct val="100000"/>
              </a:lnSpc>
            </a:pPr>
            <a:r>
              <a:rPr sz="5759" b="1" lang="he-IL">
                <a:solidFill>
                  <a:srgbClr val="191A2E"/>
                </a:solidFill>
                <a:latin typeface="Heebo"/>
                <a:ea typeface="Heebo"/>
                <a:cs typeface="Heebo"/>
              </a:rPr>
              <a:t>מתחילות</a:t>
            </a:r>
          </a:p>
          <a:p>
            <a:pPr algn="r" rtl="1">
              <a:lnSpc>
                <a:spcPct val="100000"/>
              </a:lnSpc>
            </a:pPr>
            <a:r>
              <a:rPr sz="5759" b="1" lang="he-IL">
                <a:solidFill>
                  <a:srgbClr val="EF55A5"/>
                </a:solidFill>
                <a:latin typeface="Heebo"/>
                <a:ea typeface="Heebo"/>
                <a:cs typeface="Heebo"/>
              </a:rPr>
              <a:t>מהסוף.</a:t>
            </a:r>
          </a:p>
        </p:txBody>
      </p:sp>
      <p:sp>
        <p:nvSpPr>
          <p:cNvPr id="8" name="TextBox 7"/>
          <p:cNvSpPr txBox="1"/>
          <p:nvPr/>
        </p:nvSpPr>
        <p:spPr>
          <a:xfrm>
            <a:off x="6096000" y="4267200"/>
            <a:ext cx="5181600" cy="1219200"/>
          </a:xfrm>
          <a:prstGeom prst="rect">
            <a:avLst/>
          </a:prstGeom>
          <a:noFill/>
        </p:spPr>
        <p:txBody>
          <a:bodyPr wrap="square" lIns="0" rIns="0" tIns="0" bIns="0" anchor="t">
            <a:spAutoFit/>
          </a:bodyPr>
          <a:lstStyle/>
          <a:p>
            <a:pPr algn="r" rtl="1">
              <a:lnSpc>
                <a:spcPct val="140000"/>
              </a:lnSpc>
            </a:pPr>
            <a:r>
              <a:rPr sz="1920" b="0" lang="he-IL">
                <a:solidFill>
                  <a:srgbClr val="6B6B7B"/>
                </a:solidFill>
                <a:latin typeface="Heebo"/>
                <a:ea typeface="Heebo"/>
                <a:cs typeface="Heebo"/>
              </a:rPr>
              <a:t>קודם החלום. אחר כך המטרות. ואז האסטרטגיה.</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14</a:t>
            </a:r>
          </a:p>
        </p:txBody>
      </p:sp>
      <p:pic>
        <p:nvPicPr>
          <p:cNvPr id="4" name="Picture 3" descr="s30_bloom.jpg"/>
          <p:cNvPicPr>
            <a:picLocks noChangeAspect="1"/>
          </p:cNvPicPr>
          <p:nvPr/>
        </p:nvPicPr>
        <p:blipFill>
          <a:blip r:embed="rId3"/>
          <a:stretch>
            <a:fillRect/>
          </a:stretch>
        </p:blipFill>
        <p:spPr>
          <a:xfrm>
            <a:off x="914400" y="1295400"/>
            <a:ext cx="3810000" cy="3810000"/>
          </a:xfrm>
          <a:prstGeom prst="roundRect">
            <a:avLst>
              <a:gd name="adj" fmla="val 8000"/>
            </a:avLst>
          </a:prstGeom>
        </p:spPr>
      </p:pic>
      <p:sp>
        <p:nvSpPr>
          <p:cNvPr id="5" name="TextBox 4"/>
          <p:cNvSpPr txBox="1"/>
          <p:nvPr/>
        </p:nvSpPr>
        <p:spPr>
          <a:xfrm>
            <a:off x="5334000" y="2417064"/>
            <a:ext cx="5943600" cy="1414272"/>
          </a:xfrm>
          <a:prstGeom prst="rect">
            <a:avLst/>
          </a:prstGeom>
          <a:noFill/>
        </p:spPr>
        <p:txBody>
          <a:bodyPr wrap="square" lIns="0" rIns="0" tIns="0" bIns="0" anchor="t">
            <a:spAutoFit/>
          </a:bodyPr>
          <a:lstStyle/>
          <a:p>
            <a:pPr algn="r" rtl="1">
              <a:lnSpc>
                <a:spcPct val="110000"/>
              </a:lnSpc>
            </a:pPr>
            <a:r>
              <a:rPr sz="4320" b="1" lang="he-IL">
                <a:solidFill>
                  <a:srgbClr val="191A2E"/>
                </a:solidFill>
                <a:latin typeface="Heebo"/>
                <a:ea typeface="Heebo"/>
                <a:cs typeface="Heebo"/>
              </a:rPr>
              <a:t>לחלום בגדול זה לא מותרות.</a:t>
            </a:r>
          </a:p>
          <a:p>
            <a:pPr algn="r" rtl="1">
              <a:lnSpc>
                <a:spcPct val="110000"/>
              </a:lnSpc>
            </a:pPr>
            <a:r>
              <a:rPr sz="4320" b="1" lang="he-IL">
                <a:solidFill>
                  <a:srgbClr val="EF55A5"/>
                </a:solidFill>
                <a:latin typeface="Heebo"/>
                <a:ea typeface="Heebo"/>
                <a:cs typeface="Heebo"/>
              </a:rPr>
              <a:t>זה כלי עבודה.</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15</a:t>
            </a:r>
          </a:p>
        </p:txBody>
      </p:sp>
      <p:sp>
        <p:nvSpPr>
          <p:cNvPr id="4" name="TextBox 3"/>
          <p:cNvSpPr txBox="1"/>
          <p:nvPr/>
        </p:nvSpPr>
        <p:spPr>
          <a:xfrm>
            <a:off x="10515600" y="1143000"/>
            <a:ext cx="762000" cy="914400"/>
          </a:xfrm>
          <a:prstGeom prst="rect">
            <a:avLst/>
          </a:prstGeom>
          <a:noFill/>
        </p:spPr>
        <p:txBody>
          <a:bodyPr wrap="square" lIns="0" rIns="0" tIns="0" bIns="0" anchor="t">
            <a:spAutoFit/>
          </a:bodyPr>
          <a:lstStyle/>
          <a:p>
            <a:pPr algn="r" rtl="1">
              <a:lnSpc>
                <a:spcPct val="80000"/>
              </a:lnSpc>
            </a:pPr>
            <a:r>
              <a:rPr sz="10200" b="1" lang="he-IL">
                <a:solidFill>
                  <a:srgbClr val="EF55A5"/>
                </a:solidFill>
                <a:latin typeface="Heebo"/>
                <a:ea typeface="Heebo"/>
                <a:cs typeface="Heebo"/>
              </a:rPr>
              <a:t>”</a:t>
            </a:r>
          </a:p>
        </p:txBody>
      </p:sp>
      <p:sp>
        <p:nvSpPr>
          <p:cNvPr id="5" name="TextBox 4"/>
          <p:cNvSpPr txBox="1"/>
          <p:nvPr/>
        </p:nvSpPr>
        <p:spPr>
          <a:xfrm>
            <a:off x="914400" y="2286000"/>
            <a:ext cx="10363200" cy="2286000"/>
          </a:xfrm>
          <a:prstGeom prst="rect">
            <a:avLst/>
          </a:prstGeom>
          <a:noFill/>
        </p:spPr>
        <p:txBody>
          <a:bodyPr wrap="square" lIns="0" rIns="0" tIns="0" bIns="0" anchor="t">
            <a:spAutoFit/>
          </a:bodyPr>
          <a:lstStyle/>
          <a:p>
            <a:pPr algn="r" rtl="1">
              <a:lnSpc>
                <a:spcPct val="130000"/>
              </a:lnSpc>
            </a:pPr>
            <a:r>
              <a:rPr sz="3719" b="1" lang="he-IL">
                <a:solidFill>
                  <a:srgbClr val="191A2E"/>
                </a:solidFill>
                <a:latin typeface="Heebo"/>
                <a:ea typeface="Heebo"/>
                <a:cs typeface="Heebo"/>
              </a:rPr>
              <a:t>מה שהמוח יכול לתפוס ולהאמין בו, הוא יכול להשיג.</a:t>
            </a:r>
          </a:p>
        </p:txBody>
      </p:sp>
      <p:sp>
        <p:nvSpPr>
          <p:cNvPr id="6" name="Rounded Rectangle 5"/>
          <p:cNvSpPr/>
          <p:nvPr/>
        </p:nvSpPr>
        <p:spPr>
          <a:xfrm>
            <a:off x="10942320" y="5029200"/>
            <a:ext cx="335280" cy="30480"/>
          </a:xfrm>
          <a:prstGeom prst="roundRect">
            <a:avLst>
              <a:gd name="adj" fmla="val 50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48400" y="4892040"/>
            <a:ext cx="4541520" cy="304800"/>
          </a:xfrm>
          <a:prstGeom prst="rect">
            <a:avLst/>
          </a:prstGeom>
          <a:noFill/>
        </p:spPr>
        <p:txBody>
          <a:bodyPr wrap="square" lIns="0" rIns="0" tIns="0" bIns="0" anchor="t">
            <a:spAutoFit/>
          </a:bodyPr>
          <a:lstStyle/>
          <a:p>
            <a:pPr algn="r" rtl="1">
              <a:lnSpc>
                <a:spcPct val="115000"/>
              </a:lnSpc>
            </a:pPr>
            <a:r>
              <a:rPr sz="1560" b="1" lang="he-IL">
                <a:solidFill>
                  <a:srgbClr val="191A2E"/>
                </a:solidFill>
                <a:latin typeface="Heebo"/>
                <a:ea typeface="Heebo"/>
                <a:cs typeface="Heebo"/>
              </a:rPr>
              <a:t>נפוליון היל</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16</a:t>
            </a:r>
          </a:p>
        </p:txBody>
      </p:sp>
      <p:sp>
        <p:nvSpPr>
          <p:cNvPr id="4" name="TextBox 3"/>
          <p:cNvSpPr txBox="1"/>
          <p:nvPr/>
        </p:nvSpPr>
        <p:spPr>
          <a:xfrm>
            <a:off x="914400" y="1996440"/>
            <a:ext cx="10363200" cy="2255520"/>
          </a:xfrm>
          <a:prstGeom prst="rect">
            <a:avLst/>
          </a:prstGeom>
          <a:noFill/>
        </p:spPr>
        <p:txBody>
          <a:bodyPr wrap="square" lIns="0" rIns="0" tIns="0" bIns="0" anchor="t">
            <a:spAutoFit/>
          </a:bodyPr>
          <a:lstStyle/>
          <a:p>
            <a:pPr algn="r" rtl="1">
              <a:lnSpc>
                <a:spcPct val="110000"/>
              </a:lnSpc>
            </a:pPr>
            <a:r>
              <a:rPr sz="7200" b="1" lang="he-IL">
                <a:solidFill>
                  <a:srgbClr val="191A2E"/>
                </a:solidFill>
                <a:latin typeface="Heebo"/>
                <a:ea typeface="Heebo"/>
                <a:cs typeface="Heebo"/>
              </a:rPr>
              <a:t>אפשרי בעולם,</a:t>
            </a:r>
          </a:p>
          <a:p>
            <a:pPr algn="r" rtl="1">
              <a:lnSpc>
                <a:spcPct val="110000"/>
              </a:lnSpc>
            </a:pPr>
            <a:r>
              <a:rPr sz="7200" b="1" lang="he-IL">
                <a:solidFill>
                  <a:srgbClr val="EF55A5"/>
                </a:solidFill>
                <a:latin typeface="Heebo"/>
                <a:ea typeface="Heebo"/>
                <a:cs typeface="Heebo"/>
              </a:rPr>
              <a:t>אפשרי עבורך.</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17</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מטרה גדולה ומרגשת</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3 כללים לחלום</a:t>
            </a:r>
          </a:p>
        </p:txBody>
      </p:sp>
      <p:sp>
        <p:nvSpPr>
          <p:cNvPr id="6" name="Oval 5"/>
          <p:cNvSpPr/>
          <p:nvPr/>
        </p:nvSpPr>
        <p:spPr>
          <a:xfrm>
            <a:off x="10850880" y="246888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1</a:t>
            </a:r>
          </a:p>
        </p:txBody>
      </p:sp>
      <p:sp>
        <p:nvSpPr>
          <p:cNvPr id="7" name="TextBox 6"/>
          <p:cNvSpPr txBox="1"/>
          <p:nvPr/>
        </p:nvSpPr>
        <p:spPr>
          <a:xfrm>
            <a:off x="914400" y="2484120"/>
            <a:ext cx="9723120" cy="94488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ספציפית: רגע שאת יכולה לראות ולהרגיש</a:t>
            </a:r>
          </a:p>
        </p:txBody>
      </p:sp>
      <p:sp>
        <p:nvSpPr>
          <p:cNvPr id="8" name="Oval 7"/>
          <p:cNvSpPr/>
          <p:nvPr/>
        </p:nvSpPr>
        <p:spPr>
          <a:xfrm>
            <a:off x="10850880" y="341376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2</a:t>
            </a:r>
          </a:p>
        </p:txBody>
      </p:sp>
      <p:sp>
        <p:nvSpPr>
          <p:cNvPr id="9" name="TextBox 8"/>
          <p:cNvSpPr txBox="1"/>
          <p:nvPr/>
        </p:nvSpPr>
        <p:spPr>
          <a:xfrm>
            <a:off x="914400" y="3429000"/>
            <a:ext cx="9723120" cy="94488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בזמן הווה ובחיוב: ”אני מסתכלת על החשבון ומרגישה ביטחון ושלווה“</a:t>
            </a:r>
          </a:p>
        </p:txBody>
      </p:sp>
      <p:sp>
        <p:nvSpPr>
          <p:cNvPr id="10" name="Oval 9"/>
          <p:cNvSpPr/>
          <p:nvPr/>
        </p:nvSpPr>
        <p:spPr>
          <a:xfrm>
            <a:off x="10850880" y="435864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3</a:t>
            </a:r>
          </a:p>
        </p:txBody>
      </p:sp>
      <p:sp>
        <p:nvSpPr>
          <p:cNvPr id="11" name="TextBox 10"/>
          <p:cNvSpPr txBox="1"/>
          <p:nvPr/>
        </p:nvSpPr>
        <p:spPr>
          <a:xfrm>
            <a:off x="914400" y="4373880"/>
            <a:ext cx="9723120" cy="94488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רק מה שחשוב לך באמת: משהו בבטן זז?</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18</a:t>
            </a:r>
          </a:p>
        </p:txBody>
      </p:sp>
      <p:pic>
        <p:nvPicPr>
          <p:cNvPr id="4" name="Picture 3" descr="s59_path.jpg"/>
          <p:cNvPicPr>
            <a:picLocks noChangeAspect="1"/>
          </p:cNvPicPr>
          <p:nvPr/>
        </p:nvPicPr>
        <p:blipFill>
          <a:blip r:embed="rId3"/>
          <a:stretch>
            <a:fillRect/>
          </a:stretch>
        </p:blipFill>
        <p:spPr>
          <a:xfrm>
            <a:off x="914400" y="1295400"/>
            <a:ext cx="3810000" cy="3810000"/>
          </a:xfrm>
          <a:prstGeom prst="roundRect">
            <a:avLst>
              <a:gd name="adj" fmla="val 8000"/>
            </a:avLst>
          </a:prstGeom>
        </p:spPr>
      </p:pic>
      <p:sp>
        <p:nvSpPr>
          <p:cNvPr id="5" name="TextBox 4"/>
          <p:cNvSpPr txBox="1"/>
          <p:nvPr/>
        </p:nvSpPr>
        <p:spPr>
          <a:xfrm>
            <a:off x="5334000" y="1725168"/>
            <a:ext cx="59436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החלום שלי</a:t>
            </a:r>
          </a:p>
        </p:txBody>
      </p:sp>
      <p:sp>
        <p:nvSpPr>
          <p:cNvPr id="6" name="TextBox 5"/>
          <p:cNvSpPr txBox="1"/>
          <p:nvPr/>
        </p:nvSpPr>
        <p:spPr>
          <a:xfrm>
            <a:off x="5334000" y="2182368"/>
            <a:ext cx="5943600" cy="1274064"/>
          </a:xfrm>
          <a:prstGeom prst="rect">
            <a:avLst/>
          </a:prstGeom>
          <a:noFill/>
        </p:spPr>
        <p:txBody>
          <a:bodyPr wrap="square" lIns="0" rIns="0" tIns="0" bIns="0" anchor="t">
            <a:spAutoFit/>
          </a:bodyPr>
          <a:lstStyle/>
          <a:p>
            <a:pPr algn="r" rtl="1">
              <a:lnSpc>
                <a:spcPct val="110000"/>
              </a:lnSpc>
            </a:pPr>
            <a:r>
              <a:rPr sz="3840" b="1" lang="he-IL">
                <a:solidFill>
                  <a:srgbClr val="191A2E"/>
                </a:solidFill>
                <a:latin typeface="Heebo"/>
                <a:ea typeface="Heebo"/>
                <a:cs typeface="Heebo"/>
              </a:rPr>
              <a:t>”אני בחופשה בתאילנד.</a:t>
            </a:r>
          </a:p>
          <a:p>
            <a:pPr algn="r" rtl="1">
              <a:lnSpc>
                <a:spcPct val="110000"/>
              </a:lnSpc>
            </a:pPr>
            <a:r>
              <a:rPr sz="3840" b="1" lang="he-IL">
                <a:solidFill>
                  <a:srgbClr val="191A2E"/>
                </a:solidFill>
                <a:latin typeface="Heebo"/>
                <a:ea typeface="Heebo"/>
                <a:cs typeface="Heebo"/>
              </a:rPr>
              <a:t>הכסף עובד עבורי.“</a:t>
            </a:r>
          </a:p>
        </p:txBody>
      </p:sp>
      <p:sp>
        <p:nvSpPr>
          <p:cNvPr id="7" name="TextBox 6"/>
          <p:cNvSpPr txBox="1"/>
          <p:nvPr/>
        </p:nvSpPr>
        <p:spPr>
          <a:xfrm>
            <a:off x="5334000" y="3608832"/>
            <a:ext cx="5943600" cy="1524000"/>
          </a:xfrm>
          <a:prstGeom prst="rect">
            <a:avLst/>
          </a:prstGeom>
          <a:noFill/>
        </p:spPr>
        <p:txBody>
          <a:bodyPr wrap="square" lIns="0" rIns="0" tIns="0" bIns="0" anchor="t">
            <a:spAutoFit/>
          </a:bodyPr>
          <a:lstStyle/>
          <a:p>
            <a:pPr algn="r" rtl="1">
              <a:lnSpc>
                <a:spcPct val="145000"/>
              </a:lnSpc>
            </a:pPr>
            <a:r>
              <a:rPr sz="1800" b="0" lang="he-IL">
                <a:solidFill>
                  <a:srgbClr val="EF55A5"/>
                </a:solidFill>
                <a:latin typeface="Heebo"/>
                <a:ea typeface="Heebo"/>
                <a:cs typeface="Heebo"/>
              </a:rPr>
              <a:t>הכסף הוא אף פעם לא המטרה. הוא האמצעי.</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19</a:t>
            </a:r>
          </a:p>
        </p:txBody>
      </p:sp>
      <p:sp>
        <p:nvSpPr>
          <p:cNvPr id="4" name="TextBox 3"/>
          <p:cNvSpPr txBox="1"/>
          <p:nvPr/>
        </p:nvSpPr>
        <p:spPr>
          <a:xfrm>
            <a:off x="10515600" y="1143000"/>
            <a:ext cx="762000" cy="914400"/>
          </a:xfrm>
          <a:prstGeom prst="rect">
            <a:avLst/>
          </a:prstGeom>
          <a:noFill/>
        </p:spPr>
        <p:txBody>
          <a:bodyPr wrap="square" lIns="0" rIns="0" tIns="0" bIns="0" anchor="t">
            <a:spAutoFit/>
          </a:bodyPr>
          <a:lstStyle/>
          <a:p>
            <a:pPr algn="r" rtl="1">
              <a:lnSpc>
                <a:spcPct val="80000"/>
              </a:lnSpc>
            </a:pPr>
            <a:r>
              <a:rPr sz="10200" b="1" lang="he-IL">
                <a:solidFill>
                  <a:srgbClr val="EF55A5"/>
                </a:solidFill>
                <a:latin typeface="Heebo"/>
                <a:ea typeface="Heebo"/>
                <a:cs typeface="Heebo"/>
              </a:rPr>
              <a:t>”</a:t>
            </a:r>
          </a:p>
        </p:txBody>
      </p:sp>
      <p:sp>
        <p:nvSpPr>
          <p:cNvPr id="5" name="TextBox 4"/>
          <p:cNvSpPr txBox="1"/>
          <p:nvPr/>
        </p:nvSpPr>
        <p:spPr>
          <a:xfrm>
            <a:off x="914400" y="2286000"/>
            <a:ext cx="10363200" cy="2286000"/>
          </a:xfrm>
          <a:prstGeom prst="rect">
            <a:avLst/>
          </a:prstGeom>
          <a:noFill/>
        </p:spPr>
        <p:txBody>
          <a:bodyPr wrap="square" lIns="0" rIns="0" tIns="0" bIns="0" anchor="t">
            <a:spAutoFit/>
          </a:bodyPr>
          <a:lstStyle/>
          <a:p>
            <a:pPr algn="r" rtl="1">
              <a:lnSpc>
                <a:spcPct val="130000"/>
              </a:lnSpc>
            </a:pPr>
            <a:r>
              <a:rPr sz="3719" b="1" lang="he-IL">
                <a:solidFill>
                  <a:srgbClr val="191A2E"/>
                </a:solidFill>
                <a:latin typeface="Heebo"/>
                <a:ea typeface="Heebo"/>
                <a:cs typeface="Heebo"/>
              </a:rPr>
              <a:t>הצבת מטרות היא הצעד הראשון בהפיכת הבלתי נראה לנראה.</a:t>
            </a:r>
          </a:p>
        </p:txBody>
      </p:sp>
      <p:sp>
        <p:nvSpPr>
          <p:cNvPr id="6" name="Rounded Rectangle 5"/>
          <p:cNvSpPr/>
          <p:nvPr/>
        </p:nvSpPr>
        <p:spPr>
          <a:xfrm>
            <a:off x="10942320" y="5029200"/>
            <a:ext cx="335280" cy="30480"/>
          </a:xfrm>
          <a:prstGeom prst="roundRect">
            <a:avLst>
              <a:gd name="adj" fmla="val 50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48400" y="4892040"/>
            <a:ext cx="4541520" cy="304800"/>
          </a:xfrm>
          <a:prstGeom prst="rect">
            <a:avLst/>
          </a:prstGeom>
          <a:noFill/>
        </p:spPr>
        <p:txBody>
          <a:bodyPr wrap="square" lIns="0" rIns="0" tIns="0" bIns="0" anchor="t">
            <a:spAutoFit/>
          </a:bodyPr>
          <a:lstStyle/>
          <a:p>
            <a:pPr algn="r" rtl="1">
              <a:lnSpc>
                <a:spcPct val="115000"/>
              </a:lnSpc>
            </a:pPr>
            <a:r>
              <a:rPr sz="1560" b="1" lang="he-IL">
                <a:solidFill>
                  <a:srgbClr val="191A2E"/>
                </a:solidFill>
                <a:latin typeface="Heebo"/>
                <a:ea typeface="Heebo"/>
                <a:cs typeface="Heebo"/>
              </a:rPr>
              <a:t>טוני רובינס</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20</a:t>
            </a:r>
          </a:p>
        </p:txBody>
      </p:sp>
      <p:pic>
        <p:nvPicPr>
          <p:cNvPr id="4" name="Picture 3" descr="s12_mind.jpg"/>
          <p:cNvPicPr>
            <a:picLocks noChangeAspect="1"/>
          </p:cNvPicPr>
          <p:nvPr/>
        </p:nvPicPr>
        <p:blipFill>
          <a:blip r:embed="rId3"/>
          <a:stretch>
            <a:fillRect/>
          </a:stretch>
        </p:blipFill>
        <p:spPr>
          <a:xfrm>
            <a:off x="914400" y="1295400"/>
            <a:ext cx="3810000" cy="3810000"/>
          </a:xfrm>
          <a:prstGeom prst="roundRect">
            <a:avLst>
              <a:gd name="adj" fmla="val 8000"/>
            </a:avLst>
          </a:prstGeom>
        </p:spPr>
      </p:pic>
      <p:sp>
        <p:nvSpPr>
          <p:cNvPr id="5" name="TextBox 4"/>
          <p:cNvSpPr txBox="1"/>
          <p:nvPr/>
        </p:nvSpPr>
        <p:spPr>
          <a:xfrm>
            <a:off x="5334000" y="1959864"/>
            <a:ext cx="59436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לוח החזון</a:t>
            </a:r>
          </a:p>
        </p:txBody>
      </p:sp>
      <p:sp>
        <p:nvSpPr>
          <p:cNvPr id="6" name="TextBox 5"/>
          <p:cNvSpPr txBox="1"/>
          <p:nvPr/>
        </p:nvSpPr>
        <p:spPr>
          <a:xfrm>
            <a:off x="5334000" y="2417064"/>
            <a:ext cx="5943600" cy="1414272"/>
          </a:xfrm>
          <a:prstGeom prst="rect">
            <a:avLst/>
          </a:prstGeom>
          <a:noFill/>
        </p:spPr>
        <p:txBody>
          <a:bodyPr wrap="square" lIns="0" rIns="0" tIns="0" bIns="0" anchor="t">
            <a:spAutoFit/>
          </a:bodyPr>
          <a:lstStyle/>
          <a:p>
            <a:pPr algn="r" rtl="1">
              <a:lnSpc>
                <a:spcPct val="110000"/>
              </a:lnSpc>
            </a:pPr>
            <a:r>
              <a:rPr sz="4320" b="1" lang="he-IL">
                <a:solidFill>
                  <a:srgbClr val="191A2E"/>
                </a:solidFill>
                <a:latin typeface="Heebo"/>
                <a:ea typeface="Heebo"/>
                <a:cs typeface="Heebo"/>
              </a:rPr>
              <a:t>מה שאת רואה כל יום,</a:t>
            </a:r>
          </a:p>
          <a:p>
            <a:pPr algn="r" rtl="1">
              <a:lnSpc>
                <a:spcPct val="110000"/>
              </a:lnSpc>
            </a:pPr>
            <a:r>
              <a:rPr sz="4320" b="1" lang="he-IL">
                <a:solidFill>
                  <a:srgbClr val="EF55A5"/>
                </a:solidFill>
                <a:latin typeface="Heebo"/>
                <a:ea typeface="Heebo"/>
                <a:cs typeface="Heebo"/>
              </a:rPr>
              <a:t>המוח מתחיל לחפש.</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21</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לוח החזון</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הלוח שלך כבר מחכה לך</a:t>
            </a:r>
          </a:p>
        </p:txBody>
      </p:sp>
      <p:sp>
        <p:nvSpPr>
          <p:cNvPr id="6" name="Oval 5"/>
          <p:cNvSpPr/>
          <p:nvPr/>
        </p:nvSpPr>
        <p:spPr>
          <a:xfrm>
            <a:off x="11155680" y="260604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914400" y="2468880"/>
            <a:ext cx="10027920" cy="94488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באזור האישי: החלומות שלך, והדמיה של הרגע ב-AI ✨</a:t>
            </a:r>
          </a:p>
        </p:txBody>
      </p:sp>
      <p:sp>
        <p:nvSpPr>
          <p:cNvPr id="8" name="Oval 7"/>
          <p:cNvSpPr/>
          <p:nvPr/>
        </p:nvSpPr>
        <p:spPr>
          <a:xfrm>
            <a:off x="11155680" y="355092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14400" y="3413760"/>
            <a:ext cx="10027920" cy="94488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עשית בשאלון ההכנה? מעולה. להסתכל עליו כל בוקר.</a:t>
            </a:r>
          </a:p>
        </p:txBody>
      </p:sp>
      <p:sp>
        <p:nvSpPr>
          <p:cNvPr id="10" name="Oval 9"/>
          <p:cNvSpPr/>
          <p:nvPr/>
        </p:nvSpPr>
        <p:spPr>
          <a:xfrm>
            <a:off x="11155680" y="449580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914400" y="4358640"/>
            <a:ext cx="10027920" cy="94488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עוד לא? הערב, מיד אחרי הלייב.</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22</a:t>
            </a:r>
          </a:p>
        </p:txBody>
      </p:sp>
      <p:sp>
        <p:nvSpPr>
          <p:cNvPr id="4" name="Rounded Rectangle 3"/>
          <p:cNvSpPr/>
          <p:nvPr/>
        </p:nvSpPr>
        <p:spPr>
          <a:xfrm>
            <a:off x="914400" y="1905000"/>
            <a:ext cx="10363200" cy="2895600"/>
          </a:xfrm>
          <a:prstGeom prst="roundRect">
            <a:avLst>
              <a:gd name="adj" fmla="val 9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463040" y="2438400"/>
            <a:ext cx="92659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דמיון מודרך</a:t>
            </a:r>
          </a:p>
        </p:txBody>
      </p:sp>
      <p:sp>
        <p:nvSpPr>
          <p:cNvPr id="6" name="TextBox 5"/>
          <p:cNvSpPr txBox="1"/>
          <p:nvPr/>
        </p:nvSpPr>
        <p:spPr>
          <a:xfrm>
            <a:off x="1463040" y="2834640"/>
            <a:ext cx="9265920" cy="1752600"/>
          </a:xfrm>
          <a:prstGeom prst="rect">
            <a:avLst/>
          </a:prstGeom>
          <a:noFill/>
        </p:spPr>
        <p:txBody>
          <a:bodyPr wrap="square" lIns="0" rIns="0" tIns="0" bIns="0" anchor="t">
            <a:spAutoFit/>
          </a:bodyPr>
          <a:lstStyle/>
          <a:p>
            <a:pPr algn="r" rtl="1">
              <a:lnSpc>
                <a:spcPct val="115000"/>
              </a:lnSpc>
            </a:pPr>
            <a:r>
              <a:rPr sz="4200" b="1" lang="he-IL">
                <a:solidFill>
                  <a:srgbClr val="191A2E"/>
                </a:solidFill>
                <a:latin typeface="Heebo"/>
                <a:ea typeface="Heebo"/>
                <a:cs typeface="Heebo"/>
              </a:rPr>
              <a:t>60 שניות, עיניים עצומות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23</a:t>
            </a:r>
          </a:p>
        </p:txBody>
      </p:sp>
      <p:sp>
        <p:nvSpPr>
          <p:cNvPr id="4" name="Rounded Rectangle 3"/>
          <p:cNvSpPr/>
          <p:nvPr/>
        </p:nvSpPr>
        <p:spPr>
          <a:xfrm>
            <a:off x="914400" y="1905000"/>
            <a:ext cx="10363200" cy="2895600"/>
          </a:xfrm>
          <a:prstGeom prst="roundRect">
            <a:avLst>
              <a:gd name="adj" fmla="val 9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463040" y="2438400"/>
            <a:ext cx="92659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בצ'אט</a:t>
            </a:r>
          </a:p>
        </p:txBody>
      </p:sp>
      <p:sp>
        <p:nvSpPr>
          <p:cNvPr id="6" name="TextBox 5"/>
          <p:cNvSpPr txBox="1"/>
          <p:nvPr/>
        </p:nvSpPr>
        <p:spPr>
          <a:xfrm>
            <a:off x="1463040" y="2834640"/>
            <a:ext cx="9265920" cy="1752600"/>
          </a:xfrm>
          <a:prstGeom prst="rect">
            <a:avLst/>
          </a:prstGeom>
          <a:noFill/>
        </p:spPr>
        <p:txBody>
          <a:bodyPr wrap="square" lIns="0" rIns="0" tIns="0" bIns="0" anchor="t">
            <a:spAutoFit/>
          </a:bodyPr>
          <a:lstStyle/>
          <a:p>
            <a:pPr algn="r" rtl="1">
              <a:lnSpc>
                <a:spcPct val="115000"/>
              </a:lnSpc>
            </a:pPr>
            <a:r>
              <a:rPr sz="4440" b="1" lang="he-IL">
                <a:solidFill>
                  <a:srgbClr val="191A2E"/>
                </a:solidFill>
                <a:latin typeface="Heebo"/>
                <a:ea typeface="Heebo"/>
                <a:cs typeface="Heebo"/>
              </a:rPr>
              <a:t>חלום אחד. משפט אחד. בזמן הווה.</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24</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חלק 3 · התודעה</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5000"/>
              </a:lnSpc>
            </a:pPr>
            <a:r>
              <a:rPr sz="3719" b="1" lang="he-IL">
                <a:solidFill>
                  <a:srgbClr val="191A2E"/>
                </a:solidFill>
                <a:latin typeface="Heebo"/>
                <a:ea typeface="Heebo"/>
                <a:cs typeface="Heebo"/>
              </a:rPr>
              <a:t>אז אם החלום ברור, מה עוצר?</a:t>
            </a:r>
          </a:p>
        </p:txBody>
      </p:sp>
      <p:sp>
        <p:nvSpPr>
          <p:cNvPr id="6" name="Rounded Rectangle 5"/>
          <p:cNvSpPr/>
          <p:nvPr/>
        </p:nvSpPr>
        <p:spPr>
          <a:xfrm>
            <a:off x="914400" y="2286000"/>
            <a:ext cx="9448800" cy="990600"/>
          </a:xfrm>
          <a:prstGeom prst="roundRect">
            <a:avLst>
              <a:gd name="adj" fmla="val 23076"/>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365760" rIns="365760" tIns="219456" bIns="219456"/>
          <a:lstStyle/>
          <a:p>
            <a:pPr algn="r" rtl="1">
              <a:lnSpc>
                <a:spcPct val="115000"/>
              </a:lnSpc>
            </a:pPr>
            <a:r>
              <a:rPr sz="2280" b="1" lang="he-IL">
                <a:solidFill>
                  <a:srgbClr val="191A2E"/>
                </a:solidFill>
                <a:latin typeface="Heebo"/>
                <a:ea typeface="Heebo"/>
                <a:cs typeface="Heebo"/>
              </a:rPr>
              <a:t>”יש לי סכום כסף ואני לא יודעת איפה לשים אותו“</a:t>
            </a:r>
          </a:p>
        </p:txBody>
      </p:sp>
      <p:sp>
        <p:nvSpPr>
          <p:cNvPr id="7" name="Rounded Rectangle 6"/>
          <p:cNvSpPr/>
          <p:nvPr/>
        </p:nvSpPr>
        <p:spPr>
          <a:xfrm>
            <a:off x="1828800" y="3505200"/>
            <a:ext cx="9448800" cy="990600"/>
          </a:xfrm>
          <a:prstGeom prst="roundRect">
            <a:avLst>
              <a:gd name="adj" fmla="val 23076"/>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365760" rIns="365760" tIns="219456" bIns="219456"/>
          <a:lstStyle/>
          <a:p>
            <a:pPr algn="r" rtl="1">
              <a:lnSpc>
                <a:spcPct val="115000"/>
              </a:lnSpc>
            </a:pPr>
            <a:r>
              <a:rPr sz="2280" b="1" lang="he-IL">
                <a:solidFill>
                  <a:srgbClr val="191A2E"/>
                </a:solidFill>
                <a:latin typeface="Heebo"/>
                <a:ea typeface="Heebo"/>
                <a:cs typeface="Heebo"/>
              </a:rPr>
              <a:t>”מרוויחים יפה ועדיין חיים בפחד ממחסור“</a:t>
            </a:r>
          </a:p>
        </p:txBody>
      </p:sp>
      <p:sp>
        <p:nvSpPr>
          <p:cNvPr id="8" name="Rounded Rectangle 7"/>
          <p:cNvSpPr/>
          <p:nvPr/>
        </p:nvSpPr>
        <p:spPr>
          <a:xfrm>
            <a:off x="914400" y="4724400"/>
            <a:ext cx="9448800" cy="990600"/>
          </a:xfrm>
          <a:prstGeom prst="roundRect">
            <a:avLst>
              <a:gd name="adj" fmla="val 23076"/>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365760" rIns="365760" tIns="219456" bIns="219456"/>
          <a:lstStyle/>
          <a:p>
            <a:pPr algn="r" rtl="1">
              <a:lnSpc>
                <a:spcPct val="115000"/>
              </a:lnSpc>
            </a:pPr>
            <a:r>
              <a:rPr sz="2280" b="1" lang="he-IL">
                <a:solidFill>
                  <a:srgbClr val="191A2E"/>
                </a:solidFill>
                <a:latin typeface="Heebo"/>
                <a:ea typeface="Heebo"/>
                <a:cs typeface="Heebo"/>
              </a:rPr>
              <a:t>”נתחיל בזה שאני קלולס בכל עולם המושגים“</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25</a:t>
            </a:r>
          </a:p>
        </p:txBody>
      </p:sp>
      <p:pic>
        <p:nvPicPr>
          <p:cNvPr id="4" name="Picture 3" descr="s12_mind.jpg"/>
          <p:cNvPicPr>
            <a:picLocks noChangeAspect="1"/>
          </p:cNvPicPr>
          <p:nvPr/>
        </p:nvPicPr>
        <p:blipFill>
          <a:blip r:embed="rId3"/>
          <a:stretch>
            <a:fillRect/>
          </a:stretch>
        </p:blipFill>
        <p:spPr>
          <a:xfrm>
            <a:off x="914400" y="1295400"/>
            <a:ext cx="3810000" cy="3810000"/>
          </a:xfrm>
          <a:prstGeom prst="roundRect">
            <a:avLst>
              <a:gd name="adj" fmla="val 8000"/>
            </a:avLst>
          </a:prstGeom>
        </p:spPr>
      </p:pic>
      <p:sp>
        <p:nvSpPr>
          <p:cNvPr id="5" name="TextBox 4"/>
          <p:cNvSpPr txBox="1"/>
          <p:nvPr/>
        </p:nvSpPr>
        <p:spPr>
          <a:xfrm>
            <a:off x="5334000" y="2417064"/>
            <a:ext cx="5943600" cy="1414272"/>
          </a:xfrm>
          <a:prstGeom prst="rect">
            <a:avLst/>
          </a:prstGeom>
          <a:noFill/>
        </p:spPr>
        <p:txBody>
          <a:bodyPr wrap="square" lIns="0" rIns="0" tIns="0" bIns="0" anchor="t">
            <a:spAutoFit/>
          </a:bodyPr>
          <a:lstStyle/>
          <a:p>
            <a:pPr algn="r" rtl="1">
              <a:lnSpc>
                <a:spcPct val="110000"/>
              </a:lnSpc>
            </a:pPr>
            <a:r>
              <a:rPr sz="4320" b="1" lang="he-IL">
                <a:solidFill>
                  <a:srgbClr val="191A2E"/>
                </a:solidFill>
                <a:latin typeface="Heebo"/>
                <a:ea typeface="Heebo"/>
                <a:cs typeface="Heebo"/>
              </a:rPr>
              <a:t>לא ידע.</a:t>
            </a:r>
          </a:p>
          <a:p>
            <a:pPr algn="r" rtl="1">
              <a:lnSpc>
                <a:spcPct val="110000"/>
              </a:lnSpc>
            </a:pPr>
            <a:r>
              <a:rPr sz="4320" b="1" lang="he-IL">
                <a:solidFill>
                  <a:srgbClr val="EF55A5"/>
                </a:solidFill>
                <a:latin typeface="Heebo"/>
                <a:ea typeface="Heebo"/>
                <a:cs typeface="Heebo"/>
              </a:rPr>
              <a:t>תודעה.</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26</a:t>
            </a:r>
          </a:p>
        </p:txBody>
      </p:sp>
      <p:sp>
        <p:nvSpPr>
          <p:cNvPr id="4" name="TextBox 3"/>
          <p:cNvSpPr txBox="1"/>
          <p:nvPr/>
        </p:nvSpPr>
        <p:spPr>
          <a:xfrm>
            <a:off x="10515600" y="1143000"/>
            <a:ext cx="762000" cy="914400"/>
          </a:xfrm>
          <a:prstGeom prst="rect">
            <a:avLst/>
          </a:prstGeom>
          <a:noFill/>
        </p:spPr>
        <p:txBody>
          <a:bodyPr wrap="square" lIns="0" rIns="0" tIns="0" bIns="0" anchor="t">
            <a:spAutoFit/>
          </a:bodyPr>
          <a:lstStyle/>
          <a:p>
            <a:pPr algn="r" rtl="1">
              <a:lnSpc>
                <a:spcPct val="80000"/>
              </a:lnSpc>
            </a:pPr>
            <a:r>
              <a:rPr sz="10200" b="1" lang="he-IL">
                <a:solidFill>
                  <a:srgbClr val="EF55A5"/>
                </a:solidFill>
                <a:latin typeface="Heebo"/>
                <a:ea typeface="Heebo"/>
                <a:cs typeface="Heebo"/>
              </a:rPr>
              <a:t>”</a:t>
            </a:r>
          </a:p>
        </p:txBody>
      </p:sp>
      <p:sp>
        <p:nvSpPr>
          <p:cNvPr id="5" name="TextBox 4"/>
          <p:cNvSpPr txBox="1"/>
          <p:nvPr/>
        </p:nvSpPr>
        <p:spPr>
          <a:xfrm>
            <a:off x="914400" y="2286000"/>
            <a:ext cx="10363200" cy="2286000"/>
          </a:xfrm>
          <a:prstGeom prst="rect">
            <a:avLst/>
          </a:prstGeom>
          <a:noFill/>
        </p:spPr>
        <p:txBody>
          <a:bodyPr wrap="square" lIns="0" rIns="0" tIns="0" bIns="0" anchor="t">
            <a:spAutoFit/>
          </a:bodyPr>
          <a:lstStyle/>
          <a:p>
            <a:pPr algn="r" rtl="1">
              <a:lnSpc>
                <a:spcPct val="130000"/>
              </a:lnSpc>
            </a:pPr>
            <a:r>
              <a:rPr sz="3719" b="1" lang="he-IL">
                <a:solidFill>
                  <a:srgbClr val="191A2E"/>
                </a:solidFill>
                <a:latin typeface="Heebo"/>
                <a:ea typeface="Heebo"/>
                <a:cs typeface="Heebo"/>
              </a:rPr>
              <a:t>דמיון חשוב יותר מידע.</a:t>
            </a:r>
          </a:p>
        </p:txBody>
      </p:sp>
      <p:sp>
        <p:nvSpPr>
          <p:cNvPr id="6" name="Rounded Rectangle 5"/>
          <p:cNvSpPr/>
          <p:nvPr/>
        </p:nvSpPr>
        <p:spPr>
          <a:xfrm>
            <a:off x="10942320" y="5029200"/>
            <a:ext cx="335280" cy="30480"/>
          </a:xfrm>
          <a:prstGeom prst="roundRect">
            <a:avLst>
              <a:gd name="adj" fmla="val 50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48400" y="4892040"/>
            <a:ext cx="4541520" cy="304800"/>
          </a:xfrm>
          <a:prstGeom prst="rect">
            <a:avLst/>
          </a:prstGeom>
          <a:noFill/>
        </p:spPr>
        <p:txBody>
          <a:bodyPr wrap="square" lIns="0" rIns="0" tIns="0" bIns="0" anchor="t">
            <a:spAutoFit/>
          </a:bodyPr>
          <a:lstStyle/>
          <a:p>
            <a:pPr algn="r" rtl="1">
              <a:lnSpc>
                <a:spcPct val="115000"/>
              </a:lnSpc>
            </a:pPr>
            <a:r>
              <a:rPr sz="1560" b="1" lang="he-IL">
                <a:solidFill>
                  <a:srgbClr val="191A2E"/>
                </a:solidFill>
                <a:latin typeface="Heebo"/>
                <a:ea typeface="Heebo"/>
                <a:cs typeface="Heebo"/>
              </a:rPr>
              <a:t>אלברט איינשטיין</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27</a:t>
            </a:r>
          </a:p>
        </p:txBody>
      </p:sp>
      <p:sp>
        <p:nvSpPr>
          <p:cNvPr id="4" name="TextBox 3"/>
          <p:cNvSpPr txBox="1"/>
          <p:nvPr/>
        </p:nvSpPr>
        <p:spPr>
          <a:xfrm>
            <a:off x="914400" y="2336673"/>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מהי תודעה?</a:t>
            </a:r>
          </a:p>
        </p:txBody>
      </p:sp>
      <p:sp>
        <p:nvSpPr>
          <p:cNvPr id="5" name="TextBox 4"/>
          <p:cNvSpPr txBox="1"/>
          <p:nvPr/>
        </p:nvSpPr>
        <p:spPr>
          <a:xfrm>
            <a:off x="914400" y="2793873"/>
            <a:ext cx="10363200" cy="660654"/>
          </a:xfrm>
          <a:prstGeom prst="rect">
            <a:avLst/>
          </a:prstGeom>
          <a:noFill/>
        </p:spPr>
        <p:txBody>
          <a:bodyPr wrap="square" lIns="0" rIns="0" tIns="0" bIns="0" anchor="t">
            <a:spAutoFit/>
          </a:bodyPr>
          <a:lstStyle/>
          <a:p>
            <a:pPr algn="r" rtl="1">
              <a:lnSpc>
                <a:spcPct val="110000"/>
              </a:lnSpc>
            </a:pPr>
            <a:r>
              <a:rPr sz="3479" b="1" lang="he-IL">
                <a:solidFill>
                  <a:srgbClr val="191A2E"/>
                </a:solidFill>
                <a:latin typeface="Heebo"/>
                <a:ea typeface="Heebo"/>
                <a:cs typeface="Heebo"/>
              </a:rPr>
              <a:t>מכלול המחשבות, האמונות, הרגשות והערכים שמעצבים את הדרך שבה אנו תופסים את העולם, מקבלים החלטות ופועלים בחיים.</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28</a:t>
            </a:r>
          </a:p>
        </p:txBody>
      </p:sp>
      <p:sp>
        <p:nvSpPr>
          <p:cNvPr id="4" name="TextBox 3"/>
          <p:cNvSpPr txBox="1"/>
          <p:nvPr/>
        </p:nvSpPr>
        <p:spPr>
          <a:xfrm>
            <a:off x="6553200" y="1295400"/>
            <a:ext cx="47244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הכלי הכי חשוב</a:t>
            </a:r>
          </a:p>
        </p:txBody>
      </p:sp>
      <p:sp>
        <p:nvSpPr>
          <p:cNvPr id="5" name="TextBox 4"/>
          <p:cNvSpPr txBox="1"/>
          <p:nvPr/>
        </p:nvSpPr>
        <p:spPr>
          <a:xfrm>
            <a:off x="6553200" y="1676400"/>
            <a:ext cx="4724400" cy="838200"/>
          </a:xfrm>
          <a:prstGeom prst="rect">
            <a:avLst/>
          </a:prstGeom>
          <a:noFill/>
        </p:spPr>
        <p:txBody>
          <a:bodyPr wrap="square" lIns="0" rIns="0" tIns="0" bIns="0" anchor="t">
            <a:spAutoFit/>
          </a:bodyPr>
          <a:lstStyle/>
          <a:p>
            <a:pPr algn="r" rtl="1">
              <a:lnSpc>
                <a:spcPct val="115000"/>
              </a:lnSpc>
            </a:pPr>
            <a:r>
              <a:rPr sz="5759" b="1" lang="he-IL">
                <a:solidFill>
                  <a:srgbClr val="191A2E"/>
                </a:solidFill>
                <a:latin typeface="Heebo"/>
                <a:ea typeface="Heebo"/>
                <a:cs typeface="Heebo"/>
              </a:rPr>
              <a:t>מעגל התודעה</a:t>
            </a:r>
          </a:p>
        </p:txBody>
      </p:sp>
      <p:sp>
        <p:nvSpPr>
          <p:cNvPr id="6" name="TextBox 5"/>
          <p:cNvSpPr txBox="1"/>
          <p:nvPr/>
        </p:nvSpPr>
        <p:spPr>
          <a:xfrm>
            <a:off x="6553200" y="2819400"/>
            <a:ext cx="4724400" cy="1905000"/>
          </a:xfrm>
          <a:prstGeom prst="rect">
            <a:avLst/>
          </a:prstGeom>
          <a:noFill/>
        </p:spPr>
        <p:txBody>
          <a:bodyPr wrap="square" lIns="0" rIns="0" tIns="0" bIns="0" anchor="t">
            <a:spAutoFit/>
          </a:bodyPr>
          <a:lstStyle/>
          <a:p>
            <a:pPr algn="r" rtl="1">
              <a:lnSpc>
                <a:spcPct val="150000"/>
              </a:lnSpc>
            </a:pPr>
            <a:r>
              <a:rPr sz="1920" b="0" lang="he-IL">
                <a:solidFill>
                  <a:srgbClr val="191A2E"/>
                </a:solidFill>
                <a:latin typeface="Heebo"/>
                <a:ea typeface="Heebo"/>
                <a:cs typeface="Heebo"/>
              </a:rPr>
              <a:t>מחשבות יוצרות רגשות. רגשות משפיעים על הפעולות. פעולות יוצרות תוצאות. ותוצאות יוצרות מחשבות חדשות.</a:t>
            </a:r>
          </a:p>
        </p:txBody>
      </p:sp>
      <p:sp>
        <p:nvSpPr>
          <p:cNvPr id="7" name="TextBox 6"/>
          <p:cNvSpPr txBox="1"/>
          <p:nvPr/>
        </p:nvSpPr>
        <p:spPr>
          <a:xfrm>
            <a:off x="6553200" y="4876800"/>
            <a:ext cx="4724400" cy="838200"/>
          </a:xfrm>
          <a:prstGeom prst="rect">
            <a:avLst/>
          </a:prstGeom>
          <a:noFill/>
        </p:spPr>
        <p:txBody>
          <a:bodyPr wrap="square" lIns="0" rIns="0" tIns="0" bIns="0" anchor="t">
            <a:spAutoFit/>
          </a:bodyPr>
          <a:lstStyle/>
          <a:p>
            <a:pPr algn="r" rtl="1">
              <a:lnSpc>
                <a:spcPct val="140000"/>
              </a:lnSpc>
            </a:pPr>
            <a:r>
              <a:rPr sz="1800" b="1" lang="he-IL">
                <a:solidFill>
                  <a:srgbClr val="EF55A5"/>
                </a:solidFill>
                <a:latin typeface="Heebo"/>
                <a:ea typeface="Heebo"/>
                <a:cs typeface="Heebo"/>
              </a:rPr>
              <a:t>זו ספירלה. או שהיא עולה, או שהיא יורדת.</a:t>
            </a:r>
          </a:p>
        </p:txBody>
      </p:sp>
      <p:sp>
        <p:nvSpPr>
          <p:cNvPr id="8" name="Oval 7"/>
          <p:cNvSpPr/>
          <p:nvPr/>
        </p:nvSpPr>
        <p:spPr>
          <a:xfrm>
            <a:off x="3276600" y="990600"/>
            <a:ext cx="1371600" cy="137160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800" b="1" lang="he-IL">
                <a:solidFill>
                  <a:srgbClr val="191A2E"/>
                </a:solidFill>
                <a:latin typeface="Heebo"/>
                <a:ea typeface="Heebo"/>
                <a:cs typeface="Heebo"/>
              </a:rPr>
              <a:t>מחשבות</a:t>
            </a:r>
          </a:p>
        </p:txBody>
      </p:sp>
      <p:sp>
        <p:nvSpPr>
          <p:cNvPr id="9" name="Oval 8"/>
          <p:cNvSpPr/>
          <p:nvPr/>
        </p:nvSpPr>
        <p:spPr>
          <a:xfrm>
            <a:off x="5181600" y="2895600"/>
            <a:ext cx="1371600" cy="1371600"/>
          </a:xfrm>
          <a:prstGeom prst="ellipse">
            <a:avLst/>
          </a:prstGeom>
          <a:solidFill>
            <a:srgbClr val="8C9E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800" b="1" lang="he-IL">
                <a:solidFill>
                  <a:srgbClr val="191A2E"/>
                </a:solidFill>
                <a:latin typeface="Heebo"/>
                <a:ea typeface="Heebo"/>
                <a:cs typeface="Heebo"/>
              </a:rPr>
              <a:t>רגשות</a:t>
            </a:r>
          </a:p>
        </p:txBody>
      </p:sp>
      <p:sp>
        <p:nvSpPr>
          <p:cNvPr id="10" name="Oval 9"/>
          <p:cNvSpPr/>
          <p:nvPr/>
        </p:nvSpPr>
        <p:spPr>
          <a:xfrm>
            <a:off x="3276600" y="4800600"/>
            <a:ext cx="1371600" cy="1371600"/>
          </a:xfrm>
          <a:prstGeom prst="ellipse">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800" b="1" lang="he-IL">
                <a:solidFill>
                  <a:srgbClr val="191A2E"/>
                </a:solidFill>
                <a:latin typeface="Heebo"/>
                <a:ea typeface="Heebo"/>
                <a:cs typeface="Heebo"/>
              </a:rPr>
              <a:t>פעולות</a:t>
            </a:r>
          </a:p>
        </p:txBody>
      </p:sp>
      <p:sp>
        <p:nvSpPr>
          <p:cNvPr id="11" name="Oval 10"/>
          <p:cNvSpPr/>
          <p:nvPr/>
        </p:nvSpPr>
        <p:spPr>
          <a:xfrm>
            <a:off x="1371600" y="2895600"/>
            <a:ext cx="1371600" cy="1371600"/>
          </a:xfrm>
          <a:prstGeom prst="ellipse">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800" b="1" lang="he-IL">
                <a:solidFill>
                  <a:srgbClr val="191A2E"/>
                </a:solidFill>
                <a:latin typeface="Heebo"/>
                <a:ea typeface="Heebo"/>
                <a:cs typeface="Heebo"/>
              </a:rPr>
              <a:t>תוצאות</a:t>
            </a:r>
          </a:p>
        </p:txBody>
      </p:sp>
      <p:sp>
        <p:nvSpPr>
          <p:cNvPr id="12" name="Right Arrow 11"/>
          <p:cNvSpPr/>
          <p:nvPr/>
        </p:nvSpPr>
        <p:spPr>
          <a:xfrm rot="2700000">
            <a:off x="4876800" y="1905000"/>
            <a:ext cx="685800" cy="304800"/>
          </a:xfrm>
          <a:prstGeom prst="rightArrow">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ight Arrow 12"/>
          <p:cNvSpPr/>
          <p:nvPr/>
        </p:nvSpPr>
        <p:spPr>
          <a:xfrm rot="8100000">
            <a:off x="4876800" y="4495800"/>
            <a:ext cx="685800" cy="304800"/>
          </a:xfrm>
          <a:prstGeom prst="rightArrow">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ight Arrow 13"/>
          <p:cNvSpPr/>
          <p:nvPr/>
        </p:nvSpPr>
        <p:spPr>
          <a:xfrm rot="13500000">
            <a:off x="2286000" y="4495800"/>
            <a:ext cx="685800" cy="304800"/>
          </a:xfrm>
          <a:prstGeom prst="rightArrow">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ight Arrow 14"/>
          <p:cNvSpPr/>
          <p:nvPr/>
        </p:nvSpPr>
        <p:spPr>
          <a:xfrm rot="18900000">
            <a:off x="2286000" y="1905000"/>
            <a:ext cx="685800" cy="304800"/>
          </a:xfrm>
          <a:prstGeom prst="rightArrow">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29</a:t>
            </a:r>
          </a:p>
        </p:txBody>
      </p:sp>
      <p:sp>
        <p:nvSpPr>
          <p:cNvPr id="4" name="TextBox 3"/>
          <p:cNvSpPr txBox="1"/>
          <p:nvPr/>
        </p:nvSpPr>
        <p:spPr>
          <a:xfrm>
            <a:off x="914400" y="9906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מעגל התודעה, על כסף</a:t>
            </a:r>
          </a:p>
        </p:txBody>
      </p:sp>
      <p:sp>
        <p:nvSpPr>
          <p:cNvPr id="5" name="TextBox 4"/>
          <p:cNvSpPr txBox="1"/>
          <p:nvPr/>
        </p:nvSpPr>
        <p:spPr>
          <a:xfrm>
            <a:off x="914400" y="1371600"/>
            <a:ext cx="10363200" cy="685800"/>
          </a:xfrm>
          <a:prstGeom prst="rect">
            <a:avLst/>
          </a:prstGeom>
          <a:noFill/>
        </p:spPr>
        <p:txBody>
          <a:bodyPr wrap="square" lIns="0" rIns="0" tIns="0" bIns="0" anchor="t">
            <a:spAutoFit/>
          </a:bodyPr>
          <a:lstStyle/>
          <a:p>
            <a:pPr algn="r" rtl="1">
              <a:lnSpc>
                <a:spcPct val="115000"/>
              </a:lnSpc>
            </a:pPr>
            <a:r>
              <a:rPr sz="3840" b="1" lang="he-IL">
                <a:solidFill>
                  <a:srgbClr val="191A2E"/>
                </a:solidFill>
                <a:latin typeface="Heebo"/>
                <a:ea typeface="Heebo"/>
                <a:cs typeface="Heebo"/>
              </a:rPr>
              <a:t>הספירלה שיורדת</a:t>
            </a:r>
          </a:p>
        </p:txBody>
      </p:sp>
      <p:sp>
        <p:nvSpPr>
          <p:cNvPr id="6" name="Rounded Rectangle 5"/>
          <p:cNvSpPr/>
          <p:nvPr/>
        </p:nvSpPr>
        <p:spPr>
          <a:xfrm>
            <a:off x="9485376" y="2895600"/>
            <a:ext cx="1792224" cy="1600200"/>
          </a:xfrm>
          <a:prstGeom prst="roundRect">
            <a:avLst>
              <a:gd name="adj" fmla="val 14285"/>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800" b="1" lang="he-IL">
                <a:solidFill>
                  <a:srgbClr val="191A2E"/>
                </a:solidFill>
                <a:latin typeface="Heebo"/>
                <a:ea typeface="Heebo"/>
                <a:cs typeface="Heebo"/>
              </a:rPr>
              <a:t>”אני לא מבינה בזה“</a:t>
            </a:r>
          </a:p>
        </p:txBody>
      </p:sp>
      <p:sp>
        <p:nvSpPr>
          <p:cNvPr id="7" name="TextBox 6"/>
          <p:cNvSpPr txBox="1"/>
          <p:nvPr/>
        </p:nvSpPr>
        <p:spPr>
          <a:xfrm>
            <a:off x="9134856"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8" name="Rounded Rectangle 7"/>
          <p:cNvSpPr/>
          <p:nvPr/>
        </p:nvSpPr>
        <p:spPr>
          <a:xfrm>
            <a:off x="7342632" y="2895600"/>
            <a:ext cx="1792224" cy="1600200"/>
          </a:xfrm>
          <a:prstGeom prst="roundRect">
            <a:avLst>
              <a:gd name="adj" fmla="val 14285"/>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800" b="1" lang="he-IL">
                <a:solidFill>
                  <a:srgbClr val="191A2E"/>
                </a:solidFill>
                <a:latin typeface="Heebo"/>
                <a:ea typeface="Heebo"/>
                <a:cs typeface="Heebo"/>
              </a:rPr>
              <a:t>פחד</a:t>
            </a:r>
          </a:p>
        </p:txBody>
      </p:sp>
      <p:sp>
        <p:nvSpPr>
          <p:cNvPr id="9" name="TextBox 8"/>
          <p:cNvSpPr txBox="1"/>
          <p:nvPr/>
        </p:nvSpPr>
        <p:spPr>
          <a:xfrm>
            <a:off x="6992112"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10" name="Rounded Rectangle 9"/>
          <p:cNvSpPr/>
          <p:nvPr/>
        </p:nvSpPr>
        <p:spPr>
          <a:xfrm>
            <a:off x="5199888" y="2895600"/>
            <a:ext cx="1792224" cy="1600200"/>
          </a:xfrm>
          <a:prstGeom prst="roundRect">
            <a:avLst>
              <a:gd name="adj" fmla="val 14285"/>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800" b="1" lang="he-IL">
                <a:solidFill>
                  <a:srgbClr val="191A2E"/>
                </a:solidFill>
                <a:latin typeface="Heebo"/>
                <a:ea typeface="Heebo"/>
                <a:cs typeface="Heebo"/>
              </a:rPr>
              <a:t>הכסף נשאר בעו"ש</a:t>
            </a:r>
          </a:p>
        </p:txBody>
      </p:sp>
      <p:sp>
        <p:nvSpPr>
          <p:cNvPr id="11" name="TextBox 10"/>
          <p:cNvSpPr txBox="1"/>
          <p:nvPr/>
        </p:nvSpPr>
        <p:spPr>
          <a:xfrm>
            <a:off x="4849368"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12" name="Rounded Rectangle 11"/>
          <p:cNvSpPr/>
          <p:nvPr/>
        </p:nvSpPr>
        <p:spPr>
          <a:xfrm>
            <a:off x="3057144" y="2895600"/>
            <a:ext cx="1792224" cy="1600200"/>
          </a:xfrm>
          <a:prstGeom prst="roundRect">
            <a:avLst>
              <a:gd name="adj" fmla="val 14285"/>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800" b="1" lang="he-IL">
                <a:solidFill>
                  <a:srgbClr val="191A2E"/>
                </a:solidFill>
                <a:latin typeface="Heebo"/>
                <a:ea typeface="Heebo"/>
                <a:cs typeface="Heebo"/>
              </a:rPr>
              <a:t>נשחק</a:t>
            </a:r>
          </a:p>
        </p:txBody>
      </p:sp>
      <p:sp>
        <p:nvSpPr>
          <p:cNvPr id="13" name="TextBox 12"/>
          <p:cNvSpPr txBox="1"/>
          <p:nvPr/>
        </p:nvSpPr>
        <p:spPr>
          <a:xfrm>
            <a:off x="2706624"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14" name="Rounded Rectangle 13"/>
          <p:cNvSpPr/>
          <p:nvPr/>
        </p:nvSpPr>
        <p:spPr>
          <a:xfrm>
            <a:off x="914400" y="2895600"/>
            <a:ext cx="1792224" cy="1600200"/>
          </a:xfrm>
          <a:prstGeom prst="roundRect">
            <a:avLst>
              <a:gd name="adj" fmla="val 14285"/>
            </a:avLst>
          </a:prstGeom>
          <a:solidFill>
            <a:srgbClr val="ECE7D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800" b="1" lang="he-IL">
                <a:solidFill>
                  <a:srgbClr val="191A2E"/>
                </a:solidFill>
                <a:latin typeface="Heebo"/>
                <a:ea typeface="Heebo"/>
                <a:cs typeface="Heebo"/>
              </a:rPr>
              <a:t>”רואה? זה לא בשבילי“</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30</a:t>
            </a:r>
          </a:p>
        </p:txBody>
      </p:sp>
      <p:sp>
        <p:nvSpPr>
          <p:cNvPr id="4" name="TextBox 3"/>
          <p:cNvSpPr txBox="1"/>
          <p:nvPr/>
        </p:nvSpPr>
        <p:spPr>
          <a:xfrm>
            <a:off x="914400" y="9906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מילה אחת שונה</a:t>
            </a:r>
          </a:p>
        </p:txBody>
      </p:sp>
      <p:sp>
        <p:nvSpPr>
          <p:cNvPr id="5" name="TextBox 4"/>
          <p:cNvSpPr txBox="1"/>
          <p:nvPr/>
        </p:nvSpPr>
        <p:spPr>
          <a:xfrm>
            <a:off x="914400" y="1371600"/>
            <a:ext cx="10363200" cy="685800"/>
          </a:xfrm>
          <a:prstGeom prst="rect">
            <a:avLst/>
          </a:prstGeom>
          <a:noFill/>
        </p:spPr>
        <p:txBody>
          <a:bodyPr wrap="square" lIns="0" rIns="0" tIns="0" bIns="0" anchor="t">
            <a:spAutoFit/>
          </a:bodyPr>
          <a:lstStyle/>
          <a:p>
            <a:pPr algn="r" rtl="1">
              <a:lnSpc>
                <a:spcPct val="115000"/>
              </a:lnSpc>
            </a:pPr>
            <a:r>
              <a:rPr sz="3840" b="1" lang="he-IL">
                <a:solidFill>
                  <a:srgbClr val="191A2E"/>
                </a:solidFill>
                <a:latin typeface="Heebo"/>
                <a:ea typeface="Heebo"/>
                <a:cs typeface="Heebo"/>
              </a:rPr>
              <a:t>אותו רגע. מחשבה אחרת.</a:t>
            </a:r>
          </a:p>
        </p:txBody>
      </p:sp>
      <p:sp>
        <p:nvSpPr>
          <p:cNvPr id="6" name="Rounded Rectangle 5"/>
          <p:cNvSpPr/>
          <p:nvPr/>
        </p:nvSpPr>
        <p:spPr>
          <a:xfrm>
            <a:off x="9485376" y="2895600"/>
            <a:ext cx="1792224" cy="1600200"/>
          </a:xfrm>
          <a:prstGeom prst="roundRect">
            <a:avLst>
              <a:gd name="adj" fmla="val 14285"/>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800" b="1" lang="he-IL">
                <a:solidFill>
                  <a:srgbClr val="191A2E"/>
                </a:solidFill>
                <a:latin typeface="Heebo"/>
                <a:ea typeface="Heebo"/>
                <a:cs typeface="Heebo"/>
              </a:rPr>
              <a:t>”אני לא יודעת איך, עדיין“</a:t>
            </a:r>
          </a:p>
        </p:txBody>
      </p:sp>
      <p:sp>
        <p:nvSpPr>
          <p:cNvPr id="7" name="TextBox 6"/>
          <p:cNvSpPr txBox="1"/>
          <p:nvPr/>
        </p:nvSpPr>
        <p:spPr>
          <a:xfrm>
            <a:off x="9134856"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8" name="Rounded Rectangle 7"/>
          <p:cNvSpPr/>
          <p:nvPr/>
        </p:nvSpPr>
        <p:spPr>
          <a:xfrm>
            <a:off x="7342632" y="2895600"/>
            <a:ext cx="1792224" cy="1600200"/>
          </a:xfrm>
          <a:prstGeom prst="roundRect">
            <a:avLst>
              <a:gd name="adj" fmla="val 14285"/>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800" b="1" lang="he-IL">
                <a:solidFill>
                  <a:srgbClr val="191A2E"/>
                </a:solidFill>
                <a:latin typeface="Heebo"/>
                <a:ea typeface="Heebo"/>
                <a:cs typeface="Heebo"/>
              </a:rPr>
              <a:t>סקרנות</a:t>
            </a:r>
          </a:p>
        </p:txBody>
      </p:sp>
      <p:sp>
        <p:nvSpPr>
          <p:cNvPr id="9" name="TextBox 8"/>
          <p:cNvSpPr txBox="1"/>
          <p:nvPr/>
        </p:nvSpPr>
        <p:spPr>
          <a:xfrm>
            <a:off x="6992112"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10" name="Rounded Rectangle 9"/>
          <p:cNvSpPr/>
          <p:nvPr/>
        </p:nvSpPr>
        <p:spPr>
          <a:xfrm>
            <a:off x="5199888" y="2895600"/>
            <a:ext cx="1792224" cy="1600200"/>
          </a:xfrm>
          <a:prstGeom prst="roundRect">
            <a:avLst>
              <a:gd name="adj" fmla="val 14285"/>
            </a:avLst>
          </a:prstGeom>
          <a:solidFill>
            <a:srgbClr val="8C9E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800" b="1" lang="he-IL">
                <a:solidFill>
                  <a:srgbClr val="191A2E"/>
                </a:solidFill>
                <a:latin typeface="Heebo"/>
                <a:ea typeface="Heebo"/>
                <a:cs typeface="Heebo"/>
              </a:rPr>
              <a:t>צעד אחד קטן</a:t>
            </a:r>
          </a:p>
        </p:txBody>
      </p:sp>
      <p:sp>
        <p:nvSpPr>
          <p:cNvPr id="11" name="TextBox 10"/>
          <p:cNvSpPr txBox="1"/>
          <p:nvPr/>
        </p:nvSpPr>
        <p:spPr>
          <a:xfrm>
            <a:off x="4849368"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12" name="Rounded Rectangle 11"/>
          <p:cNvSpPr/>
          <p:nvPr/>
        </p:nvSpPr>
        <p:spPr>
          <a:xfrm>
            <a:off x="3057144" y="2895600"/>
            <a:ext cx="1792224" cy="1600200"/>
          </a:xfrm>
          <a:prstGeom prst="roundRect">
            <a:avLst>
              <a:gd name="adj" fmla="val 14285"/>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800" b="1" lang="he-IL">
                <a:solidFill>
                  <a:srgbClr val="191A2E"/>
                </a:solidFill>
                <a:latin typeface="Heebo"/>
                <a:ea typeface="Heebo"/>
                <a:cs typeface="Heebo"/>
              </a:rPr>
              <a:t>תוצאה קטנה</a:t>
            </a:r>
          </a:p>
        </p:txBody>
      </p:sp>
      <p:sp>
        <p:nvSpPr>
          <p:cNvPr id="13" name="TextBox 12"/>
          <p:cNvSpPr txBox="1"/>
          <p:nvPr/>
        </p:nvSpPr>
        <p:spPr>
          <a:xfrm>
            <a:off x="2706624"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14" name="Rounded Rectangle 13"/>
          <p:cNvSpPr/>
          <p:nvPr/>
        </p:nvSpPr>
        <p:spPr>
          <a:xfrm>
            <a:off x="914400" y="2895600"/>
            <a:ext cx="1792224" cy="1600200"/>
          </a:xfrm>
          <a:prstGeom prst="roundRect">
            <a:avLst>
              <a:gd name="adj" fmla="val 14285"/>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800" b="1" lang="he-IL">
                <a:solidFill>
                  <a:srgbClr val="191A2E"/>
                </a:solidFill>
                <a:latin typeface="Heebo"/>
                <a:ea typeface="Heebo"/>
                <a:cs typeface="Heebo"/>
              </a:rPr>
              <a:t>”אני יכולה“</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31</a:t>
            </a:r>
          </a:p>
        </p:txBody>
      </p:sp>
      <p:pic>
        <p:nvPicPr>
          <p:cNvPr id="4" name="Picture 3" descr="s26_scale.jpg"/>
          <p:cNvPicPr>
            <a:picLocks noChangeAspect="1"/>
          </p:cNvPicPr>
          <p:nvPr/>
        </p:nvPicPr>
        <p:blipFill>
          <a:blip r:embed="rId3"/>
          <a:stretch>
            <a:fillRect/>
          </a:stretch>
        </p:blipFill>
        <p:spPr>
          <a:xfrm>
            <a:off x="914400" y="1295400"/>
            <a:ext cx="3810000" cy="3810000"/>
          </a:xfrm>
          <a:prstGeom prst="roundRect">
            <a:avLst>
              <a:gd name="adj" fmla="val 8000"/>
            </a:avLst>
          </a:prstGeom>
        </p:spPr>
      </p:pic>
      <p:sp>
        <p:nvSpPr>
          <p:cNvPr id="5" name="TextBox 4"/>
          <p:cNvSpPr txBox="1"/>
          <p:nvPr/>
        </p:nvSpPr>
        <p:spPr>
          <a:xfrm>
            <a:off x="5334000" y="1795272"/>
            <a:ext cx="59436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כלי 2 · סולם התודעה</a:t>
            </a:r>
          </a:p>
        </p:txBody>
      </p:sp>
      <p:sp>
        <p:nvSpPr>
          <p:cNvPr id="6" name="TextBox 5"/>
          <p:cNvSpPr txBox="1"/>
          <p:nvPr/>
        </p:nvSpPr>
        <p:spPr>
          <a:xfrm>
            <a:off x="5334000" y="2252472"/>
            <a:ext cx="5943600" cy="1133856"/>
          </a:xfrm>
          <a:prstGeom prst="rect">
            <a:avLst/>
          </a:prstGeom>
          <a:noFill/>
        </p:spPr>
        <p:txBody>
          <a:bodyPr wrap="square" lIns="0" rIns="0" tIns="0" bIns="0" anchor="t">
            <a:spAutoFit/>
          </a:bodyPr>
          <a:lstStyle/>
          <a:p>
            <a:pPr algn="r" rtl="1">
              <a:lnSpc>
                <a:spcPct val="110000"/>
              </a:lnSpc>
            </a:pPr>
            <a:r>
              <a:rPr sz="3360" b="1" lang="he-IL">
                <a:solidFill>
                  <a:srgbClr val="191A2E"/>
                </a:solidFill>
                <a:latin typeface="Heebo"/>
                <a:ea typeface="Heebo"/>
                <a:cs typeface="Heebo"/>
              </a:rPr>
              <a:t>יש רגעים שאת יכולה הכל.</a:t>
            </a:r>
          </a:p>
          <a:p>
            <a:pPr algn="r" rtl="1">
              <a:lnSpc>
                <a:spcPct val="110000"/>
              </a:lnSpc>
            </a:pPr>
            <a:r>
              <a:rPr sz="3360" b="1" lang="he-IL">
                <a:solidFill>
                  <a:srgbClr val="EF55A5"/>
                </a:solidFill>
                <a:latin typeface="Heebo"/>
                <a:ea typeface="Heebo"/>
                <a:cs typeface="Heebo"/>
              </a:rPr>
              <a:t>ויש רגעים שאין סיכוי.</a:t>
            </a:r>
          </a:p>
        </p:txBody>
      </p:sp>
      <p:sp>
        <p:nvSpPr>
          <p:cNvPr id="7" name="TextBox 6"/>
          <p:cNvSpPr txBox="1"/>
          <p:nvPr/>
        </p:nvSpPr>
        <p:spPr>
          <a:xfrm>
            <a:off x="5334000" y="3538728"/>
            <a:ext cx="59436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את לא משוגעת. זה קורה לכולן.</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32</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מתוך "עוצמה מול כוח", דיוויד הוקינס</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5000"/>
              </a:lnSpc>
            </a:pPr>
            <a:r>
              <a:rPr sz="3960" b="1" lang="he-IL">
                <a:solidFill>
                  <a:srgbClr val="191A2E"/>
                </a:solidFill>
                <a:latin typeface="Heebo"/>
                <a:ea typeface="Heebo"/>
                <a:cs typeface="Heebo"/>
              </a:rPr>
              <a:t>סולם התודעה</a:t>
            </a:r>
          </a:p>
        </p:txBody>
      </p:sp>
      <p:sp>
        <p:nvSpPr>
          <p:cNvPr id="6" name="Rounded Rectangle 5"/>
          <p:cNvSpPr/>
          <p:nvPr/>
        </p:nvSpPr>
        <p:spPr>
          <a:xfrm>
            <a:off x="9936480" y="5105400"/>
            <a:ext cx="1341120" cy="914400"/>
          </a:xfrm>
          <a:prstGeom prst="roundRect">
            <a:avLst>
              <a:gd name="adj" fmla="val 1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76200" rIns="76200" tIns="152400" bIns="0"/>
          <a:lstStyle/>
          <a:p>
            <a:pPr algn="ctr" rtl="1">
              <a:lnSpc>
                <a:spcPct val="115000"/>
              </a:lnSpc>
            </a:pPr>
            <a:r>
              <a:rPr sz="1439" b="1" lang="he-IL">
                <a:solidFill>
                  <a:srgbClr val="6B6B7B"/>
                </a:solidFill>
                <a:latin typeface="Heebo"/>
                <a:ea typeface="Heebo"/>
                <a:cs typeface="Heebo"/>
              </a:rPr>
              <a:t>בושה · אשמה</a:t>
            </a:r>
          </a:p>
        </p:txBody>
      </p:sp>
      <p:sp>
        <p:nvSpPr>
          <p:cNvPr id="7" name="Rounded Rectangle 6"/>
          <p:cNvSpPr/>
          <p:nvPr/>
        </p:nvSpPr>
        <p:spPr>
          <a:xfrm>
            <a:off x="8427720" y="4632960"/>
            <a:ext cx="1341120" cy="1386840"/>
          </a:xfrm>
          <a:prstGeom prst="roundRect">
            <a:avLst>
              <a:gd name="adj" fmla="val 1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76200" rIns="76200" tIns="152400" bIns="0"/>
          <a:lstStyle/>
          <a:p>
            <a:pPr algn="ctr" rtl="1">
              <a:lnSpc>
                <a:spcPct val="115000"/>
              </a:lnSpc>
            </a:pPr>
            <a:r>
              <a:rPr sz="1439" b="1" lang="he-IL">
                <a:solidFill>
                  <a:srgbClr val="6B6B7B"/>
                </a:solidFill>
                <a:latin typeface="Heebo"/>
                <a:ea typeface="Heebo"/>
                <a:cs typeface="Heebo"/>
              </a:rPr>
              <a:t>פחד · ספק</a:t>
            </a:r>
          </a:p>
        </p:txBody>
      </p:sp>
      <p:sp>
        <p:nvSpPr>
          <p:cNvPr id="8" name="Rounded Rectangle 7"/>
          <p:cNvSpPr/>
          <p:nvPr/>
        </p:nvSpPr>
        <p:spPr>
          <a:xfrm>
            <a:off x="6918960" y="4160520"/>
            <a:ext cx="1341120" cy="1859280"/>
          </a:xfrm>
          <a:prstGeom prst="roundRect">
            <a:avLst>
              <a:gd name="adj" fmla="val 10000"/>
            </a:avLst>
          </a:prstGeom>
          <a:solidFill>
            <a:srgbClr val="ECE7DF"/>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76200" rIns="76200" tIns="152400" bIns="0"/>
          <a:lstStyle/>
          <a:p>
            <a:pPr algn="ctr" rtl="1">
              <a:lnSpc>
                <a:spcPct val="115000"/>
              </a:lnSpc>
            </a:pPr>
            <a:r>
              <a:rPr sz="1439" b="1" lang="he-IL">
                <a:solidFill>
                  <a:srgbClr val="6B6B7B"/>
                </a:solidFill>
                <a:latin typeface="Heebo"/>
                <a:ea typeface="Heebo"/>
                <a:cs typeface="Heebo"/>
              </a:rPr>
              <a:t>כעס · קורבנות</a:t>
            </a:r>
          </a:p>
        </p:txBody>
      </p:sp>
      <p:sp>
        <p:nvSpPr>
          <p:cNvPr id="9" name="Rounded Rectangle 8"/>
          <p:cNvSpPr/>
          <p:nvPr/>
        </p:nvSpPr>
        <p:spPr>
          <a:xfrm>
            <a:off x="5410200" y="3688080"/>
            <a:ext cx="1341120" cy="2331720"/>
          </a:xfrm>
          <a:prstGeom prst="roundRect">
            <a:avLst>
              <a:gd name="adj" fmla="val 10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76200" rIns="76200" tIns="152400" bIns="0"/>
          <a:lstStyle/>
          <a:p>
            <a:pPr algn="ctr" rtl="1">
              <a:lnSpc>
                <a:spcPct val="115000"/>
              </a:lnSpc>
            </a:pPr>
            <a:r>
              <a:rPr sz="1439" b="1" lang="he-IL">
                <a:solidFill>
                  <a:srgbClr val="191A2E"/>
                </a:solidFill>
                <a:latin typeface="Heebo"/>
                <a:ea typeface="Heebo"/>
                <a:cs typeface="Heebo"/>
              </a:rPr>
              <a:t>אומץ</a:t>
            </a:r>
          </a:p>
        </p:txBody>
      </p:sp>
      <p:sp>
        <p:nvSpPr>
          <p:cNvPr id="10" name="Rounded Rectangle 9"/>
          <p:cNvSpPr/>
          <p:nvPr/>
        </p:nvSpPr>
        <p:spPr>
          <a:xfrm>
            <a:off x="3901440" y="3215640"/>
            <a:ext cx="1341120" cy="2804160"/>
          </a:xfrm>
          <a:prstGeom prst="roundRect">
            <a:avLst>
              <a:gd name="adj" fmla="val 10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76200" rIns="76200" tIns="152400" bIns="0"/>
          <a:lstStyle/>
          <a:p>
            <a:pPr algn="ctr" rtl="1">
              <a:lnSpc>
                <a:spcPct val="115000"/>
              </a:lnSpc>
            </a:pPr>
            <a:r>
              <a:rPr sz="1439" b="1" lang="he-IL">
                <a:solidFill>
                  <a:srgbClr val="191A2E"/>
                </a:solidFill>
                <a:latin typeface="Heebo"/>
                <a:ea typeface="Heebo"/>
                <a:cs typeface="Heebo"/>
              </a:rPr>
              <a:t>קבלה · אהבה</a:t>
            </a:r>
          </a:p>
        </p:txBody>
      </p:sp>
      <p:sp>
        <p:nvSpPr>
          <p:cNvPr id="11" name="Rounded Rectangle 10"/>
          <p:cNvSpPr/>
          <p:nvPr/>
        </p:nvSpPr>
        <p:spPr>
          <a:xfrm>
            <a:off x="2392680" y="2743200"/>
            <a:ext cx="1341120" cy="3276600"/>
          </a:xfrm>
          <a:prstGeom prst="roundRect">
            <a:avLst>
              <a:gd name="adj" fmla="val 10000"/>
            </a:avLst>
          </a:prstGeom>
          <a:solidFill>
            <a:srgbClr val="8C9EFF"/>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76200" rIns="76200" tIns="152400" bIns="0"/>
          <a:lstStyle/>
          <a:p>
            <a:pPr algn="ctr" rtl="1">
              <a:lnSpc>
                <a:spcPct val="115000"/>
              </a:lnSpc>
            </a:pPr>
            <a:r>
              <a:rPr sz="1439" b="1" lang="he-IL">
                <a:solidFill>
                  <a:srgbClr val="191A2E"/>
                </a:solidFill>
                <a:latin typeface="Heebo"/>
                <a:ea typeface="Heebo"/>
                <a:cs typeface="Heebo"/>
              </a:rPr>
              <a:t>שמחה · הכרת תודה</a:t>
            </a:r>
          </a:p>
        </p:txBody>
      </p:sp>
      <p:sp>
        <p:nvSpPr>
          <p:cNvPr id="12" name="Rounded Rectangle 11"/>
          <p:cNvSpPr/>
          <p:nvPr/>
        </p:nvSpPr>
        <p:spPr>
          <a:xfrm>
            <a:off x="883920" y="2270760"/>
            <a:ext cx="1341120" cy="3749040"/>
          </a:xfrm>
          <a:prstGeom prst="roundRect">
            <a:avLst>
              <a:gd name="adj" fmla="val 10000"/>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76200" rIns="76200" tIns="152400" bIns="0"/>
          <a:lstStyle/>
          <a:p>
            <a:pPr algn="ctr" rtl="1">
              <a:lnSpc>
                <a:spcPct val="115000"/>
              </a:lnSpc>
            </a:pPr>
            <a:r>
              <a:rPr sz="1439" b="1" lang="he-IL">
                <a:solidFill>
                  <a:srgbClr val="191A2E"/>
                </a:solidFill>
                <a:latin typeface="Heebo"/>
                <a:ea typeface="Heebo"/>
                <a:cs typeface="Heebo"/>
              </a:rPr>
              <a:t>שלווה</a:t>
            </a:r>
          </a:p>
        </p:txBody>
      </p:sp>
      <p:sp>
        <p:nvSpPr>
          <p:cNvPr id="13" name="TextBox 12"/>
          <p:cNvSpPr txBox="1"/>
          <p:nvPr/>
        </p:nvSpPr>
        <p:spPr>
          <a:xfrm>
            <a:off x="6248400" y="2057400"/>
            <a:ext cx="5029200" cy="457200"/>
          </a:xfrm>
          <a:prstGeom prst="rect">
            <a:avLst/>
          </a:prstGeom>
          <a:noFill/>
        </p:spPr>
        <p:txBody>
          <a:bodyPr wrap="square" lIns="0" rIns="0" tIns="0" bIns="0" anchor="t">
            <a:spAutoFit/>
          </a:bodyPr>
          <a:lstStyle/>
          <a:p>
            <a:pPr algn="r" rtl="1">
              <a:lnSpc>
                <a:spcPct val="115000"/>
              </a:lnSpc>
            </a:pPr>
            <a:r>
              <a:rPr sz="2039" b="1" lang="he-IL">
                <a:solidFill>
                  <a:srgbClr val="EF55A5"/>
                </a:solidFill>
                <a:latin typeface="Heebo"/>
                <a:ea typeface="Heebo"/>
                <a:cs typeface="Heebo"/>
              </a:rPr>
              <a:t>נקודת המפנה: אומץ</a:t>
            </a:r>
          </a:p>
        </p:txBody>
      </p:sp>
      <p:sp>
        <p:nvSpPr>
          <p:cNvPr id="14" name="TextBox 13"/>
          <p:cNvSpPr txBox="1"/>
          <p:nvPr/>
        </p:nvSpPr>
        <p:spPr>
          <a:xfrm>
            <a:off x="6248400" y="2476500"/>
            <a:ext cx="5029200" cy="914400"/>
          </a:xfrm>
          <a:prstGeom prst="rect">
            <a:avLst/>
          </a:prstGeom>
          <a:noFill/>
        </p:spPr>
        <p:txBody>
          <a:bodyPr wrap="square" lIns="0" rIns="0" tIns="0" bIns="0" anchor="t">
            <a:spAutoFit/>
          </a:bodyPr>
          <a:lstStyle/>
          <a:p>
            <a:pPr algn="r" rtl="1">
              <a:lnSpc>
                <a:spcPct val="140000"/>
              </a:lnSpc>
            </a:pPr>
            <a:r>
              <a:rPr sz="1680" b="0" lang="he-IL">
                <a:solidFill>
                  <a:srgbClr val="6B6B7B"/>
                </a:solidFill>
                <a:latin typeface="Heebo"/>
                <a:ea typeface="Heebo"/>
                <a:cs typeface="Heebo"/>
              </a:rPr>
              <a:t>מתחתיו אנרגיה שלוקחת. מעליו אנרגיה שבונה.</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33</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סולם התודעה</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איך משתמשים בסולם</a:t>
            </a:r>
          </a:p>
        </p:txBody>
      </p:sp>
      <p:sp>
        <p:nvSpPr>
          <p:cNvPr id="6" name="Oval 5"/>
          <p:cNvSpPr/>
          <p:nvPr/>
        </p:nvSpPr>
        <p:spPr>
          <a:xfrm>
            <a:off x="10850880" y="22860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1</a:t>
            </a:r>
          </a:p>
        </p:txBody>
      </p:sp>
      <p:sp>
        <p:nvSpPr>
          <p:cNvPr id="7" name="TextBox 6"/>
          <p:cNvSpPr txBox="1"/>
          <p:nvPr/>
        </p:nvSpPr>
        <p:spPr>
          <a:xfrm>
            <a:off x="914400" y="2301240"/>
            <a:ext cx="9723120" cy="74295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מודעות: איפה אני עכשיו?</a:t>
            </a:r>
          </a:p>
        </p:txBody>
      </p:sp>
      <p:sp>
        <p:nvSpPr>
          <p:cNvPr id="8" name="Oval 7"/>
          <p:cNvSpPr/>
          <p:nvPr/>
        </p:nvSpPr>
        <p:spPr>
          <a:xfrm>
            <a:off x="10850880" y="302895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2</a:t>
            </a:r>
          </a:p>
        </p:txBody>
      </p:sp>
      <p:sp>
        <p:nvSpPr>
          <p:cNvPr id="9" name="TextBox 8"/>
          <p:cNvSpPr txBox="1"/>
          <p:nvPr/>
        </p:nvSpPr>
        <p:spPr>
          <a:xfrm>
            <a:off x="914400" y="3044190"/>
            <a:ext cx="9723120" cy="74295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למעלה? פועלות!</a:t>
            </a:r>
          </a:p>
        </p:txBody>
      </p:sp>
      <p:sp>
        <p:nvSpPr>
          <p:cNvPr id="10" name="Oval 9"/>
          <p:cNvSpPr/>
          <p:nvPr/>
        </p:nvSpPr>
        <p:spPr>
          <a:xfrm>
            <a:off x="10850880" y="37719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3</a:t>
            </a:r>
          </a:p>
        </p:txBody>
      </p:sp>
      <p:sp>
        <p:nvSpPr>
          <p:cNvPr id="11" name="TextBox 10"/>
          <p:cNvSpPr txBox="1"/>
          <p:nvPr/>
        </p:nvSpPr>
        <p:spPr>
          <a:xfrm>
            <a:off x="914400" y="3787140"/>
            <a:ext cx="9723120" cy="74295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למטה? עוצרות. לא מקבלות החלטות.</a:t>
            </a:r>
          </a:p>
        </p:txBody>
      </p:sp>
      <p:sp>
        <p:nvSpPr>
          <p:cNvPr id="12" name="Oval 11"/>
          <p:cNvSpPr/>
          <p:nvPr/>
        </p:nvSpPr>
        <p:spPr>
          <a:xfrm>
            <a:off x="10850880" y="451485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4</a:t>
            </a:r>
          </a:p>
        </p:txBody>
      </p:sp>
      <p:sp>
        <p:nvSpPr>
          <p:cNvPr id="13" name="TextBox 12"/>
          <p:cNvSpPr txBox="1"/>
          <p:nvPr/>
        </p:nvSpPr>
        <p:spPr>
          <a:xfrm>
            <a:off x="914400" y="4530090"/>
            <a:ext cx="9723120" cy="74295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מעלות תדר: מנוחה, שיר, ספורט, חברה, מחשבה אחרת</a:t>
            </a:r>
          </a:p>
        </p:txBody>
      </p:sp>
      <p:sp>
        <p:nvSpPr>
          <p:cNvPr id="14" name="TextBox 13"/>
          <p:cNvSpPr txBox="1"/>
          <p:nvPr/>
        </p:nvSpPr>
        <p:spPr>
          <a:xfrm>
            <a:off x="914400" y="55626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לא מקבלים החלטה על כסף מתוך פחד.</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34</a:t>
            </a:r>
          </a:p>
        </p:txBody>
      </p:sp>
      <p:sp>
        <p:nvSpPr>
          <p:cNvPr id="4" name="Rounded Rectangle 3"/>
          <p:cNvSpPr/>
          <p:nvPr/>
        </p:nvSpPr>
        <p:spPr>
          <a:xfrm>
            <a:off x="914400" y="1905000"/>
            <a:ext cx="10363200" cy="2895600"/>
          </a:xfrm>
          <a:prstGeom prst="roundRect">
            <a:avLst>
              <a:gd name="adj" fmla="val 9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463040" y="2438400"/>
            <a:ext cx="92659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בצ'אט</a:t>
            </a:r>
          </a:p>
        </p:txBody>
      </p:sp>
      <p:sp>
        <p:nvSpPr>
          <p:cNvPr id="6" name="TextBox 5"/>
          <p:cNvSpPr txBox="1"/>
          <p:nvPr/>
        </p:nvSpPr>
        <p:spPr>
          <a:xfrm>
            <a:off x="1463040" y="2834640"/>
            <a:ext cx="9265920" cy="1752600"/>
          </a:xfrm>
          <a:prstGeom prst="rect">
            <a:avLst/>
          </a:prstGeom>
          <a:noFill/>
        </p:spPr>
        <p:txBody>
          <a:bodyPr wrap="square" lIns="0" rIns="0" tIns="0" bIns="0" anchor="t">
            <a:spAutoFit/>
          </a:bodyPr>
          <a:lstStyle/>
          <a:p>
            <a:pPr algn="r" rtl="1">
              <a:lnSpc>
                <a:spcPct val="115000"/>
              </a:lnSpc>
            </a:pPr>
            <a:r>
              <a:rPr sz="4440" b="1" lang="he-IL">
                <a:solidFill>
                  <a:srgbClr val="191A2E"/>
                </a:solidFill>
                <a:latin typeface="Heebo"/>
                <a:ea typeface="Heebo"/>
                <a:cs typeface="Heebo"/>
              </a:rPr>
              <a:t>איפה את על הסולם, עכשיו, ברגע הזה?</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35</a:t>
            </a:r>
          </a:p>
        </p:txBody>
      </p:sp>
      <p:sp>
        <p:nvSpPr>
          <p:cNvPr id="4" name="TextBox 3"/>
          <p:cNvSpPr txBox="1"/>
          <p:nvPr/>
        </p:nvSpPr>
        <p:spPr>
          <a:xfrm>
            <a:off x="914400" y="838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3 סוגי תודעה</a:t>
            </a:r>
          </a:p>
        </p:txBody>
      </p:sp>
      <p:sp>
        <p:nvSpPr>
          <p:cNvPr id="5" name="Rounded Rectangle 4"/>
          <p:cNvSpPr/>
          <p:nvPr/>
        </p:nvSpPr>
        <p:spPr>
          <a:xfrm>
            <a:off x="7965440" y="2324100"/>
            <a:ext cx="3312160" cy="3048000"/>
          </a:xfrm>
          <a:prstGeom prst="roundRect">
            <a:avLst>
              <a:gd name="adj" fmla="val 8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8239760" y="2628900"/>
            <a:ext cx="2763520" cy="838200"/>
          </a:xfrm>
          <a:prstGeom prst="rect">
            <a:avLst/>
          </a:prstGeom>
          <a:noFill/>
        </p:spPr>
        <p:txBody>
          <a:bodyPr wrap="square" lIns="0" rIns="0" tIns="0" bIns="0" anchor="t">
            <a:spAutoFit/>
          </a:bodyPr>
          <a:lstStyle/>
          <a:p>
            <a:pPr algn="r" rtl="1">
              <a:lnSpc>
                <a:spcPct val="110000"/>
              </a:lnSpc>
            </a:pPr>
            <a:r>
              <a:rPr sz="2760" b="1" lang="he-IL">
                <a:solidFill>
                  <a:srgbClr val="191A2E"/>
                </a:solidFill>
                <a:latin typeface="Heebo"/>
                <a:ea typeface="Heebo"/>
                <a:cs typeface="Heebo"/>
              </a:rPr>
              <a:t>הישרדותית</a:t>
            </a:r>
          </a:p>
        </p:txBody>
      </p:sp>
      <p:sp>
        <p:nvSpPr>
          <p:cNvPr id="7" name="TextBox 6"/>
          <p:cNvSpPr txBox="1"/>
          <p:nvPr/>
        </p:nvSpPr>
        <p:spPr>
          <a:xfrm>
            <a:off x="8239760" y="3238500"/>
            <a:ext cx="2763520" cy="1905000"/>
          </a:xfrm>
          <a:prstGeom prst="rect">
            <a:avLst/>
          </a:prstGeom>
          <a:noFill/>
        </p:spPr>
        <p:txBody>
          <a:bodyPr wrap="square" lIns="0" rIns="0" tIns="0" bIns="0" anchor="t">
            <a:spAutoFit/>
          </a:bodyPr>
          <a:lstStyle/>
          <a:p>
            <a:pPr algn="r" rtl="1">
              <a:lnSpc>
                <a:spcPct val="140000"/>
              </a:lnSpc>
            </a:pPr>
            <a:r>
              <a:rPr sz="1920" b="0" lang="he-IL">
                <a:solidFill>
                  <a:srgbClr val="191A2E"/>
                </a:solidFill>
                <a:latin typeface="Heebo"/>
                <a:ea typeface="Heebo"/>
                <a:cs typeface="Heebo"/>
              </a:rPr>
              <a:t>”רק לגמור את החודש“</a:t>
            </a:r>
          </a:p>
        </p:txBody>
      </p:sp>
      <p:sp>
        <p:nvSpPr>
          <p:cNvPr id="8" name="Rounded Rectangle 7"/>
          <p:cNvSpPr/>
          <p:nvPr/>
        </p:nvSpPr>
        <p:spPr>
          <a:xfrm>
            <a:off x="4439920" y="2324100"/>
            <a:ext cx="3312160" cy="30480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14240" y="2628900"/>
            <a:ext cx="2763520" cy="838200"/>
          </a:xfrm>
          <a:prstGeom prst="rect">
            <a:avLst/>
          </a:prstGeom>
          <a:noFill/>
        </p:spPr>
        <p:txBody>
          <a:bodyPr wrap="square" lIns="0" rIns="0" tIns="0" bIns="0" anchor="t">
            <a:spAutoFit/>
          </a:bodyPr>
          <a:lstStyle/>
          <a:p>
            <a:pPr algn="r" rtl="1">
              <a:lnSpc>
                <a:spcPct val="110000"/>
              </a:lnSpc>
            </a:pPr>
            <a:r>
              <a:rPr sz="2760" b="1" lang="he-IL">
                <a:solidFill>
                  <a:srgbClr val="191A2E"/>
                </a:solidFill>
                <a:latin typeface="Heebo"/>
                <a:ea typeface="Heebo"/>
                <a:cs typeface="Heebo"/>
              </a:rPr>
              <a:t>תגובתית</a:t>
            </a:r>
          </a:p>
        </p:txBody>
      </p:sp>
      <p:sp>
        <p:nvSpPr>
          <p:cNvPr id="10" name="TextBox 9"/>
          <p:cNvSpPr txBox="1"/>
          <p:nvPr/>
        </p:nvSpPr>
        <p:spPr>
          <a:xfrm>
            <a:off x="4714240" y="3238500"/>
            <a:ext cx="2763520" cy="1905000"/>
          </a:xfrm>
          <a:prstGeom prst="rect">
            <a:avLst/>
          </a:prstGeom>
          <a:noFill/>
        </p:spPr>
        <p:txBody>
          <a:bodyPr wrap="square" lIns="0" rIns="0" tIns="0" bIns="0" anchor="t">
            <a:spAutoFit/>
          </a:bodyPr>
          <a:lstStyle/>
          <a:p>
            <a:pPr algn="r" rtl="1">
              <a:lnSpc>
                <a:spcPct val="140000"/>
              </a:lnSpc>
            </a:pPr>
            <a:r>
              <a:rPr sz="1920" b="0" lang="he-IL">
                <a:solidFill>
                  <a:srgbClr val="191A2E"/>
                </a:solidFill>
                <a:latin typeface="Heebo"/>
                <a:ea typeface="Heebo"/>
                <a:cs typeface="Heebo"/>
              </a:rPr>
              <a:t>”נחכה לראות מה יקרה“</a:t>
            </a:r>
          </a:p>
        </p:txBody>
      </p:sp>
      <p:sp>
        <p:nvSpPr>
          <p:cNvPr id="11" name="Rounded Rectangle 10"/>
          <p:cNvSpPr/>
          <p:nvPr/>
        </p:nvSpPr>
        <p:spPr>
          <a:xfrm>
            <a:off x="914400" y="2324100"/>
            <a:ext cx="3312160" cy="3048000"/>
          </a:xfrm>
          <a:prstGeom prst="roundRect">
            <a:avLst>
              <a:gd name="adj" fmla="val 8000"/>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188720" y="2628900"/>
            <a:ext cx="2763520" cy="838200"/>
          </a:xfrm>
          <a:prstGeom prst="rect">
            <a:avLst/>
          </a:prstGeom>
          <a:noFill/>
        </p:spPr>
        <p:txBody>
          <a:bodyPr wrap="square" lIns="0" rIns="0" tIns="0" bIns="0" anchor="t">
            <a:spAutoFit/>
          </a:bodyPr>
          <a:lstStyle/>
          <a:p>
            <a:pPr algn="r" rtl="1">
              <a:lnSpc>
                <a:spcPct val="110000"/>
              </a:lnSpc>
            </a:pPr>
            <a:r>
              <a:rPr sz="2760" b="1" lang="he-IL">
                <a:solidFill>
                  <a:srgbClr val="191A2E"/>
                </a:solidFill>
                <a:latin typeface="Heebo"/>
                <a:ea typeface="Heebo"/>
                <a:cs typeface="Heebo"/>
              </a:rPr>
              <a:t>יזמית</a:t>
            </a:r>
          </a:p>
        </p:txBody>
      </p:sp>
      <p:sp>
        <p:nvSpPr>
          <p:cNvPr id="13" name="TextBox 12"/>
          <p:cNvSpPr txBox="1"/>
          <p:nvPr/>
        </p:nvSpPr>
        <p:spPr>
          <a:xfrm>
            <a:off x="1188720" y="3238500"/>
            <a:ext cx="2763520" cy="1905000"/>
          </a:xfrm>
          <a:prstGeom prst="rect">
            <a:avLst/>
          </a:prstGeom>
          <a:noFill/>
        </p:spPr>
        <p:txBody>
          <a:bodyPr wrap="square" lIns="0" rIns="0" tIns="0" bIns="0" anchor="t">
            <a:spAutoFit/>
          </a:bodyPr>
          <a:lstStyle/>
          <a:p>
            <a:pPr algn="r" rtl="1">
              <a:lnSpc>
                <a:spcPct val="140000"/>
              </a:lnSpc>
            </a:pPr>
            <a:r>
              <a:rPr sz="1920" b="0" lang="he-IL">
                <a:solidFill>
                  <a:srgbClr val="191A2E"/>
                </a:solidFill>
                <a:latin typeface="Heebo"/>
                <a:ea typeface="Heebo"/>
                <a:cs typeface="Heebo"/>
              </a:rPr>
              <a:t>”זו המטרה שלי, עכשיו אבנה את הדרך אליה“</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36</a:t>
            </a:r>
          </a:p>
        </p:txBody>
      </p:sp>
      <p:sp>
        <p:nvSpPr>
          <p:cNvPr id="4" name="Rounded Rectangle 3"/>
          <p:cNvSpPr/>
          <p:nvPr/>
        </p:nvSpPr>
        <p:spPr>
          <a:xfrm>
            <a:off x="914400" y="1905000"/>
            <a:ext cx="10363200" cy="2895600"/>
          </a:xfrm>
          <a:prstGeom prst="roundRect">
            <a:avLst>
              <a:gd name="adj" fmla="val 9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463040" y="2438400"/>
            <a:ext cx="92659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בצ'אט: מספר. 1, 2 או 3.</a:t>
            </a:r>
          </a:p>
        </p:txBody>
      </p:sp>
      <p:sp>
        <p:nvSpPr>
          <p:cNvPr id="6" name="TextBox 5"/>
          <p:cNvSpPr txBox="1"/>
          <p:nvPr/>
        </p:nvSpPr>
        <p:spPr>
          <a:xfrm>
            <a:off x="1463040" y="2834640"/>
            <a:ext cx="9265920" cy="1752600"/>
          </a:xfrm>
          <a:prstGeom prst="rect">
            <a:avLst/>
          </a:prstGeom>
          <a:noFill/>
        </p:spPr>
        <p:txBody>
          <a:bodyPr wrap="square" lIns="0" rIns="0" tIns="0" bIns="0" anchor="t">
            <a:spAutoFit/>
          </a:bodyPr>
          <a:lstStyle/>
          <a:p>
            <a:pPr algn="r" rtl="1">
              <a:lnSpc>
                <a:spcPct val="115000"/>
              </a:lnSpc>
            </a:pPr>
            <a:r>
              <a:rPr sz="4440" b="1" lang="he-IL">
                <a:solidFill>
                  <a:srgbClr val="191A2E"/>
                </a:solidFill>
                <a:latin typeface="Heebo"/>
                <a:ea typeface="Heebo"/>
                <a:cs typeface="Heebo"/>
              </a:rPr>
              <a:t>איפה את, עם הכסף, רוב הזמן?</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37</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כלי 3 · ניפוץ אמונות מגבילות</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4 אמונות החוסר</a:t>
            </a:r>
          </a:p>
        </p:txBody>
      </p:sp>
      <p:sp>
        <p:nvSpPr>
          <p:cNvPr id="6" name="Oval 5"/>
          <p:cNvSpPr/>
          <p:nvPr/>
        </p:nvSpPr>
        <p:spPr>
          <a:xfrm>
            <a:off x="10850880" y="22860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1</a:t>
            </a:r>
          </a:p>
        </p:txBody>
      </p:sp>
      <p:sp>
        <p:nvSpPr>
          <p:cNvPr id="7" name="TextBox 6"/>
          <p:cNvSpPr txBox="1"/>
          <p:nvPr/>
        </p:nvSpPr>
        <p:spPr>
          <a:xfrm>
            <a:off x="914400" y="2301240"/>
            <a:ext cx="9723120" cy="876300"/>
          </a:xfrm>
          <a:prstGeom prst="rect">
            <a:avLst/>
          </a:prstGeom>
          <a:noFill/>
        </p:spPr>
        <p:txBody>
          <a:bodyPr wrap="square" lIns="0" rIns="0" tIns="0" bIns="0" anchor="t">
            <a:spAutoFit/>
          </a:bodyPr>
          <a:lstStyle/>
          <a:p>
            <a:pPr algn="r" rtl="1">
              <a:lnSpc>
                <a:spcPct val="130000"/>
              </a:lnSpc>
            </a:pPr>
            <a:r>
              <a:rPr sz="2520" b="0" lang="he-IL">
                <a:solidFill>
                  <a:srgbClr val="191A2E"/>
                </a:solidFill>
                <a:latin typeface="Heebo"/>
                <a:ea typeface="Heebo"/>
                <a:cs typeface="Heebo"/>
              </a:rPr>
              <a:t>”אין מספיק כסף“</a:t>
            </a:r>
          </a:p>
        </p:txBody>
      </p:sp>
      <p:sp>
        <p:nvSpPr>
          <p:cNvPr id="8" name="Oval 7"/>
          <p:cNvSpPr/>
          <p:nvPr/>
        </p:nvSpPr>
        <p:spPr>
          <a:xfrm>
            <a:off x="10850880" y="31623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2</a:t>
            </a:r>
          </a:p>
        </p:txBody>
      </p:sp>
      <p:sp>
        <p:nvSpPr>
          <p:cNvPr id="9" name="TextBox 8"/>
          <p:cNvSpPr txBox="1"/>
          <p:nvPr/>
        </p:nvSpPr>
        <p:spPr>
          <a:xfrm>
            <a:off x="914400" y="3177540"/>
            <a:ext cx="9723120" cy="876300"/>
          </a:xfrm>
          <a:prstGeom prst="rect">
            <a:avLst/>
          </a:prstGeom>
          <a:noFill/>
        </p:spPr>
        <p:txBody>
          <a:bodyPr wrap="square" lIns="0" rIns="0" tIns="0" bIns="0" anchor="t">
            <a:spAutoFit/>
          </a:bodyPr>
          <a:lstStyle/>
          <a:p>
            <a:pPr algn="r" rtl="1">
              <a:lnSpc>
                <a:spcPct val="130000"/>
              </a:lnSpc>
            </a:pPr>
            <a:r>
              <a:rPr sz="2520" b="0" lang="he-IL">
                <a:solidFill>
                  <a:srgbClr val="191A2E"/>
                </a:solidFill>
                <a:latin typeface="Heebo"/>
                <a:ea typeface="Heebo"/>
                <a:cs typeface="Heebo"/>
              </a:rPr>
              <a:t>”זה לא בסדר להרוויח שפע של כסף“</a:t>
            </a:r>
          </a:p>
        </p:txBody>
      </p:sp>
      <p:sp>
        <p:nvSpPr>
          <p:cNvPr id="10" name="Oval 9"/>
          <p:cNvSpPr/>
          <p:nvPr/>
        </p:nvSpPr>
        <p:spPr>
          <a:xfrm>
            <a:off x="10850880" y="40386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3</a:t>
            </a:r>
          </a:p>
        </p:txBody>
      </p:sp>
      <p:sp>
        <p:nvSpPr>
          <p:cNvPr id="11" name="TextBox 10"/>
          <p:cNvSpPr txBox="1"/>
          <p:nvPr/>
        </p:nvSpPr>
        <p:spPr>
          <a:xfrm>
            <a:off x="914400" y="4053840"/>
            <a:ext cx="9723120" cy="876300"/>
          </a:xfrm>
          <a:prstGeom prst="rect">
            <a:avLst/>
          </a:prstGeom>
          <a:noFill/>
        </p:spPr>
        <p:txBody>
          <a:bodyPr wrap="square" lIns="0" rIns="0" tIns="0" bIns="0" anchor="t">
            <a:spAutoFit/>
          </a:bodyPr>
          <a:lstStyle/>
          <a:p>
            <a:pPr algn="r" rtl="1">
              <a:lnSpc>
                <a:spcPct val="130000"/>
              </a:lnSpc>
            </a:pPr>
            <a:r>
              <a:rPr sz="2520" b="0" lang="he-IL">
                <a:solidFill>
                  <a:srgbClr val="191A2E"/>
                </a:solidFill>
                <a:latin typeface="Heebo"/>
                <a:ea typeface="Heebo"/>
                <a:cs typeface="Heebo"/>
              </a:rPr>
              <a:t>”זה לא בטוח להרוויח הרבה“</a:t>
            </a:r>
          </a:p>
        </p:txBody>
      </p:sp>
      <p:sp>
        <p:nvSpPr>
          <p:cNvPr id="12" name="Oval 11"/>
          <p:cNvSpPr/>
          <p:nvPr/>
        </p:nvSpPr>
        <p:spPr>
          <a:xfrm>
            <a:off x="10850880" y="49149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4</a:t>
            </a:r>
          </a:p>
        </p:txBody>
      </p:sp>
      <p:sp>
        <p:nvSpPr>
          <p:cNvPr id="13" name="TextBox 12"/>
          <p:cNvSpPr txBox="1"/>
          <p:nvPr/>
        </p:nvSpPr>
        <p:spPr>
          <a:xfrm>
            <a:off x="914400" y="4930140"/>
            <a:ext cx="9723120" cy="876300"/>
          </a:xfrm>
          <a:prstGeom prst="rect">
            <a:avLst/>
          </a:prstGeom>
          <a:noFill/>
        </p:spPr>
        <p:txBody>
          <a:bodyPr wrap="square" lIns="0" rIns="0" tIns="0" bIns="0" anchor="t">
            <a:spAutoFit/>
          </a:bodyPr>
          <a:lstStyle/>
          <a:p>
            <a:pPr algn="r" rtl="1">
              <a:lnSpc>
                <a:spcPct val="130000"/>
              </a:lnSpc>
            </a:pPr>
            <a:r>
              <a:rPr sz="2520" b="0" lang="he-IL">
                <a:solidFill>
                  <a:srgbClr val="191A2E"/>
                </a:solidFill>
                <a:latin typeface="Heebo"/>
                <a:ea typeface="Heebo"/>
                <a:cs typeface="Heebo"/>
              </a:rPr>
              <a:t>”אני לא יכולה להרוויח הרבה“</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38</a:t>
            </a:r>
          </a:p>
        </p:txBody>
      </p:sp>
      <p:sp>
        <p:nvSpPr>
          <p:cNvPr id="4" name="TextBox 3"/>
          <p:cNvSpPr txBox="1"/>
          <p:nvPr/>
        </p:nvSpPr>
        <p:spPr>
          <a:xfrm>
            <a:off x="914400" y="12954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אמונה 1 מתוך 4</a:t>
            </a:r>
          </a:p>
        </p:txBody>
      </p:sp>
      <p:sp>
        <p:nvSpPr>
          <p:cNvPr id="5" name="Rounded Rectangle 4"/>
          <p:cNvSpPr/>
          <p:nvPr/>
        </p:nvSpPr>
        <p:spPr>
          <a:xfrm>
            <a:off x="6705600" y="1752600"/>
            <a:ext cx="4572000" cy="731520"/>
          </a:xfrm>
          <a:prstGeom prst="roundRect">
            <a:avLst>
              <a:gd name="adj" fmla="val 3125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274320" rIns="274320" tIns="164592" bIns="164592"/>
          <a:lstStyle/>
          <a:p>
            <a:pPr algn="r" rtl="1">
              <a:lnSpc>
                <a:spcPct val="115000"/>
              </a:lnSpc>
            </a:pPr>
            <a:r>
              <a:rPr sz="2039" b="1" lang="he-IL">
                <a:solidFill>
                  <a:srgbClr val="6B6B7B"/>
                </a:solidFill>
                <a:latin typeface="Heebo"/>
                <a:ea typeface="Heebo"/>
                <a:cs typeface="Heebo"/>
              </a:rPr>
              <a:t>”אין מספיק כסף“</a:t>
            </a:r>
          </a:p>
        </p:txBody>
      </p:sp>
      <p:sp>
        <p:nvSpPr>
          <p:cNvPr id="6" name="TextBox 5"/>
          <p:cNvSpPr txBox="1"/>
          <p:nvPr/>
        </p:nvSpPr>
        <p:spPr>
          <a:xfrm>
            <a:off x="914400" y="2819400"/>
            <a:ext cx="10363200" cy="1524000"/>
          </a:xfrm>
          <a:prstGeom prst="rect">
            <a:avLst/>
          </a:prstGeom>
          <a:noFill/>
        </p:spPr>
        <p:txBody>
          <a:bodyPr wrap="square" lIns="0" rIns="0" tIns="0" bIns="0" anchor="t">
            <a:spAutoFit/>
          </a:bodyPr>
          <a:lstStyle/>
          <a:p>
            <a:pPr algn="r" rtl="1">
              <a:lnSpc>
                <a:spcPct val="110000"/>
              </a:lnSpc>
            </a:pPr>
            <a:r>
              <a:rPr sz="5280" b="1" lang="he-IL">
                <a:solidFill>
                  <a:srgbClr val="191A2E"/>
                </a:solidFill>
                <a:latin typeface="Heebo"/>
                <a:ea typeface="Heebo"/>
                <a:cs typeface="Heebo"/>
              </a:rPr>
              <a:t>יש מספיק.</a:t>
            </a:r>
          </a:p>
        </p:txBody>
      </p:sp>
      <p:sp>
        <p:nvSpPr>
          <p:cNvPr id="7" name="TextBox 6"/>
          <p:cNvSpPr txBox="1"/>
          <p:nvPr/>
        </p:nvSpPr>
        <p:spPr>
          <a:xfrm>
            <a:off x="914400" y="4495800"/>
            <a:ext cx="10363200" cy="914400"/>
          </a:xfrm>
          <a:prstGeom prst="rect">
            <a:avLst/>
          </a:prstGeom>
          <a:noFill/>
        </p:spPr>
        <p:txBody>
          <a:bodyPr wrap="square" lIns="0" rIns="0" tIns="0" bIns="0" anchor="t">
            <a:spAutoFit/>
          </a:bodyPr>
          <a:lstStyle/>
          <a:p>
            <a:pPr algn="r" rtl="1">
              <a:lnSpc>
                <a:spcPct val="145000"/>
              </a:lnSpc>
            </a:pPr>
            <a:r>
              <a:rPr sz="1920" b="0" lang="he-IL">
                <a:solidFill>
                  <a:srgbClr val="6B6B7B"/>
                </a:solidFill>
                <a:latin typeface="Heebo"/>
                <a:ea typeface="Heebo"/>
                <a:cs typeface="Heebo"/>
              </a:rPr>
              <a:t>רק בישראל, מאות מיליארדי שקלים יושבים בעו"ש.</a:t>
            </a:r>
          </a:p>
        </p:txBody>
      </p:sp>
      <p:sp>
        <p:nvSpPr>
          <p:cNvPr id="8" name="Rounded Rectangle 7"/>
          <p:cNvSpPr/>
          <p:nvPr/>
        </p:nvSpPr>
        <p:spPr>
          <a:xfrm>
            <a:off x="914400" y="5486400"/>
            <a:ext cx="3962400" cy="533400"/>
          </a:xfrm>
          <a:prstGeom prst="roundRect">
            <a:avLst>
              <a:gd name="adj" fmla="val 42857"/>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560" b="1" lang="he-IL">
                <a:solidFill>
                  <a:srgbClr val="191A2E"/>
                </a:solidFill>
                <a:latin typeface="Heebo"/>
                <a:ea typeface="Heebo"/>
                <a:cs typeface="Heebo"/>
              </a:rPr>
              <a:t>דרגי בצ'אט, מ-1 עד 5</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39</a:t>
            </a:r>
          </a:p>
        </p:txBody>
      </p:sp>
      <p:sp>
        <p:nvSpPr>
          <p:cNvPr id="4" name="TextBox 3"/>
          <p:cNvSpPr txBox="1"/>
          <p:nvPr/>
        </p:nvSpPr>
        <p:spPr>
          <a:xfrm>
            <a:off x="914400" y="12954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אמונה 2 מתוך 4</a:t>
            </a:r>
          </a:p>
        </p:txBody>
      </p:sp>
      <p:sp>
        <p:nvSpPr>
          <p:cNvPr id="5" name="Rounded Rectangle 4"/>
          <p:cNvSpPr/>
          <p:nvPr/>
        </p:nvSpPr>
        <p:spPr>
          <a:xfrm>
            <a:off x="6705600" y="1752600"/>
            <a:ext cx="4572000" cy="731520"/>
          </a:xfrm>
          <a:prstGeom prst="roundRect">
            <a:avLst>
              <a:gd name="adj" fmla="val 3125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274320" rIns="274320" tIns="164592" bIns="164592"/>
          <a:lstStyle/>
          <a:p>
            <a:pPr algn="r" rtl="1">
              <a:lnSpc>
                <a:spcPct val="115000"/>
              </a:lnSpc>
            </a:pPr>
            <a:r>
              <a:rPr sz="2039" b="1" lang="he-IL">
                <a:solidFill>
                  <a:srgbClr val="6B6B7B"/>
                </a:solidFill>
                <a:latin typeface="Heebo"/>
                <a:ea typeface="Heebo"/>
                <a:cs typeface="Heebo"/>
              </a:rPr>
              <a:t>”זה לא בסדר להרוויח שפע“</a:t>
            </a:r>
          </a:p>
        </p:txBody>
      </p:sp>
      <p:sp>
        <p:nvSpPr>
          <p:cNvPr id="6" name="TextBox 5"/>
          <p:cNvSpPr txBox="1"/>
          <p:nvPr/>
        </p:nvSpPr>
        <p:spPr>
          <a:xfrm>
            <a:off x="914400" y="2819400"/>
            <a:ext cx="10363200" cy="1524000"/>
          </a:xfrm>
          <a:prstGeom prst="rect">
            <a:avLst/>
          </a:prstGeom>
          <a:noFill/>
        </p:spPr>
        <p:txBody>
          <a:bodyPr wrap="square" lIns="0" rIns="0" tIns="0" bIns="0" anchor="t">
            <a:spAutoFit/>
          </a:bodyPr>
          <a:lstStyle/>
          <a:p>
            <a:pPr algn="r" rtl="1">
              <a:lnSpc>
                <a:spcPct val="110000"/>
              </a:lnSpc>
            </a:pPr>
            <a:r>
              <a:rPr sz="5280" b="1" lang="he-IL">
                <a:solidFill>
                  <a:srgbClr val="191A2E"/>
                </a:solidFill>
                <a:latin typeface="Heebo"/>
                <a:ea typeface="Heebo"/>
                <a:cs typeface="Heebo"/>
              </a:rPr>
              <a:t>כסף הוא אנרגיה.</a:t>
            </a:r>
          </a:p>
        </p:txBody>
      </p:sp>
      <p:sp>
        <p:nvSpPr>
          <p:cNvPr id="7" name="TextBox 6"/>
          <p:cNvSpPr txBox="1"/>
          <p:nvPr/>
        </p:nvSpPr>
        <p:spPr>
          <a:xfrm>
            <a:off x="914400" y="4495800"/>
            <a:ext cx="10363200" cy="914400"/>
          </a:xfrm>
          <a:prstGeom prst="rect">
            <a:avLst/>
          </a:prstGeom>
          <a:noFill/>
        </p:spPr>
        <p:txBody>
          <a:bodyPr wrap="square" lIns="0" rIns="0" tIns="0" bIns="0" anchor="t">
            <a:spAutoFit/>
          </a:bodyPr>
          <a:lstStyle/>
          <a:p>
            <a:pPr algn="r" rtl="1">
              <a:lnSpc>
                <a:spcPct val="145000"/>
              </a:lnSpc>
            </a:pPr>
            <a:r>
              <a:rPr sz="1920" b="0" lang="he-IL">
                <a:solidFill>
                  <a:srgbClr val="6B6B7B"/>
                </a:solidFill>
                <a:latin typeface="Heebo"/>
                <a:ea typeface="Heebo"/>
                <a:cs typeface="Heebo"/>
              </a:rPr>
              <a:t>מה שאפשר לעשות איתו טוב, תלוי במי מחזיקה אותו.</a:t>
            </a:r>
          </a:p>
        </p:txBody>
      </p:sp>
      <p:sp>
        <p:nvSpPr>
          <p:cNvPr id="8" name="Rounded Rectangle 7"/>
          <p:cNvSpPr/>
          <p:nvPr/>
        </p:nvSpPr>
        <p:spPr>
          <a:xfrm>
            <a:off x="914400" y="5486400"/>
            <a:ext cx="3962400" cy="533400"/>
          </a:xfrm>
          <a:prstGeom prst="roundRect">
            <a:avLst>
              <a:gd name="adj" fmla="val 42857"/>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560" b="1" lang="he-IL">
                <a:solidFill>
                  <a:srgbClr val="191A2E"/>
                </a:solidFill>
                <a:latin typeface="Heebo"/>
                <a:ea typeface="Heebo"/>
                <a:cs typeface="Heebo"/>
              </a:rPr>
              <a:t>דרגי בצ'אט, מ-1 עד 5</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40</a:t>
            </a:r>
          </a:p>
        </p:txBody>
      </p:sp>
      <p:sp>
        <p:nvSpPr>
          <p:cNvPr id="4" name="TextBox 3"/>
          <p:cNvSpPr txBox="1"/>
          <p:nvPr/>
        </p:nvSpPr>
        <p:spPr>
          <a:xfrm>
            <a:off x="914400" y="12954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אמונה 3 מתוך 4</a:t>
            </a:r>
          </a:p>
        </p:txBody>
      </p:sp>
      <p:sp>
        <p:nvSpPr>
          <p:cNvPr id="5" name="Rounded Rectangle 4"/>
          <p:cNvSpPr/>
          <p:nvPr/>
        </p:nvSpPr>
        <p:spPr>
          <a:xfrm>
            <a:off x="6705600" y="1752600"/>
            <a:ext cx="4572000" cy="731520"/>
          </a:xfrm>
          <a:prstGeom prst="roundRect">
            <a:avLst>
              <a:gd name="adj" fmla="val 3125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274320" rIns="274320" tIns="164592" bIns="164592"/>
          <a:lstStyle/>
          <a:p>
            <a:pPr algn="r" rtl="1">
              <a:lnSpc>
                <a:spcPct val="115000"/>
              </a:lnSpc>
            </a:pPr>
            <a:r>
              <a:rPr sz="2039" b="1" lang="he-IL">
                <a:solidFill>
                  <a:srgbClr val="6B6B7B"/>
                </a:solidFill>
                <a:latin typeface="Heebo"/>
                <a:ea typeface="Heebo"/>
                <a:cs typeface="Heebo"/>
              </a:rPr>
              <a:t>”זה לא בטוח“</a:t>
            </a:r>
          </a:p>
        </p:txBody>
      </p:sp>
      <p:sp>
        <p:nvSpPr>
          <p:cNvPr id="6" name="TextBox 5"/>
          <p:cNvSpPr txBox="1"/>
          <p:nvPr/>
        </p:nvSpPr>
        <p:spPr>
          <a:xfrm>
            <a:off x="914400" y="2819400"/>
            <a:ext cx="10363200" cy="1524000"/>
          </a:xfrm>
          <a:prstGeom prst="rect">
            <a:avLst/>
          </a:prstGeom>
          <a:noFill/>
        </p:spPr>
        <p:txBody>
          <a:bodyPr wrap="square" lIns="0" rIns="0" tIns="0" bIns="0" anchor="t">
            <a:spAutoFit/>
          </a:bodyPr>
          <a:lstStyle/>
          <a:p>
            <a:pPr algn="r" rtl="1">
              <a:lnSpc>
                <a:spcPct val="110000"/>
              </a:lnSpc>
            </a:pPr>
            <a:r>
              <a:rPr sz="5280" b="1" lang="he-IL">
                <a:solidFill>
                  <a:srgbClr val="191A2E"/>
                </a:solidFill>
                <a:latin typeface="Heebo"/>
                <a:ea typeface="Heebo"/>
                <a:cs typeface="Heebo"/>
              </a:rPr>
              <a:t>מה באמת לא בטוח?</a:t>
            </a:r>
          </a:p>
        </p:txBody>
      </p:sp>
      <p:sp>
        <p:nvSpPr>
          <p:cNvPr id="7" name="TextBox 6"/>
          <p:cNvSpPr txBox="1"/>
          <p:nvPr/>
        </p:nvSpPr>
        <p:spPr>
          <a:xfrm>
            <a:off x="914400" y="4495800"/>
            <a:ext cx="10363200" cy="914400"/>
          </a:xfrm>
          <a:prstGeom prst="rect">
            <a:avLst/>
          </a:prstGeom>
          <a:noFill/>
        </p:spPr>
        <p:txBody>
          <a:bodyPr wrap="square" lIns="0" rIns="0" tIns="0" bIns="0" anchor="t">
            <a:spAutoFit/>
          </a:bodyPr>
          <a:lstStyle/>
          <a:p>
            <a:pPr algn="r" rtl="1">
              <a:lnSpc>
                <a:spcPct val="145000"/>
              </a:lnSpc>
            </a:pPr>
            <a:r>
              <a:rPr sz="1920" b="0" lang="he-IL">
                <a:solidFill>
                  <a:srgbClr val="6B6B7B"/>
                </a:solidFill>
                <a:latin typeface="Heebo"/>
                <a:ea typeface="Heebo"/>
                <a:cs typeface="Heebo"/>
              </a:rPr>
              <a:t>כסף שיושב ונשחק, כל שנה, בשקט.</a:t>
            </a:r>
          </a:p>
        </p:txBody>
      </p:sp>
      <p:sp>
        <p:nvSpPr>
          <p:cNvPr id="8" name="Rounded Rectangle 7"/>
          <p:cNvSpPr/>
          <p:nvPr/>
        </p:nvSpPr>
        <p:spPr>
          <a:xfrm>
            <a:off x="914400" y="5486400"/>
            <a:ext cx="3962400" cy="533400"/>
          </a:xfrm>
          <a:prstGeom prst="roundRect">
            <a:avLst>
              <a:gd name="adj" fmla="val 42857"/>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560" b="1" lang="he-IL">
                <a:solidFill>
                  <a:srgbClr val="191A2E"/>
                </a:solidFill>
                <a:latin typeface="Heebo"/>
                <a:ea typeface="Heebo"/>
                <a:cs typeface="Heebo"/>
              </a:rPr>
              <a:t>דרגי בצ'אט, מ-1 עד 5</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41</a:t>
            </a:r>
          </a:p>
        </p:txBody>
      </p:sp>
      <p:sp>
        <p:nvSpPr>
          <p:cNvPr id="4" name="TextBox 3"/>
          <p:cNvSpPr txBox="1"/>
          <p:nvPr/>
        </p:nvSpPr>
        <p:spPr>
          <a:xfrm>
            <a:off x="914400" y="12954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אמונה 4 מתוך 4</a:t>
            </a:r>
          </a:p>
        </p:txBody>
      </p:sp>
      <p:sp>
        <p:nvSpPr>
          <p:cNvPr id="5" name="Rounded Rectangle 4"/>
          <p:cNvSpPr/>
          <p:nvPr/>
        </p:nvSpPr>
        <p:spPr>
          <a:xfrm>
            <a:off x="6705600" y="1752600"/>
            <a:ext cx="4572000" cy="731520"/>
          </a:xfrm>
          <a:prstGeom prst="roundRect">
            <a:avLst>
              <a:gd name="adj" fmla="val 3125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274320" rIns="274320" tIns="164592" bIns="164592"/>
          <a:lstStyle/>
          <a:p>
            <a:pPr algn="r" rtl="1">
              <a:lnSpc>
                <a:spcPct val="115000"/>
              </a:lnSpc>
            </a:pPr>
            <a:r>
              <a:rPr sz="2039" b="1" lang="he-IL">
                <a:solidFill>
                  <a:srgbClr val="6B6B7B"/>
                </a:solidFill>
                <a:latin typeface="Heebo"/>
                <a:ea typeface="Heebo"/>
                <a:cs typeface="Heebo"/>
              </a:rPr>
              <a:t>”אני לא יכולה“</a:t>
            </a:r>
          </a:p>
        </p:txBody>
      </p:sp>
      <p:sp>
        <p:nvSpPr>
          <p:cNvPr id="6" name="TextBox 5"/>
          <p:cNvSpPr txBox="1"/>
          <p:nvPr/>
        </p:nvSpPr>
        <p:spPr>
          <a:xfrm>
            <a:off x="914400" y="2819400"/>
            <a:ext cx="10363200" cy="1524000"/>
          </a:xfrm>
          <a:prstGeom prst="rect">
            <a:avLst/>
          </a:prstGeom>
          <a:noFill/>
        </p:spPr>
        <p:txBody>
          <a:bodyPr wrap="square" lIns="0" rIns="0" tIns="0" bIns="0" anchor="t">
            <a:spAutoFit/>
          </a:bodyPr>
          <a:lstStyle/>
          <a:p>
            <a:pPr algn="r" rtl="1">
              <a:lnSpc>
                <a:spcPct val="110000"/>
              </a:lnSpc>
            </a:pPr>
            <a:r>
              <a:rPr sz="5280" b="1" lang="he-IL">
                <a:solidFill>
                  <a:srgbClr val="191A2E"/>
                </a:solidFill>
                <a:latin typeface="Heebo"/>
                <a:ea typeface="Heebo"/>
                <a:cs typeface="Heebo"/>
              </a:rPr>
              <a:t>אני לא יודעת איך. עדיין.</a:t>
            </a:r>
          </a:p>
        </p:txBody>
      </p:sp>
      <p:sp>
        <p:nvSpPr>
          <p:cNvPr id="7" name="TextBox 6"/>
          <p:cNvSpPr txBox="1"/>
          <p:nvPr/>
        </p:nvSpPr>
        <p:spPr>
          <a:xfrm>
            <a:off x="914400" y="4495800"/>
            <a:ext cx="10363200" cy="914400"/>
          </a:xfrm>
          <a:prstGeom prst="rect">
            <a:avLst/>
          </a:prstGeom>
          <a:noFill/>
        </p:spPr>
        <p:txBody>
          <a:bodyPr wrap="square" lIns="0" rIns="0" tIns="0" bIns="0" anchor="t">
            <a:spAutoFit/>
          </a:bodyPr>
          <a:lstStyle/>
          <a:p>
            <a:pPr algn="r" rtl="1">
              <a:lnSpc>
                <a:spcPct val="145000"/>
              </a:lnSpc>
            </a:pPr>
            <a:r>
              <a:rPr sz="1920" b="0" lang="he-IL">
                <a:solidFill>
                  <a:srgbClr val="6B6B7B"/>
                </a:solidFill>
                <a:latin typeface="Heebo"/>
                <a:ea typeface="Heebo"/>
                <a:cs typeface="Heebo"/>
              </a:rPr>
              <a:t>”לא יכולה“ זה קיר. ”לא יודעת איך“ זו דלת.</a:t>
            </a:r>
          </a:p>
        </p:txBody>
      </p:sp>
      <p:sp>
        <p:nvSpPr>
          <p:cNvPr id="8" name="Rounded Rectangle 7"/>
          <p:cNvSpPr/>
          <p:nvPr/>
        </p:nvSpPr>
        <p:spPr>
          <a:xfrm>
            <a:off x="914400" y="5486400"/>
            <a:ext cx="3962400" cy="533400"/>
          </a:xfrm>
          <a:prstGeom prst="roundRect">
            <a:avLst>
              <a:gd name="adj" fmla="val 42857"/>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1560" b="1" lang="he-IL">
                <a:solidFill>
                  <a:srgbClr val="191A2E"/>
                </a:solidFill>
                <a:latin typeface="Heebo"/>
                <a:ea typeface="Heebo"/>
                <a:cs typeface="Heebo"/>
              </a:rPr>
              <a:t>דרגי בצ'אט, מ-1 עד 5</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42</a:t>
            </a:r>
          </a:p>
        </p:txBody>
      </p:sp>
      <p:pic>
        <p:nvPicPr>
          <p:cNvPr id="4" name="Picture 3" descr="s19_door.jpg"/>
          <p:cNvPicPr>
            <a:picLocks noChangeAspect="1"/>
          </p:cNvPicPr>
          <p:nvPr/>
        </p:nvPicPr>
        <p:blipFill>
          <a:blip r:embed="rId3"/>
          <a:stretch>
            <a:fillRect/>
          </a:stretch>
        </p:blipFill>
        <p:spPr>
          <a:xfrm>
            <a:off x="914400" y="1295400"/>
            <a:ext cx="3810000" cy="3810000"/>
          </a:xfrm>
          <a:prstGeom prst="roundRect">
            <a:avLst>
              <a:gd name="adj" fmla="val 8000"/>
            </a:avLst>
          </a:prstGeom>
        </p:spPr>
      </p:pic>
      <p:sp>
        <p:nvSpPr>
          <p:cNvPr id="5" name="TextBox 4"/>
          <p:cNvSpPr txBox="1"/>
          <p:nvPr/>
        </p:nvSpPr>
        <p:spPr>
          <a:xfrm>
            <a:off x="5334000" y="2112264"/>
            <a:ext cx="5943600" cy="1414272"/>
          </a:xfrm>
          <a:prstGeom prst="rect">
            <a:avLst/>
          </a:prstGeom>
          <a:noFill/>
        </p:spPr>
        <p:txBody>
          <a:bodyPr wrap="square" lIns="0" rIns="0" tIns="0" bIns="0" anchor="t">
            <a:spAutoFit/>
          </a:bodyPr>
          <a:lstStyle/>
          <a:p>
            <a:pPr algn="r" rtl="1">
              <a:lnSpc>
                <a:spcPct val="110000"/>
              </a:lnSpc>
            </a:pPr>
            <a:r>
              <a:rPr sz="4320" b="1" lang="he-IL">
                <a:solidFill>
                  <a:srgbClr val="191A2E"/>
                </a:solidFill>
                <a:latin typeface="Heebo"/>
                <a:ea typeface="Heebo"/>
                <a:cs typeface="Heebo"/>
              </a:rPr>
              <a:t>אי אפשר!</a:t>
            </a:r>
          </a:p>
          <a:p>
            <a:pPr algn="r" rtl="1">
              <a:lnSpc>
                <a:spcPct val="110000"/>
              </a:lnSpc>
            </a:pPr>
            <a:r>
              <a:rPr sz="4320" b="1" lang="he-IL">
                <a:solidFill>
                  <a:srgbClr val="EF55A5"/>
                </a:solidFill>
                <a:latin typeface="Heebo"/>
                <a:ea typeface="Heebo"/>
                <a:cs typeface="Heebo"/>
              </a:rPr>
              <a:t>איך אפשר?</a:t>
            </a:r>
          </a:p>
        </p:txBody>
      </p:sp>
      <p:sp>
        <p:nvSpPr>
          <p:cNvPr id="6" name="TextBox 5"/>
          <p:cNvSpPr txBox="1"/>
          <p:nvPr/>
        </p:nvSpPr>
        <p:spPr>
          <a:xfrm>
            <a:off x="5334000" y="3678936"/>
            <a:ext cx="59436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להחליף סימן קריאה בסימן שאלה.</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43</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עכשיו אתן</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בזוגות, 8 דקות בחדרים</a:t>
            </a:r>
          </a:p>
        </p:txBody>
      </p:sp>
      <p:sp>
        <p:nvSpPr>
          <p:cNvPr id="6" name="Oval 5"/>
          <p:cNvSpPr/>
          <p:nvPr/>
        </p:nvSpPr>
        <p:spPr>
          <a:xfrm>
            <a:off x="10850880" y="246888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1</a:t>
            </a:r>
          </a:p>
        </p:txBody>
      </p:sp>
      <p:sp>
        <p:nvSpPr>
          <p:cNvPr id="7" name="TextBox 6"/>
          <p:cNvSpPr txBox="1"/>
          <p:nvPr/>
        </p:nvSpPr>
        <p:spPr>
          <a:xfrm>
            <a:off x="914400" y="2484120"/>
            <a:ext cx="9723120" cy="944880"/>
          </a:xfrm>
          <a:prstGeom prst="rect">
            <a:avLst/>
          </a:prstGeom>
          <a:noFill/>
        </p:spPr>
        <p:txBody>
          <a:bodyPr wrap="square" lIns="0" rIns="0" tIns="0" bIns="0" anchor="t">
            <a:spAutoFit/>
          </a:bodyPr>
          <a:lstStyle/>
          <a:p>
            <a:pPr algn="r" rtl="1">
              <a:lnSpc>
                <a:spcPct val="130000"/>
              </a:lnSpc>
            </a:pPr>
            <a:r>
              <a:rPr sz="2039" b="0" lang="he-IL">
                <a:solidFill>
                  <a:srgbClr val="191A2E"/>
                </a:solidFill>
                <a:latin typeface="Heebo"/>
                <a:ea typeface="Heebo"/>
                <a:cs typeface="Heebo"/>
              </a:rPr>
              <a:t>את מקריאה את האמונה שדירגת הכי גבוה. בלי להסביר, בלי להתנצל.</a:t>
            </a:r>
          </a:p>
        </p:txBody>
      </p:sp>
      <p:sp>
        <p:nvSpPr>
          <p:cNvPr id="8" name="Oval 7"/>
          <p:cNvSpPr/>
          <p:nvPr/>
        </p:nvSpPr>
        <p:spPr>
          <a:xfrm>
            <a:off x="10850880" y="341376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2</a:t>
            </a:r>
          </a:p>
        </p:txBody>
      </p:sp>
      <p:sp>
        <p:nvSpPr>
          <p:cNvPr id="9" name="TextBox 8"/>
          <p:cNvSpPr txBox="1"/>
          <p:nvPr/>
        </p:nvSpPr>
        <p:spPr>
          <a:xfrm>
            <a:off x="914400" y="3429000"/>
            <a:ext cx="9723120" cy="944880"/>
          </a:xfrm>
          <a:prstGeom prst="rect">
            <a:avLst/>
          </a:prstGeom>
          <a:noFill/>
        </p:spPr>
        <p:txBody>
          <a:bodyPr wrap="square" lIns="0" rIns="0" tIns="0" bIns="0" anchor="t">
            <a:spAutoFit/>
          </a:bodyPr>
          <a:lstStyle/>
          <a:p>
            <a:pPr algn="r" rtl="1">
              <a:lnSpc>
                <a:spcPct val="130000"/>
              </a:lnSpc>
            </a:pPr>
            <a:r>
              <a:rPr sz="2039" b="0" lang="he-IL">
                <a:solidFill>
                  <a:srgbClr val="191A2E"/>
                </a:solidFill>
                <a:latin typeface="Heebo"/>
                <a:ea typeface="Heebo"/>
                <a:cs typeface="Heebo"/>
              </a:rPr>
              <a:t>בת הזוג הופכת אותה לשאלה ”איך אפשר?“ ומביאה הוכחה אחת: מישהי שהיא מכירה שכן.</a:t>
            </a:r>
          </a:p>
        </p:txBody>
      </p:sp>
      <p:sp>
        <p:nvSpPr>
          <p:cNvPr id="10" name="Oval 9"/>
          <p:cNvSpPr/>
          <p:nvPr/>
        </p:nvSpPr>
        <p:spPr>
          <a:xfrm>
            <a:off x="10850880" y="435864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3</a:t>
            </a:r>
          </a:p>
        </p:txBody>
      </p:sp>
      <p:sp>
        <p:nvSpPr>
          <p:cNvPr id="11" name="TextBox 10"/>
          <p:cNvSpPr txBox="1"/>
          <p:nvPr/>
        </p:nvSpPr>
        <p:spPr>
          <a:xfrm>
            <a:off x="914400" y="4373880"/>
            <a:ext cx="9723120" cy="944880"/>
          </a:xfrm>
          <a:prstGeom prst="rect">
            <a:avLst/>
          </a:prstGeom>
          <a:noFill/>
        </p:spPr>
        <p:txBody>
          <a:bodyPr wrap="square" lIns="0" rIns="0" tIns="0" bIns="0" anchor="t">
            <a:spAutoFit/>
          </a:bodyPr>
          <a:lstStyle/>
          <a:p>
            <a:pPr algn="r" rtl="1">
              <a:lnSpc>
                <a:spcPct val="130000"/>
              </a:lnSpc>
            </a:pPr>
            <a:r>
              <a:rPr sz="2039" b="0" lang="he-IL">
                <a:solidFill>
                  <a:srgbClr val="191A2E"/>
                </a:solidFill>
                <a:latin typeface="Heebo"/>
                <a:ea typeface="Heebo"/>
                <a:cs typeface="Heebo"/>
              </a:rPr>
              <a:t>מתחלפות.</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44</a:t>
            </a:r>
          </a:p>
        </p:txBody>
      </p:sp>
      <p:sp>
        <p:nvSpPr>
          <p:cNvPr id="4" name="Rounded Rectangle 3"/>
          <p:cNvSpPr/>
          <p:nvPr/>
        </p:nvSpPr>
        <p:spPr>
          <a:xfrm>
            <a:off x="914400" y="1905000"/>
            <a:ext cx="10363200" cy="2895600"/>
          </a:xfrm>
          <a:prstGeom prst="roundRect">
            <a:avLst>
              <a:gd name="adj" fmla="val 9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463040" y="2438400"/>
            <a:ext cx="92659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בחזרה מהחדרים · מילה בצ'אט</a:t>
            </a:r>
          </a:p>
        </p:txBody>
      </p:sp>
      <p:sp>
        <p:nvSpPr>
          <p:cNvPr id="6" name="TextBox 5"/>
          <p:cNvSpPr txBox="1"/>
          <p:nvPr/>
        </p:nvSpPr>
        <p:spPr>
          <a:xfrm>
            <a:off x="1463040" y="2834640"/>
            <a:ext cx="9265920" cy="1752600"/>
          </a:xfrm>
          <a:prstGeom prst="rect">
            <a:avLst/>
          </a:prstGeom>
          <a:noFill/>
        </p:spPr>
        <p:txBody>
          <a:bodyPr wrap="square" lIns="0" rIns="0" tIns="0" bIns="0" anchor="t">
            <a:spAutoFit/>
          </a:bodyPr>
          <a:lstStyle/>
          <a:p>
            <a:pPr algn="r" rtl="1">
              <a:lnSpc>
                <a:spcPct val="115000"/>
              </a:lnSpc>
            </a:pPr>
            <a:r>
              <a:rPr sz="4440" b="1" lang="he-IL">
                <a:solidFill>
                  <a:srgbClr val="191A2E"/>
                </a:solidFill>
                <a:latin typeface="Heebo"/>
                <a:ea typeface="Heebo"/>
                <a:cs typeface="Heebo"/>
              </a:rPr>
              <a:t>מי קיבלה הוכחה שהפתיעה אותה?</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45</a:t>
            </a:r>
          </a:p>
        </p:txBody>
      </p:sp>
      <p:sp>
        <p:nvSpPr>
          <p:cNvPr id="4" name="TextBox 3"/>
          <p:cNvSpPr txBox="1"/>
          <p:nvPr/>
        </p:nvSpPr>
        <p:spPr>
          <a:xfrm>
            <a:off x="914400" y="838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שלושה כלים. לא לשיעור. לחיים.</a:t>
            </a:r>
          </a:p>
        </p:txBody>
      </p:sp>
      <p:sp>
        <p:nvSpPr>
          <p:cNvPr id="5" name="Rounded Rectangle 4"/>
          <p:cNvSpPr/>
          <p:nvPr/>
        </p:nvSpPr>
        <p:spPr>
          <a:xfrm>
            <a:off x="7965440" y="2057400"/>
            <a:ext cx="3312160" cy="3048000"/>
          </a:xfrm>
          <a:prstGeom prst="roundRect">
            <a:avLst>
              <a:gd name="adj" fmla="val 8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8239760" y="2362200"/>
            <a:ext cx="2763520" cy="838200"/>
          </a:xfrm>
          <a:prstGeom prst="rect">
            <a:avLst/>
          </a:prstGeom>
          <a:noFill/>
        </p:spPr>
        <p:txBody>
          <a:bodyPr wrap="square" lIns="0" rIns="0" tIns="0" bIns="0" anchor="t">
            <a:spAutoFit/>
          </a:bodyPr>
          <a:lstStyle/>
          <a:p>
            <a:pPr algn="r" rtl="1">
              <a:lnSpc>
                <a:spcPct val="110000"/>
              </a:lnSpc>
            </a:pPr>
            <a:r>
              <a:rPr sz="2400" b="1" lang="he-IL">
                <a:solidFill>
                  <a:srgbClr val="191A2E"/>
                </a:solidFill>
                <a:latin typeface="Heebo"/>
                <a:ea typeface="Heebo"/>
                <a:cs typeface="Heebo"/>
              </a:rPr>
              <a:t>מעגל התודעה</a:t>
            </a:r>
          </a:p>
        </p:txBody>
      </p:sp>
      <p:sp>
        <p:nvSpPr>
          <p:cNvPr id="7" name="TextBox 6"/>
          <p:cNvSpPr txBox="1"/>
          <p:nvPr/>
        </p:nvSpPr>
        <p:spPr>
          <a:xfrm>
            <a:off x="8239760" y="2971800"/>
            <a:ext cx="276352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מחשבה ← רגש ← פעולה ← תוצאה</a:t>
            </a:r>
          </a:p>
        </p:txBody>
      </p:sp>
      <p:sp>
        <p:nvSpPr>
          <p:cNvPr id="8" name="Rounded Rectangle 7"/>
          <p:cNvSpPr/>
          <p:nvPr/>
        </p:nvSpPr>
        <p:spPr>
          <a:xfrm>
            <a:off x="4439920" y="2057400"/>
            <a:ext cx="3312160" cy="30480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14240" y="2362200"/>
            <a:ext cx="2763520" cy="838200"/>
          </a:xfrm>
          <a:prstGeom prst="rect">
            <a:avLst/>
          </a:prstGeom>
          <a:noFill/>
        </p:spPr>
        <p:txBody>
          <a:bodyPr wrap="square" lIns="0" rIns="0" tIns="0" bIns="0" anchor="t">
            <a:spAutoFit/>
          </a:bodyPr>
          <a:lstStyle/>
          <a:p>
            <a:pPr algn="r" rtl="1">
              <a:lnSpc>
                <a:spcPct val="110000"/>
              </a:lnSpc>
            </a:pPr>
            <a:r>
              <a:rPr sz="2400" b="1" lang="he-IL">
                <a:solidFill>
                  <a:srgbClr val="191A2E"/>
                </a:solidFill>
                <a:latin typeface="Heebo"/>
                <a:ea typeface="Heebo"/>
                <a:cs typeface="Heebo"/>
              </a:rPr>
              <a:t>סולם התודעה</a:t>
            </a:r>
          </a:p>
        </p:txBody>
      </p:sp>
      <p:sp>
        <p:nvSpPr>
          <p:cNvPr id="10" name="TextBox 9"/>
          <p:cNvSpPr txBox="1"/>
          <p:nvPr/>
        </p:nvSpPr>
        <p:spPr>
          <a:xfrm>
            <a:off x="4714240" y="2971800"/>
            <a:ext cx="276352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איפה אני עכשיו? ומחליטה רק מלמעלה.</a:t>
            </a:r>
          </a:p>
        </p:txBody>
      </p:sp>
      <p:sp>
        <p:nvSpPr>
          <p:cNvPr id="11" name="Rounded Rectangle 10"/>
          <p:cNvSpPr/>
          <p:nvPr/>
        </p:nvSpPr>
        <p:spPr>
          <a:xfrm>
            <a:off x="914400" y="2057400"/>
            <a:ext cx="331216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188720" y="2362200"/>
            <a:ext cx="2763520" cy="838200"/>
          </a:xfrm>
          <a:prstGeom prst="rect">
            <a:avLst/>
          </a:prstGeom>
          <a:noFill/>
        </p:spPr>
        <p:txBody>
          <a:bodyPr wrap="square" lIns="0" rIns="0" tIns="0" bIns="0" anchor="t">
            <a:spAutoFit/>
          </a:bodyPr>
          <a:lstStyle/>
          <a:p>
            <a:pPr algn="r" rtl="1">
              <a:lnSpc>
                <a:spcPct val="110000"/>
              </a:lnSpc>
            </a:pPr>
            <a:r>
              <a:rPr sz="2400" b="1" lang="he-IL">
                <a:solidFill>
                  <a:srgbClr val="191A2E"/>
                </a:solidFill>
                <a:latin typeface="Heebo"/>
                <a:ea typeface="Heebo"/>
                <a:cs typeface="Heebo"/>
              </a:rPr>
              <a:t>איך אפשר?</a:t>
            </a:r>
          </a:p>
        </p:txBody>
      </p:sp>
      <p:sp>
        <p:nvSpPr>
          <p:cNvPr id="13" name="TextBox 12"/>
          <p:cNvSpPr txBox="1"/>
          <p:nvPr/>
        </p:nvSpPr>
        <p:spPr>
          <a:xfrm>
            <a:off x="1188720" y="2971800"/>
            <a:ext cx="276352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סימן שאלה במקום סימן קריאה, והוכחה אחת.</a:t>
            </a:r>
          </a:p>
        </p:txBody>
      </p:sp>
      <p:sp>
        <p:nvSpPr>
          <p:cNvPr id="14" name="TextBox 13"/>
          <p:cNvSpPr txBox="1"/>
          <p:nvPr/>
        </p:nvSpPr>
        <p:spPr>
          <a:xfrm>
            <a:off x="914400" y="55626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רק להיות בהקשבה ובמודעות. להסתכל על העולם בעיניים אחרות.</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46</a:t>
            </a:r>
          </a:p>
        </p:txBody>
      </p:sp>
      <p:sp>
        <p:nvSpPr>
          <p:cNvPr id="4" name="TextBox 3"/>
          <p:cNvSpPr txBox="1"/>
          <p:nvPr/>
        </p:nvSpPr>
        <p:spPr>
          <a:xfrm>
            <a:off x="10515600" y="1143000"/>
            <a:ext cx="762000" cy="914400"/>
          </a:xfrm>
          <a:prstGeom prst="rect">
            <a:avLst/>
          </a:prstGeom>
          <a:noFill/>
        </p:spPr>
        <p:txBody>
          <a:bodyPr wrap="square" lIns="0" rIns="0" tIns="0" bIns="0" anchor="t">
            <a:spAutoFit/>
          </a:bodyPr>
          <a:lstStyle/>
          <a:p>
            <a:pPr algn="r" rtl="1">
              <a:lnSpc>
                <a:spcPct val="80000"/>
              </a:lnSpc>
            </a:pPr>
            <a:r>
              <a:rPr sz="10200" b="1" lang="he-IL">
                <a:solidFill>
                  <a:srgbClr val="EF55A5"/>
                </a:solidFill>
                <a:latin typeface="Heebo"/>
                <a:ea typeface="Heebo"/>
                <a:cs typeface="Heebo"/>
              </a:rPr>
              <a:t>”</a:t>
            </a:r>
          </a:p>
        </p:txBody>
      </p:sp>
      <p:sp>
        <p:nvSpPr>
          <p:cNvPr id="5" name="TextBox 4"/>
          <p:cNvSpPr txBox="1"/>
          <p:nvPr/>
        </p:nvSpPr>
        <p:spPr>
          <a:xfrm>
            <a:off x="914400" y="2286000"/>
            <a:ext cx="10363200" cy="2286000"/>
          </a:xfrm>
          <a:prstGeom prst="rect">
            <a:avLst/>
          </a:prstGeom>
          <a:noFill/>
        </p:spPr>
        <p:txBody>
          <a:bodyPr wrap="square" lIns="0" rIns="0" tIns="0" bIns="0" anchor="t">
            <a:spAutoFit/>
          </a:bodyPr>
          <a:lstStyle/>
          <a:p>
            <a:pPr algn="r" rtl="1">
              <a:lnSpc>
                <a:spcPct val="130000"/>
              </a:lnSpc>
            </a:pPr>
            <a:r>
              <a:rPr sz="3719" b="1" lang="he-IL">
                <a:solidFill>
                  <a:srgbClr val="191A2E"/>
                </a:solidFill>
                <a:latin typeface="Heebo"/>
                <a:ea typeface="Heebo"/>
                <a:cs typeface="Heebo"/>
              </a:rPr>
              <a:t>כשאת משנה את הדרך שבה את מסתכלת על הדברים, הדברים שאת מסתכלת עליהם משתנים.</a:t>
            </a:r>
          </a:p>
        </p:txBody>
      </p:sp>
      <p:sp>
        <p:nvSpPr>
          <p:cNvPr id="6" name="Rounded Rectangle 5"/>
          <p:cNvSpPr/>
          <p:nvPr/>
        </p:nvSpPr>
        <p:spPr>
          <a:xfrm>
            <a:off x="10942320" y="5029200"/>
            <a:ext cx="335280" cy="30480"/>
          </a:xfrm>
          <a:prstGeom prst="roundRect">
            <a:avLst>
              <a:gd name="adj" fmla="val 50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48400" y="4892040"/>
            <a:ext cx="4541520" cy="304800"/>
          </a:xfrm>
          <a:prstGeom prst="rect">
            <a:avLst/>
          </a:prstGeom>
          <a:noFill/>
        </p:spPr>
        <p:txBody>
          <a:bodyPr wrap="square" lIns="0" rIns="0" tIns="0" bIns="0" anchor="t">
            <a:spAutoFit/>
          </a:bodyPr>
          <a:lstStyle/>
          <a:p>
            <a:pPr algn="r" rtl="1">
              <a:lnSpc>
                <a:spcPct val="115000"/>
              </a:lnSpc>
            </a:pPr>
            <a:r>
              <a:rPr sz="1560" b="1" lang="he-IL">
                <a:solidFill>
                  <a:srgbClr val="191A2E"/>
                </a:solidFill>
                <a:latin typeface="Heebo"/>
                <a:ea typeface="Heebo"/>
                <a:cs typeface="Heebo"/>
              </a:rPr>
              <a:t>וויין דייר</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47</a:t>
            </a:r>
          </a:p>
        </p:txBody>
      </p:sp>
      <p:sp>
        <p:nvSpPr>
          <p:cNvPr id="4" name="Rounded Rectangle 3"/>
          <p:cNvSpPr/>
          <p:nvPr/>
        </p:nvSpPr>
        <p:spPr>
          <a:xfrm>
            <a:off x="914400" y="1143000"/>
            <a:ext cx="4572000" cy="4572000"/>
          </a:xfrm>
          <a:prstGeom prst="roundRect">
            <a:avLst>
              <a:gd name="adj" fmla="val 8000"/>
            </a:avLst>
          </a:prstGeom>
          <a:solidFill>
            <a:srgbClr val="0B1B3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5" name="Picture 4" descr="מצפן-שלב-3-נקודת-מוצא.png"/>
          <p:cNvPicPr>
            <a:picLocks noChangeAspect="1"/>
          </p:cNvPicPr>
          <p:nvPr/>
        </p:nvPicPr>
        <p:blipFill>
          <a:blip r:embed="rId3"/>
          <a:stretch>
            <a:fillRect/>
          </a:stretch>
        </p:blipFill>
        <p:spPr>
          <a:xfrm>
            <a:off x="1188720" y="1417320"/>
            <a:ext cx="4023360" cy="4023360"/>
          </a:xfrm>
          <a:prstGeom prst="rect">
            <a:avLst/>
          </a:prstGeom>
        </p:spPr>
      </p:pic>
      <p:sp>
        <p:nvSpPr>
          <p:cNvPr id="6" name="TextBox 5"/>
          <p:cNvSpPr txBox="1"/>
          <p:nvPr/>
        </p:nvSpPr>
        <p:spPr>
          <a:xfrm>
            <a:off x="6096000" y="2133600"/>
            <a:ext cx="51816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חלק 4 · נקודת המוצא</a:t>
            </a:r>
          </a:p>
        </p:txBody>
      </p:sp>
      <p:sp>
        <p:nvSpPr>
          <p:cNvPr id="7" name="TextBox 6"/>
          <p:cNvSpPr txBox="1"/>
          <p:nvPr/>
        </p:nvSpPr>
        <p:spPr>
          <a:xfrm>
            <a:off x="6096000" y="2514600"/>
            <a:ext cx="5181600" cy="1676400"/>
          </a:xfrm>
          <a:prstGeom prst="rect">
            <a:avLst/>
          </a:prstGeom>
          <a:noFill/>
        </p:spPr>
        <p:txBody>
          <a:bodyPr wrap="square" lIns="0" rIns="0" tIns="0" bIns="0" anchor="t">
            <a:spAutoFit/>
          </a:bodyPr>
          <a:lstStyle/>
          <a:p>
            <a:pPr algn="r" rtl="1">
              <a:lnSpc>
                <a:spcPct val="100000"/>
              </a:lnSpc>
            </a:pPr>
            <a:r>
              <a:rPr sz="5759" b="1" lang="he-IL">
                <a:solidFill>
                  <a:srgbClr val="191A2E"/>
                </a:solidFill>
                <a:latin typeface="Heebo"/>
                <a:ea typeface="Heebo"/>
                <a:cs typeface="Heebo"/>
              </a:rPr>
              <a:t>את נמצאת</a:t>
            </a:r>
          </a:p>
          <a:p>
            <a:pPr algn="r" rtl="1">
              <a:lnSpc>
                <a:spcPct val="100000"/>
              </a:lnSpc>
            </a:pPr>
            <a:r>
              <a:rPr sz="5759" b="1" lang="he-IL">
                <a:solidFill>
                  <a:srgbClr val="EF55A5"/>
                </a:solidFill>
                <a:latin typeface="Heebo"/>
                <a:ea typeface="Heebo"/>
                <a:cs typeface="Heebo"/>
              </a:rPr>
              <a:t>כאן.</a:t>
            </a:r>
          </a:p>
        </p:txBody>
      </p:sp>
      <p:sp>
        <p:nvSpPr>
          <p:cNvPr id="8" name="TextBox 7"/>
          <p:cNvSpPr txBox="1"/>
          <p:nvPr/>
        </p:nvSpPr>
        <p:spPr>
          <a:xfrm>
            <a:off x="6096000" y="4267200"/>
            <a:ext cx="5181600" cy="1219200"/>
          </a:xfrm>
          <a:prstGeom prst="rect">
            <a:avLst/>
          </a:prstGeom>
          <a:noFill/>
        </p:spPr>
        <p:txBody>
          <a:bodyPr wrap="square" lIns="0" rIns="0" tIns="0" bIns="0" anchor="t">
            <a:spAutoFit/>
          </a:bodyPr>
          <a:lstStyle/>
          <a:p>
            <a:pPr algn="r" rtl="1">
              <a:lnSpc>
                <a:spcPct val="140000"/>
              </a:lnSpc>
            </a:pPr>
            <a:r>
              <a:rPr sz="1920" b="0" lang="he-IL">
                <a:solidFill>
                  <a:srgbClr val="6B6B7B"/>
                </a:solidFill>
                <a:latin typeface="Heebo"/>
                <a:ea typeface="Heebo"/>
                <a:cs typeface="Heebo"/>
              </a:rPr>
              <a:t>מהחלום, למספרים.</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48</a:t>
            </a:r>
          </a:p>
        </p:txBody>
      </p:sp>
      <p:sp>
        <p:nvSpPr>
          <p:cNvPr id="4" name="TextBox 3"/>
          <p:cNvSpPr txBox="1"/>
          <p:nvPr/>
        </p:nvSpPr>
        <p:spPr>
          <a:xfrm>
            <a:off x="914400" y="2382012"/>
            <a:ext cx="10363200" cy="1484376"/>
          </a:xfrm>
          <a:prstGeom prst="rect">
            <a:avLst/>
          </a:prstGeom>
          <a:noFill/>
        </p:spPr>
        <p:txBody>
          <a:bodyPr wrap="square" lIns="0" rIns="0" tIns="0" bIns="0" anchor="t">
            <a:spAutoFit/>
          </a:bodyPr>
          <a:lstStyle/>
          <a:p>
            <a:pPr algn="r" rtl="1">
              <a:lnSpc>
                <a:spcPct val="110000"/>
              </a:lnSpc>
            </a:pPr>
            <a:r>
              <a:rPr sz="4560" b="1" lang="he-IL">
                <a:solidFill>
                  <a:srgbClr val="191A2E"/>
                </a:solidFill>
                <a:latin typeface="Heebo"/>
                <a:ea typeface="Heebo"/>
                <a:cs typeface="Heebo"/>
              </a:rPr>
              <a:t>גם ווייז לא יודע לנווט</a:t>
            </a:r>
          </a:p>
          <a:p>
            <a:pPr algn="r" rtl="1">
              <a:lnSpc>
                <a:spcPct val="110000"/>
              </a:lnSpc>
            </a:pPr>
            <a:r>
              <a:rPr sz="4560" b="1" lang="he-IL">
                <a:solidFill>
                  <a:srgbClr val="EF55A5"/>
                </a:solidFill>
                <a:latin typeface="Heebo"/>
                <a:ea typeface="Heebo"/>
                <a:cs typeface="Heebo"/>
              </a:rPr>
              <a:t>בלי לדעת איפה את עומדת.</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49</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נקודת המוצא</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שני מספרים</a:t>
            </a:r>
          </a:p>
        </p:txBody>
      </p:sp>
      <p:sp>
        <p:nvSpPr>
          <p:cNvPr id="6" name="Rounded Rectangle 5"/>
          <p:cNvSpPr/>
          <p:nvPr/>
        </p:nvSpPr>
        <p:spPr>
          <a:xfrm>
            <a:off x="6202680" y="2514600"/>
            <a:ext cx="5074920" cy="30480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477000" y="2819400"/>
            <a:ext cx="4526280" cy="838200"/>
          </a:xfrm>
          <a:prstGeom prst="rect">
            <a:avLst/>
          </a:prstGeom>
          <a:noFill/>
        </p:spPr>
        <p:txBody>
          <a:bodyPr wrap="square" lIns="0" rIns="0" tIns="0" bIns="0" anchor="t">
            <a:spAutoFit/>
          </a:bodyPr>
          <a:lstStyle/>
          <a:p>
            <a:pPr algn="r" rtl="1">
              <a:lnSpc>
                <a:spcPct val="110000"/>
              </a:lnSpc>
            </a:pPr>
            <a:r>
              <a:rPr sz="3000" b="1" lang="he-IL">
                <a:solidFill>
                  <a:srgbClr val="191A2E"/>
                </a:solidFill>
                <a:latin typeface="Heebo"/>
                <a:ea typeface="Heebo"/>
                <a:cs typeface="Heebo"/>
              </a:rPr>
              <a:t>השווי הנקי</a:t>
            </a:r>
          </a:p>
        </p:txBody>
      </p:sp>
      <p:sp>
        <p:nvSpPr>
          <p:cNvPr id="8" name="TextBox 7"/>
          <p:cNvSpPr txBox="1"/>
          <p:nvPr/>
        </p:nvSpPr>
        <p:spPr>
          <a:xfrm>
            <a:off x="6477000" y="3429000"/>
            <a:ext cx="4526280" cy="1905000"/>
          </a:xfrm>
          <a:prstGeom prst="rect">
            <a:avLst/>
          </a:prstGeom>
          <a:noFill/>
        </p:spPr>
        <p:txBody>
          <a:bodyPr wrap="square" lIns="0" rIns="0" tIns="0" bIns="0" anchor="t">
            <a:spAutoFit/>
          </a:bodyPr>
          <a:lstStyle/>
          <a:p>
            <a:pPr algn="r" rtl="1">
              <a:lnSpc>
                <a:spcPct val="140000"/>
              </a:lnSpc>
            </a:pPr>
            <a:r>
              <a:rPr sz="2039" b="0" lang="he-IL">
                <a:solidFill>
                  <a:srgbClr val="191A2E"/>
                </a:solidFill>
                <a:latin typeface="Heebo"/>
                <a:ea typeface="Heebo"/>
                <a:cs typeface="Heebo"/>
              </a:rPr>
              <a:t>כמה יש לי. תמונת מצב.</a:t>
            </a:r>
          </a:p>
        </p:txBody>
      </p:sp>
      <p:sp>
        <p:nvSpPr>
          <p:cNvPr id="9" name="Rounded Rectangle 8"/>
          <p:cNvSpPr/>
          <p:nvPr/>
        </p:nvSpPr>
        <p:spPr>
          <a:xfrm>
            <a:off x="914400" y="2514600"/>
            <a:ext cx="5074920" cy="3048000"/>
          </a:xfrm>
          <a:prstGeom prst="roundRect">
            <a:avLst>
              <a:gd name="adj" fmla="val 8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188720" y="2819400"/>
            <a:ext cx="4526280" cy="838200"/>
          </a:xfrm>
          <a:prstGeom prst="rect">
            <a:avLst/>
          </a:prstGeom>
          <a:noFill/>
        </p:spPr>
        <p:txBody>
          <a:bodyPr wrap="square" lIns="0" rIns="0" tIns="0" bIns="0" anchor="t">
            <a:spAutoFit/>
          </a:bodyPr>
          <a:lstStyle/>
          <a:p>
            <a:pPr algn="r" rtl="1">
              <a:lnSpc>
                <a:spcPct val="110000"/>
              </a:lnSpc>
            </a:pPr>
            <a:r>
              <a:rPr sz="3000" b="1" lang="he-IL">
                <a:solidFill>
                  <a:srgbClr val="191A2E"/>
                </a:solidFill>
                <a:latin typeface="Heebo"/>
                <a:ea typeface="Heebo"/>
                <a:cs typeface="Heebo"/>
              </a:rPr>
              <a:t>התזרים</a:t>
            </a:r>
          </a:p>
        </p:txBody>
      </p:sp>
      <p:sp>
        <p:nvSpPr>
          <p:cNvPr id="11" name="TextBox 10"/>
          <p:cNvSpPr txBox="1"/>
          <p:nvPr/>
        </p:nvSpPr>
        <p:spPr>
          <a:xfrm>
            <a:off x="1188720" y="3429000"/>
            <a:ext cx="4526280" cy="1905000"/>
          </a:xfrm>
          <a:prstGeom prst="rect">
            <a:avLst/>
          </a:prstGeom>
          <a:noFill/>
        </p:spPr>
        <p:txBody>
          <a:bodyPr wrap="square" lIns="0" rIns="0" tIns="0" bIns="0" anchor="t">
            <a:spAutoFit/>
          </a:bodyPr>
          <a:lstStyle/>
          <a:p>
            <a:pPr algn="r" rtl="1">
              <a:lnSpc>
                <a:spcPct val="140000"/>
              </a:lnSpc>
            </a:pPr>
            <a:r>
              <a:rPr sz="2039" b="0" lang="he-IL">
                <a:solidFill>
                  <a:srgbClr val="191A2E"/>
                </a:solidFill>
                <a:latin typeface="Heebo"/>
                <a:ea typeface="Heebo"/>
                <a:cs typeface="Heebo"/>
              </a:rPr>
              <a:t>מה קורה לי כל חודש. הסרט, לא התמונה.</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50</a:t>
            </a:r>
          </a:p>
        </p:txBody>
      </p:sp>
      <p:sp>
        <p:nvSpPr>
          <p:cNvPr id="4" name="TextBox 3"/>
          <p:cNvSpPr txBox="1"/>
          <p:nvPr/>
        </p:nvSpPr>
        <p:spPr>
          <a:xfrm>
            <a:off x="914400" y="2112264"/>
            <a:ext cx="10363200" cy="1414272"/>
          </a:xfrm>
          <a:prstGeom prst="rect">
            <a:avLst/>
          </a:prstGeom>
          <a:noFill/>
        </p:spPr>
        <p:txBody>
          <a:bodyPr wrap="square" lIns="0" rIns="0" tIns="0" bIns="0" anchor="t">
            <a:spAutoFit/>
          </a:bodyPr>
          <a:lstStyle/>
          <a:p>
            <a:pPr algn="r" rtl="1">
              <a:lnSpc>
                <a:spcPct val="110000"/>
              </a:lnSpc>
            </a:pPr>
            <a:r>
              <a:rPr sz="4320" b="1" lang="he-IL">
                <a:solidFill>
                  <a:srgbClr val="191A2E"/>
                </a:solidFill>
                <a:latin typeface="Heebo"/>
                <a:ea typeface="Heebo"/>
                <a:cs typeface="Heebo"/>
              </a:rPr>
              <a:t>השווי הנקי:</a:t>
            </a:r>
          </a:p>
          <a:p>
            <a:pPr algn="r" rtl="1">
              <a:lnSpc>
                <a:spcPct val="110000"/>
              </a:lnSpc>
            </a:pPr>
            <a:r>
              <a:rPr sz="4320" b="1" lang="he-IL">
                <a:solidFill>
                  <a:srgbClr val="EF55A5"/>
                </a:solidFill>
                <a:latin typeface="Heebo"/>
                <a:ea typeface="Heebo"/>
                <a:cs typeface="Heebo"/>
              </a:rPr>
              <a:t>כל מה שיש לי, פחות כל מה שאני חייבת.</a:t>
            </a:r>
          </a:p>
        </p:txBody>
      </p:sp>
      <p:sp>
        <p:nvSpPr>
          <p:cNvPr id="5" name="TextBox 4"/>
          <p:cNvSpPr txBox="1"/>
          <p:nvPr/>
        </p:nvSpPr>
        <p:spPr>
          <a:xfrm>
            <a:off x="914400" y="3678936"/>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לא טוב ולא רע. נקודה על המפה.</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51</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השווי הנקי</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מה אוספות לסל</a:t>
            </a:r>
          </a:p>
        </p:txBody>
      </p:sp>
      <p:sp>
        <p:nvSpPr>
          <p:cNvPr id="6" name="Rounded Rectangle 5"/>
          <p:cNvSpPr/>
          <p:nvPr/>
        </p:nvSpPr>
        <p:spPr>
          <a:xfrm>
            <a:off x="7965440" y="2514600"/>
            <a:ext cx="331216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39760" y="2819400"/>
            <a:ext cx="2763520" cy="838200"/>
          </a:xfrm>
          <a:prstGeom prst="rect">
            <a:avLst/>
          </a:prstGeom>
          <a:noFill/>
        </p:spPr>
        <p:txBody>
          <a:bodyPr wrap="square" lIns="0" rIns="0" tIns="0" bIns="0" anchor="t">
            <a:spAutoFit/>
          </a:bodyPr>
          <a:lstStyle/>
          <a:p>
            <a:pPr algn="r" rtl="1">
              <a:lnSpc>
                <a:spcPct val="110000"/>
              </a:lnSpc>
            </a:pPr>
            <a:r>
              <a:rPr sz="2400" b="1" lang="he-IL">
                <a:solidFill>
                  <a:srgbClr val="191A2E"/>
                </a:solidFill>
                <a:latin typeface="Heebo"/>
                <a:ea typeface="Heebo"/>
                <a:cs typeface="Heebo"/>
              </a:rPr>
              <a:t>סופרות</a:t>
            </a:r>
          </a:p>
        </p:txBody>
      </p:sp>
      <p:sp>
        <p:nvSpPr>
          <p:cNvPr id="8" name="TextBox 7"/>
          <p:cNvSpPr txBox="1"/>
          <p:nvPr/>
        </p:nvSpPr>
        <p:spPr>
          <a:xfrm>
            <a:off x="8239760" y="3429000"/>
            <a:ext cx="276352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עו"ש · פיקדונות · קרן כספית · תיק השקעות · גמל להשקעה · קרן השתלמות · חיסכון לכל ילד · דירה (שווי משוער)</a:t>
            </a:r>
          </a:p>
        </p:txBody>
      </p:sp>
      <p:sp>
        <p:nvSpPr>
          <p:cNvPr id="9" name="Rounded Rectangle 8"/>
          <p:cNvSpPr/>
          <p:nvPr/>
        </p:nvSpPr>
        <p:spPr>
          <a:xfrm>
            <a:off x="4439920" y="2514600"/>
            <a:ext cx="3312160" cy="3048000"/>
          </a:xfrm>
          <a:prstGeom prst="roundRect">
            <a:avLst>
              <a:gd name="adj" fmla="val 8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4714240" y="2819400"/>
            <a:ext cx="2763520" cy="838200"/>
          </a:xfrm>
          <a:prstGeom prst="rect">
            <a:avLst/>
          </a:prstGeom>
          <a:noFill/>
        </p:spPr>
        <p:txBody>
          <a:bodyPr wrap="square" lIns="0" rIns="0" tIns="0" bIns="0" anchor="t">
            <a:spAutoFit/>
          </a:bodyPr>
          <a:lstStyle/>
          <a:p>
            <a:pPr algn="r" rtl="1">
              <a:lnSpc>
                <a:spcPct val="110000"/>
              </a:lnSpc>
            </a:pPr>
            <a:r>
              <a:rPr sz="2400" b="1" lang="he-IL">
                <a:solidFill>
                  <a:srgbClr val="191A2E"/>
                </a:solidFill>
                <a:latin typeface="Heebo"/>
                <a:ea typeface="Heebo"/>
                <a:cs typeface="Heebo"/>
              </a:rPr>
              <a:t>מורידות</a:t>
            </a:r>
          </a:p>
        </p:txBody>
      </p:sp>
      <p:sp>
        <p:nvSpPr>
          <p:cNvPr id="11" name="TextBox 10"/>
          <p:cNvSpPr txBox="1"/>
          <p:nvPr/>
        </p:nvSpPr>
        <p:spPr>
          <a:xfrm>
            <a:off x="4714240" y="3429000"/>
            <a:ext cx="276352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משכנתא · הלוואות · מינוס</a:t>
            </a:r>
          </a:p>
        </p:txBody>
      </p:sp>
      <p:sp>
        <p:nvSpPr>
          <p:cNvPr id="12" name="Rounded Rectangle 11"/>
          <p:cNvSpPr/>
          <p:nvPr/>
        </p:nvSpPr>
        <p:spPr>
          <a:xfrm>
            <a:off x="914400" y="2514600"/>
            <a:ext cx="3312160" cy="30480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188720" y="2819400"/>
            <a:ext cx="2763520" cy="838200"/>
          </a:xfrm>
          <a:prstGeom prst="rect">
            <a:avLst/>
          </a:prstGeom>
          <a:noFill/>
        </p:spPr>
        <p:txBody>
          <a:bodyPr wrap="square" lIns="0" rIns="0" tIns="0" bIns="0" anchor="t">
            <a:spAutoFit/>
          </a:bodyPr>
          <a:lstStyle/>
          <a:p>
            <a:pPr algn="r" rtl="1">
              <a:lnSpc>
                <a:spcPct val="110000"/>
              </a:lnSpc>
            </a:pPr>
            <a:r>
              <a:rPr sz="2400" b="1" lang="he-IL">
                <a:solidFill>
                  <a:srgbClr val="191A2E"/>
                </a:solidFill>
                <a:latin typeface="Heebo"/>
                <a:ea typeface="Heebo"/>
                <a:cs typeface="Heebo"/>
              </a:rPr>
              <a:t>בהמשך, עם הסוכן</a:t>
            </a:r>
          </a:p>
        </p:txBody>
      </p:sp>
      <p:sp>
        <p:nvSpPr>
          <p:cNvPr id="14" name="TextBox 13"/>
          <p:cNvSpPr txBox="1"/>
          <p:nvPr/>
        </p:nvSpPr>
        <p:spPr>
          <a:xfrm>
            <a:off x="1188720" y="3429000"/>
            <a:ext cx="276352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התיק הפנסיוני. לא צריך להתעסק בו עכשיו.</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52</a:t>
            </a:r>
          </a:p>
        </p:txBody>
      </p:sp>
      <p:pic>
        <p:nvPicPr>
          <p:cNvPr id="4" name="Picture 3" descr="s21_coins.jpg"/>
          <p:cNvPicPr>
            <a:picLocks noChangeAspect="1"/>
          </p:cNvPicPr>
          <p:nvPr/>
        </p:nvPicPr>
        <p:blipFill>
          <a:blip r:embed="rId3"/>
          <a:stretch>
            <a:fillRect/>
          </a:stretch>
        </p:blipFill>
        <p:spPr>
          <a:xfrm>
            <a:off x="914400" y="1524000"/>
            <a:ext cx="3505200" cy="3505200"/>
          </a:xfrm>
          <a:prstGeom prst="roundRect">
            <a:avLst>
              <a:gd name="adj" fmla="val 8000"/>
            </a:avLst>
          </a:prstGeom>
        </p:spPr>
      </p:pic>
      <p:sp>
        <p:nvSpPr>
          <p:cNvPr id="5" name="TextBox 4"/>
          <p:cNvSpPr txBox="1"/>
          <p:nvPr/>
        </p:nvSpPr>
        <p:spPr>
          <a:xfrm>
            <a:off x="4876800" y="838200"/>
            <a:ext cx="64008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ציד האוצר 🔍</a:t>
            </a:r>
          </a:p>
        </p:txBody>
      </p:sp>
      <p:sp>
        <p:nvSpPr>
          <p:cNvPr id="6" name="TextBox 5"/>
          <p:cNvSpPr txBox="1"/>
          <p:nvPr/>
        </p:nvSpPr>
        <p:spPr>
          <a:xfrm>
            <a:off x="4876800" y="1219200"/>
            <a:ext cx="6400800" cy="685800"/>
          </a:xfrm>
          <a:prstGeom prst="rect">
            <a:avLst/>
          </a:prstGeom>
          <a:noFill/>
        </p:spPr>
        <p:txBody>
          <a:bodyPr wrap="square" lIns="0" rIns="0" tIns="0" bIns="0" anchor="t">
            <a:spAutoFit/>
          </a:bodyPr>
          <a:lstStyle/>
          <a:p>
            <a:pPr algn="r" rtl="1">
              <a:lnSpc>
                <a:spcPct val="110000"/>
              </a:lnSpc>
            </a:pPr>
            <a:r>
              <a:rPr sz="3240" b="1" lang="he-IL">
                <a:solidFill>
                  <a:srgbClr val="191A2E"/>
                </a:solidFill>
                <a:latin typeface="Heebo"/>
                <a:ea typeface="Heebo"/>
                <a:cs typeface="Heebo"/>
              </a:rPr>
              <a:t>והכסף שלא ידעת שקיים</a:t>
            </a:r>
          </a:p>
        </p:txBody>
      </p:sp>
      <p:sp>
        <p:nvSpPr>
          <p:cNvPr id="7" name="Oval 6"/>
          <p:cNvSpPr/>
          <p:nvPr/>
        </p:nvSpPr>
        <p:spPr>
          <a:xfrm>
            <a:off x="11155680" y="242316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876800" y="2286000"/>
            <a:ext cx="6065520" cy="876300"/>
          </a:xfrm>
          <a:prstGeom prst="rect">
            <a:avLst/>
          </a:prstGeom>
          <a:noFill/>
        </p:spPr>
        <p:txBody>
          <a:bodyPr wrap="square" lIns="0" rIns="0" tIns="0" bIns="0" anchor="t">
            <a:spAutoFit/>
          </a:bodyPr>
          <a:lstStyle/>
          <a:p>
            <a:pPr algn="r" rtl="1">
              <a:lnSpc>
                <a:spcPct val="130000"/>
              </a:lnSpc>
            </a:pPr>
            <a:r>
              <a:rPr sz="1859" b="0" lang="he-IL">
                <a:solidFill>
                  <a:srgbClr val="191A2E"/>
                </a:solidFill>
                <a:latin typeface="Heebo"/>
                <a:ea typeface="Heebo"/>
                <a:cs typeface="Heebo"/>
              </a:rPr>
              <a:t>כסף מההורים, מסבתא, ירושה או מתנה שמחכה</a:t>
            </a:r>
          </a:p>
        </p:txBody>
      </p:sp>
      <p:sp>
        <p:nvSpPr>
          <p:cNvPr id="9" name="Oval 8"/>
          <p:cNvSpPr/>
          <p:nvPr/>
        </p:nvSpPr>
        <p:spPr>
          <a:xfrm>
            <a:off x="11155680" y="329946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4876800" y="3162300"/>
            <a:ext cx="6065520" cy="876300"/>
          </a:xfrm>
          <a:prstGeom prst="rect">
            <a:avLst/>
          </a:prstGeom>
          <a:noFill/>
        </p:spPr>
        <p:txBody>
          <a:bodyPr wrap="square" lIns="0" rIns="0" tIns="0" bIns="0" anchor="t">
            <a:spAutoFit/>
          </a:bodyPr>
          <a:lstStyle/>
          <a:p>
            <a:pPr algn="r" rtl="1">
              <a:lnSpc>
                <a:spcPct val="130000"/>
              </a:lnSpc>
            </a:pPr>
            <a:r>
              <a:rPr sz="1859" b="0" lang="he-IL">
                <a:solidFill>
                  <a:srgbClr val="191A2E"/>
                </a:solidFill>
                <a:latin typeface="Heebo"/>
                <a:ea typeface="Heebo"/>
                <a:cs typeface="Heebo"/>
              </a:rPr>
              <a:t>חיסכון ישן ”לא מעניין“, קופות ממקום עבודה ישן</a:t>
            </a:r>
          </a:p>
        </p:txBody>
      </p:sp>
      <p:sp>
        <p:nvSpPr>
          <p:cNvPr id="11" name="Oval 10"/>
          <p:cNvSpPr/>
          <p:nvPr/>
        </p:nvSpPr>
        <p:spPr>
          <a:xfrm>
            <a:off x="11155680" y="417576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4876800" y="4038600"/>
            <a:ext cx="6065520" cy="876300"/>
          </a:xfrm>
          <a:prstGeom prst="rect">
            <a:avLst/>
          </a:prstGeom>
          <a:noFill/>
        </p:spPr>
        <p:txBody>
          <a:bodyPr wrap="square" lIns="0" rIns="0" tIns="0" bIns="0" anchor="t">
            <a:spAutoFit/>
          </a:bodyPr>
          <a:lstStyle/>
          <a:p>
            <a:pPr algn="r" rtl="1">
              <a:lnSpc>
                <a:spcPct val="130000"/>
              </a:lnSpc>
            </a:pPr>
            <a:r>
              <a:rPr sz="1859" b="0" lang="he-IL">
                <a:solidFill>
                  <a:srgbClr val="191A2E"/>
                </a:solidFill>
                <a:latin typeface="Heebo"/>
                <a:ea typeface="Heebo"/>
                <a:cs typeface="Heebo"/>
              </a:rPr>
              <a:t>הר הכסף · ביטוחים כפולים</a:t>
            </a:r>
          </a:p>
        </p:txBody>
      </p:sp>
      <p:sp>
        <p:nvSpPr>
          <p:cNvPr id="13" name="Oval 12"/>
          <p:cNvSpPr/>
          <p:nvPr/>
        </p:nvSpPr>
        <p:spPr>
          <a:xfrm>
            <a:off x="11155680" y="505206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876800" y="4914900"/>
            <a:ext cx="6065520" cy="876300"/>
          </a:xfrm>
          <a:prstGeom prst="rect">
            <a:avLst/>
          </a:prstGeom>
          <a:noFill/>
        </p:spPr>
        <p:txBody>
          <a:bodyPr wrap="square" lIns="0" rIns="0" tIns="0" bIns="0" anchor="t">
            <a:spAutoFit/>
          </a:bodyPr>
          <a:lstStyle/>
          <a:p>
            <a:pPr algn="r" rtl="1">
              <a:lnSpc>
                <a:spcPct val="130000"/>
              </a:lnSpc>
            </a:pPr>
            <a:r>
              <a:rPr sz="1859" b="0" lang="he-IL">
                <a:solidFill>
                  <a:srgbClr val="191A2E"/>
                </a:solidFill>
                <a:latin typeface="Heebo"/>
                <a:ea typeface="Heebo"/>
                <a:cs typeface="Heebo"/>
              </a:rPr>
              <a:t>פיקדון שכירות · כסף שחייבים לך</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53</a:t>
            </a:r>
          </a:p>
        </p:txBody>
      </p:sp>
      <p:sp>
        <p:nvSpPr>
          <p:cNvPr id="4" name="TextBox 3"/>
          <p:cNvSpPr txBox="1"/>
          <p:nvPr/>
        </p:nvSpPr>
        <p:spPr>
          <a:xfrm>
            <a:off x="914400" y="1604010"/>
            <a:ext cx="10363200" cy="2430780"/>
          </a:xfrm>
          <a:prstGeom prst="rect">
            <a:avLst/>
          </a:prstGeom>
          <a:noFill/>
        </p:spPr>
        <p:txBody>
          <a:bodyPr wrap="square" lIns="0" rIns="0" tIns="0" bIns="0" anchor="t">
            <a:spAutoFit/>
          </a:bodyPr>
          <a:lstStyle/>
          <a:p>
            <a:pPr algn="r" rtl="1">
              <a:lnSpc>
                <a:spcPct val="110000"/>
              </a:lnSpc>
            </a:pPr>
            <a:r>
              <a:rPr sz="7800" b="1" lang="he-IL">
                <a:solidFill>
                  <a:srgbClr val="191A2E"/>
                </a:solidFill>
                <a:latin typeface="Heebo"/>
                <a:ea typeface="Heebo"/>
                <a:cs typeface="Heebo"/>
              </a:rPr>
              <a:t>להרים כסף</a:t>
            </a:r>
          </a:p>
          <a:p>
            <a:pPr algn="r" rtl="1">
              <a:lnSpc>
                <a:spcPct val="110000"/>
              </a:lnSpc>
            </a:pPr>
            <a:r>
              <a:rPr sz="7800" b="1" lang="he-IL">
                <a:solidFill>
                  <a:srgbClr val="EF55A5"/>
                </a:solidFill>
                <a:latin typeface="Heebo"/>
                <a:ea typeface="Heebo"/>
                <a:cs typeface="Heebo"/>
              </a:rPr>
              <a:t>מהרצפה.</a:t>
            </a:r>
          </a:p>
        </p:txBody>
      </p:sp>
      <p:sp>
        <p:nvSpPr>
          <p:cNvPr id="5" name="TextBox 4"/>
          <p:cNvSpPr txBox="1"/>
          <p:nvPr/>
        </p:nvSpPr>
        <p:spPr>
          <a:xfrm>
            <a:off x="914400" y="4187190"/>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המטרה של השבוע: לאסוף את כל הנתונים, ולאתר כל שקל שהלך לאיבוד.</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54</a:t>
            </a:r>
          </a:p>
        </p:txBody>
      </p:sp>
      <p:sp>
        <p:nvSpPr>
          <p:cNvPr id="4" name="TextBox 3"/>
          <p:cNvSpPr txBox="1"/>
          <p:nvPr/>
        </p:nvSpPr>
        <p:spPr>
          <a:xfrm>
            <a:off x="914400" y="9906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נקודת המוצא · המספר השני</a:t>
            </a:r>
          </a:p>
        </p:txBody>
      </p:sp>
      <p:sp>
        <p:nvSpPr>
          <p:cNvPr id="5" name="TextBox 4"/>
          <p:cNvSpPr txBox="1"/>
          <p:nvPr/>
        </p:nvSpPr>
        <p:spPr>
          <a:xfrm>
            <a:off x="914400" y="1371600"/>
            <a:ext cx="10363200" cy="685800"/>
          </a:xfrm>
          <a:prstGeom prst="rect">
            <a:avLst/>
          </a:prstGeom>
          <a:noFill/>
        </p:spPr>
        <p:txBody>
          <a:bodyPr wrap="square" lIns="0" rIns="0" tIns="0" bIns="0" anchor="t">
            <a:spAutoFit/>
          </a:bodyPr>
          <a:lstStyle/>
          <a:p>
            <a:pPr algn="r" rtl="1">
              <a:lnSpc>
                <a:spcPct val="115000"/>
              </a:lnSpc>
            </a:pPr>
            <a:r>
              <a:rPr sz="3840" b="1" lang="he-IL">
                <a:solidFill>
                  <a:srgbClr val="191A2E"/>
                </a:solidFill>
                <a:latin typeface="Heebo"/>
                <a:ea typeface="Heebo"/>
                <a:cs typeface="Heebo"/>
              </a:rPr>
              <a:t>התזרים</a:t>
            </a:r>
          </a:p>
        </p:txBody>
      </p:sp>
      <p:sp>
        <p:nvSpPr>
          <p:cNvPr id="6" name="Rounded Rectangle 5"/>
          <p:cNvSpPr/>
          <p:nvPr/>
        </p:nvSpPr>
        <p:spPr>
          <a:xfrm>
            <a:off x="8056880" y="2895600"/>
            <a:ext cx="3220720" cy="1600200"/>
          </a:xfrm>
          <a:prstGeom prst="roundRect">
            <a:avLst>
              <a:gd name="adj" fmla="val 14285"/>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2400" b="1" lang="he-IL">
                <a:solidFill>
                  <a:srgbClr val="191A2E"/>
                </a:solidFill>
                <a:latin typeface="Heebo"/>
                <a:ea typeface="Heebo"/>
                <a:cs typeface="Heebo"/>
              </a:rPr>
              <a:t>נכנס</a:t>
            </a:r>
          </a:p>
        </p:txBody>
      </p:sp>
      <p:sp>
        <p:nvSpPr>
          <p:cNvPr id="7" name="TextBox 6"/>
          <p:cNvSpPr txBox="1"/>
          <p:nvPr/>
        </p:nvSpPr>
        <p:spPr>
          <a:xfrm>
            <a:off x="7706360"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8" name="Rounded Rectangle 7"/>
          <p:cNvSpPr/>
          <p:nvPr/>
        </p:nvSpPr>
        <p:spPr>
          <a:xfrm>
            <a:off x="4485640" y="2895600"/>
            <a:ext cx="3220720" cy="1600200"/>
          </a:xfrm>
          <a:prstGeom prst="roundRect">
            <a:avLst>
              <a:gd name="adj" fmla="val 14285"/>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2400" b="1" lang="he-IL">
                <a:solidFill>
                  <a:srgbClr val="191A2E"/>
                </a:solidFill>
                <a:latin typeface="Heebo"/>
                <a:ea typeface="Heebo"/>
                <a:cs typeface="Heebo"/>
              </a:rPr>
              <a:t>יוצא</a:t>
            </a:r>
          </a:p>
        </p:txBody>
      </p:sp>
      <p:sp>
        <p:nvSpPr>
          <p:cNvPr id="9" name="TextBox 8"/>
          <p:cNvSpPr txBox="1"/>
          <p:nvPr/>
        </p:nvSpPr>
        <p:spPr>
          <a:xfrm>
            <a:off x="4135120"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10" name="Rounded Rectangle 9"/>
          <p:cNvSpPr/>
          <p:nvPr/>
        </p:nvSpPr>
        <p:spPr>
          <a:xfrm>
            <a:off x="914400" y="2895600"/>
            <a:ext cx="3220720" cy="1600200"/>
          </a:xfrm>
          <a:prstGeom prst="roundRect">
            <a:avLst>
              <a:gd name="adj" fmla="val 14285"/>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2400" b="1" lang="he-IL">
                <a:solidFill>
                  <a:srgbClr val="191A2E"/>
                </a:solidFill>
                <a:latin typeface="Heebo"/>
                <a:ea typeface="Heebo"/>
                <a:cs typeface="Heebo"/>
              </a:rPr>
              <a:t>מה שנשאר</a:t>
            </a:r>
          </a:p>
        </p:txBody>
      </p:sp>
      <p:sp>
        <p:nvSpPr>
          <p:cNvPr id="11" name="TextBox 10"/>
          <p:cNvSpPr txBox="1"/>
          <p:nvPr/>
        </p:nvSpPr>
        <p:spPr>
          <a:xfrm>
            <a:off x="914400" y="4953000"/>
            <a:ext cx="10363200" cy="9144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ומה שנשאר הוא הדלק של כל המצפן.</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55</a:t>
            </a:r>
          </a:p>
        </p:txBody>
      </p:sp>
      <p:sp>
        <p:nvSpPr>
          <p:cNvPr id="4" name="TextBox 3"/>
          <p:cNvSpPr txBox="1"/>
          <p:nvPr/>
        </p:nvSpPr>
        <p:spPr>
          <a:xfrm>
            <a:off x="914400" y="1821180"/>
            <a:ext cx="10363200" cy="2606040"/>
          </a:xfrm>
          <a:prstGeom prst="rect">
            <a:avLst/>
          </a:prstGeom>
          <a:noFill/>
        </p:spPr>
        <p:txBody>
          <a:bodyPr wrap="square" lIns="0" rIns="0" tIns="0" bIns="0" anchor="t">
            <a:spAutoFit/>
          </a:bodyPr>
          <a:lstStyle/>
          <a:p>
            <a:pPr algn="r" rtl="1">
              <a:lnSpc>
                <a:spcPct val="110000"/>
              </a:lnSpc>
            </a:pPr>
            <a:r>
              <a:rPr sz="8400" b="1" lang="he-IL">
                <a:solidFill>
                  <a:srgbClr val="191A2E"/>
                </a:solidFill>
                <a:latin typeface="Heebo"/>
                <a:ea typeface="Heebo"/>
                <a:cs typeface="Heebo"/>
              </a:rPr>
              <a:t>התזרים</a:t>
            </a:r>
          </a:p>
          <a:p>
            <a:pPr algn="r" rtl="1">
              <a:lnSpc>
                <a:spcPct val="110000"/>
              </a:lnSpc>
            </a:pPr>
            <a:r>
              <a:rPr sz="8400" b="1" lang="he-IL">
                <a:solidFill>
                  <a:srgbClr val="EF55A5"/>
                </a:solidFill>
                <a:latin typeface="Heebo"/>
                <a:ea typeface="Heebo"/>
                <a:cs typeface="Heebo"/>
              </a:rPr>
              <a:t>הוא המלך. 👑</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56</a:t>
            </a:r>
          </a:p>
        </p:txBody>
      </p:sp>
      <p:sp>
        <p:nvSpPr>
          <p:cNvPr id="4" name="TextBox 3"/>
          <p:cNvSpPr txBox="1"/>
          <p:nvPr/>
        </p:nvSpPr>
        <p:spPr>
          <a:xfrm>
            <a:off x="10515600" y="1143000"/>
            <a:ext cx="762000" cy="914400"/>
          </a:xfrm>
          <a:prstGeom prst="rect">
            <a:avLst/>
          </a:prstGeom>
          <a:noFill/>
        </p:spPr>
        <p:txBody>
          <a:bodyPr wrap="square" lIns="0" rIns="0" tIns="0" bIns="0" anchor="t">
            <a:spAutoFit/>
          </a:bodyPr>
          <a:lstStyle/>
          <a:p>
            <a:pPr algn="r" rtl="1">
              <a:lnSpc>
                <a:spcPct val="80000"/>
              </a:lnSpc>
            </a:pPr>
            <a:r>
              <a:rPr sz="10200" b="1" lang="he-IL">
                <a:solidFill>
                  <a:srgbClr val="EF55A5"/>
                </a:solidFill>
                <a:latin typeface="Heebo"/>
                <a:ea typeface="Heebo"/>
                <a:cs typeface="Heebo"/>
              </a:rPr>
              <a:t>”</a:t>
            </a:r>
          </a:p>
        </p:txBody>
      </p:sp>
      <p:sp>
        <p:nvSpPr>
          <p:cNvPr id="5" name="TextBox 4"/>
          <p:cNvSpPr txBox="1"/>
          <p:nvPr/>
        </p:nvSpPr>
        <p:spPr>
          <a:xfrm>
            <a:off x="914400" y="2286000"/>
            <a:ext cx="10363200" cy="2286000"/>
          </a:xfrm>
          <a:prstGeom prst="rect">
            <a:avLst/>
          </a:prstGeom>
          <a:noFill/>
        </p:spPr>
        <p:txBody>
          <a:bodyPr wrap="square" lIns="0" rIns="0" tIns="0" bIns="0" anchor="t">
            <a:spAutoFit/>
          </a:bodyPr>
          <a:lstStyle/>
          <a:p>
            <a:pPr algn="r" rtl="1">
              <a:lnSpc>
                <a:spcPct val="130000"/>
              </a:lnSpc>
            </a:pPr>
            <a:r>
              <a:rPr sz="3719" b="1" lang="he-IL">
                <a:solidFill>
                  <a:srgbClr val="191A2E"/>
                </a:solidFill>
                <a:latin typeface="Heebo"/>
                <a:ea typeface="Heebo"/>
                <a:cs typeface="Heebo"/>
              </a:rPr>
              <a:t>לא משנה כמה כסף את מרוויחה. משנה כמה כסף את שומרת.</a:t>
            </a:r>
          </a:p>
        </p:txBody>
      </p:sp>
      <p:sp>
        <p:nvSpPr>
          <p:cNvPr id="6" name="Rounded Rectangle 5"/>
          <p:cNvSpPr/>
          <p:nvPr/>
        </p:nvSpPr>
        <p:spPr>
          <a:xfrm>
            <a:off x="10942320" y="5029200"/>
            <a:ext cx="335280" cy="30480"/>
          </a:xfrm>
          <a:prstGeom prst="roundRect">
            <a:avLst>
              <a:gd name="adj" fmla="val 50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48400" y="4892040"/>
            <a:ext cx="4541520" cy="304800"/>
          </a:xfrm>
          <a:prstGeom prst="rect">
            <a:avLst/>
          </a:prstGeom>
          <a:noFill/>
        </p:spPr>
        <p:txBody>
          <a:bodyPr wrap="square" lIns="0" rIns="0" tIns="0" bIns="0" anchor="t">
            <a:spAutoFit/>
          </a:bodyPr>
          <a:lstStyle/>
          <a:p>
            <a:pPr algn="r" rtl="1">
              <a:lnSpc>
                <a:spcPct val="115000"/>
              </a:lnSpc>
            </a:pPr>
            <a:r>
              <a:rPr sz="1560" b="1" lang="he-IL">
                <a:solidFill>
                  <a:srgbClr val="191A2E"/>
                </a:solidFill>
                <a:latin typeface="Heebo"/>
                <a:ea typeface="Heebo"/>
                <a:cs typeface="Heebo"/>
              </a:rPr>
              <a:t>רוברט קיוסאקי</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57</a:t>
            </a:r>
          </a:p>
        </p:txBody>
      </p:sp>
      <p:sp>
        <p:nvSpPr>
          <p:cNvPr id="4" name="TextBox 3"/>
          <p:cNvSpPr txBox="1"/>
          <p:nvPr/>
        </p:nvSpPr>
        <p:spPr>
          <a:xfrm>
            <a:off x="914400" y="1691640"/>
            <a:ext cx="10363200" cy="2255520"/>
          </a:xfrm>
          <a:prstGeom prst="rect">
            <a:avLst/>
          </a:prstGeom>
          <a:noFill/>
        </p:spPr>
        <p:txBody>
          <a:bodyPr wrap="square" lIns="0" rIns="0" tIns="0" bIns="0" anchor="t">
            <a:spAutoFit/>
          </a:bodyPr>
          <a:lstStyle/>
          <a:p>
            <a:pPr algn="r" rtl="1">
              <a:lnSpc>
                <a:spcPct val="110000"/>
              </a:lnSpc>
            </a:pPr>
            <a:r>
              <a:rPr sz="7200" b="1" lang="he-IL">
                <a:solidFill>
                  <a:srgbClr val="191A2E"/>
                </a:solidFill>
                <a:latin typeface="Heebo"/>
                <a:ea typeface="Heebo"/>
                <a:cs typeface="Heebo"/>
              </a:rPr>
              <a:t>הכלל:</a:t>
            </a:r>
          </a:p>
          <a:p>
            <a:pPr algn="r" rtl="1">
              <a:lnSpc>
                <a:spcPct val="110000"/>
              </a:lnSpc>
            </a:pPr>
            <a:r>
              <a:rPr sz="7200" b="1" lang="he-IL">
                <a:solidFill>
                  <a:srgbClr val="EF55A5"/>
                </a:solidFill>
                <a:latin typeface="Heebo"/>
                <a:ea typeface="Heebo"/>
                <a:cs typeface="Heebo"/>
              </a:rPr>
              <a:t>תמיד בפלוס. ➕</a:t>
            </a:r>
          </a:p>
        </p:txBody>
      </p:sp>
      <p:sp>
        <p:nvSpPr>
          <p:cNvPr id="5" name="TextBox 4"/>
          <p:cNvSpPr txBox="1"/>
          <p:nvPr/>
        </p:nvSpPr>
        <p:spPr>
          <a:xfrm>
            <a:off x="914400" y="4099560"/>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כל חודש נגמר בפלוס, גם אם קטן.</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58</a:t>
            </a:r>
          </a:p>
        </p:txBody>
      </p:sp>
      <p:sp>
        <p:nvSpPr>
          <p:cNvPr id="4" name="TextBox 3"/>
          <p:cNvSpPr txBox="1"/>
          <p:nvPr/>
        </p:nvSpPr>
        <p:spPr>
          <a:xfrm>
            <a:off x="914400" y="838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ניהול תקציב = סדרי עדיפויות</a:t>
            </a:r>
          </a:p>
        </p:txBody>
      </p:sp>
      <p:sp>
        <p:nvSpPr>
          <p:cNvPr id="5" name="Rounded Rectangle 4"/>
          <p:cNvSpPr/>
          <p:nvPr/>
        </p:nvSpPr>
        <p:spPr>
          <a:xfrm>
            <a:off x="8846820" y="2057400"/>
            <a:ext cx="2430780" cy="30480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121140" y="2362200"/>
            <a:ext cx="1882140" cy="838200"/>
          </a:xfrm>
          <a:prstGeom prst="rect">
            <a:avLst/>
          </a:prstGeom>
          <a:noFill/>
        </p:spPr>
        <p:txBody>
          <a:bodyPr wrap="square" lIns="0" rIns="0" tIns="0" bIns="0" anchor="t">
            <a:spAutoFit/>
          </a:bodyPr>
          <a:lstStyle/>
          <a:p>
            <a:pPr algn="r" rtl="1">
              <a:lnSpc>
                <a:spcPct val="110000"/>
              </a:lnSpc>
            </a:pPr>
            <a:r>
              <a:rPr sz="2520" b="1" lang="he-IL">
                <a:solidFill>
                  <a:srgbClr val="191A2E"/>
                </a:solidFill>
                <a:latin typeface="Heebo"/>
                <a:ea typeface="Heebo"/>
                <a:cs typeface="Heebo"/>
              </a:rPr>
              <a:t>חובה</a:t>
            </a:r>
          </a:p>
        </p:txBody>
      </p:sp>
      <p:sp>
        <p:nvSpPr>
          <p:cNvPr id="7" name="TextBox 6"/>
          <p:cNvSpPr txBox="1"/>
          <p:nvPr/>
        </p:nvSpPr>
        <p:spPr>
          <a:xfrm>
            <a:off x="9121140" y="2971800"/>
            <a:ext cx="188214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דיור, מזון, חשבונות, ביטוחים</a:t>
            </a:r>
          </a:p>
        </p:txBody>
      </p:sp>
      <p:sp>
        <p:nvSpPr>
          <p:cNvPr id="8" name="Rounded Rectangle 7"/>
          <p:cNvSpPr/>
          <p:nvPr/>
        </p:nvSpPr>
        <p:spPr>
          <a:xfrm>
            <a:off x="6202680" y="2057400"/>
            <a:ext cx="243078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6477000" y="2362200"/>
            <a:ext cx="1882140" cy="838200"/>
          </a:xfrm>
          <a:prstGeom prst="rect">
            <a:avLst/>
          </a:prstGeom>
          <a:noFill/>
        </p:spPr>
        <p:txBody>
          <a:bodyPr wrap="square" lIns="0" rIns="0" tIns="0" bIns="0" anchor="t">
            <a:spAutoFit/>
          </a:bodyPr>
          <a:lstStyle/>
          <a:p>
            <a:pPr algn="r" rtl="1">
              <a:lnSpc>
                <a:spcPct val="110000"/>
              </a:lnSpc>
            </a:pPr>
            <a:r>
              <a:rPr sz="2520" b="1" lang="he-IL">
                <a:solidFill>
                  <a:srgbClr val="191A2E"/>
                </a:solidFill>
                <a:latin typeface="Heebo"/>
                <a:ea typeface="Heebo"/>
                <a:cs typeface="Heebo"/>
              </a:rPr>
              <a:t>חשוב לי</a:t>
            </a:r>
          </a:p>
        </p:txBody>
      </p:sp>
      <p:sp>
        <p:nvSpPr>
          <p:cNvPr id="10" name="TextBox 9"/>
          <p:cNvSpPr txBox="1"/>
          <p:nvPr/>
        </p:nvSpPr>
        <p:spPr>
          <a:xfrm>
            <a:off x="6477000" y="2971800"/>
            <a:ext cx="188214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מה שעושה לי טוב, בבחירה</a:t>
            </a:r>
          </a:p>
        </p:txBody>
      </p:sp>
      <p:sp>
        <p:nvSpPr>
          <p:cNvPr id="11" name="Rounded Rectangle 10"/>
          <p:cNvSpPr/>
          <p:nvPr/>
        </p:nvSpPr>
        <p:spPr>
          <a:xfrm>
            <a:off x="3558540" y="2057400"/>
            <a:ext cx="2430780" cy="3048000"/>
          </a:xfrm>
          <a:prstGeom prst="roundRect">
            <a:avLst>
              <a:gd name="adj" fmla="val 8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3832860" y="2362200"/>
            <a:ext cx="1882140" cy="838200"/>
          </a:xfrm>
          <a:prstGeom prst="rect">
            <a:avLst/>
          </a:prstGeom>
          <a:noFill/>
        </p:spPr>
        <p:txBody>
          <a:bodyPr wrap="square" lIns="0" rIns="0" tIns="0" bIns="0" anchor="t">
            <a:spAutoFit/>
          </a:bodyPr>
          <a:lstStyle/>
          <a:p>
            <a:pPr algn="r" rtl="1">
              <a:lnSpc>
                <a:spcPct val="110000"/>
              </a:lnSpc>
            </a:pPr>
            <a:r>
              <a:rPr sz="2520" b="1" lang="he-IL">
                <a:solidFill>
                  <a:srgbClr val="191A2E"/>
                </a:solidFill>
                <a:latin typeface="Heebo"/>
                <a:ea typeface="Heebo"/>
                <a:cs typeface="Heebo"/>
              </a:rPr>
              <a:t>נחמד שיש</a:t>
            </a:r>
          </a:p>
        </p:txBody>
      </p:sp>
      <p:sp>
        <p:nvSpPr>
          <p:cNvPr id="13" name="TextBox 12"/>
          <p:cNvSpPr txBox="1"/>
          <p:nvPr/>
        </p:nvSpPr>
        <p:spPr>
          <a:xfrm>
            <a:off x="3832860" y="2971800"/>
            <a:ext cx="188214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אפשר פחות, אפשר אחר כך</a:t>
            </a:r>
          </a:p>
        </p:txBody>
      </p:sp>
      <p:sp>
        <p:nvSpPr>
          <p:cNvPr id="14" name="Rounded Rectangle 13"/>
          <p:cNvSpPr/>
          <p:nvPr/>
        </p:nvSpPr>
        <p:spPr>
          <a:xfrm>
            <a:off x="914400" y="2057400"/>
            <a:ext cx="2430780" cy="3048000"/>
          </a:xfrm>
          <a:prstGeom prst="roundRect">
            <a:avLst>
              <a:gd name="adj" fmla="val 8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1188720" y="2362200"/>
            <a:ext cx="1882140" cy="838200"/>
          </a:xfrm>
          <a:prstGeom prst="rect">
            <a:avLst/>
          </a:prstGeom>
          <a:noFill/>
        </p:spPr>
        <p:txBody>
          <a:bodyPr wrap="square" lIns="0" rIns="0" tIns="0" bIns="0" anchor="t">
            <a:spAutoFit/>
          </a:bodyPr>
          <a:lstStyle/>
          <a:p>
            <a:pPr algn="r" rtl="1">
              <a:lnSpc>
                <a:spcPct val="110000"/>
              </a:lnSpc>
            </a:pPr>
            <a:r>
              <a:rPr sz="2520" b="1" lang="he-IL">
                <a:solidFill>
                  <a:srgbClr val="191A2E"/>
                </a:solidFill>
                <a:latin typeface="Heebo"/>
                <a:ea typeface="Heebo"/>
                <a:cs typeface="Heebo"/>
              </a:rPr>
              <a:t>נזילה</a:t>
            </a:r>
          </a:p>
        </p:txBody>
      </p:sp>
      <p:sp>
        <p:nvSpPr>
          <p:cNvPr id="16" name="TextBox 15"/>
          <p:cNvSpPr txBox="1"/>
          <p:nvPr/>
        </p:nvSpPr>
        <p:spPr>
          <a:xfrm>
            <a:off x="1188720" y="2971800"/>
            <a:ext cx="188214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הולך בלי שבחרתי בו</a:t>
            </a:r>
          </a:p>
        </p:txBody>
      </p:sp>
      <p:sp>
        <p:nvSpPr>
          <p:cNvPr id="17" name="TextBox 16"/>
          <p:cNvSpPr txBox="1"/>
          <p:nvPr/>
        </p:nvSpPr>
        <p:spPr>
          <a:xfrm>
            <a:off x="914400" y="55626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תקציב הוא לא דיאטה. הוא החלטה לאן הכסף שלי הולך.</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59</a:t>
            </a:r>
          </a:p>
        </p:txBody>
      </p:sp>
      <p:sp>
        <p:nvSpPr>
          <p:cNvPr id="4" name="TextBox 3"/>
          <p:cNvSpPr txBox="1"/>
          <p:nvPr/>
        </p:nvSpPr>
        <p:spPr>
          <a:xfrm>
            <a:off x="914400" y="1516380"/>
            <a:ext cx="10363200" cy="2606040"/>
          </a:xfrm>
          <a:prstGeom prst="rect">
            <a:avLst/>
          </a:prstGeom>
          <a:noFill/>
        </p:spPr>
        <p:txBody>
          <a:bodyPr wrap="square" lIns="0" rIns="0" tIns="0" bIns="0" anchor="t">
            <a:spAutoFit/>
          </a:bodyPr>
          <a:lstStyle/>
          <a:p>
            <a:pPr algn="r" rtl="1">
              <a:lnSpc>
                <a:spcPct val="110000"/>
              </a:lnSpc>
            </a:pPr>
            <a:r>
              <a:rPr sz="8400" b="1" lang="he-IL">
                <a:solidFill>
                  <a:srgbClr val="191A2E"/>
                </a:solidFill>
                <a:latin typeface="Heebo"/>
                <a:ea typeface="Heebo"/>
                <a:cs typeface="Heebo"/>
              </a:rPr>
              <a:t>קודם</a:t>
            </a:r>
          </a:p>
          <a:p>
            <a:pPr algn="r" rtl="1">
              <a:lnSpc>
                <a:spcPct val="110000"/>
              </a:lnSpc>
            </a:pPr>
            <a:r>
              <a:rPr sz="8400" b="1" lang="he-IL">
                <a:solidFill>
                  <a:srgbClr val="EF55A5"/>
                </a:solidFill>
                <a:latin typeface="Heebo"/>
                <a:ea typeface="Heebo"/>
                <a:cs typeface="Heebo"/>
              </a:rPr>
              <a:t>אני.</a:t>
            </a:r>
          </a:p>
        </p:txBody>
      </p:sp>
      <p:sp>
        <p:nvSpPr>
          <p:cNvPr id="5" name="TextBox 4"/>
          <p:cNvSpPr txBox="1"/>
          <p:nvPr/>
        </p:nvSpPr>
        <p:spPr>
          <a:xfrm>
            <a:off x="914400" y="4274820"/>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ההשקעה החודשית היא ההוצאה הקבועה הראשונה, לא מה שנשאר בסוף.</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60</a:t>
            </a:r>
          </a:p>
        </p:txBody>
      </p:sp>
      <p:sp>
        <p:nvSpPr>
          <p:cNvPr id="4" name="TextBox 3"/>
          <p:cNvSpPr txBox="1"/>
          <p:nvPr/>
        </p:nvSpPr>
        <p:spPr>
          <a:xfrm>
            <a:off x="10515600" y="1143000"/>
            <a:ext cx="762000" cy="914400"/>
          </a:xfrm>
          <a:prstGeom prst="rect">
            <a:avLst/>
          </a:prstGeom>
          <a:noFill/>
        </p:spPr>
        <p:txBody>
          <a:bodyPr wrap="square" lIns="0" rIns="0" tIns="0" bIns="0" anchor="t">
            <a:spAutoFit/>
          </a:bodyPr>
          <a:lstStyle/>
          <a:p>
            <a:pPr algn="r" rtl="1">
              <a:lnSpc>
                <a:spcPct val="80000"/>
              </a:lnSpc>
            </a:pPr>
            <a:r>
              <a:rPr sz="10200" b="1" lang="he-IL">
                <a:solidFill>
                  <a:srgbClr val="EF55A5"/>
                </a:solidFill>
                <a:latin typeface="Heebo"/>
                <a:ea typeface="Heebo"/>
                <a:cs typeface="Heebo"/>
              </a:rPr>
              <a:t>”</a:t>
            </a:r>
          </a:p>
        </p:txBody>
      </p:sp>
      <p:sp>
        <p:nvSpPr>
          <p:cNvPr id="5" name="TextBox 4"/>
          <p:cNvSpPr txBox="1"/>
          <p:nvPr/>
        </p:nvSpPr>
        <p:spPr>
          <a:xfrm>
            <a:off x="914400" y="2286000"/>
            <a:ext cx="10363200" cy="2286000"/>
          </a:xfrm>
          <a:prstGeom prst="rect">
            <a:avLst/>
          </a:prstGeom>
          <a:noFill/>
        </p:spPr>
        <p:txBody>
          <a:bodyPr wrap="square" lIns="0" rIns="0" tIns="0" bIns="0" anchor="t">
            <a:spAutoFit/>
          </a:bodyPr>
          <a:lstStyle/>
          <a:p>
            <a:pPr algn="r" rtl="1">
              <a:lnSpc>
                <a:spcPct val="130000"/>
              </a:lnSpc>
            </a:pPr>
            <a:r>
              <a:rPr sz="3719" b="1" lang="he-IL">
                <a:solidFill>
                  <a:srgbClr val="191A2E"/>
                </a:solidFill>
                <a:latin typeface="Heebo"/>
                <a:ea typeface="Heebo"/>
                <a:cs typeface="Heebo"/>
              </a:rPr>
              <a:t>היזהרו מהוצאות קטנות. נזילה קטנה תטביע ספינה גדולה.</a:t>
            </a:r>
          </a:p>
        </p:txBody>
      </p:sp>
      <p:sp>
        <p:nvSpPr>
          <p:cNvPr id="6" name="Rounded Rectangle 5"/>
          <p:cNvSpPr/>
          <p:nvPr/>
        </p:nvSpPr>
        <p:spPr>
          <a:xfrm>
            <a:off x="10942320" y="5029200"/>
            <a:ext cx="335280" cy="30480"/>
          </a:xfrm>
          <a:prstGeom prst="roundRect">
            <a:avLst>
              <a:gd name="adj" fmla="val 50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48400" y="4892040"/>
            <a:ext cx="4541520" cy="304800"/>
          </a:xfrm>
          <a:prstGeom prst="rect">
            <a:avLst/>
          </a:prstGeom>
          <a:noFill/>
        </p:spPr>
        <p:txBody>
          <a:bodyPr wrap="square" lIns="0" rIns="0" tIns="0" bIns="0" anchor="t">
            <a:spAutoFit/>
          </a:bodyPr>
          <a:lstStyle/>
          <a:p>
            <a:pPr algn="r" rtl="1">
              <a:lnSpc>
                <a:spcPct val="115000"/>
              </a:lnSpc>
            </a:pPr>
            <a:r>
              <a:rPr sz="1560" b="1" lang="he-IL">
                <a:solidFill>
                  <a:srgbClr val="191A2E"/>
                </a:solidFill>
                <a:latin typeface="Heebo"/>
                <a:ea typeface="Heebo"/>
                <a:cs typeface="Heebo"/>
              </a:rPr>
              <a:t>בנג'מין פרנקלין</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61</a:t>
            </a:r>
          </a:p>
        </p:txBody>
      </p:sp>
      <p:pic>
        <p:nvPicPr>
          <p:cNvPr id="4" name="Picture 3" descr="s19_door.jpg"/>
          <p:cNvPicPr>
            <a:picLocks noChangeAspect="1"/>
          </p:cNvPicPr>
          <p:nvPr/>
        </p:nvPicPr>
        <p:blipFill>
          <a:blip r:embed="rId3"/>
          <a:stretch>
            <a:fillRect/>
          </a:stretch>
        </p:blipFill>
        <p:spPr>
          <a:xfrm>
            <a:off x="914400" y="1524000"/>
            <a:ext cx="3505200" cy="3505200"/>
          </a:xfrm>
          <a:prstGeom prst="roundRect">
            <a:avLst>
              <a:gd name="adj" fmla="val 8000"/>
            </a:avLst>
          </a:prstGeom>
        </p:spPr>
      </p:pic>
      <p:sp>
        <p:nvSpPr>
          <p:cNvPr id="5" name="TextBox 4"/>
          <p:cNvSpPr txBox="1"/>
          <p:nvPr/>
        </p:nvSpPr>
        <p:spPr>
          <a:xfrm>
            <a:off x="4876800" y="838200"/>
            <a:ext cx="64008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תחנה אחרי תחנה, עם תסריט שיחה מוכן</a:t>
            </a:r>
          </a:p>
        </p:txBody>
      </p:sp>
      <p:sp>
        <p:nvSpPr>
          <p:cNvPr id="6" name="TextBox 5"/>
          <p:cNvSpPr txBox="1"/>
          <p:nvPr/>
        </p:nvSpPr>
        <p:spPr>
          <a:xfrm>
            <a:off x="4876800" y="1219200"/>
            <a:ext cx="6400800" cy="685800"/>
          </a:xfrm>
          <a:prstGeom prst="rect">
            <a:avLst/>
          </a:prstGeom>
          <a:noFill/>
        </p:spPr>
        <p:txBody>
          <a:bodyPr wrap="square" lIns="0" rIns="0" tIns="0" bIns="0" anchor="t">
            <a:spAutoFit/>
          </a:bodyPr>
          <a:lstStyle/>
          <a:p>
            <a:pPr algn="r" rtl="1">
              <a:lnSpc>
                <a:spcPct val="110000"/>
              </a:lnSpc>
            </a:pPr>
            <a:r>
              <a:rPr sz="3240" b="1" lang="he-IL">
                <a:solidFill>
                  <a:srgbClr val="191A2E"/>
                </a:solidFill>
                <a:latin typeface="Heebo"/>
                <a:ea typeface="Heebo"/>
                <a:cs typeface="Heebo"/>
              </a:rPr>
              <a:t>אוטם הנזילות</a:t>
            </a:r>
          </a:p>
        </p:txBody>
      </p:sp>
      <p:sp>
        <p:nvSpPr>
          <p:cNvPr id="7" name="Oval 6"/>
          <p:cNvSpPr/>
          <p:nvPr/>
        </p:nvSpPr>
        <p:spPr>
          <a:xfrm>
            <a:off x="10850880" y="22860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1</a:t>
            </a:r>
          </a:p>
        </p:txBody>
      </p:sp>
      <p:sp>
        <p:nvSpPr>
          <p:cNvPr id="8" name="TextBox 7"/>
          <p:cNvSpPr txBox="1"/>
          <p:nvPr/>
        </p:nvSpPr>
        <p:spPr>
          <a:xfrm>
            <a:off x="4876800" y="2301240"/>
            <a:ext cx="5760720" cy="584200"/>
          </a:xfrm>
          <a:prstGeom prst="rect">
            <a:avLst/>
          </a:prstGeom>
          <a:noFill/>
        </p:spPr>
        <p:txBody>
          <a:bodyPr wrap="square" lIns="0" rIns="0" tIns="0" bIns="0" anchor="t">
            <a:spAutoFit/>
          </a:bodyPr>
          <a:lstStyle/>
          <a:p>
            <a:pPr algn="r" rtl="1">
              <a:lnSpc>
                <a:spcPct val="130000"/>
              </a:lnSpc>
            </a:pPr>
            <a:r>
              <a:rPr sz="1859" b="0" lang="he-IL">
                <a:solidFill>
                  <a:srgbClr val="191A2E"/>
                </a:solidFill>
                <a:latin typeface="Heebo"/>
                <a:ea typeface="Heebo"/>
                <a:cs typeface="Heebo"/>
              </a:rPr>
              <a:t>מנויים</a:t>
            </a:r>
          </a:p>
        </p:txBody>
      </p:sp>
      <p:sp>
        <p:nvSpPr>
          <p:cNvPr id="9" name="Oval 8"/>
          <p:cNvSpPr/>
          <p:nvPr/>
        </p:nvSpPr>
        <p:spPr>
          <a:xfrm>
            <a:off x="10850880" y="28702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2</a:t>
            </a:r>
          </a:p>
        </p:txBody>
      </p:sp>
      <p:sp>
        <p:nvSpPr>
          <p:cNvPr id="10" name="TextBox 9"/>
          <p:cNvSpPr txBox="1"/>
          <p:nvPr/>
        </p:nvSpPr>
        <p:spPr>
          <a:xfrm>
            <a:off x="4876800" y="2885440"/>
            <a:ext cx="5760720" cy="584200"/>
          </a:xfrm>
          <a:prstGeom prst="rect">
            <a:avLst/>
          </a:prstGeom>
          <a:noFill/>
        </p:spPr>
        <p:txBody>
          <a:bodyPr wrap="square" lIns="0" rIns="0" tIns="0" bIns="0" anchor="t">
            <a:spAutoFit/>
          </a:bodyPr>
          <a:lstStyle/>
          <a:p>
            <a:pPr algn="r" rtl="1">
              <a:lnSpc>
                <a:spcPct val="130000"/>
              </a:lnSpc>
            </a:pPr>
            <a:r>
              <a:rPr sz="1859" b="0" lang="he-IL">
                <a:solidFill>
                  <a:srgbClr val="191A2E"/>
                </a:solidFill>
                <a:latin typeface="Heebo"/>
                <a:ea typeface="Heebo"/>
                <a:cs typeface="Heebo"/>
              </a:rPr>
              <a:t>סלולר</a:t>
            </a:r>
          </a:p>
        </p:txBody>
      </p:sp>
      <p:sp>
        <p:nvSpPr>
          <p:cNvPr id="11" name="Oval 10"/>
          <p:cNvSpPr/>
          <p:nvPr/>
        </p:nvSpPr>
        <p:spPr>
          <a:xfrm>
            <a:off x="10850880" y="34544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3</a:t>
            </a:r>
          </a:p>
        </p:txBody>
      </p:sp>
      <p:sp>
        <p:nvSpPr>
          <p:cNvPr id="12" name="TextBox 11"/>
          <p:cNvSpPr txBox="1"/>
          <p:nvPr/>
        </p:nvSpPr>
        <p:spPr>
          <a:xfrm>
            <a:off x="4876800" y="3469640"/>
            <a:ext cx="5760720" cy="584200"/>
          </a:xfrm>
          <a:prstGeom prst="rect">
            <a:avLst/>
          </a:prstGeom>
          <a:noFill/>
        </p:spPr>
        <p:txBody>
          <a:bodyPr wrap="square" lIns="0" rIns="0" tIns="0" bIns="0" anchor="t">
            <a:spAutoFit/>
          </a:bodyPr>
          <a:lstStyle/>
          <a:p>
            <a:pPr algn="r" rtl="1">
              <a:lnSpc>
                <a:spcPct val="130000"/>
              </a:lnSpc>
            </a:pPr>
            <a:r>
              <a:rPr sz="1859" b="0" lang="he-IL">
                <a:solidFill>
                  <a:srgbClr val="191A2E"/>
                </a:solidFill>
                <a:latin typeface="Heebo"/>
                <a:ea typeface="Heebo"/>
                <a:cs typeface="Heebo"/>
              </a:rPr>
              <a:t>אינטרנט וטלוויזיה</a:t>
            </a:r>
          </a:p>
        </p:txBody>
      </p:sp>
      <p:sp>
        <p:nvSpPr>
          <p:cNvPr id="13" name="Oval 12"/>
          <p:cNvSpPr/>
          <p:nvPr/>
        </p:nvSpPr>
        <p:spPr>
          <a:xfrm>
            <a:off x="10850880" y="40386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4</a:t>
            </a:r>
          </a:p>
        </p:txBody>
      </p:sp>
      <p:sp>
        <p:nvSpPr>
          <p:cNvPr id="14" name="TextBox 13"/>
          <p:cNvSpPr txBox="1"/>
          <p:nvPr/>
        </p:nvSpPr>
        <p:spPr>
          <a:xfrm>
            <a:off x="4876800" y="4053840"/>
            <a:ext cx="5760720" cy="584200"/>
          </a:xfrm>
          <a:prstGeom prst="rect">
            <a:avLst/>
          </a:prstGeom>
          <a:noFill/>
        </p:spPr>
        <p:txBody>
          <a:bodyPr wrap="square" lIns="0" rIns="0" tIns="0" bIns="0" anchor="t">
            <a:spAutoFit/>
          </a:bodyPr>
          <a:lstStyle/>
          <a:p>
            <a:pPr algn="r" rtl="1">
              <a:lnSpc>
                <a:spcPct val="130000"/>
              </a:lnSpc>
            </a:pPr>
            <a:r>
              <a:rPr sz="1859" b="0" lang="he-IL">
                <a:solidFill>
                  <a:srgbClr val="191A2E"/>
                </a:solidFill>
                <a:latin typeface="Heebo"/>
                <a:ea typeface="Heebo"/>
                <a:cs typeface="Heebo"/>
              </a:rPr>
              <a:t>עמלות בנק</a:t>
            </a:r>
          </a:p>
        </p:txBody>
      </p:sp>
      <p:sp>
        <p:nvSpPr>
          <p:cNvPr id="15" name="Oval 14"/>
          <p:cNvSpPr/>
          <p:nvPr/>
        </p:nvSpPr>
        <p:spPr>
          <a:xfrm>
            <a:off x="10850880" y="46228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5</a:t>
            </a:r>
          </a:p>
        </p:txBody>
      </p:sp>
      <p:sp>
        <p:nvSpPr>
          <p:cNvPr id="16" name="TextBox 15"/>
          <p:cNvSpPr txBox="1"/>
          <p:nvPr/>
        </p:nvSpPr>
        <p:spPr>
          <a:xfrm>
            <a:off x="4876800" y="4638040"/>
            <a:ext cx="5760720" cy="584200"/>
          </a:xfrm>
          <a:prstGeom prst="rect">
            <a:avLst/>
          </a:prstGeom>
          <a:noFill/>
        </p:spPr>
        <p:txBody>
          <a:bodyPr wrap="square" lIns="0" rIns="0" tIns="0" bIns="0" anchor="t">
            <a:spAutoFit/>
          </a:bodyPr>
          <a:lstStyle/>
          <a:p>
            <a:pPr algn="r" rtl="1">
              <a:lnSpc>
                <a:spcPct val="130000"/>
              </a:lnSpc>
            </a:pPr>
            <a:r>
              <a:rPr sz="1859" b="0" lang="he-IL">
                <a:solidFill>
                  <a:srgbClr val="191A2E"/>
                </a:solidFill>
                <a:latin typeface="Heebo"/>
                <a:ea typeface="Heebo"/>
                <a:cs typeface="Heebo"/>
              </a:rPr>
              <a:t>כרטיסי אשראי</a:t>
            </a:r>
          </a:p>
        </p:txBody>
      </p:sp>
      <p:sp>
        <p:nvSpPr>
          <p:cNvPr id="17" name="Oval 16"/>
          <p:cNvSpPr/>
          <p:nvPr/>
        </p:nvSpPr>
        <p:spPr>
          <a:xfrm>
            <a:off x="10850880" y="52070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6</a:t>
            </a:r>
          </a:p>
        </p:txBody>
      </p:sp>
      <p:sp>
        <p:nvSpPr>
          <p:cNvPr id="18" name="TextBox 17"/>
          <p:cNvSpPr txBox="1"/>
          <p:nvPr/>
        </p:nvSpPr>
        <p:spPr>
          <a:xfrm>
            <a:off x="4876800" y="5222240"/>
            <a:ext cx="5760720" cy="584200"/>
          </a:xfrm>
          <a:prstGeom prst="rect">
            <a:avLst/>
          </a:prstGeom>
          <a:noFill/>
        </p:spPr>
        <p:txBody>
          <a:bodyPr wrap="square" lIns="0" rIns="0" tIns="0" bIns="0" anchor="t">
            <a:spAutoFit/>
          </a:bodyPr>
          <a:lstStyle/>
          <a:p>
            <a:pPr algn="r" rtl="1">
              <a:lnSpc>
                <a:spcPct val="130000"/>
              </a:lnSpc>
            </a:pPr>
            <a:r>
              <a:rPr sz="1859" b="0" lang="he-IL">
                <a:solidFill>
                  <a:srgbClr val="191A2E"/>
                </a:solidFill>
                <a:latin typeface="Heebo"/>
                <a:ea typeface="Heebo"/>
                <a:cs typeface="Heebo"/>
              </a:rPr>
              <a:t>ביטוחים כפולים</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62</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דוגמה</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5000"/>
              </a:lnSpc>
            </a:pPr>
            <a:r>
              <a:rPr sz="3719" b="1" lang="he-IL">
                <a:solidFill>
                  <a:srgbClr val="191A2E"/>
                </a:solidFill>
                <a:latin typeface="Heebo"/>
                <a:ea typeface="Heebo"/>
                <a:cs typeface="Heebo"/>
              </a:rPr>
              <a:t>70 ₪ פה, 100 ₪ שם</a:t>
            </a:r>
          </a:p>
        </p:txBody>
      </p:sp>
      <p:sp>
        <p:nvSpPr>
          <p:cNvPr id="6" name="Rounded Rectangle 5"/>
          <p:cNvSpPr/>
          <p:nvPr/>
        </p:nvSpPr>
        <p:spPr>
          <a:xfrm>
            <a:off x="4876800" y="2209800"/>
            <a:ext cx="6400800" cy="533400"/>
          </a:xfrm>
          <a:prstGeom prst="roundRect">
            <a:avLst>
              <a:gd name="adj" fmla="val 3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181600" y="2316480"/>
            <a:ext cx="3962400" cy="335280"/>
          </a:xfrm>
          <a:prstGeom prst="rect">
            <a:avLst/>
          </a:prstGeom>
          <a:noFill/>
        </p:spPr>
        <p:txBody>
          <a:bodyPr wrap="square" lIns="0" rIns="0" tIns="0" bIns="0" anchor="t">
            <a:spAutoFit/>
          </a:bodyPr>
          <a:lstStyle/>
          <a:p>
            <a:pPr algn="r" rtl="1">
              <a:lnSpc>
                <a:spcPct val="115000"/>
              </a:lnSpc>
            </a:pPr>
            <a:r>
              <a:rPr sz="1920" b="1" lang="he-IL">
                <a:solidFill>
                  <a:srgbClr val="191A2E"/>
                </a:solidFill>
                <a:latin typeface="Heebo"/>
                <a:ea typeface="Heebo"/>
                <a:cs typeface="Heebo"/>
              </a:rPr>
              <a:t>אינטרנט</a:t>
            </a:r>
          </a:p>
        </p:txBody>
      </p:sp>
      <p:sp>
        <p:nvSpPr>
          <p:cNvPr id="8" name="TextBox 7"/>
          <p:cNvSpPr txBox="1"/>
          <p:nvPr/>
        </p:nvSpPr>
        <p:spPr>
          <a:xfrm>
            <a:off x="5181600" y="2316480"/>
            <a:ext cx="5791200" cy="335280"/>
          </a:xfrm>
          <a:prstGeom prst="rect">
            <a:avLst/>
          </a:prstGeom>
          <a:noFill/>
        </p:spPr>
        <p:txBody>
          <a:bodyPr wrap="square" lIns="0" rIns="0" tIns="0" bIns="0" anchor="t">
            <a:spAutoFit/>
          </a:bodyPr>
          <a:lstStyle/>
          <a:p>
            <a:pPr algn="l" rtl="1">
              <a:lnSpc>
                <a:spcPct val="115000"/>
              </a:lnSpc>
            </a:pPr>
            <a:r>
              <a:rPr sz="1920" b="1" lang="he-IL">
                <a:solidFill>
                  <a:srgbClr val="EF55A5"/>
                </a:solidFill>
                <a:latin typeface="Heebo"/>
                <a:ea typeface="Heebo"/>
                <a:cs typeface="Heebo"/>
              </a:rPr>
              <a:t>70 ₪</a:t>
            </a:r>
          </a:p>
        </p:txBody>
      </p:sp>
      <p:sp>
        <p:nvSpPr>
          <p:cNvPr id="9" name="Rounded Rectangle 8"/>
          <p:cNvSpPr/>
          <p:nvPr/>
        </p:nvSpPr>
        <p:spPr>
          <a:xfrm>
            <a:off x="4876800" y="2849880"/>
            <a:ext cx="6400800" cy="533400"/>
          </a:xfrm>
          <a:prstGeom prst="roundRect">
            <a:avLst>
              <a:gd name="adj" fmla="val 3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5181600" y="2956560"/>
            <a:ext cx="3962400" cy="335280"/>
          </a:xfrm>
          <a:prstGeom prst="rect">
            <a:avLst/>
          </a:prstGeom>
          <a:noFill/>
        </p:spPr>
        <p:txBody>
          <a:bodyPr wrap="square" lIns="0" rIns="0" tIns="0" bIns="0" anchor="t">
            <a:spAutoFit/>
          </a:bodyPr>
          <a:lstStyle/>
          <a:p>
            <a:pPr algn="r" rtl="1">
              <a:lnSpc>
                <a:spcPct val="115000"/>
              </a:lnSpc>
            </a:pPr>
            <a:r>
              <a:rPr sz="1920" b="1" lang="he-IL">
                <a:solidFill>
                  <a:srgbClr val="191A2E"/>
                </a:solidFill>
                <a:latin typeface="Heebo"/>
                <a:ea typeface="Heebo"/>
                <a:cs typeface="Heebo"/>
              </a:rPr>
              <a:t>תוסף בסלולר</a:t>
            </a:r>
          </a:p>
        </p:txBody>
      </p:sp>
      <p:sp>
        <p:nvSpPr>
          <p:cNvPr id="11" name="TextBox 10"/>
          <p:cNvSpPr txBox="1"/>
          <p:nvPr/>
        </p:nvSpPr>
        <p:spPr>
          <a:xfrm>
            <a:off x="5181600" y="2956560"/>
            <a:ext cx="5791200" cy="335280"/>
          </a:xfrm>
          <a:prstGeom prst="rect">
            <a:avLst/>
          </a:prstGeom>
          <a:noFill/>
        </p:spPr>
        <p:txBody>
          <a:bodyPr wrap="square" lIns="0" rIns="0" tIns="0" bIns="0" anchor="t">
            <a:spAutoFit/>
          </a:bodyPr>
          <a:lstStyle/>
          <a:p>
            <a:pPr algn="l" rtl="1">
              <a:lnSpc>
                <a:spcPct val="115000"/>
              </a:lnSpc>
            </a:pPr>
            <a:r>
              <a:rPr sz="1920" b="1" lang="he-IL">
                <a:solidFill>
                  <a:srgbClr val="EF55A5"/>
                </a:solidFill>
                <a:latin typeface="Heebo"/>
                <a:ea typeface="Heebo"/>
                <a:cs typeface="Heebo"/>
              </a:rPr>
              <a:t>100 ₪</a:t>
            </a:r>
          </a:p>
        </p:txBody>
      </p:sp>
      <p:sp>
        <p:nvSpPr>
          <p:cNvPr id="12" name="Rounded Rectangle 11"/>
          <p:cNvSpPr/>
          <p:nvPr/>
        </p:nvSpPr>
        <p:spPr>
          <a:xfrm>
            <a:off x="4876800" y="3489960"/>
            <a:ext cx="6400800" cy="533400"/>
          </a:xfrm>
          <a:prstGeom prst="roundRect">
            <a:avLst>
              <a:gd name="adj" fmla="val 3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5181600" y="3596640"/>
            <a:ext cx="3962400" cy="335280"/>
          </a:xfrm>
          <a:prstGeom prst="rect">
            <a:avLst/>
          </a:prstGeom>
          <a:noFill/>
        </p:spPr>
        <p:txBody>
          <a:bodyPr wrap="square" lIns="0" rIns="0" tIns="0" bIns="0" anchor="t">
            <a:spAutoFit/>
          </a:bodyPr>
          <a:lstStyle/>
          <a:p>
            <a:pPr algn="r" rtl="1">
              <a:lnSpc>
                <a:spcPct val="115000"/>
              </a:lnSpc>
            </a:pPr>
            <a:r>
              <a:rPr sz="1920" b="1" lang="he-IL">
                <a:solidFill>
                  <a:srgbClr val="191A2E"/>
                </a:solidFill>
                <a:latin typeface="Heebo"/>
                <a:ea typeface="Heebo"/>
                <a:cs typeface="Heebo"/>
              </a:rPr>
              <a:t>מנוי שלא משתמשים</a:t>
            </a:r>
          </a:p>
        </p:txBody>
      </p:sp>
      <p:sp>
        <p:nvSpPr>
          <p:cNvPr id="14" name="TextBox 13"/>
          <p:cNvSpPr txBox="1"/>
          <p:nvPr/>
        </p:nvSpPr>
        <p:spPr>
          <a:xfrm>
            <a:off x="5181600" y="3596640"/>
            <a:ext cx="5791200" cy="335280"/>
          </a:xfrm>
          <a:prstGeom prst="rect">
            <a:avLst/>
          </a:prstGeom>
          <a:noFill/>
        </p:spPr>
        <p:txBody>
          <a:bodyPr wrap="square" lIns="0" rIns="0" tIns="0" bIns="0" anchor="t">
            <a:spAutoFit/>
          </a:bodyPr>
          <a:lstStyle/>
          <a:p>
            <a:pPr algn="l" rtl="1">
              <a:lnSpc>
                <a:spcPct val="115000"/>
              </a:lnSpc>
            </a:pPr>
            <a:r>
              <a:rPr sz="1920" b="1" lang="he-IL">
                <a:solidFill>
                  <a:srgbClr val="EF55A5"/>
                </a:solidFill>
                <a:latin typeface="Heebo"/>
                <a:ea typeface="Heebo"/>
                <a:cs typeface="Heebo"/>
              </a:rPr>
              <a:t>50 ₪</a:t>
            </a:r>
          </a:p>
        </p:txBody>
      </p:sp>
      <p:sp>
        <p:nvSpPr>
          <p:cNvPr id="15" name="Rounded Rectangle 14"/>
          <p:cNvSpPr/>
          <p:nvPr/>
        </p:nvSpPr>
        <p:spPr>
          <a:xfrm>
            <a:off x="4876800" y="4130040"/>
            <a:ext cx="6400800" cy="533400"/>
          </a:xfrm>
          <a:prstGeom prst="roundRect">
            <a:avLst>
              <a:gd name="adj" fmla="val 3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181600" y="4236720"/>
            <a:ext cx="3962400" cy="335280"/>
          </a:xfrm>
          <a:prstGeom prst="rect">
            <a:avLst/>
          </a:prstGeom>
          <a:noFill/>
        </p:spPr>
        <p:txBody>
          <a:bodyPr wrap="square" lIns="0" rIns="0" tIns="0" bIns="0" anchor="t">
            <a:spAutoFit/>
          </a:bodyPr>
          <a:lstStyle/>
          <a:p>
            <a:pPr algn="r" rtl="1">
              <a:lnSpc>
                <a:spcPct val="115000"/>
              </a:lnSpc>
            </a:pPr>
            <a:r>
              <a:rPr sz="1920" b="1" lang="he-IL">
                <a:solidFill>
                  <a:srgbClr val="191A2E"/>
                </a:solidFill>
                <a:latin typeface="Heebo"/>
                <a:ea typeface="Heebo"/>
                <a:cs typeface="Heebo"/>
              </a:rPr>
              <a:t>עמלות בנק</a:t>
            </a:r>
          </a:p>
        </p:txBody>
      </p:sp>
      <p:sp>
        <p:nvSpPr>
          <p:cNvPr id="17" name="TextBox 16"/>
          <p:cNvSpPr txBox="1"/>
          <p:nvPr/>
        </p:nvSpPr>
        <p:spPr>
          <a:xfrm>
            <a:off x="5181600" y="4236720"/>
            <a:ext cx="5791200" cy="335280"/>
          </a:xfrm>
          <a:prstGeom prst="rect">
            <a:avLst/>
          </a:prstGeom>
          <a:noFill/>
        </p:spPr>
        <p:txBody>
          <a:bodyPr wrap="square" lIns="0" rIns="0" tIns="0" bIns="0" anchor="t">
            <a:spAutoFit/>
          </a:bodyPr>
          <a:lstStyle/>
          <a:p>
            <a:pPr algn="l" rtl="1">
              <a:lnSpc>
                <a:spcPct val="115000"/>
              </a:lnSpc>
            </a:pPr>
            <a:r>
              <a:rPr sz="1920" b="1" lang="he-IL">
                <a:solidFill>
                  <a:srgbClr val="EF55A5"/>
                </a:solidFill>
                <a:latin typeface="Heebo"/>
                <a:ea typeface="Heebo"/>
                <a:cs typeface="Heebo"/>
              </a:rPr>
              <a:t>30 ₪</a:t>
            </a:r>
          </a:p>
        </p:txBody>
      </p:sp>
      <p:sp>
        <p:nvSpPr>
          <p:cNvPr id="18" name="Rounded Rectangle 17"/>
          <p:cNvSpPr/>
          <p:nvPr/>
        </p:nvSpPr>
        <p:spPr>
          <a:xfrm>
            <a:off x="4876800" y="4770120"/>
            <a:ext cx="6400800" cy="533400"/>
          </a:xfrm>
          <a:prstGeom prst="roundRect">
            <a:avLst>
              <a:gd name="adj" fmla="val 3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5181600" y="4876800"/>
            <a:ext cx="3962400" cy="335280"/>
          </a:xfrm>
          <a:prstGeom prst="rect">
            <a:avLst/>
          </a:prstGeom>
          <a:noFill/>
        </p:spPr>
        <p:txBody>
          <a:bodyPr wrap="square" lIns="0" rIns="0" tIns="0" bIns="0" anchor="t">
            <a:spAutoFit/>
          </a:bodyPr>
          <a:lstStyle/>
          <a:p>
            <a:pPr algn="r" rtl="1">
              <a:lnSpc>
                <a:spcPct val="115000"/>
              </a:lnSpc>
            </a:pPr>
            <a:r>
              <a:rPr sz="1920" b="1" lang="he-IL">
                <a:solidFill>
                  <a:srgbClr val="191A2E"/>
                </a:solidFill>
                <a:latin typeface="Heebo"/>
                <a:ea typeface="Heebo"/>
                <a:cs typeface="Heebo"/>
              </a:rPr>
              <a:t>ביטוח כפול</a:t>
            </a:r>
          </a:p>
        </p:txBody>
      </p:sp>
      <p:sp>
        <p:nvSpPr>
          <p:cNvPr id="20" name="TextBox 19"/>
          <p:cNvSpPr txBox="1"/>
          <p:nvPr/>
        </p:nvSpPr>
        <p:spPr>
          <a:xfrm>
            <a:off x="5181600" y="4876800"/>
            <a:ext cx="5791200" cy="335280"/>
          </a:xfrm>
          <a:prstGeom prst="rect">
            <a:avLst/>
          </a:prstGeom>
          <a:noFill/>
        </p:spPr>
        <p:txBody>
          <a:bodyPr wrap="square" lIns="0" rIns="0" tIns="0" bIns="0" anchor="t">
            <a:spAutoFit/>
          </a:bodyPr>
          <a:lstStyle/>
          <a:p>
            <a:pPr algn="l" rtl="1">
              <a:lnSpc>
                <a:spcPct val="115000"/>
              </a:lnSpc>
            </a:pPr>
            <a:r>
              <a:rPr sz="1920" b="1" lang="he-IL">
                <a:solidFill>
                  <a:srgbClr val="EF55A5"/>
                </a:solidFill>
                <a:latin typeface="Heebo"/>
                <a:ea typeface="Heebo"/>
                <a:cs typeface="Heebo"/>
              </a:rPr>
              <a:t>150 ₪</a:t>
            </a:r>
          </a:p>
        </p:txBody>
      </p:sp>
      <p:sp>
        <p:nvSpPr>
          <p:cNvPr id="21" name="Rounded Rectangle 20"/>
          <p:cNvSpPr/>
          <p:nvPr/>
        </p:nvSpPr>
        <p:spPr>
          <a:xfrm>
            <a:off x="914400" y="2209800"/>
            <a:ext cx="3657600" cy="2286000"/>
          </a:xfrm>
          <a:prstGeom prst="roundRect">
            <a:avLst>
              <a:gd name="adj" fmla="val 10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228600" rIns="228600" tIns="137160" bIns="137160"/>
          <a:lstStyle/>
          <a:p>
            <a:pPr algn="ctr" rtl="1">
              <a:lnSpc>
                <a:spcPct val="115000"/>
              </a:lnSpc>
            </a:pPr>
            <a:r>
              <a:rPr sz="3000" b="1" lang="he-IL">
                <a:solidFill>
                  <a:srgbClr val="191A2E"/>
                </a:solidFill>
                <a:latin typeface="Heebo"/>
                <a:ea typeface="Heebo"/>
                <a:cs typeface="Heebo"/>
              </a:rPr>
              <a:t>400 ₪ בחודש</a:t>
            </a:r>
          </a:p>
          <a:p>
            <a:pPr algn="ctr" rtl="1">
              <a:lnSpc>
                <a:spcPct val="115000"/>
              </a:lnSpc>
            </a:pPr>
            <a:r>
              <a:rPr sz="3000" b="1" lang="he-IL">
                <a:solidFill>
                  <a:srgbClr val="EF55A5"/>
                </a:solidFill>
                <a:latin typeface="Heebo"/>
                <a:ea typeface="Heebo"/>
                <a:cs typeface="Heebo"/>
              </a:rPr>
              <a:t>4,800 ₪ בשנה</a:t>
            </a:r>
          </a:p>
        </p:txBody>
      </p:sp>
      <p:sp>
        <p:nvSpPr>
          <p:cNvPr id="22" name="TextBox 21"/>
          <p:cNvSpPr txBox="1"/>
          <p:nvPr/>
        </p:nvSpPr>
        <p:spPr>
          <a:xfrm>
            <a:off x="914400" y="4724400"/>
            <a:ext cx="3657600" cy="914400"/>
          </a:xfrm>
          <a:prstGeom prst="rect">
            <a:avLst/>
          </a:prstGeom>
          <a:noFill/>
        </p:spPr>
        <p:txBody>
          <a:bodyPr wrap="square" lIns="0" rIns="0" tIns="0" bIns="0" anchor="t">
            <a:spAutoFit/>
          </a:bodyPr>
          <a:lstStyle/>
          <a:p>
            <a:pPr algn="ctr" rtl="1">
              <a:lnSpc>
                <a:spcPct val="140000"/>
              </a:lnSpc>
            </a:pPr>
            <a:r>
              <a:rPr sz="1439" b="0" lang="he-IL">
                <a:solidFill>
                  <a:srgbClr val="6B6B7B"/>
                </a:solidFill>
                <a:latin typeface="Heebo"/>
                <a:ea typeface="Heebo"/>
                <a:cs typeface="Heebo"/>
              </a:rPr>
              <a:t>400 ₪ בחודש, 20 שנה, בתשואה ממוצעת של 7%: יותר מ-200,000 ₪. להמחשה בלבד, ללא הבטחת תשואה.</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63</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כסף שמחכה לך</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ובונוס: החזר מס 💸</a:t>
            </a:r>
          </a:p>
        </p:txBody>
      </p:sp>
      <p:sp>
        <p:nvSpPr>
          <p:cNvPr id="6" name="Oval 5"/>
          <p:cNvSpPr/>
          <p:nvPr/>
        </p:nvSpPr>
        <p:spPr>
          <a:xfrm>
            <a:off x="11155680" y="260604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914400" y="2468880"/>
            <a:ext cx="10027920" cy="944880"/>
          </a:xfrm>
          <a:prstGeom prst="rect">
            <a:avLst/>
          </a:prstGeom>
          <a:noFill/>
        </p:spPr>
        <p:txBody>
          <a:bodyPr wrap="square" lIns="0" rIns="0" tIns="0" bIns="0" anchor="t">
            <a:spAutoFit/>
          </a:bodyPr>
          <a:lstStyle/>
          <a:p>
            <a:pPr algn="r" rtl="1">
              <a:lnSpc>
                <a:spcPct val="130000"/>
              </a:lnSpc>
            </a:pPr>
            <a:r>
              <a:rPr sz="2400" b="0" lang="he-IL">
                <a:solidFill>
                  <a:srgbClr val="191A2E"/>
                </a:solidFill>
                <a:latin typeface="Heebo"/>
                <a:ea typeface="Heebo"/>
                <a:cs typeface="Heebo"/>
              </a:rPr>
              <a:t>אפשר לבקש עד 6 שנים אחורה</a:t>
            </a:r>
          </a:p>
        </p:txBody>
      </p:sp>
      <p:sp>
        <p:nvSpPr>
          <p:cNvPr id="8" name="Oval 7"/>
          <p:cNvSpPr/>
          <p:nvPr/>
        </p:nvSpPr>
        <p:spPr>
          <a:xfrm>
            <a:off x="11155680" y="355092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14400" y="3413760"/>
            <a:ext cx="10027920" cy="944880"/>
          </a:xfrm>
          <a:prstGeom prst="rect">
            <a:avLst/>
          </a:prstGeom>
          <a:noFill/>
        </p:spPr>
        <p:txBody>
          <a:bodyPr wrap="square" lIns="0" rIns="0" tIns="0" bIns="0" anchor="t">
            <a:spAutoFit/>
          </a:bodyPr>
          <a:lstStyle/>
          <a:p>
            <a:pPr algn="r" rtl="1">
              <a:lnSpc>
                <a:spcPct val="130000"/>
              </a:lnSpc>
            </a:pPr>
            <a:r>
              <a:rPr sz="2400" b="0" lang="he-IL">
                <a:solidFill>
                  <a:srgbClr val="191A2E"/>
                </a:solidFill>
                <a:latin typeface="Heebo"/>
                <a:ea typeface="Heebo"/>
                <a:cs typeface="Heebo"/>
              </a:rPr>
              <a:t>שאלון קצר בכלי יגיד לך אם כדאי לבדוק</a:t>
            </a:r>
          </a:p>
        </p:txBody>
      </p:sp>
      <p:sp>
        <p:nvSpPr>
          <p:cNvPr id="10" name="Oval 9"/>
          <p:cNvSpPr/>
          <p:nvPr/>
        </p:nvSpPr>
        <p:spPr>
          <a:xfrm>
            <a:off x="11155680" y="449580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914400" y="4358640"/>
            <a:ext cx="10027920" cy="944880"/>
          </a:xfrm>
          <a:prstGeom prst="rect">
            <a:avLst/>
          </a:prstGeom>
          <a:noFill/>
        </p:spPr>
        <p:txBody>
          <a:bodyPr wrap="square" lIns="0" rIns="0" tIns="0" bIns="0" anchor="t">
            <a:spAutoFit/>
          </a:bodyPr>
          <a:lstStyle/>
          <a:p>
            <a:pPr algn="r" rtl="1">
              <a:lnSpc>
                <a:spcPct val="130000"/>
              </a:lnSpc>
            </a:pPr>
            <a:r>
              <a:rPr sz="2400" b="0" lang="he-IL">
                <a:solidFill>
                  <a:srgbClr val="191A2E"/>
                </a:solidFill>
                <a:latin typeface="Heebo"/>
                <a:ea typeface="Heebo"/>
                <a:cs typeface="Heebo"/>
              </a:rPr>
              <a:t>ואם כן, נחבר אותך לאיש מקצוע</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64</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באזור האישי, מהערב · כלי אחד, 6 שלבים</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הכלי: נקודת המוצא 🧭</a:t>
            </a:r>
          </a:p>
        </p:txBody>
      </p:sp>
      <p:sp>
        <p:nvSpPr>
          <p:cNvPr id="6" name="Oval 5"/>
          <p:cNvSpPr/>
          <p:nvPr/>
        </p:nvSpPr>
        <p:spPr>
          <a:xfrm>
            <a:off x="10850880" y="22860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1</a:t>
            </a:r>
          </a:p>
        </p:txBody>
      </p:sp>
      <p:sp>
        <p:nvSpPr>
          <p:cNvPr id="7" name="TextBox 6"/>
          <p:cNvSpPr txBox="1"/>
          <p:nvPr/>
        </p:nvSpPr>
        <p:spPr>
          <a:xfrm>
            <a:off x="914400" y="2301240"/>
            <a:ext cx="9723120" cy="584200"/>
          </a:xfrm>
          <a:prstGeom prst="rect">
            <a:avLst/>
          </a:prstGeom>
          <a:noFill/>
        </p:spPr>
        <p:txBody>
          <a:bodyPr wrap="square" lIns="0" rIns="0" tIns="0" bIns="0" anchor="t">
            <a:spAutoFit/>
          </a:bodyPr>
          <a:lstStyle/>
          <a:p>
            <a:pPr algn="r" rtl="1">
              <a:lnSpc>
                <a:spcPct val="130000"/>
              </a:lnSpc>
            </a:pPr>
            <a:r>
              <a:rPr sz="2039" b="0" lang="he-IL">
                <a:solidFill>
                  <a:srgbClr val="191A2E"/>
                </a:solidFill>
                <a:latin typeface="Heebo"/>
                <a:ea typeface="Heebo"/>
                <a:cs typeface="Heebo"/>
              </a:rPr>
              <a:t>השווי הנקי</a:t>
            </a:r>
          </a:p>
        </p:txBody>
      </p:sp>
      <p:sp>
        <p:nvSpPr>
          <p:cNvPr id="8" name="Oval 7"/>
          <p:cNvSpPr/>
          <p:nvPr/>
        </p:nvSpPr>
        <p:spPr>
          <a:xfrm>
            <a:off x="10850880" y="28702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2</a:t>
            </a:r>
          </a:p>
        </p:txBody>
      </p:sp>
      <p:sp>
        <p:nvSpPr>
          <p:cNvPr id="9" name="TextBox 8"/>
          <p:cNvSpPr txBox="1"/>
          <p:nvPr/>
        </p:nvSpPr>
        <p:spPr>
          <a:xfrm>
            <a:off x="914400" y="2885440"/>
            <a:ext cx="9723120" cy="584200"/>
          </a:xfrm>
          <a:prstGeom prst="rect">
            <a:avLst/>
          </a:prstGeom>
          <a:noFill/>
        </p:spPr>
        <p:txBody>
          <a:bodyPr wrap="square" lIns="0" rIns="0" tIns="0" bIns="0" anchor="t">
            <a:spAutoFit/>
          </a:bodyPr>
          <a:lstStyle/>
          <a:p>
            <a:pPr algn="r" rtl="1">
              <a:lnSpc>
                <a:spcPct val="130000"/>
              </a:lnSpc>
            </a:pPr>
            <a:r>
              <a:rPr sz="2039" b="0" lang="he-IL">
                <a:solidFill>
                  <a:srgbClr val="191A2E"/>
                </a:solidFill>
                <a:latin typeface="Heebo"/>
                <a:ea typeface="Heebo"/>
                <a:cs typeface="Heebo"/>
              </a:rPr>
              <a:t>התזרים (מתחברות ל-RiseUp)</a:t>
            </a:r>
          </a:p>
        </p:txBody>
      </p:sp>
      <p:sp>
        <p:nvSpPr>
          <p:cNvPr id="10" name="Oval 9"/>
          <p:cNvSpPr/>
          <p:nvPr/>
        </p:nvSpPr>
        <p:spPr>
          <a:xfrm>
            <a:off x="10850880" y="34544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3</a:t>
            </a:r>
          </a:p>
        </p:txBody>
      </p:sp>
      <p:sp>
        <p:nvSpPr>
          <p:cNvPr id="11" name="TextBox 10"/>
          <p:cNvSpPr txBox="1"/>
          <p:nvPr/>
        </p:nvSpPr>
        <p:spPr>
          <a:xfrm>
            <a:off x="914400" y="3469640"/>
            <a:ext cx="9723120" cy="584200"/>
          </a:xfrm>
          <a:prstGeom prst="rect">
            <a:avLst/>
          </a:prstGeom>
          <a:noFill/>
        </p:spPr>
        <p:txBody>
          <a:bodyPr wrap="square" lIns="0" rIns="0" tIns="0" bIns="0" anchor="t">
            <a:spAutoFit/>
          </a:bodyPr>
          <a:lstStyle/>
          <a:p>
            <a:pPr algn="r" rtl="1">
              <a:lnSpc>
                <a:spcPct val="130000"/>
              </a:lnSpc>
            </a:pPr>
            <a:r>
              <a:rPr sz="2039" b="0" lang="he-IL">
                <a:solidFill>
                  <a:srgbClr val="191A2E"/>
                </a:solidFill>
                <a:latin typeface="Heebo"/>
                <a:ea typeface="Heebo"/>
                <a:cs typeface="Heebo"/>
              </a:rPr>
              <a:t>סדרי העדיפויות</a:t>
            </a:r>
          </a:p>
        </p:txBody>
      </p:sp>
      <p:sp>
        <p:nvSpPr>
          <p:cNvPr id="12" name="Oval 11"/>
          <p:cNvSpPr/>
          <p:nvPr/>
        </p:nvSpPr>
        <p:spPr>
          <a:xfrm>
            <a:off x="10850880" y="40386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4</a:t>
            </a:r>
          </a:p>
        </p:txBody>
      </p:sp>
      <p:sp>
        <p:nvSpPr>
          <p:cNvPr id="13" name="TextBox 12"/>
          <p:cNvSpPr txBox="1"/>
          <p:nvPr/>
        </p:nvSpPr>
        <p:spPr>
          <a:xfrm>
            <a:off x="914400" y="4053840"/>
            <a:ext cx="9723120" cy="584200"/>
          </a:xfrm>
          <a:prstGeom prst="rect">
            <a:avLst/>
          </a:prstGeom>
          <a:noFill/>
        </p:spPr>
        <p:txBody>
          <a:bodyPr wrap="square" lIns="0" rIns="0" tIns="0" bIns="0" anchor="t">
            <a:spAutoFit/>
          </a:bodyPr>
          <a:lstStyle/>
          <a:p>
            <a:pPr algn="r" rtl="1">
              <a:lnSpc>
                <a:spcPct val="130000"/>
              </a:lnSpc>
            </a:pPr>
            <a:r>
              <a:rPr sz="2039" b="0" lang="he-IL">
                <a:solidFill>
                  <a:srgbClr val="191A2E"/>
                </a:solidFill>
                <a:latin typeface="Heebo"/>
                <a:ea typeface="Heebo"/>
                <a:cs typeface="Heebo"/>
              </a:rPr>
              <a:t>אוטם הנזילות</a:t>
            </a:r>
          </a:p>
        </p:txBody>
      </p:sp>
      <p:sp>
        <p:nvSpPr>
          <p:cNvPr id="14" name="Oval 13"/>
          <p:cNvSpPr/>
          <p:nvPr/>
        </p:nvSpPr>
        <p:spPr>
          <a:xfrm>
            <a:off x="10850880" y="46228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5</a:t>
            </a:r>
          </a:p>
        </p:txBody>
      </p:sp>
      <p:sp>
        <p:nvSpPr>
          <p:cNvPr id="15" name="TextBox 14"/>
          <p:cNvSpPr txBox="1"/>
          <p:nvPr/>
        </p:nvSpPr>
        <p:spPr>
          <a:xfrm>
            <a:off x="914400" y="4638040"/>
            <a:ext cx="9723120" cy="584200"/>
          </a:xfrm>
          <a:prstGeom prst="rect">
            <a:avLst/>
          </a:prstGeom>
          <a:noFill/>
        </p:spPr>
        <p:txBody>
          <a:bodyPr wrap="square" lIns="0" rIns="0" tIns="0" bIns="0" anchor="t">
            <a:spAutoFit/>
          </a:bodyPr>
          <a:lstStyle/>
          <a:p>
            <a:pPr algn="r" rtl="1">
              <a:lnSpc>
                <a:spcPct val="130000"/>
              </a:lnSpc>
            </a:pPr>
            <a:r>
              <a:rPr sz="2039" b="0" lang="he-IL">
                <a:solidFill>
                  <a:srgbClr val="191A2E"/>
                </a:solidFill>
                <a:latin typeface="Heebo"/>
                <a:ea typeface="Heebo"/>
                <a:cs typeface="Heebo"/>
              </a:rPr>
              <a:t>החזר מס</a:t>
            </a:r>
          </a:p>
        </p:txBody>
      </p:sp>
      <p:sp>
        <p:nvSpPr>
          <p:cNvPr id="16" name="Oval 15"/>
          <p:cNvSpPr/>
          <p:nvPr/>
        </p:nvSpPr>
        <p:spPr>
          <a:xfrm>
            <a:off x="10850880" y="52070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6</a:t>
            </a:r>
          </a:p>
        </p:txBody>
      </p:sp>
      <p:sp>
        <p:nvSpPr>
          <p:cNvPr id="17" name="TextBox 16"/>
          <p:cNvSpPr txBox="1"/>
          <p:nvPr/>
        </p:nvSpPr>
        <p:spPr>
          <a:xfrm>
            <a:off x="914400" y="5222240"/>
            <a:ext cx="9723120" cy="584200"/>
          </a:xfrm>
          <a:prstGeom prst="rect">
            <a:avLst/>
          </a:prstGeom>
          <a:noFill/>
        </p:spPr>
        <p:txBody>
          <a:bodyPr wrap="square" lIns="0" rIns="0" tIns="0" bIns="0" anchor="t">
            <a:spAutoFit/>
          </a:bodyPr>
          <a:lstStyle/>
          <a:p>
            <a:pPr algn="r" rtl="1">
              <a:lnSpc>
                <a:spcPct val="130000"/>
              </a:lnSpc>
            </a:pPr>
            <a:r>
              <a:rPr sz="2039" b="0" lang="he-IL">
                <a:solidFill>
                  <a:srgbClr val="191A2E"/>
                </a:solidFill>
                <a:latin typeface="Heebo"/>
                <a:ea typeface="Heebo"/>
                <a:cs typeface="Heebo"/>
              </a:rPr>
              <a:t>נקודת המוצא שלי</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65</a:t>
            </a:r>
          </a:p>
        </p:txBody>
      </p:sp>
      <p:pic>
        <p:nvPicPr>
          <p:cNvPr id="4" name="Picture 3" descr="s26_scale.jpg"/>
          <p:cNvPicPr>
            <a:picLocks noChangeAspect="1"/>
          </p:cNvPicPr>
          <p:nvPr/>
        </p:nvPicPr>
        <p:blipFill>
          <a:blip r:embed="rId3"/>
          <a:stretch>
            <a:fillRect/>
          </a:stretch>
        </p:blipFill>
        <p:spPr>
          <a:xfrm>
            <a:off x="914400" y="1295400"/>
            <a:ext cx="3810000" cy="3810000"/>
          </a:xfrm>
          <a:prstGeom prst="roundRect">
            <a:avLst>
              <a:gd name="adj" fmla="val 8000"/>
            </a:avLst>
          </a:prstGeom>
        </p:spPr>
      </p:pic>
      <p:sp>
        <p:nvSpPr>
          <p:cNvPr id="5" name="TextBox 4"/>
          <p:cNvSpPr txBox="1"/>
          <p:nvPr/>
        </p:nvSpPr>
        <p:spPr>
          <a:xfrm>
            <a:off x="5334000" y="1970532"/>
            <a:ext cx="59436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שלב 2 בכלי</a:t>
            </a:r>
          </a:p>
        </p:txBody>
      </p:sp>
      <p:sp>
        <p:nvSpPr>
          <p:cNvPr id="6" name="TextBox 5"/>
          <p:cNvSpPr txBox="1"/>
          <p:nvPr/>
        </p:nvSpPr>
        <p:spPr>
          <a:xfrm>
            <a:off x="5334000" y="2427732"/>
            <a:ext cx="5943600" cy="783336"/>
          </a:xfrm>
          <a:prstGeom prst="rect">
            <a:avLst/>
          </a:prstGeom>
          <a:noFill/>
        </p:spPr>
        <p:txBody>
          <a:bodyPr wrap="square" lIns="0" rIns="0" tIns="0" bIns="0" anchor="t">
            <a:spAutoFit/>
          </a:bodyPr>
          <a:lstStyle/>
          <a:p>
            <a:pPr algn="r" rtl="1">
              <a:lnSpc>
                <a:spcPct val="110000"/>
              </a:lnSpc>
            </a:pPr>
            <a:r>
              <a:rPr sz="4320" b="1" lang="he-IL">
                <a:solidFill>
                  <a:srgbClr val="191A2E"/>
                </a:solidFill>
                <a:latin typeface="Heebo"/>
                <a:ea typeface="Heebo"/>
                <a:cs typeface="Heebo"/>
              </a:rPr>
              <a:t>RiseUp</a:t>
            </a:r>
          </a:p>
        </p:txBody>
      </p:sp>
      <p:sp>
        <p:nvSpPr>
          <p:cNvPr id="7" name="TextBox 6"/>
          <p:cNvSpPr txBox="1"/>
          <p:nvPr/>
        </p:nvSpPr>
        <p:spPr>
          <a:xfrm>
            <a:off x="5334000" y="3363468"/>
            <a:ext cx="59436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חודש ראשון חינם + חודשיים ב-50%, דרך הלינק שבכלי.</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66</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עד הלייב הבא</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5000"/>
              </a:lnSpc>
            </a:pPr>
            <a:r>
              <a:rPr sz="3960" b="1" lang="he-IL">
                <a:solidFill>
                  <a:srgbClr val="191A2E"/>
                </a:solidFill>
                <a:latin typeface="Heebo"/>
                <a:ea typeface="Heebo"/>
                <a:cs typeface="Heebo"/>
              </a:rPr>
              <a:t>יש לך 3 מספרים</a:t>
            </a:r>
          </a:p>
        </p:txBody>
      </p:sp>
      <p:sp>
        <p:nvSpPr>
          <p:cNvPr id="6" name="Rounded Rectangle 5"/>
          <p:cNvSpPr/>
          <p:nvPr/>
        </p:nvSpPr>
        <p:spPr>
          <a:xfrm>
            <a:off x="7955280" y="2286000"/>
            <a:ext cx="3322320" cy="27432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0" y="2590800"/>
            <a:ext cx="2773680" cy="457200"/>
          </a:xfrm>
          <a:prstGeom prst="rect">
            <a:avLst/>
          </a:prstGeom>
          <a:noFill/>
        </p:spPr>
        <p:txBody>
          <a:bodyPr wrap="square" lIns="0" rIns="0" tIns="0" bIns="0" anchor="t">
            <a:spAutoFit/>
          </a:bodyPr>
          <a:lstStyle/>
          <a:p>
            <a:pPr algn="r" rtl="1">
              <a:lnSpc>
                <a:spcPct val="115000"/>
              </a:lnSpc>
            </a:pPr>
            <a:r>
              <a:rPr sz="2280" b="1" lang="he-IL">
                <a:solidFill>
                  <a:srgbClr val="191A2E"/>
                </a:solidFill>
                <a:latin typeface="Heebo"/>
                <a:ea typeface="Heebo"/>
                <a:cs typeface="Heebo"/>
              </a:rPr>
              <a:t>השווי הנקי שלי</a:t>
            </a:r>
          </a:p>
        </p:txBody>
      </p:sp>
      <p:sp>
        <p:nvSpPr>
          <p:cNvPr id="8" name="TextBox 7"/>
          <p:cNvSpPr txBox="1"/>
          <p:nvPr/>
        </p:nvSpPr>
        <p:spPr>
          <a:xfrm>
            <a:off x="8229600" y="3581400"/>
            <a:ext cx="2773680" cy="762000"/>
          </a:xfrm>
          <a:prstGeom prst="rect">
            <a:avLst/>
          </a:prstGeom>
          <a:noFill/>
        </p:spPr>
        <p:txBody>
          <a:bodyPr wrap="square" lIns="0" rIns="0" tIns="0" bIns="0" anchor="t">
            <a:spAutoFit/>
          </a:bodyPr>
          <a:lstStyle/>
          <a:p>
            <a:pPr algn="r" rtl="1">
              <a:lnSpc>
                <a:spcPct val="115000"/>
              </a:lnSpc>
            </a:pPr>
            <a:r>
              <a:rPr sz="3240" b="1" lang="he-IL">
                <a:solidFill>
                  <a:srgbClr val="191A2E"/>
                </a:solidFill>
                <a:latin typeface="Heebo"/>
                <a:ea typeface="Heebo"/>
                <a:cs typeface="Heebo"/>
              </a:rPr>
              <a:t>___ ₪</a:t>
            </a:r>
          </a:p>
        </p:txBody>
      </p:sp>
      <p:sp>
        <p:nvSpPr>
          <p:cNvPr id="9" name="Rounded Rectangle 8"/>
          <p:cNvSpPr/>
          <p:nvPr/>
        </p:nvSpPr>
        <p:spPr>
          <a:xfrm>
            <a:off x="4434840" y="2286000"/>
            <a:ext cx="3322320" cy="2743200"/>
          </a:xfrm>
          <a:prstGeom prst="roundRect">
            <a:avLst>
              <a:gd name="adj" fmla="val 8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4709160" y="2590800"/>
            <a:ext cx="2773680" cy="457200"/>
          </a:xfrm>
          <a:prstGeom prst="rect">
            <a:avLst/>
          </a:prstGeom>
          <a:noFill/>
        </p:spPr>
        <p:txBody>
          <a:bodyPr wrap="square" lIns="0" rIns="0" tIns="0" bIns="0" anchor="t">
            <a:spAutoFit/>
          </a:bodyPr>
          <a:lstStyle/>
          <a:p>
            <a:pPr algn="r" rtl="1">
              <a:lnSpc>
                <a:spcPct val="115000"/>
              </a:lnSpc>
            </a:pPr>
            <a:r>
              <a:rPr sz="2280" b="1" lang="he-IL">
                <a:solidFill>
                  <a:srgbClr val="191A2E"/>
                </a:solidFill>
                <a:latin typeface="Heebo"/>
                <a:ea typeface="Heebo"/>
                <a:cs typeface="Heebo"/>
              </a:rPr>
              <a:t>התזרים שלי</a:t>
            </a:r>
          </a:p>
        </p:txBody>
      </p:sp>
      <p:sp>
        <p:nvSpPr>
          <p:cNvPr id="11" name="TextBox 10"/>
          <p:cNvSpPr txBox="1"/>
          <p:nvPr/>
        </p:nvSpPr>
        <p:spPr>
          <a:xfrm>
            <a:off x="4709160" y="3581400"/>
            <a:ext cx="2773680" cy="762000"/>
          </a:xfrm>
          <a:prstGeom prst="rect">
            <a:avLst/>
          </a:prstGeom>
          <a:noFill/>
        </p:spPr>
        <p:txBody>
          <a:bodyPr wrap="square" lIns="0" rIns="0" tIns="0" bIns="0" anchor="t">
            <a:spAutoFit/>
          </a:bodyPr>
          <a:lstStyle/>
          <a:p>
            <a:pPr algn="r" rtl="1">
              <a:lnSpc>
                <a:spcPct val="115000"/>
              </a:lnSpc>
            </a:pPr>
            <a:r>
              <a:rPr sz="3240" b="1" lang="he-IL">
                <a:solidFill>
                  <a:srgbClr val="191A2E"/>
                </a:solidFill>
                <a:latin typeface="Heebo"/>
                <a:ea typeface="Heebo"/>
                <a:cs typeface="Heebo"/>
              </a:rPr>
              <a:t>___ ₪ בחודש</a:t>
            </a:r>
          </a:p>
        </p:txBody>
      </p:sp>
      <p:sp>
        <p:nvSpPr>
          <p:cNvPr id="12" name="Rounded Rectangle 11"/>
          <p:cNvSpPr/>
          <p:nvPr/>
        </p:nvSpPr>
        <p:spPr>
          <a:xfrm>
            <a:off x="914400" y="2286000"/>
            <a:ext cx="3322320" cy="27432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188720" y="2590800"/>
            <a:ext cx="2773680" cy="457200"/>
          </a:xfrm>
          <a:prstGeom prst="rect">
            <a:avLst/>
          </a:prstGeom>
          <a:noFill/>
        </p:spPr>
        <p:txBody>
          <a:bodyPr wrap="square" lIns="0" rIns="0" tIns="0" bIns="0" anchor="t">
            <a:spAutoFit/>
          </a:bodyPr>
          <a:lstStyle/>
          <a:p>
            <a:pPr algn="r" rtl="1">
              <a:lnSpc>
                <a:spcPct val="115000"/>
              </a:lnSpc>
            </a:pPr>
            <a:r>
              <a:rPr sz="2280" b="1" lang="he-IL">
                <a:solidFill>
                  <a:srgbClr val="191A2E"/>
                </a:solidFill>
                <a:latin typeface="Heebo"/>
                <a:ea typeface="Heebo"/>
                <a:cs typeface="Heebo"/>
              </a:rPr>
              <a:t>חסכתי</a:t>
            </a:r>
          </a:p>
        </p:txBody>
      </p:sp>
      <p:sp>
        <p:nvSpPr>
          <p:cNvPr id="14" name="TextBox 13"/>
          <p:cNvSpPr txBox="1"/>
          <p:nvPr/>
        </p:nvSpPr>
        <p:spPr>
          <a:xfrm>
            <a:off x="1188720" y="3581400"/>
            <a:ext cx="2773680" cy="762000"/>
          </a:xfrm>
          <a:prstGeom prst="rect">
            <a:avLst/>
          </a:prstGeom>
          <a:noFill/>
        </p:spPr>
        <p:txBody>
          <a:bodyPr wrap="square" lIns="0" rIns="0" tIns="0" bIns="0" anchor="t">
            <a:spAutoFit/>
          </a:bodyPr>
          <a:lstStyle/>
          <a:p>
            <a:pPr algn="r" rtl="1">
              <a:lnSpc>
                <a:spcPct val="115000"/>
              </a:lnSpc>
            </a:pPr>
            <a:r>
              <a:rPr sz="3240" b="1" lang="he-IL">
                <a:solidFill>
                  <a:srgbClr val="191A2E"/>
                </a:solidFill>
                <a:latin typeface="Heebo"/>
                <a:ea typeface="Heebo"/>
                <a:cs typeface="Heebo"/>
              </a:rPr>
              <a:t>___ ₪ בחודש</a:t>
            </a:r>
          </a:p>
        </p:txBody>
      </p:sp>
      <p:sp>
        <p:nvSpPr>
          <p:cNvPr id="15" name="TextBox 14"/>
          <p:cNvSpPr txBox="1"/>
          <p:nvPr/>
        </p:nvSpPr>
        <p:spPr>
          <a:xfrm>
            <a:off x="914400" y="53340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”הוזלתי באינטרנט 70 ₪, בסלולר עוד 100 ₪“. מספר מוגדר וברור.</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67</a:t>
            </a:r>
          </a:p>
        </p:txBody>
      </p:sp>
      <p:sp>
        <p:nvSpPr>
          <p:cNvPr id="4" name="Rounded Rectangle 3"/>
          <p:cNvSpPr/>
          <p:nvPr/>
        </p:nvSpPr>
        <p:spPr>
          <a:xfrm>
            <a:off x="914400" y="1905000"/>
            <a:ext cx="10363200" cy="2895600"/>
          </a:xfrm>
          <a:prstGeom prst="roundRect">
            <a:avLst>
              <a:gd name="adj" fmla="val 9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463040" y="2438400"/>
            <a:ext cx="92659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בצ'אט · הימור קטן</a:t>
            </a:r>
          </a:p>
        </p:txBody>
      </p:sp>
      <p:sp>
        <p:nvSpPr>
          <p:cNvPr id="6" name="TextBox 5"/>
          <p:cNvSpPr txBox="1"/>
          <p:nvPr/>
        </p:nvSpPr>
        <p:spPr>
          <a:xfrm>
            <a:off x="1463040" y="2834640"/>
            <a:ext cx="9265920" cy="1752600"/>
          </a:xfrm>
          <a:prstGeom prst="rect">
            <a:avLst/>
          </a:prstGeom>
          <a:noFill/>
        </p:spPr>
        <p:txBody>
          <a:bodyPr wrap="square" lIns="0" rIns="0" tIns="0" bIns="0" anchor="t">
            <a:spAutoFit/>
          </a:bodyPr>
          <a:lstStyle/>
          <a:p>
            <a:pPr algn="r" rtl="1">
              <a:lnSpc>
                <a:spcPct val="115000"/>
              </a:lnSpc>
            </a:pPr>
            <a:r>
              <a:rPr sz="4440" b="1" lang="he-IL">
                <a:solidFill>
                  <a:srgbClr val="191A2E"/>
                </a:solidFill>
                <a:latin typeface="Heebo"/>
                <a:ea typeface="Heebo"/>
                <a:cs typeface="Heebo"/>
              </a:rPr>
              <a:t>כמה את מנחשת שתמצאי עד יום שני הבא?</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68</a:t>
            </a:r>
          </a:p>
        </p:txBody>
      </p:sp>
      <p:sp>
        <p:nvSpPr>
          <p:cNvPr id="4" name="TextBox 3"/>
          <p:cNvSpPr txBox="1"/>
          <p:nvPr/>
        </p:nvSpPr>
        <p:spPr>
          <a:xfrm>
            <a:off x="10515600" y="1143000"/>
            <a:ext cx="762000" cy="914400"/>
          </a:xfrm>
          <a:prstGeom prst="rect">
            <a:avLst/>
          </a:prstGeom>
          <a:noFill/>
        </p:spPr>
        <p:txBody>
          <a:bodyPr wrap="square" lIns="0" rIns="0" tIns="0" bIns="0" anchor="t">
            <a:spAutoFit/>
          </a:bodyPr>
          <a:lstStyle/>
          <a:p>
            <a:pPr algn="r" rtl="1">
              <a:lnSpc>
                <a:spcPct val="80000"/>
              </a:lnSpc>
            </a:pPr>
            <a:r>
              <a:rPr sz="10200" b="1" lang="he-IL">
                <a:solidFill>
                  <a:srgbClr val="EF55A5"/>
                </a:solidFill>
                <a:latin typeface="Heebo"/>
                <a:ea typeface="Heebo"/>
                <a:cs typeface="Heebo"/>
              </a:rPr>
              <a:t>”</a:t>
            </a:r>
          </a:p>
        </p:txBody>
      </p:sp>
      <p:sp>
        <p:nvSpPr>
          <p:cNvPr id="5" name="TextBox 4"/>
          <p:cNvSpPr txBox="1"/>
          <p:nvPr/>
        </p:nvSpPr>
        <p:spPr>
          <a:xfrm>
            <a:off x="914400" y="2286000"/>
            <a:ext cx="10363200" cy="2286000"/>
          </a:xfrm>
          <a:prstGeom prst="rect">
            <a:avLst/>
          </a:prstGeom>
          <a:noFill/>
        </p:spPr>
        <p:txBody>
          <a:bodyPr wrap="square" lIns="0" rIns="0" tIns="0" bIns="0" anchor="t">
            <a:spAutoFit/>
          </a:bodyPr>
          <a:lstStyle/>
          <a:p>
            <a:pPr algn="r" rtl="1">
              <a:lnSpc>
                <a:spcPct val="130000"/>
              </a:lnSpc>
            </a:pPr>
            <a:r>
              <a:rPr sz="3719" b="1" lang="he-IL">
                <a:solidFill>
                  <a:srgbClr val="191A2E"/>
                </a:solidFill>
                <a:latin typeface="Heebo"/>
                <a:ea typeface="Heebo"/>
                <a:cs typeface="Heebo"/>
              </a:rPr>
              <a:t>הסוד להתקדם הוא להתחיל.</a:t>
            </a:r>
          </a:p>
        </p:txBody>
      </p:sp>
      <p:sp>
        <p:nvSpPr>
          <p:cNvPr id="6" name="Rounded Rectangle 5"/>
          <p:cNvSpPr/>
          <p:nvPr/>
        </p:nvSpPr>
        <p:spPr>
          <a:xfrm>
            <a:off x="10942320" y="5029200"/>
            <a:ext cx="335280" cy="30480"/>
          </a:xfrm>
          <a:prstGeom prst="roundRect">
            <a:avLst>
              <a:gd name="adj" fmla="val 50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48400" y="4892040"/>
            <a:ext cx="4541520" cy="304800"/>
          </a:xfrm>
          <a:prstGeom prst="rect">
            <a:avLst/>
          </a:prstGeom>
          <a:noFill/>
        </p:spPr>
        <p:txBody>
          <a:bodyPr wrap="square" lIns="0" rIns="0" tIns="0" bIns="0" anchor="t">
            <a:spAutoFit/>
          </a:bodyPr>
          <a:lstStyle/>
          <a:p>
            <a:pPr algn="r" rtl="1">
              <a:lnSpc>
                <a:spcPct val="115000"/>
              </a:lnSpc>
            </a:pPr>
            <a:r>
              <a:rPr sz="1560" b="1" lang="he-IL">
                <a:solidFill>
                  <a:srgbClr val="191A2E"/>
                </a:solidFill>
                <a:latin typeface="Heebo"/>
                <a:ea typeface="Heebo"/>
                <a:cs typeface="Heebo"/>
              </a:rPr>
              <a:t>מארק טוויין</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69</a:t>
            </a:r>
          </a:p>
        </p:txBody>
      </p:sp>
      <p:sp>
        <p:nvSpPr>
          <p:cNvPr id="4" name="TextBox 3"/>
          <p:cNvSpPr txBox="1"/>
          <p:nvPr/>
        </p:nvSpPr>
        <p:spPr>
          <a:xfrm>
            <a:off x="914400" y="838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מה היה לנו הערב</a:t>
            </a:r>
          </a:p>
        </p:txBody>
      </p:sp>
      <p:sp>
        <p:nvSpPr>
          <p:cNvPr id="5" name="Oval 4"/>
          <p:cNvSpPr/>
          <p:nvPr/>
        </p:nvSpPr>
        <p:spPr>
          <a:xfrm>
            <a:off x="10850880" y="19050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1</a:t>
            </a:r>
          </a:p>
        </p:txBody>
      </p:sp>
      <p:sp>
        <p:nvSpPr>
          <p:cNvPr id="6" name="TextBox 5"/>
          <p:cNvSpPr txBox="1"/>
          <p:nvPr/>
        </p:nvSpPr>
        <p:spPr>
          <a:xfrm>
            <a:off x="914400" y="1920240"/>
            <a:ext cx="9723120" cy="944880"/>
          </a:xfrm>
          <a:prstGeom prst="rect">
            <a:avLst/>
          </a:prstGeom>
          <a:noFill/>
        </p:spPr>
        <p:txBody>
          <a:bodyPr wrap="square" lIns="0" rIns="0" tIns="0" bIns="0" anchor="t">
            <a:spAutoFit/>
          </a:bodyPr>
          <a:lstStyle/>
          <a:p>
            <a:pPr algn="r" rtl="1">
              <a:lnSpc>
                <a:spcPct val="130000"/>
              </a:lnSpc>
            </a:pPr>
            <a:r>
              <a:rPr sz="2400" b="0" lang="he-IL">
                <a:solidFill>
                  <a:srgbClr val="191A2E"/>
                </a:solidFill>
                <a:latin typeface="Heebo"/>
                <a:ea typeface="Heebo"/>
                <a:cs typeface="Heebo"/>
              </a:rPr>
              <a:t>שיטת המצפן</a:t>
            </a:r>
          </a:p>
        </p:txBody>
      </p:sp>
      <p:sp>
        <p:nvSpPr>
          <p:cNvPr id="7" name="Oval 6"/>
          <p:cNvSpPr/>
          <p:nvPr/>
        </p:nvSpPr>
        <p:spPr>
          <a:xfrm>
            <a:off x="10850880" y="284988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2</a:t>
            </a:r>
          </a:p>
        </p:txBody>
      </p:sp>
      <p:sp>
        <p:nvSpPr>
          <p:cNvPr id="8" name="TextBox 7"/>
          <p:cNvSpPr txBox="1"/>
          <p:nvPr/>
        </p:nvSpPr>
        <p:spPr>
          <a:xfrm>
            <a:off x="914400" y="2865120"/>
            <a:ext cx="9723120" cy="944880"/>
          </a:xfrm>
          <a:prstGeom prst="rect">
            <a:avLst/>
          </a:prstGeom>
          <a:noFill/>
        </p:spPr>
        <p:txBody>
          <a:bodyPr wrap="square" lIns="0" rIns="0" tIns="0" bIns="0" anchor="t">
            <a:spAutoFit/>
          </a:bodyPr>
          <a:lstStyle/>
          <a:p>
            <a:pPr algn="r" rtl="1">
              <a:lnSpc>
                <a:spcPct val="130000"/>
              </a:lnSpc>
            </a:pPr>
            <a:r>
              <a:rPr sz="2400" b="0" lang="he-IL">
                <a:solidFill>
                  <a:srgbClr val="191A2E"/>
                </a:solidFill>
                <a:latin typeface="Heebo"/>
                <a:ea typeface="Heebo"/>
                <a:cs typeface="Heebo"/>
              </a:rPr>
              <a:t>החזון ולוח החזון</a:t>
            </a:r>
          </a:p>
        </p:txBody>
      </p:sp>
      <p:sp>
        <p:nvSpPr>
          <p:cNvPr id="9" name="Oval 8"/>
          <p:cNvSpPr/>
          <p:nvPr/>
        </p:nvSpPr>
        <p:spPr>
          <a:xfrm>
            <a:off x="10850880" y="379476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3</a:t>
            </a:r>
          </a:p>
        </p:txBody>
      </p:sp>
      <p:sp>
        <p:nvSpPr>
          <p:cNvPr id="10" name="TextBox 9"/>
          <p:cNvSpPr txBox="1"/>
          <p:nvPr/>
        </p:nvSpPr>
        <p:spPr>
          <a:xfrm>
            <a:off x="914400" y="3810000"/>
            <a:ext cx="9723120" cy="944880"/>
          </a:xfrm>
          <a:prstGeom prst="rect">
            <a:avLst/>
          </a:prstGeom>
          <a:noFill/>
        </p:spPr>
        <p:txBody>
          <a:bodyPr wrap="square" lIns="0" rIns="0" tIns="0" bIns="0" anchor="t">
            <a:spAutoFit/>
          </a:bodyPr>
          <a:lstStyle/>
          <a:p>
            <a:pPr algn="r" rtl="1">
              <a:lnSpc>
                <a:spcPct val="130000"/>
              </a:lnSpc>
            </a:pPr>
            <a:r>
              <a:rPr sz="2400" b="0" lang="he-IL">
                <a:solidFill>
                  <a:srgbClr val="191A2E"/>
                </a:solidFill>
                <a:latin typeface="Heebo"/>
                <a:ea typeface="Heebo"/>
                <a:cs typeface="Heebo"/>
              </a:rPr>
              <a:t>מעגל, סולם, ו”איך אפשר?“</a:t>
            </a:r>
          </a:p>
        </p:txBody>
      </p:sp>
      <p:sp>
        <p:nvSpPr>
          <p:cNvPr id="11" name="Oval 10"/>
          <p:cNvSpPr/>
          <p:nvPr/>
        </p:nvSpPr>
        <p:spPr>
          <a:xfrm>
            <a:off x="10850880" y="473964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4</a:t>
            </a:r>
          </a:p>
        </p:txBody>
      </p:sp>
      <p:sp>
        <p:nvSpPr>
          <p:cNvPr id="12" name="TextBox 11"/>
          <p:cNvSpPr txBox="1"/>
          <p:nvPr/>
        </p:nvSpPr>
        <p:spPr>
          <a:xfrm>
            <a:off x="914400" y="4754880"/>
            <a:ext cx="9723120" cy="944880"/>
          </a:xfrm>
          <a:prstGeom prst="rect">
            <a:avLst/>
          </a:prstGeom>
          <a:noFill/>
        </p:spPr>
        <p:txBody>
          <a:bodyPr wrap="square" lIns="0" rIns="0" tIns="0" bIns="0" anchor="t">
            <a:spAutoFit/>
          </a:bodyPr>
          <a:lstStyle/>
          <a:p>
            <a:pPr algn="r" rtl="1">
              <a:lnSpc>
                <a:spcPct val="130000"/>
              </a:lnSpc>
            </a:pPr>
            <a:r>
              <a:rPr sz="2400" b="0" lang="he-IL">
                <a:solidFill>
                  <a:srgbClr val="191A2E"/>
                </a:solidFill>
                <a:latin typeface="Heebo"/>
                <a:ea typeface="Heebo"/>
                <a:cs typeface="Heebo"/>
              </a:rPr>
              <a:t>נקודת המוצא: שווי נקי ותזרים</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70</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באזור האישי, עד יום שני הבא</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המשימה לשבוע</a:t>
            </a:r>
          </a:p>
        </p:txBody>
      </p:sp>
      <p:sp>
        <p:nvSpPr>
          <p:cNvPr id="6" name="Oval 5"/>
          <p:cNvSpPr/>
          <p:nvPr/>
        </p:nvSpPr>
        <p:spPr>
          <a:xfrm>
            <a:off x="10850880" y="246888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1</a:t>
            </a:r>
          </a:p>
        </p:txBody>
      </p:sp>
      <p:sp>
        <p:nvSpPr>
          <p:cNvPr id="7" name="TextBox 6"/>
          <p:cNvSpPr txBox="1"/>
          <p:nvPr/>
        </p:nvSpPr>
        <p:spPr>
          <a:xfrm>
            <a:off x="914400" y="2484120"/>
            <a:ext cx="9723120" cy="94488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לוח החזון: אם עוד לא, הערב</a:t>
            </a:r>
          </a:p>
        </p:txBody>
      </p:sp>
      <p:sp>
        <p:nvSpPr>
          <p:cNvPr id="8" name="Oval 7"/>
          <p:cNvSpPr/>
          <p:nvPr/>
        </p:nvSpPr>
        <p:spPr>
          <a:xfrm>
            <a:off x="10850880" y="341376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2</a:t>
            </a:r>
          </a:p>
        </p:txBody>
      </p:sp>
      <p:sp>
        <p:nvSpPr>
          <p:cNvPr id="9" name="TextBox 8"/>
          <p:cNvSpPr txBox="1"/>
          <p:nvPr/>
        </p:nvSpPr>
        <p:spPr>
          <a:xfrm>
            <a:off x="914400" y="3429000"/>
            <a:ext cx="9723120" cy="94488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הכלי ”נקודת המוצא“: ששת השלבים</a:t>
            </a:r>
          </a:p>
        </p:txBody>
      </p:sp>
      <p:sp>
        <p:nvSpPr>
          <p:cNvPr id="10" name="Oval 9"/>
          <p:cNvSpPr/>
          <p:nvPr/>
        </p:nvSpPr>
        <p:spPr>
          <a:xfrm>
            <a:off x="10850880" y="435864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3</a:t>
            </a:r>
          </a:p>
        </p:txBody>
      </p:sp>
      <p:sp>
        <p:nvSpPr>
          <p:cNvPr id="11" name="TextBox 10"/>
          <p:cNvSpPr txBox="1"/>
          <p:nvPr/>
        </p:nvSpPr>
        <p:spPr>
          <a:xfrm>
            <a:off x="914400" y="4373880"/>
            <a:ext cx="9723120" cy="94488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מגיעות עם 3 מספרים: שווי נקי, תזרים, כמה חסכתי</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71</a:t>
            </a:r>
          </a:p>
        </p:txBody>
      </p:sp>
      <p:sp>
        <p:nvSpPr>
          <p:cNvPr id="4" name="Rounded Rectangle 3"/>
          <p:cNvSpPr/>
          <p:nvPr/>
        </p:nvSpPr>
        <p:spPr>
          <a:xfrm>
            <a:off x="914400" y="1905000"/>
            <a:ext cx="10363200" cy="2895600"/>
          </a:xfrm>
          <a:prstGeom prst="roundRect">
            <a:avLst>
              <a:gd name="adj" fmla="val 9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463040" y="2438400"/>
            <a:ext cx="92659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בצ'אט</a:t>
            </a:r>
          </a:p>
        </p:txBody>
      </p:sp>
      <p:sp>
        <p:nvSpPr>
          <p:cNvPr id="6" name="TextBox 5"/>
          <p:cNvSpPr txBox="1"/>
          <p:nvPr/>
        </p:nvSpPr>
        <p:spPr>
          <a:xfrm>
            <a:off x="1463040" y="2834640"/>
            <a:ext cx="9265920" cy="1752600"/>
          </a:xfrm>
          <a:prstGeom prst="rect">
            <a:avLst/>
          </a:prstGeom>
          <a:noFill/>
        </p:spPr>
        <p:txBody>
          <a:bodyPr wrap="square" lIns="0" rIns="0" tIns="0" bIns="0" anchor="t">
            <a:spAutoFit/>
          </a:bodyPr>
          <a:lstStyle/>
          <a:p>
            <a:pPr algn="r" rtl="1">
              <a:lnSpc>
                <a:spcPct val="115000"/>
              </a:lnSpc>
            </a:pPr>
            <a:r>
              <a:rPr sz="4440" b="1" lang="he-IL">
                <a:solidFill>
                  <a:srgbClr val="191A2E"/>
                </a:solidFill>
                <a:latin typeface="Heebo"/>
                <a:ea typeface="Heebo"/>
                <a:cs typeface="Heebo"/>
              </a:rPr>
              <a:t>מילה אחת שאת לוקחת מהערב</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1 · ממפות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72</a:t>
            </a:r>
          </a:p>
        </p:txBody>
      </p:sp>
      <p:sp>
        <p:nvSpPr>
          <p:cNvPr id="4" name="TextBox 3"/>
          <p:cNvSpPr txBox="1"/>
          <p:nvPr/>
        </p:nvSpPr>
        <p:spPr>
          <a:xfrm>
            <a:off x="914400" y="11430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בשבוע הבא</a:t>
            </a:r>
          </a:p>
        </p:txBody>
      </p:sp>
      <p:sp>
        <p:nvSpPr>
          <p:cNvPr id="5" name="Rectangle 4"/>
          <p:cNvSpPr/>
          <p:nvPr/>
        </p:nvSpPr>
        <p:spPr>
          <a:xfrm>
            <a:off x="2286000" y="2453640"/>
            <a:ext cx="7620000" cy="30480"/>
          </a:xfrm>
          <a:prstGeom prst="rect">
            <a:avLst/>
          </a:prstGeom>
          <a:solidFill>
            <a:srgbClr val="ECE7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Oval 5"/>
          <p:cNvSpPr/>
          <p:nvPr/>
        </p:nvSpPr>
        <p:spPr>
          <a:xfrm>
            <a:off x="10104120" y="1981200"/>
            <a:ext cx="975360" cy="975360"/>
          </a:xfrm>
          <a:prstGeom prst="ellipse">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3240" b="1" lang="he-IL">
                <a:solidFill>
                  <a:srgbClr val="191A2E"/>
                </a:solidFill>
                <a:latin typeface="Heebo"/>
                <a:ea typeface="Heebo"/>
                <a:cs typeface="Heebo"/>
              </a:rPr>
              <a:t>1</a:t>
            </a:r>
          </a:p>
        </p:txBody>
      </p:sp>
      <p:sp>
        <p:nvSpPr>
          <p:cNvPr id="7" name="TextBox 6"/>
          <p:cNvSpPr txBox="1"/>
          <p:nvPr/>
        </p:nvSpPr>
        <p:spPr>
          <a:xfrm>
            <a:off x="9448800" y="3169920"/>
            <a:ext cx="2286000" cy="304800"/>
          </a:xfrm>
          <a:prstGeom prst="rect">
            <a:avLst/>
          </a:prstGeom>
          <a:noFill/>
        </p:spPr>
        <p:txBody>
          <a:bodyPr wrap="square" lIns="0" rIns="0" tIns="0" bIns="0" anchor="t">
            <a:spAutoFit/>
          </a:bodyPr>
          <a:lstStyle/>
          <a:p>
            <a:pPr algn="ctr" rtl="1">
              <a:lnSpc>
                <a:spcPct val="115000"/>
              </a:lnSpc>
            </a:pPr>
            <a:r>
              <a:rPr sz="1620" b="1" lang="he-IL">
                <a:solidFill>
                  <a:srgbClr val="191A2E"/>
                </a:solidFill>
                <a:latin typeface="Heebo"/>
                <a:ea typeface="Heebo"/>
                <a:cs typeface="Heebo"/>
              </a:rPr>
              <a:t>שבוע 1 · ממפות</a:t>
            </a:r>
          </a:p>
        </p:txBody>
      </p:sp>
      <p:sp>
        <p:nvSpPr>
          <p:cNvPr id="8" name="Oval 7"/>
          <p:cNvSpPr/>
          <p:nvPr/>
        </p:nvSpPr>
        <p:spPr>
          <a:xfrm>
            <a:off x="7018020" y="1889760"/>
            <a:ext cx="1158240" cy="1158240"/>
          </a:xfrm>
          <a:prstGeom prst="ellipse">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Oval 8"/>
          <p:cNvSpPr/>
          <p:nvPr/>
        </p:nvSpPr>
        <p:spPr>
          <a:xfrm>
            <a:off x="7109460" y="1981200"/>
            <a:ext cx="975360" cy="97536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3240" b="1" lang="he-IL">
                <a:solidFill>
                  <a:srgbClr val="191A2E"/>
                </a:solidFill>
                <a:latin typeface="Heebo"/>
                <a:ea typeface="Heebo"/>
                <a:cs typeface="Heebo"/>
              </a:rPr>
              <a:t>2</a:t>
            </a:r>
          </a:p>
        </p:txBody>
      </p:sp>
      <p:sp>
        <p:nvSpPr>
          <p:cNvPr id="10" name="TextBox 9"/>
          <p:cNvSpPr txBox="1"/>
          <p:nvPr/>
        </p:nvSpPr>
        <p:spPr>
          <a:xfrm>
            <a:off x="6454140" y="3169920"/>
            <a:ext cx="2286000" cy="304800"/>
          </a:xfrm>
          <a:prstGeom prst="rect">
            <a:avLst/>
          </a:prstGeom>
          <a:noFill/>
        </p:spPr>
        <p:txBody>
          <a:bodyPr wrap="square" lIns="0" rIns="0" tIns="0" bIns="0" anchor="t">
            <a:spAutoFit/>
          </a:bodyPr>
          <a:lstStyle/>
          <a:p>
            <a:pPr algn="ctr" rtl="1">
              <a:lnSpc>
                <a:spcPct val="115000"/>
              </a:lnSpc>
            </a:pPr>
            <a:r>
              <a:rPr sz="1620" b="1" lang="he-IL">
                <a:solidFill>
                  <a:srgbClr val="191A2E"/>
                </a:solidFill>
                <a:latin typeface="Heebo"/>
                <a:ea typeface="Heebo"/>
                <a:cs typeface="Heebo"/>
              </a:rPr>
              <a:t>שבוע 2 · מגינות</a:t>
            </a:r>
          </a:p>
        </p:txBody>
      </p:sp>
      <p:sp>
        <p:nvSpPr>
          <p:cNvPr id="11" name="Oval 10"/>
          <p:cNvSpPr/>
          <p:nvPr/>
        </p:nvSpPr>
        <p:spPr>
          <a:xfrm>
            <a:off x="4114800" y="1981200"/>
            <a:ext cx="975360" cy="975360"/>
          </a:xfrm>
          <a:prstGeom prst="ellipse">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3240" b="1" lang="he-IL">
                <a:solidFill>
                  <a:srgbClr val="9A9AA6"/>
                </a:solidFill>
                <a:latin typeface="Heebo"/>
                <a:ea typeface="Heebo"/>
                <a:cs typeface="Heebo"/>
              </a:rPr>
              <a:t>3</a:t>
            </a:r>
          </a:p>
        </p:txBody>
      </p:sp>
      <p:sp>
        <p:nvSpPr>
          <p:cNvPr id="12" name="TextBox 11"/>
          <p:cNvSpPr txBox="1"/>
          <p:nvPr/>
        </p:nvSpPr>
        <p:spPr>
          <a:xfrm>
            <a:off x="3459480" y="3169920"/>
            <a:ext cx="2286000" cy="304800"/>
          </a:xfrm>
          <a:prstGeom prst="rect">
            <a:avLst/>
          </a:prstGeom>
          <a:noFill/>
        </p:spPr>
        <p:txBody>
          <a:bodyPr wrap="square" lIns="0" rIns="0" tIns="0" bIns="0" anchor="t">
            <a:spAutoFit/>
          </a:bodyPr>
          <a:lstStyle/>
          <a:p>
            <a:pPr algn="ctr" rtl="1">
              <a:lnSpc>
                <a:spcPct val="115000"/>
              </a:lnSpc>
            </a:pPr>
            <a:r>
              <a:rPr sz="1620" b="1" lang="he-IL">
                <a:solidFill>
                  <a:srgbClr val="9A9AA6"/>
                </a:solidFill>
                <a:latin typeface="Heebo"/>
                <a:ea typeface="Heebo"/>
                <a:cs typeface="Heebo"/>
              </a:rPr>
              <a:t>שבוע 3 · מחלקות</a:t>
            </a:r>
          </a:p>
        </p:txBody>
      </p:sp>
      <p:sp>
        <p:nvSpPr>
          <p:cNvPr id="13" name="Oval 12"/>
          <p:cNvSpPr/>
          <p:nvPr/>
        </p:nvSpPr>
        <p:spPr>
          <a:xfrm>
            <a:off x="1120140" y="1981200"/>
            <a:ext cx="975360" cy="975360"/>
          </a:xfrm>
          <a:prstGeom prst="ellipse">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3240" b="1" lang="he-IL">
                <a:solidFill>
                  <a:srgbClr val="9A9AA6"/>
                </a:solidFill>
                <a:latin typeface="Heebo"/>
                <a:ea typeface="Heebo"/>
                <a:cs typeface="Heebo"/>
              </a:rPr>
              <a:t>4</a:t>
            </a:r>
          </a:p>
        </p:txBody>
      </p:sp>
      <p:sp>
        <p:nvSpPr>
          <p:cNvPr id="14" name="TextBox 13"/>
          <p:cNvSpPr txBox="1"/>
          <p:nvPr/>
        </p:nvSpPr>
        <p:spPr>
          <a:xfrm>
            <a:off x="464820" y="3169920"/>
            <a:ext cx="2286000" cy="304800"/>
          </a:xfrm>
          <a:prstGeom prst="rect">
            <a:avLst/>
          </a:prstGeom>
          <a:noFill/>
        </p:spPr>
        <p:txBody>
          <a:bodyPr wrap="square" lIns="0" rIns="0" tIns="0" bIns="0" anchor="t">
            <a:spAutoFit/>
          </a:bodyPr>
          <a:lstStyle/>
          <a:p>
            <a:pPr algn="ctr" rtl="1">
              <a:lnSpc>
                <a:spcPct val="115000"/>
              </a:lnSpc>
            </a:pPr>
            <a:r>
              <a:rPr sz="1620" b="1" lang="he-IL">
                <a:solidFill>
                  <a:srgbClr val="9A9AA6"/>
                </a:solidFill>
                <a:latin typeface="Heebo"/>
                <a:ea typeface="Heebo"/>
                <a:cs typeface="Heebo"/>
              </a:rPr>
              <a:t>שבוע 4 · מפעילות</a:t>
            </a:r>
          </a:p>
        </p:txBody>
      </p:sp>
      <p:sp>
        <p:nvSpPr>
          <p:cNvPr id="15" name="TextBox 14"/>
          <p:cNvSpPr txBox="1"/>
          <p:nvPr/>
        </p:nvSpPr>
        <p:spPr>
          <a:xfrm>
            <a:off x="914400" y="3962400"/>
            <a:ext cx="10363200" cy="1295400"/>
          </a:xfrm>
          <a:prstGeom prst="rect">
            <a:avLst/>
          </a:prstGeom>
          <a:noFill/>
        </p:spPr>
        <p:txBody>
          <a:bodyPr wrap="square" lIns="0" rIns="0" tIns="0" bIns="0" anchor="t">
            <a:spAutoFit/>
          </a:bodyPr>
          <a:lstStyle/>
          <a:p>
            <a:pPr algn="r" rtl="1">
              <a:lnSpc>
                <a:spcPct val="120000"/>
              </a:lnSpc>
            </a:pPr>
            <a:r>
              <a:rPr sz="3240" b="1" lang="he-IL">
                <a:solidFill>
                  <a:srgbClr val="191A2E"/>
                </a:solidFill>
                <a:latin typeface="Heebo"/>
                <a:ea typeface="Heebo"/>
                <a:cs typeface="Heebo"/>
              </a:rPr>
              <a:t>לייב 2 · המטרות הפיננסיות: כמה, ומתי.</a:t>
            </a:r>
          </a:p>
        </p:txBody>
      </p:sp>
      <p:sp>
        <p:nvSpPr>
          <p:cNvPr id="16" name="TextBox 15"/>
          <p:cNvSpPr txBox="1"/>
          <p:nvPr/>
        </p:nvSpPr>
        <p:spPr>
          <a:xfrm>
            <a:off x="914400" y="5334000"/>
            <a:ext cx="10363200" cy="762000"/>
          </a:xfrm>
          <a:prstGeom prst="rect">
            <a:avLst/>
          </a:prstGeom>
          <a:noFill/>
        </p:spPr>
        <p:txBody>
          <a:bodyPr wrap="square" lIns="0" rIns="0" tIns="0" bIns="0" anchor="t">
            <a:spAutoFit/>
          </a:bodyPr>
          <a:lstStyle/>
          <a:p>
            <a:pPr algn="r" rtl="1">
              <a:lnSpc>
                <a:spcPct val="145000"/>
              </a:lnSpc>
            </a:pPr>
            <a:r>
              <a:rPr sz="1680" b="0" lang="he-IL">
                <a:solidFill>
                  <a:srgbClr val="6B6B7B"/>
                </a:solidFill>
                <a:latin typeface="Heebo"/>
                <a:ea typeface="Heebo"/>
                <a:cs typeface="Heebo"/>
              </a:rPr>
              <a:t>כל חלום מקבל סכום ותאריך.</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