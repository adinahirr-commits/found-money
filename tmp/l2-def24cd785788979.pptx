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01</a:t>
            </a:r>
          </a:p>
        </p:txBody>
      </p:sp>
      <p:pic>
        <p:nvPicPr>
          <p:cNvPr id="4" name="Picture 3" descr="s30_bloo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838200"/>
            <a:ext cx="4876800" cy="48768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6248400" y="1143000"/>
            <a:ext cx="5029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הרצאה 2 · מעיסוק &gt;&gt; לעסק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48400" y="1524000"/>
            <a:ext cx="50292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5000"/>
              </a:lnSpc>
            </a:pPr>
            <a:r>
              <a:rPr sz="6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העסק</a:t>
            </a:r>
          </a:p>
          <a:p>
            <a:pPr algn="r" rtl="1">
              <a:lnSpc>
                <a:spcPct val="95000"/>
              </a:lnSpc>
            </a:pPr>
            <a:r>
              <a:rPr sz="6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שלכם</a:t>
            </a:r>
          </a:p>
          <a:p>
            <a:pPr algn="r" rtl="1">
              <a:lnSpc>
                <a:spcPct val="95000"/>
              </a:lnSpc>
            </a:pPr>
            <a:r>
              <a:rPr sz="62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כנכס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400" y="4267200"/>
            <a:ext cx="5029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הזכויות, האנשים והמספרים שהופכים עסק לביטחון ולחופש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50880" y="5303520"/>
            <a:ext cx="426720" cy="45720"/>
          </a:xfrm>
          <a:prstGeom prst="roundRect">
            <a:avLst>
              <a:gd name="adj" fmla="val 50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0" y="5196840"/>
            <a:ext cx="44500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עדי סומך · מנכ״לית ומייסדת אמא משקיעה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24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רגע לפני שמתחילים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05000"/>
            <a:ext cx="103632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8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היי :) נעים להכיר!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24000" y="3657600"/>
            <a:ext cx="9753600" cy="1524000"/>
          </a:xfrm>
          <a:prstGeom prst="roundRect">
            <a:avLst>
              <a:gd name="adj" fmla="val 15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35280" rIns="335280" tIns="201168" bIns="201168"/>
          <a:lstStyle/>
          <a:p>
            <a:pPr algn="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כתבו לי בצ׳אט: מי אתם, ומה הדבר שהכי מבלבל אתכם בכסף של העסק?</a:t>
            </a:r>
          </a:p>
          <a:p>
            <a:pPr algn="r" rtl="1">
              <a:lnSpc>
                <a:spcPct val="115000"/>
              </a:lnSpc>
              <a:spcBef>
                <a:spcPts val="840"/>
              </a:spcBef>
            </a:pPr>
            <a:r>
              <a:rPr sz="21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אני אחזור לתשובות שלכם לאורך הערב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03</a:t>
            </a:r>
          </a:p>
        </p:txBody>
      </p:sp>
      <p:pic>
        <p:nvPicPr>
          <p:cNvPr id="4" name="Picture 3" descr="ad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3352800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76800" y="990600"/>
            <a:ext cx="64008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ועכשיו קצת עליי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1333500"/>
            <a:ext cx="64008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55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עדי סומך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0" y="2247900"/>
            <a:ext cx="64008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מנכ״לית ומייסדת אמא משקיעה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0" y="2628900"/>
            <a:ext cx="6400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נשואה למני ואמא של אלה ואביב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0" y="3086100"/>
            <a:ext cx="6400800" cy="1524000"/>
          </a:xfrm>
          <a:prstGeom prst="roundRect">
            <a:avLst>
              <a:gd name="adj" fmla="val 15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43840" rIns="243840" tIns="146304" bIns="146304"/>
          <a:lstStyle/>
          <a:p>
            <a:pPr algn="r" rtl="1">
              <a:lnSpc>
                <a:spcPct val="140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אמא משקיעה =</a:t>
            </a:r>
          </a:p>
          <a:p>
            <a:pPr algn="r" rtl="1">
              <a:lnSpc>
                <a:spcPct val="140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אמא שלא משאירה את העתיד ליד המקרה. משקיעה ובונה את המשפחה בלי לוותר על עצמה בדרך. אמא שלא צריכה לבחור בין ההנאות של היום לבין הביטחון של העתיד.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0" y="4800600"/>
            <a:ext cx="64008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56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והיום נעשה סדר בכסף של העסק, כדי שהעסק שלכם יהפוך לנכס שבונה לכם ביטחון וחופש.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חשוב לי להגיד את זה כבר בהתחלה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אני לא רואת חשבון,</a:t>
            </a:r>
          </a:p>
          <a:p>
            <a:pPr algn="r" rtl="1">
              <a:lnSpc>
                <a:spcPct val="110000"/>
              </a:lnSpc>
            </a:pPr>
            <a:r>
              <a:rPr sz="4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ואני לא יועצת פנסיונית.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971800"/>
            <a:ext cx="5029200" cy="2057400"/>
          </a:xfrm>
          <a:prstGeom prst="roundRect">
            <a:avLst>
              <a:gd name="adj" fmla="val 11111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182880" bIns="182880"/>
          <a:lstStyle/>
          <a:p>
            <a:pPr algn="r" rtl="1">
              <a:lnSpc>
                <a:spcPct val="14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ולכן לא אמליץ</a:t>
            </a:r>
          </a:p>
          <a:p>
            <a:pPr algn="r" rtl="1">
              <a:lnSpc>
                <a:spcPct val="145000"/>
              </a:lnSpc>
              <a:spcBef>
                <a:spcPts val="60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על סכומים, על קופות, על חברות או על מסלולי השקעה. לא כאן, ולא בפרטי אחרי ההרצאה.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71800"/>
            <a:ext cx="5029200" cy="2057400"/>
          </a:xfrm>
          <a:prstGeom prst="roundRect">
            <a:avLst>
              <a:gd name="adj" fmla="val 11111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04800" rIns="304800" tIns="182880" bIns="182880"/>
          <a:lstStyle/>
          <a:p>
            <a:pPr algn="r" rtl="1">
              <a:lnSpc>
                <a:spcPct val="14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כן נעשה היום</a:t>
            </a:r>
          </a:p>
          <a:p>
            <a:pPr algn="r" rtl="1">
              <a:lnSpc>
                <a:spcPct val="145000"/>
              </a:lnSpc>
              <a:spcBef>
                <a:spcPts val="600"/>
              </a:spcBef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נבין מה קיים, מה מגיע לכם, ומה לשאול. כדי שתגיעו לאנשי המקצוע עם הראש במקום, ותקבלו החלטות שלכם.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340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המספרים במצגת נכונים לשנת 2026, ומתעדכנים כל שנה. לפני כל החלטה בודקים מול איש מקצוע.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05</a:t>
            </a:r>
          </a:p>
        </p:txBody>
      </p:sp>
      <p:pic>
        <p:nvPicPr>
          <p:cNvPr id="4" name="Picture 3" descr="s21_c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47800"/>
            <a:ext cx="3657600" cy="36576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Rounded Rectangle 4"/>
          <p:cNvSpPr/>
          <p:nvPr/>
        </p:nvSpPr>
        <p:spPr>
          <a:xfrm>
            <a:off x="5029200" y="1905000"/>
            <a:ext cx="6248400" cy="2895600"/>
          </a:xfrm>
          <a:prstGeom prst="roundRect">
            <a:avLst>
              <a:gd name="adj" fmla="val 9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77840" y="2438400"/>
            <a:ext cx="51511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שאלה לקהל · הרימו יד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2834640"/>
            <a:ext cx="515112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מי כאן יודע בדיוק כמה העסק שלו הרוויח בחודש שעבר?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הדרך של הערב · חמש תחנות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2301240"/>
            <a:ext cx="82296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8888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18032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הצוות</a:t>
            </a:r>
          </a:p>
        </p:txBody>
      </p:sp>
      <p:sp>
        <p:nvSpPr>
          <p:cNvPr id="9" name="Oval 8"/>
          <p:cNvSpPr/>
          <p:nvPr/>
        </p:nvSpPr>
        <p:spPr>
          <a:xfrm>
            <a:off x="7894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הזכויות</a:t>
            </a:r>
          </a:p>
        </p:txBody>
      </p:sp>
      <p:sp>
        <p:nvSpPr>
          <p:cNvPr id="11" name="Oval 10"/>
          <p:cNvSpPr/>
          <p:nvPr/>
        </p:nvSpPr>
        <p:spPr>
          <a:xfrm>
            <a:off x="5608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השינוי הקטן</a:t>
            </a:r>
          </a:p>
        </p:txBody>
      </p:sp>
      <p:sp>
        <p:nvSpPr>
          <p:cNvPr id="13" name="Oval 12"/>
          <p:cNvSpPr/>
          <p:nvPr/>
        </p:nvSpPr>
        <p:spPr>
          <a:xfrm>
            <a:off x="3322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התזרים</a:t>
            </a:r>
          </a:p>
        </p:txBody>
      </p:sp>
      <p:sp>
        <p:nvSpPr>
          <p:cNvPr id="15" name="Oval 14"/>
          <p:cNvSpPr/>
          <p:nvPr/>
        </p:nvSpPr>
        <p:spPr>
          <a:xfrm>
            <a:off x="1036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הכסף שעובד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נתחיל באנשים שצריכים להיות לידכם, נעבור על מה שמגיע לכם, נגלה איפה שינוי קטן שווה הון, נעשה סדר בתזרים, ונסיים בכסף שעובד בשבילכם.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הצוות של העסק שלכם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חמישה אנשים שכל בעל עסק צריך לידו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51264" y="1905000"/>
            <a:ext cx="1926336" cy="40386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79864" y="2164080"/>
            <a:ext cx="1469136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רואה חשבון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9864" y="2651760"/>
            <a:ext cx="1469136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דיווחים, מע״מ ומס הכנסה, הוצאות מוכרות, ותכנון מס לפני שהשנה נגמרת.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42048" y="1905000"/>
            <a:ext cx="1926336" cy="40386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70648" y="2164080"/>
            <a:ext cx="1469136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סוכן או יועץ פנסיוני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3002280"/>
            <a:ext cx="1469136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פנסיה, קרן השתלמות, דמי ניהול ומסלולים. שהכסף לטווח הארוך בנוי נכון.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2832" y="1905000"/>
            <a:ext cx="1926336" cy="40386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1432" y="2164080"/>
            <a:ext cx="1469136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סוכן ביטוח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1432" y="2651760"/>
            <a:ext cx="1469136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אובדן כושר עבודה, בריאות, ביטוח חיים, ביטוח לעסק ולציוד.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23616" y="1905000"/>
            <a:ext cx="1926336" cy="4038600"/>
          </a:xfrm>
          <a:prstGeom prst="roundRect">
            <a:avLst>
              <a:gd name="adj" fmla="val 7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52216" y="2164080"/>
            <a:ext cx="1469136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יועץ השקעות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52216" y="2651760"/>
            <a:ext cx="1469136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הכסף שמעבר לפנסיה: לפי הטווח, המטרה ורמת הסיכון שלכם.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905000"/>
            <a:ext cx="1926336" cy="4038600"/>
          </a:xfrm>
          <a:prstGeom prst="roundRect">
            <a:avLst>
              <a:gd name="adj" fmla="val 7000"/>
            </a:avLst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2164080"/>
            <a:ext cx="1469136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הבנקאי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51760"/>
            <a:ext cx="1469136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חשבון עסקי, עמלות ואשראי. גם מולו מנהלים משא ומתן.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0579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ואתם? אתם המנכ״לים. הם מייעצים, אתם מחליטים.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08</a:t>
            </a:r>
          </a:p>
        </p:txBody>
      </p:sp>
      <p:pic>
        <p:nvPicPr>
          <p:cNvPr id="4" name="Picture 3" descr="s46_tal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4000"/>
            <a:ext cx="3505200" cy="3505200"/>
          </a:xfrm>
          <a:prstGeom prst="roundRect">
            <a:avLst>
              <a:gd name="adj" fmla="val 8000"/>
            </a:avLst>
          </a:prstGeom>
        </p:spPr>
      </p:pic>
      <p:sp>
        <p:nvSpPr>
          <p:cNvPr id="5" name="TextBox 4"/>
          <p:cNvSpPr txBox="1"/>
          <p:nvPr/>
        </p:nvSpPr>
        <p:spPr>
          <a:xfrm>
            <a:off x="4876800" y="838200"/>
            <a:ext cx="64008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חמישה כללים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6800" y="1219200"/>
            <a:ext cx="6400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איך עובדים נכון עם אנשי המקצוע?</a:t>
            </a:r>
          </a:p>
        </p:txBody>
      </p:sp>
      <p:sp>
        <p:nvSpPr>
          <p:cNvPr id="7" name="Oval 6"/>
          <p:cNvSpPr/>
          <p:nvPr/>
        </p:nvSpPr>
        <p:spPr>
          <a:xfrm>
            <a:off x="10850880" y="228600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0" y="230124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מגיעים עם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שאלות</a:t>
            </a: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, לא רק עם ערימת מסמכים</a:t>
            </a:r>
          </a:p>
        </p:txBody>
      </p:sp>
      <p:sp>
        <p:nvSpPr>
          <p:cNvPr id="9" name="Oval 8"/>
          <p:cNvSpPr/>
          <p:nvPr/>
        </p:nvSpPr>
        <p:spPr>
          <a:xfrm>
            <a:off x="10850880" y="298704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76800" y="300228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שואלים בגלוי: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זה עולה לי, ואיך אתה מתוגמל?</a:t>
            </a:r>
          </a:p>
        </p:txBody>
      </p:sp>
      <p:sp>
        <p:nvSpPr>
          <p:cNvPr id="11" name="Oval 10"/>
          <p:cNvSpPr/>
          <p:nvPr/>
        </p:nvSpPr>
        <p:spPr>
          <a:xfrm>
            <a:off x="10850880" y="368808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800" y="370332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מבקשים את ההמלצה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בכתב</a:t>
            </a: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, עם הנימוק</a:t>
            </a:r>
          </a:p>
        </p:txBody>
      </p:sp>
      <p:sp>
        <p:nvSpPr>
          <p:cNvPr id="13" name="Oval 12"/>
          <p:cNvSpPr/>
          <p:nvPr/>
        </p:nvSpPr>
        <p:spPr>
          <a:xfrm>
            <a:off x="10850880" y="438912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6800" y="440436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פגישה קבועה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פעם בשנה</a:t>
            </a: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, ולא רק כשיש בעיה</a:t>
            </a:r>
          </a:p>
        </p:txBody>
      </p:sp>
      <p:sp>
        <p:nvSpPr>
          <p:cNvPr id="15" name="Oval 14"/>
          <p:cNvSpPr/>
          <p:nvPr/>
        </p:nvSpPr>
        <p:spPr>
          <a:xfrm>
            <a:off x="10850880" y="509016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6800" y="5105400"/>
            <a:ext cx="57607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5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ההחלטה האחרונה נשארת </a:t>
            </a:r>
            <a:r>
              <a:rPr sz="185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אצלכם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איפה אנחנו בדרך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2301240"/>
            <a:ext cx="82296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הצוות</a:t>
            </a:r>
          </a:p>
        </p:txBody>
      </p:sp>
      <p:sp>
        <p:nvSpPr>
          <p:cNvPr id="8" name="Oval 7"/>
          <p:cNvSpPr/>
          <p:nvPr/>
        </p:nvSpPr>
        <p:spPr>
          <a:xfrm>
            <a:off x="780288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89432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הזכויות</a:t>
            </a:r>
          </a:p>
        </p:txBody>
      </p:sp>
      <p:sp>
        <p:nvSpPr>
          <p:cNvPr id="11" name="Oval 10"/>
          <p:cNvSpPr/>
          <p:nvPr/>
        </p:nvSpPr>
        <p:spPr>
          <a:xfrm>
            <a:off x="5608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השינוי הקטן</a:t>
            </a:r>
          </a:p>
        </p:txBody>
      </p:sp>
      <p:sp>
        <p:nvSpPr>
          <p:cNvPr id="13" name="Oval 12"/>
          <p:cNvSpPr/>
          <p:nvPr/>
        </p:nvSpPr>
        <p:spPr>
          <a:xfrm>
            <a:off x="3322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התזרים</a:t>
            </a:r>
          </a:p>
        </p:txBody>
      </p:sp>
      <p:sp>
        <p:nvSpPr>
          <p:cNvPr id="15" name="Oval 14"/>
          <p:cNvSpPr/>
          <p:nvPr/>
        </p:nvSpPr>
        <p:spPr>
          <a:xfrm>
            <a:off x="1036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הכסף שעובד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יש לנו צוות. עכשיו בואו נראה מה מגיע לכם כבעלי עסק. כי חלק מהכסף הזה כבר שלכם, ופשוט עוד לא ביקשתם אותו.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מה שהמעסיק נותן לשכירים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בעלי עסק בונים את זה לעצמם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1905000"/>
            <a:ext cx="2590800" cy="487680"/>
          </a:xfrm>
          <a:prstGeom prst="roundRect">
            <a:avLst>
              <a:gd name="adj" fmla="val 46875"/>
            </a:avLst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שכירים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2800" y="1905000"/>
            <a:ext cx="2743200" cy="487680"/>
          </a:xfrm>
          <a:prstGeom prst="roundRect">
            <a:avLst>
              <a:gd name="adj" fmla="val 46875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בעלי עסק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600" y="259080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פנסיה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59080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המעסיק מפריש בשבילם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2800" y="2590800"/>
            <a:ext cx="274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מפרישים לבד, וזו חובה בחוק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2800" y="3154680"/>
            <a:ext cx="7924800" cy="1524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91600" y="329184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קרן השתלמות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29184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לרוב חלק מתנאי ההעסקה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2800" y="3291840"/>
            <a:ext cx="274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בחירה שלכם, עם הטבת מס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2800" y="3855720"/>
            <a:ext cx="7924800" cy="1524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1600" y="399288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ביום שלא עובדים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399288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ימי מחלה וחופשה בתשלום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2800" y="3992880"/>
            <a:ext cx="274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הביטוח שאתם בונים לעצמכם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52800" y="4556760"/>
            <a:ext cx="7924800" cy="1524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91600" y="469392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ביטוח לאומי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4693920"/>
            <a:ext cx="2590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המעסיק מעביר מהמשכורת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800" y="4693920"/>
            <a:ext cx="274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מקדמות בעצמכם: 7.7% ו־18% מההכנסה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52800" y="5257800"/>
            <a:ext cx="7924800" cy="1524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626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וזה גם החופש: אתם בוחרים איפה, כמה, ואיך.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68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זכות 1 · פנסיה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47800"/>
            <a:ext cx="103632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עצמאים חייבים להפקיד לפנסיה. והמדינה מחזירה חלק מזה במס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895600"/>
            <a:ext cx="3322320" cy="19812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31242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4.45%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733800"/>
            <a:ext cx="277368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מההכנסה, עד 82,614 ₪ בשנה (מחצית השכר הממוצע)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895600"/>
            <a:ext cx="3322320" cy="19812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1242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12.55%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33800"/>
            <a:ext cx="277368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מהחלק שמעל, עד 165,228 ₪ בשנה (השכר הממוצע)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95600"/>
            <a:ext cx="3322320" cy="19812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242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עד 16.5%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33800"/>
            <a:ext cx="277368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 מקבלים הטבת מס: חלק כניכוי וחלק כזיכוי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054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פטורים: עד גיל 21, מגיל 60, ובחצי השנה הראשונה מפתיחת העסק. כדי לקבל את ההטבה לשנה, מפקידים עד 31.12. מקור: רשות המסים, סכומים לשנת 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668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זכות 2 · קרן השתלמות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47800"/>
            <a:ext cx="103632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קרן השתלמות: החיסכון עם הטבת המס הכפולה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2895600"/>
            <a:ext cx="3322320" cy="19812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31242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4.5%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733800"/>
            <a:ext cx="277368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מההכנסה, עד הכנסה של 293,397 ₪ בשנה, מוכרים כהוצאה ומקטינים את המס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895600"/>
            <a:ext cx="3322320" cy="19812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31242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פטור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733800"/>
            <a:ext cx="277368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ממס רווחי הון על הרווחים, על הפקדה של עד 20,566 ₪ בשנה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95600"/>
            <a:ext cx="3322320" cy="19812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24200"/>
            <a:ext cx="277368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6 שנים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733800"/>
            <a:ext cx="277368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ואז הכסף נזיל. אפשר למשוך, או להשאיר אותו לעבוד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054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לא חובה. בחירה שלכם. מקור: רשות המסים, סכומים לשנת 2026.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זכות 3 · ביטוחים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הביטוחים ששומרים על העסק, ועליכם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לא כולם צריכים הכל. בודקים מה כבר יש בהר הביטוח, ומשלימים רק מה שחסר.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438400"/>
            <a:ext cx="2453640" cy="35052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0" y="2697480"/>
            <a:ext cx="19964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אובדן כושר עבודה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3535680"/>
            <a:ext cx="1996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המשכורת שלכם ביום שלא תוכלו לעבוד. אפשר לנכות את הפרמיה, עד 3.5% מההכנסה.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7440" y="2438400"/>
            <a:ext cx="2453640" cy="35052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6040" y="2697480"/>
            <a:ext cx="19964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בריאות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6040" y="3185160"/>
            <a:ext cx="1996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ניתוחים, תרופות והתייעצויות שלא נכנסים לסל של קופת החולים.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50920" y="2438400"/>
            <a:ext cx="2453640" cy="35052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9520" y="2697480"/>
            <a:ext cx="19964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חיים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20" y="3185160"/>
            <a:ext cx="1996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אם יש מי שתלוי בהכנסה שלכם: בן או בת זוג, ילדים, משכנתא.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2438400"/>
            <a:ext cx="2453640" cy="3505200"/>
          </a:xfrm>
          <a:prstGeom prst="roundRect">
            <a:avLst>
              <a:gd name="adj" fmla="val 7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2697480"/>
            <a:ext cx="199644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0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ביטוח לעסק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185160"/>
            <a:ext cx="199644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4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ציוד, סטודיו, מלאי ואחריות מקצועית. מה שקשה מאוד לבנות מחדש.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שני אתרים ממשלתיים, חינם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התמונה המלאה, בעשר דקות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133600"/>
            <a:ext cx="5029200" cy="32004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4160" y="24384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הר הכסף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4160" y="2971800"/>
            <a:ext cx="4297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itur.mof.gov.il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4160" y="3429000"/>
            <a:ext cx="4297680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6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קופות הפנסיה, הגמל וקרנות ההשתלמות שלכם במקום אחד, גם כאלה ששכחתם. נכנסים עם תעודת זהות ותאריך הנפקה.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33600"/>
            <a:ext cx="5029200" cy="32004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384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הר הביטוח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71800"/>
            <a:ext cx="429768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harb.cma.gov.il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429000"/>
            <a:ext cx="4297680" cy="167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6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הביטוחים שעל שמכם: בריאות, חיים, אובדן כושר עבודה. ככה רואים כפילויות וחורים.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626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המשימה הראשונה שלכם, עוד הערב.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איפה אנחנו בדרך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2301240"/>
            <a:ext cx="82296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הצוות</a:t>
            </a:r>
          </a:p>
        </p:txBody>
      </p:sp>
      <p:sp>
        <p:nvSpPr>
          <p:cNvPr id="8" name="Oval 7"/>
          <p:cNvSpPr/>
          <p:nvPr/>
        </p:nvSpPr>
        <p:spPr>
          <a:xfrm>
            <a:off x="7894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הזכויות</a:t>
            </a:r>
          </a:p>
        </p:txBody>
      </p:sp>
      <p:sp>
        <p:nvSpPr>
          <p:cNvPr id="10" name="Oval 9"/>
          <p:cNvSpPr/>
          <p:nvPr/>
        </p:nvSpPr>
        <p:spPr>
          <a:xfrm>
            <a:off x="551688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0832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השינוי הקטן</a:t>
            </a:r>
          </a:p>
        </p:txBody>
      </p:sp>
      <p:sp>
        <p:nvSpPr>
          <p:cNvPr id="13" name="Oval 12"/>
          <p:cNvSpPr/>
          <p:nvPr/>
        </p:nvSpPr>
        <p:spPr>
          <a:xfrm>
            <a:off x="3322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התזרים</a:t>
            </a:r>
          </a:p>
        </p:txBody>
      </p:sp>
      <p:sp>
        <p:nvSpPr>
          <p:cNvPr id="15" name="Oval 14"/>
          <p:cNvSpPr/>
          <p:nvPr/>
        </p:nvSpPr>
        <p:spPr>
          <a:xfrm>
            <a:off x="1036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הכסף שעובד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עכשיו אתם יודעים מה קיים. ובתוך כל קופה כזו מסתתר משהו קטן, שעל פני שנים הופך להבדל של מאות אלפי שקלים.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38800" y="1295400"/>
            <a:ext cx="56388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דוגמה להמחשה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38800" y="1638300"/>
            <a:ext cx="56388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אותו כסף. אותו זמן.</a:t>
            </a:r>
          </a:p>
          <a:p>
            <a:pPr algn="r" rtl="1">
              <a:lnSpc>
                <a:spcPct val="115000"/>
              </a:lnSpc>
            </a:pPr>
            <a:r>
              <a:rPr sz="33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רק דמי הניהול שונים.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38800" y="3048000"/>
            <a:ext cx="5638800" cy="1295400"/>
          </a:xfrm>
          <a:prstGeom prst="roundRect">
            <a:avLst>
              <a:gd name="adj" fmla="val 17647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64592" bIns="164592"/>
          <a:lstStyle/>
          <a:p>
            <a:pPr algn="r" rtl="1">
              <a:lnSpc>
                <a:spcPct val="100000"/>
              </a:lnSpc>
            </a:pPr>
            <a:r>
              <a:rPr sz="1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ההפרש</a:t>
            </a:r>
          </a:p>
          <a:p>
            <a:pPr algn="r" rtl="1">
              <a:lnSpc>
                <a:spcPct val="100000"/>
              </a:lnSpc>
            </a:pPr>
            <a:r>
              <a:rPr sz="456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230,000 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8800" y="4572000"/>
            <a:ext cx="56388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דוגמה להמחשה בלבד, לא תחזית: 2,000 ₪ בחודש במשך 35 שנה, ותשואה שנתית של 5% לפני דמי ניהול.</a:t>
            </a:r>
          </a:p>
          <a:p>
            <a:pPr algn="r" rtl="1">
              <a:lnSpc>
                <a:spcPct val="145000"/>
              </a:lnSpc>
            </a:pPr>
            <a:r>
              <a:rPr sz="12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דמי ניהול מקסימליים = המקסימום שמותר בחוק.</a:t>
            </a:r>
          </a:p>
          <a:p>
            <a:pPr algn="r" rtl="1">
              <a:lnSpc>
                <a:spcPct val="145000"/>
              </a:lnSpc>
            </a:pPr>
            <a:r>
              <a:rPr sz="12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דמי ניהול מוזלים = כמו בקרנות ברירת המחדל של רשות שוק ההון.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8000" y="2026920"/>
            <a:ext cx="1828800" cy="2849880"/>
          </a:xfrm>
          <a:prstGeom prst="roundRect">
            <a:avLst>
              <a:gd name="adj" fmla="val 6000"/>
            </a:avLst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19400" y="156972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1.91 מיליון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9400" y="4991100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דמי ניהול מקסימליים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9400" y="529590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4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6% מההפקדה</a:t>
            </a:r>
          </a:p>
          <a:p>
            <a:pPr algn="ctr" rtl="1">
              <a:lnSpc>
                <a:spcPct val="115000"/>
              </a:lnSpc>
            </a:pPr>
            <a:r>
              <a:rPr sz="114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0.5% מהצבירה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200" y="1676400"/>
            <a:ext cx="1828800" cy="3200400"/>
          </a:xfrm>
          <a:prstGeom prst="roundRect">
            <a:avLst>
              <a:gd name="adj" fmla="val 6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1219200"/>
            <a:ext cx="228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1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2.14 מיליון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4991100"/>
            <a:ext cx="2286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דמי ניהול מוזלים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295900"/>
            <a:ext cx="22860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14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1% מההפקדה</a:t>
            </a:r>
          </a:p>
          <a:p>
            <a:pPr algn="ctr" rtl="1">
              <a:lnSpc>
                <a:spcPct val="115000"/>
              </a:lnSpc>
            </a:pPr>
            <a:r>
              <a:rPr sz="114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0.22% מהצבירה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צלמו את השקף הזה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9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חמש שאלות להביא לפגישה עם הסוכן הפנסיוני</a:t>
            </a:r>
          </a:p>
        </p:txBody>
      </p:sp>
      <p:sp>
        <p:nvSpPr>
          <p:cNvPr id="6" name="Oval 5"/>
          <p:cNvSpPr/>
          <p:nvPr/>
        </p:nvSpPr>
        <p:spPr>
          <a:xfrm>
            <a:off x="10850880" y="228600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124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דמי ניהול אני משלם, מההפקדה ומהצבירה?</a:t>
            </a:r>
          </a:p>
        </p:txBody>
      </p:sp>
      <p:sp>
        <p:nvSpPr>
          <p:cNvPr id="8" name="Oval 7"/>
          <p:cNvSpPr/>
          <p:nvPr/>
        </p:nvSpPr>
        <p:spPr>
          <a:xfrm>
            <a:off x="10850880" y="298704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0228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באיזה מסלול הכסף שלי נמצא, ולמה דווקא בו?</a:t>
            </a:r>
          </a:p>
        </p:txBody>
      </p:sp>
      <p:sp>
        <p:nvSpPr>
          <p:cNvPr id="10" name="Oval 9"/>
          <p:cNvSpPr/>
          <p:nvPr/>
        </p:nvSpPr>
        <p:spPr>
          <a:xfrm>
            <a:off x="10850880" y="368808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יש לי קופות ישנות או כפולות שאפשר לאחד?</a:t>
            </a:r>
          </a:p>
        </p:txBody>
      </p:sp>
      <p:sp>
        <p:nvSpPr>
          <p:cNvPr id="12" name="Oval 11"/>
          <p:cNvSpPr/>
          <p:nvPr/>
        </p:nvSpPr>
        <p:spPr>
          <a:xfrm>
            <a:off x="10850880" y="438912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0436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אני מנצל את מלוא הטבת המס שמגיעה לי?</a:t>
            </a:r>
          </a:p>
        </p:txBody>
      </p:sp>
      <p:sp>
        <p:nvSpPr>
          <p:cNvPr id="14" name="Oval 13"/>
          <p:cNvSpPr/>
          <p:nvPr/>
        </p:nvSpPr>
        <p:spPr>
          <a:xfrm>
            <a:off x="10850880" y="509016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0540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0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קורה עם ההכנסה שלי אם לא אוכל לעבוד?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איפה אנחנו בדרך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2301240"/>
            <a:ext cx="82296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הצוות</a:t>
            </a:r>
          </a:p>
        </p:txBody>
      </p:sp>
      <p:sp>
        <p:nvSpPr>
          <p:cNvPr id="8" name="Oval 7"/>
          <p:cNvSpPr/>
          <p:nvPr/>
        </p:nvSpPr>
        <p:spPr>
          <a:xfrm>
            <a:off x="7894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הזכויות</a:t>
            </a:r>
          </a:p>
        </p:txBody>
      </p:sp>
      <p:sp>
        <p:nvSpPr>
          <p:cNvPr id="10" name="Oval 9"/>
          <p:cNvSpPr/>
          <p:nvPr/>
        </p:nvSpPr>
        <p:spPr>
          <a:xfrm>
            <a:off x="5608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השינוי הקטן</a:t>
            </a:r>
          </a:p>
        </p:txBody>
      </p:sp>
      <p:sp>
        <p:nvSpPr>
          <p:cNvPr id="12" name="Oval 11"/>
          <p:cNvSpPr/>
          <p:nvPr/>
        </p:nvSpPr>
        <p:spPr>
          <a:xfrm>
            <a:off x="323088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2232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התזרים</a:t>
            </a:r>
          </a:p>
        </p:txBody>
      </p:sp>
      <p:sp>
        <p:nvSpPr>
          <p:cNvPr id="15" name="Oval 14"/>
          <p:cNvSpPr/>
          <p:nvPr/>
        </p:nvSpPr>
        <p:spPr>
          <a:xfrm>
            <a:off x="1036320" y="1828800"/>
            <a:ext cx="975360" cy="975360"/>
          </a:xfrm>
          <a:prstGeom prst="ellipse">
            <a:avLst/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9A9AA6"/>
                </a:solidFill>
                <a:latin typeface="Heebo"/>
                <a:ea typeface="Heebo"/>
                <a:cs typeface="Heebo"/>
              </a:rPr>
              <a:t>הכסף שעובד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חסכנו בדמי ניהול ובנינו רשת ביטחון. אבל הכל מתחיל במקום אחד: לדעת כמה נכנס, כמה יוצא, וכמה נשאר. בואו נדבר על התזרים.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הצעד הראשון ליציבות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חשבון אחד מול שני חשבונות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209800"/>
            <a:ext cx="5029200" cy="3581400"/>
          </a:xfrm>
          <a:prstGeom prst="roundRect">
            <a:avLst>
              <a:gd name="adj" fmla="val 6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5146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חשבון עסקי נפרד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124200"/>
            <a:ext cx="42672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רק כסף של העסק נכנס ויוצא ממנו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משכורת קבועה עוברת לחשבון הפרטי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במבט אחד רואים: העסק מרוויח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09800"/>
            <a:ext cx="5029200" cy="3581400"/>
          </a:xfrm>
          <a:prstGeom prst="roundRect">
            <a:avLst>
              <a:gd name="adj" fmla="val 6000"/>
            </a:avLst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5400" y="25146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הכל מעורבב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124200"/>
            <a:ext cx="42672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הסופר, הציוד והמע״מ באותה רשימה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קשה לדעת אם העסק בכלל מרוויח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בסוף השנה: ערימה של תנועות לרואה החשבון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62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איך מפרידים בפועל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049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לכל שקל שנכנס לעסק יש ארבעה כיוונים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943100"/>
            <a:ext cx="3048000" cy="487680"/>
          </a:xfrm>
          <a:prstGeom prst="roundRect">
            <a:avLst>
              <a:gd name="adj" fmla="val 46875"/>
            </a:avLst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109728"/>
          <a:lstStyle/>
          <a:p>
            <a:pPr algn="ctr" rtl="1">
              <a:lnSpc>
                <a:spcPct val="115000"/>
              </a:lnSpc>
            </a:pPr>
            <a:r>
              <a:rPr sz="168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כסף שנכנס לחשבון העסקי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71700"/>
            <a:ext cx="7162800" cy="30480"/>
          </a:xfrm>
          <a:prstGeom prst="rect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12530" y="2667000"/>
            <a:ext cx="2465070" cy="32004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1130" y="2895600"/>
            <a:ext cx="200787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01 · מיסים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1130" y="3657600"/>
            <a:ext cx="2007870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מע״מ, מס הכנסה וביטוח לאומי. כסף שרק עובר דרככם. חשבון או קופה נפרדים, וכשמגיע החיוב הוא כבר שם.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9820" y="2667000"/>
            <a:ext cx="2465070" cy="3200400"/>
          </a:xfrm>
          <a:prstGeom prst="roundRect">
            <a:avLst>
              <a:gd name="adj" fmla="val 7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8420" y="2895600"/>
            <a:ext cx="200787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02 · הוצאות העסק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420" y="3657600"/>
            <a:ext cx="2007870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חומרים, סטודיו, כלים, שיווק. מה שהעסק צריך כדי לעבוד.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47110" y="2667000"/>
            <a:ext cx="2465070" cy="32004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5710" y="2895600"/>
            <a:ext cx="200787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03 · המשכורת שלכם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5710" y="3657600"/>
            <a:ext cx="2007870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סכום קבוע, פעם בחודש, לחשבון הפרטי. כמו שכירים, רק שאתם המעסיקים.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667000"/>
            <a:ext cx="2465070" cy="3200400"/>
          </a:xfrm>
          <a:prstGeom prst="roundRect">
            <a:avLst>
              <a:gd name="adj" fmla="val 7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895600"/>
            <a:ext cx="200787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04 · הכרית של העסק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657600"/>
            <a:ext cx="2007870" cy="2133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3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שנשאר. עצמאים לא מבוטחים בביטוח אבטלה, ולכן הכרית הזו היא רשת הביטחון לחודשים השקטים.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השגרה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9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איך מנהלים תזרים? עשרים דקות בחודש</a:t>
            </a:r>
          </a:p>
        </p:txBody>
      </p:sp>
      <p:sp>
        <p:nvSpPr>
          <p:cNvPr id="6" name="Oval 5"/>
          <p:cNvSpPr/>
          <p:nvPr/>
        </p:nvSpPr>
        <p:spPr>
          <a:xfrm>
            <a:off x="10850880" y="228600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124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פעם בחודש, </a:t>
            </a: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באותו יום</a:t>
            </a: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: מעדכנים מה נכנס ומה יצא</a:t>
            </a:r>
          </a:p>
        </p:txBody>
      </p:sp>
      <p:sp>
        <p:nvSpPr>
          <p:cNvPr id="8" name="Oval 7"/>
          <p:cNvSpPr/>
          <p:nvPr/>
        </p:nvSpPr>
        <p:spPr>
          <a:xfrm>
            <a:off x="10850880" y="298704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0228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מסמנים כל תנועה: </a:t>
            </a: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עסקי, פרטי, או הזזת כסף</a:t>
            </a:r>
          </a:p>
        </p:txBody>
      </p:sp>
      <p:sp>
        <p:nvSpPr>
          <p:cNvPr id="10" name="Oval 9"/>
          <p:cNvSpPr/>
          <p:nvPr/>
        </p:nvSpPr>
        <p:spPr>
          <a:xfrm>
            <a:off x="10850880" y="368808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0332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מזהים את </a:t>
            </a: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ההוצאות הקבועות</a:t>
            </a: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: זה הסכום שהעסק צריך רק כדי לעמוד במקום</a:t>
            </a:r>
          </a:p>
        </p:txBody>
      </p:sp>
      <p:sp>
        <p:nvSpPr>
          <p:cNvPr id="12" name="Oval 11"/>
          <p:cNvSpPr/>
          <p:nvPr/>
        </p:nvSpPr>
        <p:spPr>
          <a:xfrm>
            <a:off x="10850880" y="438912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0436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מסתכלים על </a:t>
            </a: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שלושה מספרים</a:t>
            </a: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: נכנס, יצא, נשאר</a:t>
            </a:r>
          </a:p>
        </p:txBody>
      </p:sp>
      <p:sp>
        <p:nvSpPr>
          <p:cNvPr id="14" name="Oval 13"/>
          <p:cNvSpPr/>
          <p:nvPr/>
        </p:nvSpPr>
        <p:spPr>
          <a:xfrm>
            <a:off x="10850880" y="5090160"/>
            <a:ext cx="426720" cy="42672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05400"/>
            <a:ext cx="9723120" cy="701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92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ושואלים שאלה אחת: </a:t>
            </a: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אני מחליט לעשות עם זה?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1143000"/>
            <a:ext cx="4419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הכלי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485900"/>
            <a:ext cx="441960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0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העסק שלכם,</a:t>
            </a:r>
          </a:p>
          <a:p>
            <a:pPr algn="r" rtl="1">
              <a:lnSpc>
                <a:spcPct val="10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במבט אחד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90800"/>
            <a:ext cx="4419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מזינים פעם בחודש, ידנית או בהדבקה מהבנק. הדשבורד מחשב לבד: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352800"/>
            <a:ext cx="441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✓  </a:t>
            </a:r>
            <a:r>
              <a:rPr sz="15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נכנס, כמה יצא, וכמה נשאר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779520"/>
            <a:ext cx="441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✓  </a:t>
            </a:r>
            <a:r>
              <a:rPr sz="15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על מה יוצא הכסף, חודש אחרי חודש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206240"/>
            <a:ext cx="441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✓  </a:t>
            </a:r>
            <a:r>
              <a:rPr sz="15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מכל שקל באמת נשאר לכם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632960"/>
            <a:ext cx="4419600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✓  </a:t>
            </a:r>
            <a:r>
              <a:rPr sz="15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כסף פרטי ״דולף״ מהעסק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295400"/>
            <a:ext cx="5486400" cy="426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CE7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9200" y="1524000"/>
            <a:ext cx="4876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דשבורד העסק שלי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5800" y="1981200"/>
            <a:ext cx="1524000" cy="685800"/>
          </a:xfrm>
          <a:prstGeom prst="roundRect">
            <a:avLst>
              <a:gd name="adj" fmla="val 33333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1920" rIns="121920" tIns="73152" bIns="73152"/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נכנס</a:t>
            </a:r>
          </a:p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59,200 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57500" y="1981200"/>
            <a:ext cx="1524000" cy="685800"/>
          </a:xfrm>
          <a:prstGeom prst="roundRect">
            <a:avLst>
              <a:gd name="adj" fmla="val 33333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1920" rIns="121920" tIns="73152" bIns="73152"/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יצא</a:t>
            </a:r>
          </a:p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45,560 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9200" y="1981200"/>
            <a:ext cx="1524000" cy="685800"/>
          </a:xfrm>
          <a:prstGeom prst="roundRect">
            <a:avLst>
              <a:gd name="adj" fmla="val 33333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21920" rIns="121920" tIns="73152" bIns="73152"/>
          <a:lstStyle/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נשאר</a:t>
            </a:r>
          </a:p>
          <a:p>
            <a:pPr algn="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13,640 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3345180"/>
            <a:ext cx="228600" cy="1607820"/>
          </a:xfrm>
          <a:prstGeom prst="rect">
            <a:avLst/>
          </a:prstGeom>
          <a:solidFill>
            <a:srgbClr val="8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12080" y="3657600"/>
            <a:ext cx="228600" cy="1295400"/>
          </a:xfrm>
          <a:prstGeom prst="rect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5880" y="50292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ינו׳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24400" y="3825240"/>
            <a:ext cx="228600" cy="1127760"/>
          </a:xfrm>
          <a:prstGeom prst="rect">
            <a:avLst/>
          </a:prstGeom>
          <a:solidFill>
            <a:srgbClr val="8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50080" y="3764280"/>
            <a:ext cx="228600" cy="1188720"/>
          </a:xfrm>
          <a:prstGeom prst="rect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3880" y="50292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פבר׳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62400" y="3390900"/>
            <a:ext cx="228600" cy="1562100"/>
          </a:xfrm>
          <a:prstGeom prst="rect">
            <a:avLst/>
          </a:prstGeom>
          <a:solidFill>
            <a:srgbClr val="8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88080" y="3787140"/>
            <a:ext cx="228600" cy="1165860"/>
          </a:xfrm>
          <a:prstGeom prst="rect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50292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מרץ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169920"/>
            <a:ext cx="228600" cy="1783080"/>
          </a:xfrm>
          <a:prstGeom prst="rect">
            <a:avLst/>
          </a:prstGeom>
          <a:solidFill>
            <a:srgbClr val="8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0" y="3741420"/>
            <a:ext cx="228600" cy="1211580"/>
          </a:xfrm>
          <a:prstGeom prst="rect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49880" y="50292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אפר׳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38400" y="3581400"/>
            <a:ext cx="228600" cy="1371600"/>
          </a:xfrm>
          <a:prstGeom prst="rect">
            <a:avLst/>
          </a:prstGeom>
          <a:solidFill>
            <a:srgbClr val="8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64080" y="3810000"/>
            <a:ext cx="228600" cy="1143000"/>
          </a:xfrm>
          <a:prstGeom prst="rect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87880" y="50292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מאי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676400" y="2971800"/>
            <a:ext cx="228600" cy="1981200"/>
          </a:xfrm>
          <a:prstGeom prst="rect">
            <a:avLst/>
          </a:prstGeom>
          <a:solidFill>
            <a:srgbClr val="8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02080" y="3695700"/>
            <a:ext cx="228600" cy="1257300"/>
          </a:xfrm>
          <a:prstGeom prst="rect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25880" y="5029200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יוני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9200" y="5334000"/>
            <a:ext cx="2286000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0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דוגמה, בלי נתונים אמיתיים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איפה אנחנו בדרך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2301240"/>
            <a:ext cx="82296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הצוות</a:t>
            </a:r>
          </a:p>
        </p:txBody>
      </p:sp>
      <p:sp>
        <p:nvSpPr>
          <p:cNvPr id="8" name="Oval 7"/>
          <p:cNvSpPr/>
          <p:nvPr/>
        </p:nvSpPr>
        <p:spPr>
          <a:xfrm>
            <a:off x="7894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הזכויות</a:t>
            </a:r>
          </a:p>
        </p:txBody>
      </p:sp>
      <p:sp>
        <p:nvSpPr>
          <p:cNvPr id="10" name="Oval 9"/>
          <p:cNvSpPr/>
          <p:nvPr/>
        </p:nvSpPr>
        <p:spPr>
          <a:xfrm>
            <a:off x="5608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השינוי הקטן</a:t>
            </a:r>
          </a:p>
        </p:txBody>
      </p:sp>
      <p:sp>
        <p:nvSpPr>
          <p:cNvPr id="12" name="Oval 11"/>
          <p:cNvSpPr/>
          <p:nvPr/>
        </p:nvSpPr>
        <p:spPr>
          <a:xfrm>
            <a:off x="3322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התזרים</a:t>
            </a:r>
          </a:p>
        </p:txBody>
      </p:sp>
      <p:sp>
        <p:nvSpPr>
          <p:cNvPr id="14" name="Oval 13"/>
          <p:cNvSpPr/>
          <p:nvPr/>
        </p:nvSpPr>
        <p:spPr>
          <a:xfrm>
            <a:off x="944880" y="1737360"/>
            <a:ext cx="1158240" cy="1158240"/>
          </a:xfrm>
          <a:prstGeom prst="ellipse">
            <a:avLst/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36320" y="1828800"/>
            <a:ext cx="975360" cy="97536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הכסף שעובד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10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7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יש סדר, יש תזרים, יש משכורת. ועכשיו השאלה הכי מעניינת: מה עושים עם הכסף שנשאר?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ההבדל שכדאי להכיר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8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חיסכון והשקעה: שני כלים שונים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209800"/>
            <a:ext cx="5029200" cy="3581400"/>
          </a:xfrm>
          <a:prstGeom prst="roundRect">
            <a:avLst>
              <a:gd name="adj" fmla="val 6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25146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חיסכון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124200"/>
            <a:ext cx="42672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שומרים כסף בצד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זמין ויציב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מתאים לקרן חירום ולטווח קצר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האינפלציה שוחקת אותו בשקט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09800"/>
            <a:ext cx="5029200" cy="3581400"/>
          </a:xfrm>
          <a:prstGeom prst="roundRect">
            <a:avLst>
              <a:gd name="adj" fmla="val 6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5400" y="2514600"/>
            <a:ext cx="426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6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השקעה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3124200"/>
            <a:ext cx="42672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מכניסים את הכסף לעבודה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עולה ויורד בדרך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מתאים לטווח ארוך</a:t>
            </a:r>
          </a:p>
          <a:p>
            <a:pPr algn="r" rtl="1">
              <a:lnSpc>
                <a:spcPct val="135000"/>
              </a:lnSpc>
              <a:spcBef>
                <a:spcPts val="840"/>
              </a:spcBef>
            </a:pPr>
            <a:r>
              <a:rPr sz="1739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הזמן עובד בשבילכם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סיכון נמוך מול סיכון גבוה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סיכון = כמה הכסף עולה ויורד בדרך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2600" y="2057400"/>
            <a:ext cx="1905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יציב יותר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810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3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תנודתי יותר, עם פוטנציאל גבוה יותר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800" y="2164080"/>
            <a:ext cx="4343400" cy="60960"/>
          </a:xfrm>
          <a:prstGeom prst="rect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14688" y="2590800"/>
            <a:ext cx="1962912" cy="2514600"/>
          </a:xfrm>
          <a:prstGeom prst="roundRect">
            <a:avLst>
              <a:gd name="adj" fmla="val 8000"/>
            </a:avLst>
          </a:prstGeom>
          <a:solidFill>
            <a:srgbClr val="E4E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12808" y="2819400"/>
            <a:ext cx="1566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פיקדון וקרן כספית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12808" y="3581400"/>
            <a:ext cx="1566672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הכסף כמעט לא זז. מתאים לכסף שצריך בקרוב.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14616" y="2590800"/>
            <a:ext cx="1962912" cy="2514600"/>
          </a:xfrm>
          <a:prstGeom prst="roundRect">
            <a:avLst>
              <a:gd name="adj" fmla="val 8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12736" y="2819400"/>
            <a:ext cx="1566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אג״ח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12736" y="3581400"/>
            <a:ext cx="1566672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הלוואה למדינה או לחברות. תנודות קטנות יחסית.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14544" y="2590800"/>
            <a:ext cx="1962912" cy="25146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2819400"/>
            <a:ext cx="1566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מסלול כללי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3581400"/>
            <a:ext cx="1566672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שילוב של מניות ואג״ח. באמצע.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4472" y="2590800"/>
            <a:ext cx="1962912" cy="2514600"/>
          </a:xfrm>
          <a:prstGeom prst="roundRect">
            <a:avLst>
              <a:gd name="adj" fmla="val 8000"/>
            </a:avLst>
          </a:prstGeom>
          <a:solidFill>
            <a:srgbClr val="E5E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12592" y="2819400"/>
            <a:ext cx="1566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מסלול מניות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12592" y="3581400"/>
            <a:ext cx="1566672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עולה ויורד יותר בדרך. מתאים לטווח ארוך.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2590800"/>
            <a:ext cx="1962912" cy="25146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2520" y="2819400"/>
            <a:ext cx="156667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מניה בודדת וקריפטו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2520" y="3581400"/>
            <a:ext cx="1566672" cy="144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הכי תנודתי. הכל תלוי בנכס אחד.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10200"/>
            <a:ext cx="1036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השאלה היא לא ״מה הכי מרוויח?״ אלא ״מתי אני צריך את הכסף הזה?״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0213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מה שאני מאמינה בו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59330"/>
            <a:ext cx="10363200" cy="1729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הון לא נבנה מלהרוויח יותר.</a:t>
            </a:r>
          </a:p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הון נבנה מלהעביר כסף שכבר קיים,</a:t>
            </a:r>
          </a:p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ממקום שבו הוא </a:t>
            </a:r>
            <a:r>
              <a:rPr sz="36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נשחק</a:t>
            </a: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, למקום שבו הוא </a:t>
            </a:r>
            <a:r>
              <a:rPr sz="360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עובד</a:t>
            </a: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906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אז מה עברנו הערב? הדרך כולה</a:t>
            </a:r>
          </a:p>
        </p:txBody>
      </p:sp>
      <p:sp>
        <p:nvSpPr>
          <p:cNvPr id="5" name="Rectangle 4"/>
          <p:cNvSpPr/>
          <p:nvPr/>
        </p:nvSpPr>
        <p:spPr>
          <a:xfrm>
            <a:off x="1981200" y="2301240"/>
            <a:ext cx="82296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80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הצוות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39300" y="3352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אתם המנכ״לים. הם מייעצים, אתם מחליטים</a:t>
            </a:r>
          </a:p>
        </p:txBody>
      </p:sp>
      <p:sp>
        <p:nvSpPr>
          <p:cNvPr id="9" name="Oval 8"/>
          <p:cNvSpPr/>
          <p:nvPr/>
        </p:nvSpPr>
        <p:spPr>
          <a:xfrm>
            <a:off x="7894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הזכויות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3300" y="3352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פנסיה, השתלמות, ביטוחים, ביטוח לאומי</a:t>
            </a:r>
          </a:p>
        </p:txBody>
      </p:sp>
      <p:sp>
        <p:nvSpPr>
          <p:cNvPr id="12" name="Oval 11"/>
          <p:cNvSpPr/>
          <p:nvPr/>
        </p:nvSpPr>
        <p:spPr>
          <a:xfrm>
            <a:off x="5608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השינוי הקטן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67300" y="3352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דמי ניהול, מסלול, זמן, הטבת מס</a:t>
            </a:r>
          </a:p>
        </p:txBody>
      </p:sp>
      <p:sp>
        <p:nvSpPr>
          <p:cNvPr id="15" name="Oval 14"/>
          <p:cNvSpPr/>
          <p:nvPr/>
        </p:nvSpPr>
        <p:spPr>
          <a:xfrm>
            <a:off x="3322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התזרים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1300" y="3352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חשבון נפרד, משכורת קבועה, 20 דקות בחודש</a:t>
            </a:r>
          </a:p>
        </p:txBody>
      </p:sp>
      <p:sp>
        <p:nvSpPr>
          <p:cNvPr id="18" name="Oval 17"/>
          <p:cNvSpPr/>
          <p:nvPr/>
        </p:nvSpPr>
        <p:spPr>
          <a:xfrm>
            <a:off x="1036320" y="1828800"/>
            <a:ext cx="975360" cy="97536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32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87040"/>
            <a:ext cx="2133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הכסף שעובד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" y="335280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sz="12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חיסכון לטווח קצר, השקעה לטווח ארוך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103632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עסק הופך לנכס כשיש סביבו צוות, כשהזכויות מנוצלות, כשהקופות זולות, כשהתזרים ברור, וכשהכסף שנשאר עובד.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382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ולסיום, שתי מתנות ממני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1100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כדי שזה לא יישאר רק הרצאה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400" y="2133600"/>
            <a:ext cx="5029200" cy="3200400"/>
          </a:xfrm>
          <a:prstGeom prst="roundRect">
            <a:avLst>
              <a:gd name="adj" fmla="val 7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4160" y="2438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מתנה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4160" y="2781300"/>
            <a:ext cx="429768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פגישה עם יועצת פנסיונית מהצוות שלי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4160" y="3886200"/>
            <a:ext cx="4297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עוברת איתכם על התיק הפנסיוני והביטוחי, ונותנת לכם המלצות קונקרטיות. בלי עלות.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33600"/>
            <a:ext cx="5029200" cy="3200400"/>
          </a:xfrm>
          <a:prstGeom prst="roundRect">
            <a:avLst>
              <a:gd name="adj" fmla="val 7000"/>
            </a:avLst>
          </a:prstGeom>
          <a:solidFill>
            <a:srgbClr val="EEF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3840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מתנה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781300"/>
            <a:ext cx="4297680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דשבורד ההכנסות וההוצאות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886200"/>
            <a:ext cx="429768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הכלי שראיתם הערב, מוכן לשימוש. הזנה ידנית או הדבקה מהבנק, והכל מחושב לבד.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5626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את שתי המתנות תקבלו בקבוצת הווטסאפ, מיד בסוף ההרצאה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914400"/>
            <a:ext cx="59436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ומה עכשיו? ארבעה צעדים לשבוע הקרוב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1257300"/>
            <a:ext cx="59436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עסק הופך לנכס</a:t>
            </a:r>
          </a:p>
          <a:p>
            <a:pPr algn="r" rtl="1">
              <a:lnSpc>
                <a:spcPct val="110000"/>
              </a:lnSpc>
            </a:pPr>
            <a:r>
              <a:rPr sz="31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צעד אחד בכל פעם</a:t>
            </a:r>
          </a:p>
        </p:txBody>
      </p:sp>
      <p:sp>
        <p:nvSpPr>
          <p:cNvPr id="6" name="Oval 5"/>
          <p:cNvSpPr/>
          <p:nvPr/>
        </p:nvSpPr>
        <p:spPr>
          <a:xfrm>
            <a:off x="10911840" y="27432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27584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להיכנס להר הכסף ולהר הביטוח, ולצלם מסך של מה שמצאתם</a:t>
            </a:r>
          </a:p>
        </p:txBody>
      </p:sp>
      <p:sp>
        <p:nvSpPr>
          <p:cNvPr id="8" name="Oval 7"/>
          <p:cNvSpPr/>
          <p:nvPr/>
        </p:nvSpPr>
        <p:spPr>
          <a:xfrm>
            <a:off x="10911840" y="35052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35204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חשבון עסקי נפרד. אם עוד אין, זה הצעד הראשון</a:t>
            </a:r>
          </a:p>
        </p:txBody>
      </p:sp>
      <p:sp>
        <p:nvSpPr>
          <p:cNvPr id="10" name="Oval 9"/>
          <p:cNvSpPr/>
          <p:nvPr/>
        </p:nvSpPr>
        <p:spPr>
          <a:xfrm>
            <a:off x="10911840" y="42672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0" y="42824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למלא חודש אחד בדשבורד, ולהסתכל על שלושה מספרים</a:t>
            </a:r>
          </a:p>
        </p:txBody>
      </p:sp>
      <p:sp>
        <p:nvSpPr>
          <p:cNvPr id="12" name="Oval 11"/>
          <p:cNvSpPr/>
          <p:nvPr/>
        </p:nvSpPr>
        <p:spPr>
          <a:xfrm>
            <a:off x="10911840" y="5029200"/>
            <a:ext cx="365760" cy="365760"/>
          </a:xfrm>
          <a:prstGeom prst="ellipse">
            <a:avLst/>
          </a:prstGeom>
          <a:solidFill>
            <a:srgbClr val="19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32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0" y="5044440"/>
            <a:ext cx="5410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5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לקבוע את הפגישה עם היועצת, ולהביא איתכם את הצילומים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1143000"/>
            <a:ext cx="3962400" cy="37338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13716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קהילת הווטסאפ של אמא משקיעה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1645920"/>
            <a:ext cx="350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המדריכים החינמיים ישר אליכם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057400"/>
            <a:ext cx="3505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ותדעו ראשונים על כל דבר שיוצא</a:t>
            </a:r>
          </a:p>
        </p:txBody>
      </p:sp>
      <p:pic>
        <p:nvPicPr>
          <p:cNvPr id="18" name="Picture 17" descr="qr_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438400"/>
            <a:ext cx="1905000" cy="1905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43000" y="44577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8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סרקו עם המצלמה להצטרפות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מעיסוק &gt;&gt; לעסק · חלק 2 · עדי סומך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0" y="1981200"/>
            <a:ext cx="59436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840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תודה 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3352800"/>
            <a:ext cx="59436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360" b="0" lang="he-IL">
                <a:solidFill>
                  <a:srgbClr val="BEE0F2"/>
                </a:solidFill>
                <a:latin typeface="Heebo"/>
                <a:ea typeface="Heebo"/>
                <a:cs typeface="Heebo"/>
              </a:rPr>
              <a:t>שאלות?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850880" y="4267200"/>
            <a:ext cx="426720" cy="45720"/>
          </a:xfrm>
          <a:prstGeom prst="roundRect">
            <a:avLst>
              <a:gd name="adj" fmla="val 50000"/>
            </a:avLst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41529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FFFFFF"/>
                </a:solidFill>
                <a:latin typeface="Heebo"/>
                <a:ea typeface="Heebo"/>
                <a:cs typeface="Heebo"/>
              </a:rPr>
              <a:t>@adi_somech_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295400"/>
            <a:ext cx="3962400" cy="3733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15240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קהילת הווטסאפ של אמא משקיעה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98320"/>
            <a:ext cx="350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המדריכים החינמיים ישר אליכם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209800"/>
            <a:ext cx="3505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ותדעו ראשונים על כל דבר שיוצא</a:t>
            </a:r>
          </a:p>
        </p:txBody>
      </p:sp>
      <p:pic>
        <p:nvPicPr>
          <p:cNvPr id="12" name="Picture 11" descr="qr_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590800"/>
            <a:ext cx="1905000" cy="190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4610100"/>
            <a:ext cx="350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080" b="1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סרקו עם המצלמה להצטרפות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