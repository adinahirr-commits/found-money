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ערב טוב! מה קורה? מה נשמע?</a:t>
            </a:r>
          </a:p>
          <a:p>
            <a:r>
              <a:t>איזה כיף לראות אתכן. שבועיים שאתן עובדות בטירוף. מיפיתן, ספרתן, חישבתן כרית בטחון, כתבתן מטרות.</a:t>
            </a:r>
          </a:p>
          <a:p>
            <a:r>
              <a:t>אמרתי לכן בשבוע שעבר שהשיעור הזה פרקטי מהשנייה הראשונה.</a:t>
            </a:r>
          </a:p>
          <a:p>
            <a:r>
              <a:t>אז יאללה, הנה השנייה הראשונה.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תרשמו לי בצ'אט, כן או לא:</a:t>
            </a:r>
          </a:p>
          <a:p>
            <a:r>
              <a:t>יש לכן כרגע בעו״ש יותר מחודש של הוצאות?</a:t>
            </a:r>
          </a:p>
          <a:p>
            <a:r>
              <a:t>(לחכות 30 שניות. להקריא כמה בקצב.)</a:t>
            </a:r>
          </a:p>
          <a:p>
            <a:r>
              <a:t>וואו. אוקיי. תחזיקו את התשובה הזאת רגע בראש, כי עוד חצי שעה היא תהיה שווה לכן כסף.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רגע של סדר, בשביל מי שפספסה ובשביל כולנו.</a:t>
            </a:r>
          </a:p>
          <a:p>
            <a:r>
              <a:t>בלייב הראשון בנינו את החזון ומצאנו את נקודת המוצא. כדי לדעת לאן הולכים ומאיפה יוצאים.</a:t>
            </a:r>
          </a:p>
          <a:p>
            <a:r>
              <a:t>בלייב השני חילקנו את הכסף לארבעה כדים, וחישבנו כמה בכל כד. כדי שלכל שקל יהיה תפקיד.</a:t>
            </a:r>
          </a:p>
          <a:p>
            <a:r>
              <a:t>וחישבנו את כרית הבטחון: שלושה חודשי הוצאות. כדי שהלא צפוי לא יפיל אותנו.</a:t>
            </a:r>
          </a:p>
          <a:p>
            <a:r>
              <a:t>סבבה? אז עכשיו יש לנו כמה. הערב: איפה.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ככה בנוי הערב. ארבעה חלקים, ואחרי כל חלק עוצרות לשאלות.</a:t>
            </a:r>
          </a:p>
          <a:p>
            <a:r>
              <a:t>אחת, למה הכסף חייב לעבוד, ואיך הזמן בוחר את ההשקעה.</a:t>
            </a:r>
          </a:p>
          <a:p>
            <a:r>
              <a:t>שתיים, שוק ההון בשפה פשוטה. המינימום ידע שנותן לי מקסימום פעולה. לא צריך להבין את העומק של העומק.</a:t>
            </a:r>
          </a:p>
          <a:p>
            <a:r>
              <a:t>שלוש, הלב של הערב: איפה גר כל כד.</a:t>
            </a:r>
          </a:p>
          <a:p>
            <a:r>
              <a:t>וארבע, שתי דרכים להשקיע: מנוהל ועצמאי.</a:t>
            </a:r>
          </a:p>
          <a:p>
            <a:r>
              <a:t>אבל לפני הידע, אני רוצה להראות לכן משהו.</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 מודל שאני מאוד אוהבת, של עופר לוי. מודל 4 המיכלים.</a:t>
            </a:r>
          </a:p>
          <a:p>
            <a:r>
              <a:t>הוא אומר שכדי להצליח לעשות משהו בפועל, צריך לעבור ארבעה מחסומים. ארבעה מיכלים, אחד בתוך השני.</a:t>
            </a:r>
          </a:p>
          <a:p>
            <a:r>
              <a:t>הכי בחוץ, תודעה: לדעת שזה קיים, ולהאמין שזה אפשרי עבורי.</a:t>
            </a:r>
          </a:p>
          <a:p>
            <a:r>
              <a:t>בתוכו, אישיות: להאמין שזה מתאים למי שאני.</a:t>
            </a:r>
          </a:p>
          <a:p>
            <a:r>
              <a:t>בתוכו, מיומנויות: היכולת לבצע את מה שנדרש בתיאוריה.</a:t>
            </a:r>
          </a:p>
          <a:p>
            <a:r>
              <a:t>והכי בפנים, ידע: המידע עצמו.</a:t>
            </a:r>
          </a:p>
          <a:p>
            <a:r>
              <a:t>ותראו איפה נכנס מידע חדש. רק למיכל הכי קטן, הכי פנימי.</a:t>
            </a:r>
          </a:p>
          <a:p>
            <a:r>
              <a:t>אז אפשר למלא ידע עד הסוף. אבל אם המיכלים שמסביב קטנים, הוא פשוט לא מחזיק. זה גולש החוצה.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ואני יודעת את זה מעצמי.</a:t>
            </a:r>
          </a:p>
          <a:p>
            <a:r>
              <a:t>כשהתחלתי, נדלקו לי העיניים. עשיתי קורס על נדל״ן. קורס על שוק ההון. קורס על נדל״ן בחו״ל. קורס על ביטקוין.</a:t>
            </a:r>
          </a:p>
          <a:p>
            <a:r>
              <a:t>וככל שלמדתי יותר, היה לי קשה יותר לבצע. שום צעד לא נראה לי גדול מספיק. אז לא עשיתי כלום.</a:t>
            </a:r>
          </a:p>
          <a:p>
            <a:r>
              <a:t>הייתי המלכה של המיכל הפנימי. ידע? בטירוף. ביצוע? אפס.</a:t>
            </a:r>
          </a:p>
          <a:p>
            <a:r>
              <a:t>עד שפשוט התחלתי. הפקדתי קרן השתלמות. עשיתי סדר בפנסיה. שמתי קופת גמל להשקעה לבנות שלי. פתחתי תיק השקעות קטן.</a:t>
            </a:r>
          </a:p>
          <a:p>
            <a:r>
              <a:t>וכל צעד כזה פתח את הדלת לעוד אלף צעדים.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ככה בנוי הליווי. הוא ממלא את כל ארבעת המיכלים, לא רק את הידע.</a:t>
            </a:r>
          </a:p>
          <a:p>
            <a:r>
              <a:t>תודעה: אפשרי בעולם, אפשרי עבורי. את זה עשינו בלייב הראשון, עם החזון וסולם התודעה.</a:t>
            </a:r>
          </a:p>
          <a:p>
            <a:r>
              <a:t>אישיות: מנוהל או עצמאי. מה מתאים למי שאני. את זה הערב, ובשאלון באזור האישי.</a:t>
            </a:r>
          </a:p>
          <a:p>
            <a:r>
              <a:t>מיומנויות: את זה עושים ביחד. צעד אחרי צעד, עם הידיים.</a:t>
            </a:r>
          </a:p>
          <a:p>
            <a:r>
              <a:t>וידע: הערב. שוק ההון, ואיפה גר כל כד.</a:t>
            </a:r>
          </a:p>
          <a:p>
            <a:r>
              <a:t>אז הערב אנחנו לא רק ממלאות ידע. אנחנו מכינות את כל המיכלים לפעולה.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תכתבו לי בצ'אט מספר אחד: באיזה מיכל אתן מרגישות שאתן נתקעות?</a:t>
            </a:r>
          </a:p>
          <a:p>
            <a:r>
              <a:t>אחת תודעה, שתיים אישיות, שלוש מיומנויות, ארבע ידע.</a:t>
            </a:r>
          </a:p>
          <a:p>
            <a:r>
              <a:t>(להקריא בקצב. אם רוב הצ'אט "4": "מעולה, הערב בדיוק בשבילכן". אם "3": "שמעתי. ובגלל זה אנחנו עושות את זה ביחד". אם "2": "על זה החלק הרביעי של הערב".)</a:t>
            </a:r>
          </a:p>
          <a:p>
            <a:r>
              <a:t>אין פה תשובה נכונה. רק לדעת מאיפה אני מתחילה. סבבה? יאללה.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ראשון. למה הכסף חייב לעבוד.</a:t>
            </a:r>
          </a:p>
          <a:p>
            <a:r>
              <a:t>ואני אגיד לכן משהו שאולי יעשה קצת כאב בטן:</a:t>
            </a:r>
          </a:p>
          <a:p>
            <a:r>
              <a:t>כסף שלא עובד, הולך אחורה. הוא לא עומד במקום. הוא הולך אחורה.</a:t>
            </a:r>
          </a:p>
          <a:p>
            <a:r>
              <a:t>אז מה עושים? נותנות לכל שקל בית שעובד בשבילו. וזה בדיוק הערב.</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שנים, לי ולבעלי היה חיסכון יפה, והכל ישב בעובר ושב.</a:t>
            </a:r>
          </a:p>
          <a:p>
            <a:r>
              <a:t>ואני הרגשתי מלכת העולם. מצטיינת. חוסכת, אחראית, הכל בסדר.</a:t>
            </a:r>
          </a:p>
          <a:p>
            <a:r>
              <a:t>ולא ידעתי שבאותו זמן בדיוק אנחנו הולכים אחורה.</a:t>
            </a:r>
          </a:p>
          <a:p>
            <a:r>
              <a:t>הבנק לא גנב לנו את הכסף. הוא סתם אחסן אותו יפה.</a:t>
            </a:r>
          </a:p>
          <a:p>
            <a:r>
              <a:t>[[עדי: כמה שנים ובערך כמה בחודש? בתמלול של יוני אמרת "5,000 שקלים בממוצע חיסכון בכל חודש... הרבה שנים". על השקף כתבתי "שנים" בלי מספר.]]</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יש לזה שם: הגנב השקט. אינפלציה.</a:t>
            </a:r>
          </a:p>
          <a:p>
            <a:r>
              <a:t>המחירים עולים כל שנה, נגיד שלושה אחוז. אז אותו שטר של 100 שקל קונה כל שנה קצת פחות.</a:t>
            </a:r>
          </a:p>
          <a:p>
            <a:r>
              <a:t>תסתכלו על המספר: 100,000 שקל שיושבים בעו״ש עשר שנים, שווים בסוף כ-74 אלף.</a:t>
            </a:r>
          </a:p>
          <a:p>
            <a:r>
              <a:t>בחשבון לא ירד שקל. אבל הכסף איבד מהערך שלו.</a:t>
            </a:r>
          </a:p>
          <a:p>
            <a:r>
              <a:t>וזה בדיוק למה החלוקה לכדים היא לא רק סדר. היא ההגנה.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המשפט של הערב. אם יש משפט אחד שאתן לוקחות, זה הוא.</a:t>
            </a:r>
          </a:p>
          <a:p>
            <a:r>
              <a:t>לא ההשקעה קובעת את הטווח.</a:t>
            </a:r>
          </a:p>
          <a:p>
            <a:r>
              <a:t>הזמן של הכסף קובע את ההשקעה.</a:t>
            </a:r>
          </a:p>
          <a:p>
            <a:r>
              <a:t>אנשים שואלים אותי כל הזמן: "עדי, מה הכי כדאי?" וזו לא השאלה.</a:t>
            </a:r>
          </a:p>
          <a:p>
            <a:r>
              <a:t>השאלה היא: מתי אני צריכה את הכסף הזה?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ככל שאני צריכה את הכסף רחוק יותר, אני יכולה להרשות לו יותר תנודתיות.</a:t>
            </a:r>
          </a:p>
          <a:p>
            <a:r>
              <a:t>כסף שאני צריכה בקרוב: אני שומרת עליו. לא משנה מה השוק עושה, הוא צריך להיות שם כשאני צריכה אותו.</a:t>
            </a:r>
          </a:p>
          <a:p>
            <a:r>
              <a:t>כסף שאני צריכה בעוד כמה שנים: סיכון קצת יותר גבוה, אבל עדיין בזהירות.</a:t>
            </a:r>
          </a:p>
          <a:p>
            <a:r>
              <a:t>וכסף שאני לא צריכה עשר שנים ומעלה? הוא יכול לעבוד קשה בשבילי. כי גם אם השוק יורד, יש לו זמן לחזור.</a:t>
            </a:r>
          </a:p>
          <a:p>
            <a:r>
              <a:t>אני לא אקח משוק ההון כסף כדי לקנות במכולת חלב. סבבה?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פותחות מחברת. דקה אחת.</a:t>
            </a:r>
          </a:p>
          <a:p>
            <a:r>
              <a:t>ליד כל כד, תכתבו: מתי אני צריכה את הכסף הזה?</a:t>
            </a:r>
          </a:p>
          <a:p>
            <a:r>
              <a:t>העו״ש: כל חודש.</a:t>
            </a:r>
          </a:p>
          <a:p>
            <a:r>
              <a:t>כרית הבטחון: בכל רגע, ומקווה שלעולם לא.</a:t>
            </a:r>
          </a:p>
          <a:p>
            <a:r>
              <a:t>המטרות הקרובות: כל מטרה והתאריך שלה. חופשה בקיץ, רכב בעוד שנתיים.</a:t>
            </a:r>
          </a:p>
          <a:p>
            <a:r>
              <a:t>והטווח הרחוק: עשר שנים ומעלה.</a:t>
            </a:r>
          </a:p>
          <a:p>
            <a:r>
              <a:t>(לחכות דקה.) כתבתן? זה כבר חצי מהתשובה של הערב.</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עוד רגע לפני שצוללות. אפשר לחלק את כל עולם ההשקעות לארבעה:</a:t>
            </a:r>
          </a:p>
          <a:p>
            <a:r>
              <a:t>שוק ההון, נדל״ן, השקעות אלטרנטיביות, ועסקים.</a:t>
            </a:r>
          </a:p>
          <a:p>
            <a:r>
              <a:t>ואני לא נגד נדל״ן, אני בעד. יש לנו בבית גם נדל״ן.</a:t>
            </a:r>
          </a:p>
          <a:p>
            <a:r>
              <a:t>אבל הליווי הזה מתמקד בשוק ההון. כי שם אפשר להתחיל מ-50 שקל, הכסף נזיל, ויש בו בית לכל אחד מהכדים.</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שני. שוק ההון בשפה פשוטה.</a:t>
            </a:r>
          </a:p>
          <a:p>
            <a:r>
              <a:t>ואני מתחילה עם משהו שאולי יפתיע אתכן: אתן כבר משקיעות בשוק ההון.</a:t>
            </a:r>
          </a:p>
          <a:p>
            <a:r>
              <a:t>יש לכן פנסיה? יש קרן השתלמות? אז חלק מהכסף שלכן כבר עובד שם, כל חודש.</a:t>
            </a:r>
          </a:p>
          <a:p>
            <a:r>
              <a:t>רק שעד היום מישהו אחר החליט בשבילכן איך.</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זה בכלל להשקיע בשוק ההון?</a:t>
            </a:r>
          </a:p>
          <a:p>
            <a:r>
              <a:t>זה להיות שותפה קטנה, פיצית, בחברות.</a:t>
            </a:r>
          </a:p>
          <a:p>
            <a:r>
              <a:t>אנשים קמים בבוקר, הולכים לחברת אפל, מייצרים אייפונים. אפל מוכרת יותר, החברה שווה יותר, וגם החתיכה הקטנה שלך שווה יותר.</a:t>
            </a:r>
          </a:p>
          <a:p>
            <a:r>
              <a:t>זה מניה. חתיכה מחברה.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תדמיינו שבמקום להמר על חברה אחת, כי נראה לי שאפל מגניבה ויש לי אייפון, אני קונה סל אחד, ובו חתיכה קטנה מהרבה מאוד חברות.</a:t>
            </a:r>
          </a:p>
          <a:p>
            <a:r>
              <a:t>זה מדד.</a:t>
            </a:r>
          </a:p>
          <a:p>
            <a:r>
              <a:t>ה-S&amp;P 500 שבטוח שמעתן עליו, זה בעצם 500 החברות הכי גדולות בארצות הברית, בסל אחד.</a:t>
            </a:r>
          </a:p>
          <a:p>
            <a:r>
              <a:t>אם אחת מהן נופלת? לא הלך עליי. יש עוד 499 שממשיכות לעבוד בשבילי.</a:t>
            </a:r>
          </a:p>
          <a:p>
            <a:r>
              <a:t>ואני לא צריכה לשבת מול גרפים ולבחור כלום. קונה את הסל, ולא נוגעת.</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ופה אני רוצה לשבור מיתוס. שוק ההון זה לא קזינו.</a:t>
            </a:r>
          </a:p>
          <a:p>
            <a:r>
              <a:t>זה לא מסוכן כשעושים את זה לפי ארבעה כללים:</a:t>
            </a:r>
          </a:p>
          <a:p>
            <a:r>
              <a:t>אחת, טווח ארוך. כסף שלא צריך בחמש השנים הקרובות.</a:t>
            </a:r>
          </a:p>
          <a:p>
            <a:r>
              <a:t>שתיים, פיזור. לא מניה אחת. מדד שעוקב אחרי מאות חברות.</a:t>
            </a:r>
          </a:p>
          <a:p>
            <a:r>
              <a:t>שלוש, לא נוגעות. בלי מסחר, בלי לתזמן, בלי לברוח כשרועד. הוראת קבע, וזהו.</a:t>
            </a:r>
          </a:p>
          <a:p>
            <a:r>
              <a:t>וארבע, על השם שלך, בגוף מפוקח. אף אחד לא נוגע בכסף שלך חוץ ממך.</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ואני יודעת מה השאלה הבאה. ומה עם הנפילות?</a:t>
            </a:r>
          </a:p>
          <a:p>
            <a:r>
              <a:t>השוק נפל הרבה פעמים. 2008. הקורונה, כשהוא ירד בשלושים אחוז בכמה שבועות.</a:t>
            </a:r>
          </a:p>
          <a:p>
            <a:r>
              <a:t>ובכל פעם הוא חזר, ועלה גבוה יותר. מי שחיכתה עוד קצת, הרוויחה. מי שברחה בירידה, הפסידה.</a:t>
            </a:r>
          </a:p>
          <a:p>
            <a:r>
              <a:t>הירידה היא לא הפסד, אלא אם מכרת.</a:t>
            </a:r>
          </a:p>
          <a:p>
            <a:r>
              <a:t>וזה ממוצע היסטורי, לא הבטחה. אין ודאות לגבי העתיד. אבל זה מה שהזמן עשה, כל פעם, למי שלא נגעה.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ובאפט אמר את זה הכי יפה:</a:t>
            </a:r>
          </a:p>
          <a:p>
            <a:r>
              <a:t>"הבורסה היא מכשיר להעברת כסף מהאנשים חסרי הסבלנות לאנשים הסבלניים."</a:t>
            </a:r>
          </a:p>
          <a:p>
            <a:r>
              <a:t>ואמהות? אנחנו מומחיות לסבלנות. אמהות עסוקות הן עם פרופיל ההשקעה הכי טוב בעולם. אין לנו זמן להסתכל כל יום.</a:t>
            </a:r>
          </a:p>
          <a:p>
            <a:r>
              <a:t>[[עדי: לוודא שזה לא אותו ציטוט של באפט שהופיע בלייב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בפועל קונים? שלושה דברים, וזה כל מה שצריך להכיר בשביל הליווי.</a:t>
            </a:r>
          </a:p>
          <a:p>
            <a:r>
              <a:t>קרן כספית: זוכרות מהשבוע שעבר? היא שומרת על ערך הכסף. סיכון נמוך מאוד, ואפשר לצאת ממנה תוך יום-יומיים.</a:t>
            </a:r>
          </a:p>
          <a:p>
            <a:r>
              <a:t>קרן מחקה מדד: הסל. מאות חברות ביחד, לטווח הרחוק.</a:t>
            </a:r>
          </a:p>
          <a:p>
            <a:r>
              <a:t>ומניה בודדת: חתיכה מחברה אחת. מעניין, אבל לא לשם מתחילות.</a:t>
            </a:r>
          </a:p>
          <a:p>
            <a:r>
              <a:t>זהו. עכשיו כשמישהו יגיד לכן את המילים האלה, תדעו בדיוק על מה הוא מדבר.</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שאלות? זה הזמן. עוצרות.</a:t>
            </a:r>
          </a:p>
          <a:p>
            <a:r>
              <a:t>(עד 3 דקות. מה שמתאים לחלק 3 או 4: "שאלה מעולה, עוד רגע נגיע לזה".)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שלישי. הלב של הערב.</a:t>
            </a:r>
          </a:p>
          <a:p>
            <a:r>
              <a:t>לכל כד יש בית. זוכרות את המשפט של הערב? כמה זמן יש לכסף, ככה בוחרים לו בית.</a:t>
            </a:r>
          </a:p>
          <a:p>
            <a:r>
              <a:t>וחשוב לי להגיד: אלה עקרונות, לא המלצה אישית. ההתאמה האישית נעשית מול איש המקצוע. אבל אחרי הערב, אתן תבינו בדיוק על מה אתן מדברות איתו.</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ראשון. העו״ש. התחנה של הכסף שנכנס ויוצא.</a:t>
            </a:r>
          </a:p>
          <a:p>
            <a:r>
              <a:t>בערך חודש של הוצאות. לא פחות, שלא נכנס למינוס. וגם לא יותר.</a:t>
            </a:r>
          </a:p>
          <a:p>
            <a:r>
              <a:t>זוכרות את הכן או לא מתחילת הערב? מי שכתבה כן: כל מה שמעל חודש הוצאות, זה הכסף הראשון שלך לכדים הבאים. הוא כבר אצלך, רק שהוא יושב בבית הלא נכון.</a:t>
            </a:r>
          </a:p>
          <a:p>
            <a:r>
              <a:t>ואני יודעת שלא מעט פה יש עשרות אלפי שקלים בעו״ש. אפילו השינוי הזה לבד שווה לכן עשרות אלפי שקלים לאורך זמן.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שני. כרית הבטחון. שלושה חודשי הוצאות, את זה כבר חישבתן.</a:t>
            </a:r>
          </a:p>
          <a:p>
            <a:r>
              <a:t>איפה היא גרה? בקרן כספית, או בפיקדון נזיל בבנק.</a:t>
            </a:r>
          </a:p>
          <a:p>
            <a:r>
              <a:t>ועל פיקדון אפשר להתמקח על הריבית.</a:t>
            </a:r>
          </a:p>
          <a:p>
            <a:r>
              <a:t>השבוע: בוחרות בית אחד לכרית. אחד. לא צריך להשוות עשר קרנות.</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ולמה לא לשים את הכרית בשוק המניות, אם הוא מרוויח יותר?</a:t>
            </a:r>
          </a:p>
          <a:p>
            <a:r>
              <a:t>כי השוק יכול לרדת בדיוק כשאני צריכה את הכסף.</a:t>
            </a:r>
          </a:p>
          <a:p>
            <a:r>
              <a:t>הקורונה. אנשים איבדו עבודה, ובאותו חודש השוק ירד בשלושים אחוז. מי שהכרית שלה הייתה במניות, הייתה צריכה למכור בהפסד בדיוק ברגע הכי גרוע.</a:t>
            </a:r>
          </a:p>
          <a:p>
            <a:r>
              <a:t>אז הכרית לא כאן כדי להרוויח. היא כאן כדי להיות שם.</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שלישי. המטרות הקרובות. החופשה, הרכב, הבת מצווה, השיפוץ.</a:t>
            </a:r>
          </a:p>
          <a:p>
            <a:r>
              <a:t>פה הבית תלוי בתאריך של המטרה.</a:t>
            </a:r>
          </a:p>
          <a:p>
            <a:r>
              <a:t>מטרה של עד שנתיים: אותו בית כמו הכרית. קרן כספית או פיקדון. כי אין לו זמן לחזור מירידה.</a:t>
            </a:r>
          </a:p>
          <a:p>
            <a:r>
              <a:t>מטרה של שנתיים עד חמש: אפשר סיכון טיפה יותר גבוה. למשל קופת גמל להשקעה במסלול סיכון נמוך.</a:t>
            </a:r>
          </a:p>
          <a:p>
            <a:r>
              <a:t>ואתן רואות? המטרות שכתבתן בשבוע שעבר כבר יודעות לאיזה בית הן הולכות. רק לפי התאריך.</a:t>
            </a:r>
          </a:p>
          <a:p>
            <a:r>
              <a:t>[[עדי: לאשר את הגבולות: עד שנתיים / שנתיים עד חמש.]]</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וכמה מכן ביקשו את זה במיוחד: כסף לבית. ארבע מתוך שבע כתבו את זה בשאלון.</a:t>
            </a:r>
          </a:p>
          <a:p>
            <a:r>
              <a:t>אז זה תלוי איפה אתן עומדות.</a:t>
            </a:r>
          </a:p>
          <a:p>
            <a:r>
              <a:t>עוד אין דירה? המטרה היא לבנות הון עצמי, בערך 25 אחוז מהדירה. והבית של הכסף הזה נקבע לפי מתי: בעוד שנתיים, זה כד 3. בעוד שבע שנים, אפשר לתת לו לעבוד יותר.</a:t>
            </a:r>
          </a:p>
          <a:p>
            <a:r>
              <a:t>יש דירה למגורים? דירה שנייה בישראל זה מס רכישה של 8 אחוז. אז לרוב מסתכלים על שוק ההון, או על נדל״ן בחו״ל.</a:t>
            </a:r>
          </a:p>
          <a:p>
            <a:r>
              <a:t>יש דירה להשקעה? אפשר לחשוב על דירה חליפית: למכור, להגדיל הון עצמי, ולשדרג.</a:t>
            </a:r>
          </a:p>
          <a:p>
            <a:r>
              <a:t>ועל כל זה, למי שרלוונטי, יש פגישה אישית עם יועץ נדל״ן אחרי הפגישה עם הסוכן.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ופה, בבית, נכנס כלי שהבטחתי לכן: מינוף.</a:t>
            </a:r>
          </a:p>
          <a:p>
            <a:r>
              <a:t>השיטה שעשירים משתמשים בה כדי להתעשר עוד יותר.</a:t>
            </a:r>
          </a:p>
          <a:p>
            <a:r>
              <a:t>מינוף זה בעצם כסף של אחרים שעובד בשבילי. המשכנתא היא מינוף.</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נראה את זה במספרים.</a:t>
            </a:r>
          </a:p>
          <a:p>
            <a:r>
              <a:t>יש לך 200,000 שקל.</a:t>
            </a:r>
          </a:p>
          <a:p>
            <a:r>
              <a:t>אפשרות אחת: את קונה נכס של 200,000. הוא עולה בעשר שנים ב-40 אחוז, שווה 280,000. הרווחת 80,000.</a:t>
            </a:r>
          </a:p>
          <a:p>
            <a:r>
              <a:t>אפשרות שתיים: את לוקחת משכנתא של 600,000, וקונה נכס של 800,000. הוא עולה באותם 40 אחוז, שווה מיליון מאה עשרים. מחזירה את המשכנתא, ונשארים לך 520,000.</a:t>
            </a:r>
          </a:p>
          <a:p>
            <a:r>
              <a:t>אותו כסף שלך. אותה עליית ערך. בלי מינוף: 80,000 רווח. עם מינוף: 320,000.</a:t>
            </a:r>
          </a:p>
          <a:p>
            <a:r>
              <a:t>(להמחשה, לפני ריבית ועלויות.)</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אבל מינוף הוא כלי, לא קסם.</a:t>
            </a:r>
          </a:p>
          <a:p>
            <a:r>
              <a:t>כשלוקחות הלוואה לקנות נכס שצומח, הנכס עובד בשבילך.</a:t>
            </a:r>
          </a:p>
          <a:p>
            <a:r>
              <a:t>כשלוקחות הלוואה לקנות משהו שמתבלה, רכב, חופשה, בגדים, את משלמת ריבית על משהו שכבר לא שווה כלום.</a:t>
            </a:r>
          </a:p>
          <a:p>
            <a:r>
              <a:t>אותו כלי. כיוון הפוך לגמרי.</a:t>
            </a:r>
          </a:p>
          <a:p>
            <a:r>
              <a:t>וזוכרות מהשבוע שעבר? הלוואה נכנסת לחישוב התזרים. ואם התזרים חיובי, היא יכולה להיות כלי לצמיחה.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רביעי. הטווח הרחוק. כל השאר.</a:t>
            </a:r>
          </a:p>
          <a:p>
            <a:r>
              <a:t>זה ההון הגדול, כי שם יש לכסף זמן לעבוד. לא ניגע, לא נדבר.</a:t>
            </a:r>
          </a:p>
          <a:p>
            <a:r>
              <a:t>איפה הוא גר? במדדים בשוק ההון.</a:t>
            </a:r>
          </a:p>
          <a:p>
            <a:r>
              <a:t>ויש כמה דלתות להיכנס: הפנסיה, קרן ההשתלמות, קופת גמל להשקעה, או תיק השקעות עצמאי. על הדלתות האלה, עוד רגע בחלק הרביעי.</a:t>
            </a:r>
          </a:p>
          <a:p>
            <a:r>
              <a:t>השבוע: לבדוק באיזה מסלול הכסף שלי נמצא היום. בפנסיה ובהשתלמות.</a:t>
            </a:r>
          </a:p>
          <a:p>
            <a:r>
              <a:t>כי מי שלא בחרה מסלול והלכה על ברירת המחדל, אולי שמה כסף לטווח של 30 שנה בסיכון בינוני. ושינוי קטן במסלול יכול להיות שווה מאות אלפי שקלים.</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מספר אחד קטן בכד הזה: דמי ניהול.</a:t>
            </a:r>
          </a:p>
          <a:p>
            <a:r>
              <a:t>אותו כסף. 1,000 שקל בחודש, 30 שנה, 8 אחוז בשנה להמחשה.</a:t>
            </a:r>
          </a:p>
          <a:p>
            <a:r>
              <a:t>עם דמי ניהול של חצי אחוז, ועם דמי ניהול של אחוז וחצי.</a:t>
            </a:r>
          </a:p>
          <a:p>
            <a:r>
              <a:t>תסתכלו על ההפרש. יותר מ-200 אלף שקל. רק מספר אחד קטן, על אותו כסף בדיוק.</a:t>
            </a:r>
          </a:p>
          <a:p>
            <a:r>
              <a:t>אז עם יד על הלב: אתן יודעות כמה דמי ניהול אתן משלמות? אם לא, זה בדיוק מה שהפגישה עם הסוכן עונה עליו.</a:t>
            </a:r>
          </a:p>
          <a:p>
            <a:r>
              <a:t>[[עדי: החישוב שלי: 1,000 ₪/חודש, 30 שנה, 8% לפני דמי ניהול, דמי ניהול מהצבירה. השקף הישן שלך הראה "650,000 ₪" על הנחות אחרות.]]</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וגם הילדים. ביקשתן.</a:t>
            </a:r>
          </a:p>
          <a:p>
            <a:r>
              <a:t>200 שקל בחודש מהלידה, בקופת גמל להשקעה, 8 אחוז בשנה להמחשה: כ-93 אלף שקל בגיל 18.</a:t>
            </a:r>
          </a:p>
          <a:p>
            <a:r>
              <a:t>וכמה סיכון? לפי הגיל של הילד. ילד קטן, יש עשרים שנה, אפשר סיכון גבוה יותר. ילד בן 15, הכסף יוצא בעוד שלוש שנים, מורידים סיכון.</a:t>
            </a:r>
          </a:p>
          <a:p>
            <a:r>
              <a:t>אותו עיקרון בדיוק: הזמן בוחר את ההשקעה.</a:t>
            </a:r>
          </a:p>
          <a:p>
            <a:r>
              <a:t>ובחיסכון לכל ילד מהמדינה: להכפיל את ההפקדה, ולבחור קופת גמל במסלול סיכון גבוה, לא את ברירת המחדל.</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זו מפת הבתים. כל הערב על שקף אחד.</a:t>
            </a:r>
          </a:p>
          <a:p>
            <a:r>
              <a:t>עו״ש: כל חודש, בלי סיכון, בעו״ש.</a:t>
            </a:r>
          </a:p>
          <a:p>
            <a:r>
              <a:t>כרית הבטחון: בכל רגע, סיכון הכי נמוך שיש, קרן כספית או פיקדון.</a:t>
            </a:r>
          </a:p>
          <a:p>
            <a:r>
              <a:t>מטרות קרובות: לפי התאריך, נמוך עד בינוני.</a:t>
            </a:r>
          </a:p>
          <a:p>
            <a:r>
              <a:t>טווח רחוק: עשר שנים ומעלה, מדדים בשוק ההון.</a:t>
            </a:r>
          </a:p>
          <a:p>
            <a:r>
              <a:t>תצלמו את השקף הזה. זה המפה שלכן.</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חוזרות למחברת. שלוש דקות.</a:t>
            </a:r>
          </a:p>
          <a:p>
            <a:r>
              <a:t>ליד כל כד כבר כתבתן מתי. עכשיו תוסיפו: כמה, מהחישוב של השבוע שעבר. ואיפה הוא גר.</a:t>
            </a:r>
          </a:p>
          <a:p>
            <a:r>
              <a:t>(לחכות 3 דקות. מוזיקה שקטה אם יש.)</a:t>
            </a:r>
          </a:p>
          <a:p>
            <a:r>
              <a:t>מי שיש לה עכשיו שורה מלאה לכל כד, תכתבו לי בצ'אט "יש". זה בדיוק מה שהמשימה של השבוע צריכה.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שאלות? עוצרות.</a:t>
            </a:r>
          </a:p>
          <a:p>
            <a:r>
              <a:t>(עד 4 דקות. אם עולות שאלות על "איזו קרן כספית": "אני לא ממליצה על קרן ספציפית. ההסבר הכתוב והקישור לרשימה באתר הבורסה נמצאים בסיכום של לייב 2 באזור האישי".)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רביעי ואחרון. איך נכנסים בפועל לשוק ההון.</a:t>
            </a:r>
          </a:p>
          <a:p>
            <a:r>
              <a:t>יש שתי דרכים, ואני אומרת כבר מעכשיו: שתיהן אחלה. שתיהן לגיטימיות ומעולות.</a:t>
            </a:r>
          </a:p>
          <a:p>
            <a:r>
              <a:t>אין פה נכון ולא נכון. יש מה נכון לך עכשיו.</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דרך ראשונה, מנוהל. קופת גמל להשקעה, קרן השתלמות, פנסיה.</a:t>
            </a:r>
          </a:p>
          <a:p>
            <a:r>
              <a:t>אני בוחרת מסלול, מישהו אחר מנהל לי, אני משלמת על זה דמי ניהול, שמה הוראת קבע, ושוכחת.</a:t>
            </a:r>
          </a:p>
          <a:p>
            <a:r>
              <a:t>מפוקח, אוטומטי, ואפשר לעבור בין מסלולים בלי לשלם מס. הכי נוח בעולם.</a:t>
            </a:r>
          </a:p>
          <a:p>
            <a:r>
              <a:t>דרך שנייה, עצמאי. אני פותחת תיק השקעות בבית השקעות, וקונה בעצמי.</a:t>
            </a:r>
          </a:p>
          <a:p>
            <a:r>
              <a:t>שליטה מלאה, עמלות נמוכות יותר, גמישות. אבל דורש קצת יותר ידע וזמן, ואני זו שמקבלת את ההחלטות.</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ככה זה נראה אחד ליד השני.</a:t>
            </a:r>
          </a:p>
          <a:p>
            <a:r>
              <a:t>מי מנהל? במנוהל, גוף מקצועי. בעצמאי, את.</a:t>
            </a:r>
          </a:p>
          <a:p>
            <a:r>
              <a:t>זמן נדרש? במנוהל, כמעט אפס. בעצמאי, קצת יותר.</a:t>
            </a:r>
          </a:p>
          <a:p>
            <a:r>
              <a:t>ולמי זה מתאים? מנוהל, למי שרוצה "שגר ושכח". עצמאי, למי שרוצה לנהל.</a:t>
            </a:r>
          </a:p>
          <a:p>
            <a:r>
              <a:t>אז השאלה היא לא מה יותר טוב. השאלה היא מי אני.</a:t>
            </a:r>
          </a:p>
          <a:p>
            <a:r>
              <a:t>זוכרות את המיכל של האישיות? זה הוא.</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ומה אני עושה? אצלנו בבית יש גם וגם.</a:t>
            </a:r>
          </a:p>
          <a:p>
            <a:r>
              <a:t>לבנות שלי שמתי קופת גמל להשקעה. כי רציתי שזה ירוץ לבד, בלי שאני צריכה לזכור כל חודש.</a:t>
            </a:r>
          </a:p>
          <a:p>
            <a:r>
              <a:t>ויש לי גם תיק השקעות עצמאי. ואת התיק שלי הכנסתי למערכת של יועץ ההשקעות שעובד איתנו, והוא אמר לי דברים לשנות. גם אחרי ארבעה קורסים.</a:t>
            </a:r>
          </a:p>
          <a:p>
            <a:r>
              <a:t>[[עדי: לוודא שהסיפור על התיק שלך במערכת מדויק, ואם להזכיר את יפתח בשמו. ויש לך שקף ישן עם התמונה שלך עם הבנות, "אז למה בחרתי קופת גמל להשקעה לאלה ואביב?" (המצגת "11 - איך להשקיע בשוק ההון", עמוד 8), אם תרצי להכניס אותו אחרי השקף הזה.]]</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דבר אחד חשוב. השקעות, נעדיף לא לעשות דרך הבנק.</a:t>
            </a:r>
          </a:p>
          <a:p>
            <a:r>
              <a:t>הבנק לוקח עמלות מאוד גבוהות על ניירות ערך.</a:t>
            </a:r>
          </a:p>
          <a:p>
            <a:r>
              <a:t>חוץ מקרן כספית. עליה כמעט אין עמלות, אז דרך הבנק זה ממש בסדר.</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ובליווי, בכל דרך יש מי שמחזיק לכן את היד.</a:t>
            </a:r>
          </a:p>
          <a:p>
            <a:r>
              <a:t>במנוהל: הסוכן הפנסיוני, בפגישה האישית. הוא בודק מסלולים, דמי ניהול, ופותח את מה שצריך.</a:t>
            </a:r>
          </a:p>
          <a:p>
            <a:r>
              <a:t>בעצמאי: יועץ ההשקעות, עם לייב קבוצתי על שוק ההון ושאלות ותשובות, ומערכת ייעוץ אישית שתבנה עבורכן את הרכב המניות בתיק.</a:t>
            </a:r>
          </a:p>
          <a:p>
            <a:r>
              <a:t>אתן לא לבד בזה.</a:t>
            </a:r>
          </a:p>
          <a:p>
            <a:r>
              <a:t>[[עדי: הניסוח לקוח מהשקף שערכת בלייב 1. אם משהו השתנה מול יפתח, לעדכן כאן.]]</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יודעים מה מתאים לי?</a:t>
            </a:r>
          </a:p>
          <a:p>
            <a:r>
              <a:t>נפתח לכן הערב באזור האישי שאלון המסלול. חמש דקות.</a:t>
            </a:r>
          </a:p>
          <a:p>
            <a:r>
              <a:t>הוא לא שואל איזו השקעה תרוויח יותר. הוא שואל כמה מעורבות את רוצה בניהול הכסף.</a:t>
            </a:r>
          </a:p>
          <a:p>
            <a:r>
              <a:t>ואם יוצא לכן שקודם כדאי לבנות את התשתית, הכרית והמטרות הקרובות, זה מעולה. זו לא תוצאה פחות טובה. זה פשוט הסדר הנכון בשבילך עכשיו.</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שאלות? עוצרות לפני הסיום.</a:t>
            </a:r>
          </a:p>
          <a:p>
            <a:r>
              <a:t>(עד 3 דקות.)</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שלושה דברים מהשיעור הזה.</a:t>
            </a:r>
          </a:p>
          <a:p>
            <a:r>
              <a:t>אחת: הזמן של הכסף בוחר את ההשקעה. לפני כל החלטה: מתי אצטרך את הכסף הזה?</a:t>
            </a:r>
          </a:p>
          <a:p>
            <a:r>
              <a:t>שתיים: לכל כד יש בית. עו״ש, קרן כספית, לפי התאריך, ומדדים.</a:t>
            </a:r>
          </a:p>
          <a:p>
            <a:r>
              <a:t>שלוש: מנוהל או עצמאי. שתיהן אחלה. מה שמתאים למי שאני.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והדבר שאני הכי רוצה שתיקחו:</a:t>
            </a:r>
          </a:p>
          <a:p>
            <a:r>
              <a:t>את המנכ״לית. לא הפועל.</a:t>
            </a:r>
          </a:p>
          <a:p>
            <a:r>
              <a:t>את לא צריכה להיות מומחית לשוק ההון. את צריכה להבין מספיק כדי לקבל החלטה, לשאול את השאלות הנכונות, ולבנות מערכת.</a:t>
            </a:r>
          </a:p>
          <a:p>
            <a:r>
              <a:t>הכסף שלך. ההחלטות שלך. הביצוע: הוראת קבע ואנשי מקצוע.</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המשימה לשבוע. גג שעה.</a:t>
            </a:r>
          </a:p>
          <a:p>
            <a:r>
              <a:t>אחת: ליד כל כד, כמה, מתי, ואיפה הוא גר. מה שעשינו עכשיו במחברת, רק עד הסוף.</a:t>
            </a:r>
          </a:p>
          <a:p>
            <a:r>
              <a:t>שתיים: שאלון המסלול באזור האישי. חמש דקות.</a:t>
            </a:r>
          </a:p>
          <a:p>
            <a:r>
              <a:t>שלוש: מעבירות כד אחד לבית שלו. אחד. למשל: מה שמעל חודש הוצאות בעו״ש עובר לכרית.</a:t>
            </a:r>
          </a:p>
          <a:p>
            <a:r>
              <a:t>ומי שיצא לה עצמאי בשאלון: פותחת כבר השבוע חשבון בבית השקעות, כי זה לוקח כמה ימים. את הפרטים אני שולחת בקבוצה.</a:t>
            </a:r>
          </a:p>
          <a:p>
            <a:r>
              <a:t>[[עדי: לבחור אילו בתי השקעות מופיעים בהודעה בקבוצה. כרגע סגור רק IBI (מינימום 15,000 ₪, הוראת הקבע שם היא תזכורת בלבד). ההמלצה: רשימה ניטרלית של כמה בתים, עם גילוי על שיתופי פעולה.]]</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וכמו בכל ערב, נסגור בצ'אט. משהו אחד שאתן לוקחות מהערב.</a:t>
            </a:r>
          </a:p>
          <a:p>
            <a:r>
              <a:t>(להקריא את כולן, בקול, אחת-אחת. לא למהר.)</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ובשבוע הבא, הרגע שבשבילו התחלנו את כל הדרך הזאת.</a:t>
            </a:r>
          </a:p>
          <a:p>
            <a:r>
              <a:t>לייב 4, מפעילות. יישום בפועל.</a:t>
            </a:r>
          </a:p>
          <a:p>
            <a:r>
              <a:t>עושות את הצעד הראשון ביחד, צעד אחרי צעד, על המסך. וההוראת קבע הראשונה שלכן להשקעות.</a:t>
            </a:r>
          </a:p>
          <a:p>
            <a:r>
              <a:t>גאה בכל אחת ואחד מכן. נתראה ביום שני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01</a:t>
            </a:r>
          </a:p>
        </p:txBody>
      </p:sp>
      <p:pic>
        <p:nvPicPr>
          <p:cNvPr id="4" name="Picture 3" descr="hero_gift.jpg"/>
          <p:cNvPicPr>
            <a:picLocks noChangeAspect="1"/>
          </p:cNvPicPr>
          <p:nvPr/>
        </p:nvPicPr>
        <p:blipFill>
          <a:blip r:embed="rId3"/>
          <a:stretch>
            <a:fillRect/>
          </a:stretch>
        </p:blipFill>
        <p:spPr>
          <a:xfrm>
            <a:off x="914400" y="838200"/>
            <a:ext cx="4876800" cy="4876800"/>
          </a:xfrm>
          <a:prstGeom prst="roundRect">
            <a:avLst>
              <a:gd name="adj" fmla="val 8000"/>
            </a:avLst>
          </a:prstGeom>
        </p:spPr>
      </p:pic>
      <p:sp>
        <p:nvSpPr>
          <p:cNvPr id="5" name="TextBox 4"/>
          <p:cNvSpPr txBox="1"/>
          <p:nvPr/>
        </p:nvSpPr>
        <p:spPr>
          <a:xfrm>
            <a:off x="6248400" y="1295400"/>
            <a:ext cx="5029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ליווי אמא משקיעה · מחזור אוקטובר</a:t>
            </a:r>
          </a:p>
        </p:txBody>
      </p:sp>
      <p:sp>
        <p:nvSpPr>
          <p:cNvPr id="6" name="TextBox 5"/>
          <p:cNvSpPr txBox="1"/>
          <p:nvPr/>
        </p:nvSpPr>
        <p:spPr>
          <a:xfrm>
            <a:off x="6248400" y="1638300"/>
            <a:ext cx="5029200" cy="2514600"/>
          </a:xfrm>
          <a:prstGeom prst="rect">
            <a:avLst/>
          </a:prstGeom>
          <a:noFill/>
        </p:spPr>
        <p:txBody>
          <a:bodyPr wrap="square" lIns="0" rIns="0" tIns="0" bIns="0" anchor="t">
            <a:spAutoFit/>
          </a:bodyPr>
          <a:lstStyle/>
          <a:p>
            <a:pPr algn="r" rtl="1">
              <a:lnSpc>
                <a:spcPct val="95000"/>
              </a:lnSpc>
            </a:pPr>
            <a:r>
              <a:rPr sz="6959" b="1" lang="he-IL">
                <a:solidFill>
                  <a:srgbClr val="191A2E"/>
                </a:solidFill>
                <a:latin typeface="Heebo"/>
                <a:ea typeface="Heebo"/>
                <a:cs typeface="Heebo"/>
              </a:rPr>
              <a:t>ברוכים</a:t>
            </a:r>
          </a:p>
          <a:p>
            <a:pPr algn="r" rtl="1">
              <a:lnSpc>
                <a:spcPct val="95000"/>
              </a:lnSpc>
            </a:pPr>
            <a:r>
              <a:rPr sz="6959" b="1" lang="he-IL">
                <a:solidFill>
                  <a:srgbClr val="EF55A5"/>
                </a:solidFill>
                <a:latin typeface="Heebo"/>
                <a:ea typeface="Heebo"/>
                <a:cs typeface="Heebo"/>
              </a:rPr>
              <a:t>השבים!</a:t>
            </a:r>
          </a:p>
        </p:txBody>
      </p:sp>
      <p:sp>
        <p:nvSpPr>
          <p:cNvPr id="7" name="TextBox 6"/>
          <p:cNvSpPr txBox="1"/>
          <p:nvPr/>
        </p:nvSpPr>
        <p:spPr>
          <a:xfrm>
            <a:off x="6248400" y="4267200"/>
            <a:ext cx="5029200" cy="762000"/>
          </a:xfrm>
          <a:prstGeom prst="rect">
            <a:avLst/>
          </a:prstGeom>
          <a:noFill/>
        </p:spPr>
        <p:txBody>
          <a:bodyPr wrap="square" lIns="0" rIns="0" tIns="0" bIns="0" anchor="t">
            <a:spAutoFit/>
          </a:bodyPr>
          <a:lstStyle/>
          <a:p>
            <a:pPr algn="r" rtl="1">
              <a:lnSpc>
                <a:spcPct val="130000"/>
              </a:lnSpc>
            </a:pPr>
            <a:r>
              <a:rPr sz="1920" b="0" lang="he-IL">
                <a:solidFill>
                  <a:srgbClr val="191A2E"/>
                </a:solidFill>
                <a:latin typeface="Heebo"/>
                <a:ea typeface="Heebo"/>
                <a:cs typeface="Heebo"/>
              </a:rPr>
              <a:t>לייב 3 · מחלקות · לכל כד יש בית</a:t>
            </a:r>
          </a:p>
        </p:txBody>
      </p:sp>
      <p:sp>
        <p:nvSpPr>
          <p:cNvPr id="8" name="Rounded Rectangle 7"/>
          <p:cNvSpPr/>
          <p:nvPr/>
        </p:nvSpPr>
        <p:spPr>
          <a:xfrm>
            <a:off x="10850880" y="5303520"/>
            <a:ext cx="426720" cy="4572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48400" y="5196840"/>
            <a:ext cx="4450080" cy="304800"/>
          </a:xfrm>
          <a:prstGeom prst="rect">
            <a:avLst/>
          </a:prstGeom>
          <a:noFill/>
        </p:spPr>
        <p:txBody>
          <a:bodyPr wrap="square" lIns="0" rIns="0" tIns="0" bIns="0" anchor="t">
            <a:spAutoFit/>
          </a:bodyPr>
          <a:lstStyle/>
          <a:p>
            <a:pPr algn="r" rtl="1">
              <a:lnSpc>
                <a:spcPct val="115000"/>
              </a:lnSpc>
            </a:pPr>
            <a:r>
              <a:rPr sz="1439" b="1" lang="he-IL">
                <a:solidFill>
                  <a:srgbClr val="6B6B7B"/>
                </a:solidFill>
                <a:latin typeface="Heebo"/>
                <a:ea typeface="Heebo"/>
                <a:cs typeface="Heebo"/>
              </a:rPr>
              <a:t>עדי סומך · אמא משקיעה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02</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 בצ'אט · כן / לא</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יש לי בעו״ש יותר מחודש של הוצאות?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שבועיים שעברו</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עד עכשיו</a:t>
            </a:r>
          </a:p>
        </p:txBody>
      </p:sp>
      <p:sp>
        <p:nvSpPr>
          <p:cNvPr id="6" name="Oval 5"/>
          <p:cNvSpPr/>
          <p:nvPr/>
        </p:nvSpPr>
        <p:spPr>
          <a:xfrm>
            <a:off x="10850880" y="2468880"/>
            <a:ext cx="426720" cy="42672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לייב 1: חזון ונקודת מוצא &gt; כדי לדעת לאן הולכים ומאיפה יוצאים</a:t>
            </a:r>
          </a:p>
        </p:txBody>
      </p:sp>
      <p:sp>
        <p:nvSpPr>
          <p:cNvPr id="8" name="Oval 7"/>
          <p:cNvSpPr/>
          <p:nvPr/>
        </p:nvSpPr>
        <p:spPr>
          <a:xfrm>
            <a:off x="10850880" y="3413760"/>
            <a:ext cx="426720" cy="42672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לייב 2: ארבעת הכדים, וכמה בכל כד &gt; כדי שלכל שקל יהיה תפקיד</a:t>
            </a:r>
          </a:p>
        </p:txBody>
      </p:sp>
      <p:sp>
        <p:nvSpPr>
          <p:cNvPr id="10" name="Oval 9"/>
          <p:cNvSpPr/>
          <p:nvPr/>
        </p:nvSpPr>
        <p:spPr>
          <a:xfrm>
            <a:off x="10850880" y="435864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כרית הבטחון = 3 חודשי הוצאות &gt; כדי שהלא צפוי לא יפיל אותנו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ארבעה חלקים · ושאלות אחרי כל חלק</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מחכה לנו הערב</a:t>
            </a:r>
          </a:p>
        </p:txBody>
      </p:sp>
      <p:sp>
        <p:nvSpPr>
          <p:cNvPr id="6" name="Oval 5"/>
          <p:cNvSpPr/>
          <p:nvPr/>
        </p:nvSpPr>
        <p:spPr>
          <a:xfrm>
            <a:off x="10850880" y="2286000"/>
            <a:ext cx="426720" cy="42672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למה הכסף חייב לעבוד, ואיך הזמן בוחר את ההשקעה</a:t>
            </a:r>
          </a:p>
        </p:txBody>
      </p:sp>
      <p:sp>
        <p:nvSpPr>
          <p:cNvPr id="8" name="Oval 7"/>
          <p:cNvSpPr/>
          <p:nvPr/>
        </p:nvSpPr>
        <p:spPr>
          <a:xfrm>
            <a:off x="10850880" y="3162300"/>
            <a:ext cx="426720" cy="42672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שוק ההון בשפה פשוטה</a:t>
            </a:r>
          </a:p>
        </p:txBody>
      </p:sp>
      <p:sp>
        <p:nvSpPr>
          <p:cNvPr id="10" name="Oval 9"/>
          <p:cNvSpPr/>
          <p:nvPr/>
        </p:nvSpPr>
        <p:spPr>
          <a:xfrm>
            <a:off x="10850880" y="40386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איפה גר כל כד</a:t>
            </a:r>
          </a:p>
        </p:txBody>
      </p:sp>
      <p:sp>
        <p:nvSpPr>
          <p:cNvPr id="12" name="Oval 11"/>
          <p:cNvSpPr/>
          <p:nvPr/>
        </p:nvSpPr>
        <p:spPr>
          <a:xfrm>
            <a:off x="10850880" y="4914900"/>
            <a:ext cx="426720" cy="426720"/>
          </a:xfrm>
          <a:prstGeom prst="ellipse">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שתי דרכים להשקיע: מנוהל ועצמאי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05</a:t>
            </a:r>
          </a:p>
        </p:txBody>
      </p:sp>
      <p:sp>
        <p:nvSpPr>
          <p:cNvPr id="4" name="TextBox 3"/>
          <p:cNvSpPr txBox="1"/>
          <p:nvPr/>
        </p:nvSpPr>
        <p:spPr>
          <a:xfrm>
            <a:off x="914400" y="762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מודל 4 המיכלים · 4 המחסומים בדרך לפעולה</a:t>
            </a:r>
          </a:p>
        </p:txBody>
      </p:sp>
      <p:sp>
        <p:nvSpPr>
          <p:cNvPr id="5" name="TextBox 4"/>
          <p:cNvSpPr txBox="1"/>
          <p:nvPr/>
        </p:nvSpPr>
        <p:spPr>
          <a:xfrm>
            <a:off x="914400" y="1104900"/>
            <a:ext cx="10363200" cy="609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למה לדעת זה לא מספיק?</a:t>
            </a:r>
          </a:p>
        </p:txBody>
      </p:sp>
      <p:sp>
        <p:nvSpPr>
          <p:cNvPr id="6" name="Rounded Rectangle 5"/>
          <p:cNvSpPr/>
          <p:nvPr/>
        </p:nvSpPr>
        <p:spPr>
          <a:xfrm>
            <a:off x="1066800" y="2286000"/>
            <a:ext cx="4876800" cy="3413760"/>
          </a:xfrm>
          <a:prstGeom prst="roundRect">
            <a:avLst>
              <a:gd name="adj" fmla="val 6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66800" y="5074920"/>
            <a:ext cx="4876800" cy="381000"/>
          </a:xfrm>
          <a:prstGeom prst="rect">
            <a:avLst/>
          </a:prstGeom>
          <a:noFill/>
        </p:spPr>
        <p:txBody>
          <a:bodyPr wrap="square" lIns="0" rIns="0" tIns="0" bIns="0" anchor="t">
            <a:spAutoFit/>
          </a:bodyPr>
          <a:lstStyle/>
          <a:p>
            <a:pPr algn="ctr" rtl="1">
              <a:lnSpc>
                <a:spcPct val="115000"/>
              </a:lnSpc>
            </a:pPr>
            <a:r>
              <a:rPr sz="1920" b="1" lang="he-IL">
                <a:solidFill>
                  <a:srgbClr val="191A2E"/>
                </a:solidFill>
                <a:latin typeface="Heebo"/>
                <a:ea typeface="Heebo"/>
                <a:cs typeface="Heebo"/>
              </a:rPr>
              <a:t>תודעה</a:t>
            </a:r>
          </a:p>
        </p:txBody>
      </p:sp>
      <p:sp>
        <p:nvSpPr>
          <p:cNvPr id="8" name="TextBox 7"/>
          <p:cNvSpPr txBox="1"/>
          <p:nvPr/>
        </p:nvSpPr>
        <p:spPr>
          <a:xfrm>
            <a:off x="6553200" y="5044440"/>
            <a:ext cx="4724400" cy="3048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תודעה</a:t>
            </a:r>
          </a:p>
        </p:txBody>
      </p:sp>
      <p:sp>
        <p:nvSpPr>
          <p:cNvPr id="9" name="TextBox 8"/>
          <p:cNvSpPr txBox="1"/>
          <p:nvPr/>
        </p:nvSpPr>
        <p:spPr>
          <a:xfrm>
            <a:off x="6553200" y="5364480"/>
            <a:ext cx="4724400" cy="457200"/>
          </a:xfrm>
          <a:prstGeom prst="rect">
            <a:avLst/>
          </a:prstGeom>
          <a:noFill/>
        </p:spPr>
        <p:txBody>
          <a:bodyPr wrap="square" lIns="0" rIns="0" tIns="0" bIns="0" anchor="t">
            <a:spAutoFit/>
          </a:bodyPr>
          <a:lstStyle/>
          <a:p>
            <a:pPr algn="r" rtl="1">
              <a:lnSpc>
                <a:spcPct val="125000"/>
              </a:lnSpc>
            </a:pPr>
            <a:r>
              <a:rPr sz="1439" b="0" lang="he-IL">
                <a:solidFill>
                  <a:srgbClr val="6B6B7B"/>
                </a:solidFill>
                <a:latin typeface="Heebo"/>
                <a:ea typeface="Heebo"/>
                <a:cs typeface="Heebo"/>
              </a:rPr>
              <a:t>לדעת שזה קיים, ולהאמין שזה אפשרי עבורי</a:t>
            </a:r>
          </a:p>
        </p:txBody>
      </p:sp>
      <p:sp>
        <p:nvSpPr>
          <p:cNvPr id="10" name="Oval 9"/>
          <p:cNvSpPr/>
          <p:nvPr/>
        </p:nvSpPr>
        <p:spPr>
          <a:xfrm>
            <a:off x="6248400" y="5120640"/>
            <a:ext cx="167640" cy="16764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1539240" y="2286000"/>
            <a:ext cx="3931920" cy="256032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539240" y="4221480"/>
            <a:ext cx="3931920" cy="381000"/>
          </a:xfrm>
          <a:prstGeom prst="rect">
            <a:avLst/>
          </a:prstGeom>
          <a:noFill/>
        </p:spPr>
        <p:txBody>
          <a:bodyPr wrap="square" lIns="0" rIns="0" tIns="0" bIns="0" anchor="t">
            <a:spAutoFit/>
          </a:bodyPr>
          <a:lstStyle/>
          <a:p>
            <a:pPr algn="ctr" rtl="1">
              <a:lnSpc>
                <a:spcPct val="115000"/>
              </a:lnSpc>
            </a:pPr>
            <a:r>
              <a:rPr sz="1920" b="1" lang="he-IL">
                <a:solidFill>
                  <a:srgbClr val="191A2E"/>
                </a:solidFill>
                <a:latin typeface="Heebo"/>
                <a:ea typeface="Heebo"/>
                <a:cs typeface="Heebo"/>
              </a:rPr>
              <a:t>אישיות</a:t>
            </a:r>
          </a:p>
        </p:txBody>
      </p:sp>
      <p:sp>
        <p:nvSpPr>
          <p:cNvPr id="13" name="TextBox 12"/>
          <p:cNvSpPr txBox="1"/>
          <p:nvPr/>
        </p:nvSpPr>
        <p:spPr>
          <a:xfrm>
            <a:off x="6553200" y="4191000"/>
            <a:ext cx="4724400" cy="3048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אישיות</a:t>
            </a:r>
          </a:p>
        </p:txBody>
      </p:sp>
      <p:sp>
        <p:nvSpPr>
          <p:cNvPr id="14" name="TextBox 13"/>
          <p:cNvSpPr txBox="1"/>
          <p:nvPr/>
        </p:nvSpPr>
        <p:spPr>
          <a:xfrm>
            <a:off x="6553200" y="4511040"/>
            <a:ext cx="4724400" cy="457200"/>
          </a:xfrm>
          <a:prstGeom prst="rect">
            <a:avLst/>
          </a:prstGeom>
          <a:noFill/>
        </p:spPr>
        <p:txBody>
          <a:bodyPr wrap="square" lIns="0" rIns="0" tIns="0" bIns="0" anchor="t">
            <a:spAutoFit/>
          </a:bodyPr>
          <a:lstStyle/>
          <a:p>
            <a:pPr algn="r" rtl="1">
              <a:lnSpc>
                <a:spcPct val="125000"/>
              </a:lnSpc>
            </a:pPr>
            <a:r>
              <a:rPr sz="1439" b="0" lang="he-IL">
                <a:solidFill>
                  <a:srgbClr val="6B6B7B"/>
                </a:solidFill>
                <a:latin typeface="Heebo"/>
                <a:ea typeface="Heebo"/>
                <a:cs typeface="Heebo"/>
              </a:rPr>
              <a:t>להאמין שזה מתאים למי שאני</a:t>
            </a:r>
          </a:p>
        </p:txBody>
      </p:sp>
      <p:sp>
        <p:nvSpPr>
          <p:cNvPr id="15" name="Oval 14"/>
          <p:cNvSpPr/>
          <p:nvPr/>
        </p:nvSpPr>
        <p:spPr>
          <a:xfrm>
            <a:off x="6248400" y="4267200"/>
            <a:ext cx="167640" cy="167640"/>
          </a:xfrm>
          <a:prstGeom prst="ellipse">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2011680" y="2286000"/>
            <a:ext cx="2987040" cy="170688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011680" y="3368040"/>
            <a:ext cx="2987040" cy="381000"/>
          </a:xfrm>
          <a:prstGeom prst="rect">
            <a:avLst/>
          </a:prstGeom>
          <a:noFill/>
        </p:spPr>
        <p:txBody>
          <a:bodyPr wrap="square" lIns="0" rIns="0" tIns="0" bIns="0" anchor="t">
            <a:spAutoFit/>
          </a:bodyPr>
          <a:lstStyle/>
          <a:p>
            <a:pPr algn="ctr" rtl="1">
              <a:lnSpc>
                <a:spcPct val="115000"/>
              </a:lnSpc>
            </a:pPr>
            <a:r>
              <a:rPr sz="1920" b="1" lang="he-IL">
                <a:solidFill>
                  <a:srgbClr val="191A2E"/>
                </a:solidFill>
                <a:latin typeface="Heebo"/>
                <a:ea typeface="Heebo"/>
                <a:cs typeface="Heebo"/>
              </a:rPr>
              <a:t>מיומנויות</a:t>
            </a:r>
          </a:p>
        </p:txBody>
      </p:sp>
      <p:sp>
        <p:nvSpPr>
          <p:cNvPr id="18" name="TextBox 17"/>
          <p:cNvSpPr txBox="1"/>
          <p:nvPr/>
        </p:nvSpPr>
        <p:spPr>
          <a:xfrm>
            <a:off x="6553200" y="3337560"/>
            <a:ext cx="4724400" cy="3048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מיומנויות</a:t>
            </a:r>
          </a:p>
        </p:txBody>
      </p:sp>
      <p:sp>
        <p:nvSpPr>
          <p:cNvPr id="19" name="TextBox 18"/>
          <p:cNvSpPr txBox="1"/>
          <p:nvPr/>
        </p:nvSpPr>
        <p:spPr>
          <a:xfrm>
            <a:off x="6553200" y="3657600"/>
            <a:ext cx="4724400" cy="457200"/>
          </a:xfrm>
          <a:prstGeom prst="rect">
            <a:avLst/>
          </a:prstGeom>
          <a:noFill/>
        </p:spPr>
        <p:txBody>
          <a:bodyPr wrap="square" lIns="0" rIns="0" tIns="0" bIns="0" anchor="t">
            <a:spAutoFit/>
          </a:bodyPr>
          <a:lstStyle/>
          <a:p>
            <a:pPr algn="r" rtl="1">
              <a:lnSpc>
                <a:spcPct val="125000"/>
              </a:lnSpc>
            </a:pPr>
            <a:r>
              <a:rPr sz="1439" b="0" lang="he-IL">
                <a:solidFill>
                  <a:srgbClr val="6B6B7B"/>
                </a:solidFill>
                <a:latin typeface="Heebo"/>
                <a:ea typeface="Heebo"/>
                <a:cs typeface="Heebo"/>
              </a:rPr>
              <a:t>היכולת לבצע את מה שנדרש בתיאוריה</a:t>
            </a:r>
          </a:p>
        </p:txBody>
      </p:sp>
      <p:sp>
        <p:nvSpPr>
          <p:cNvPr id="20" name="Oval 19"/>
          <p:cNvSpPr/>
          <p:nvPr/>
        </p:nvSpPr>
        <p:spPr>
          <a:xfrm>
            <a:off x="6248400" y="3413760"/>
            <a:ext cx="167640" cy="16764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2484120" y="2286000"/>
            <a:ext cx="2042160" cy="853440"/>
          </a:xfrm>
          <a:prstGeom prst="roundRect">
            <a:avLst>
              <a:gd name="adj" fmla="val 8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2484120" y="2514600"/>
            <a:ext cx="2042160" cy="381000"/>
          </a:xfrm>
          <a:prstGeom prst="rect">
            <a:avLst/>
          </a:prstGeom>
          <a:noFill/>
        </p:spPr>
        <p:txBody>
          <a:bodyPr wrap="square" lIns="0" rIns="0" tIns="0" bIns="0" anchor="t">
            <a:spAutoFit/>
          </a:bodyPr>
          <a:lstStyle/>
          <a:p>
            <a:pPr algn="ctr" rtl="1">
              <a:lnSpc>
                <a:spcPct val="115000"/>
              </a:lnSpc>
            </a:pPr>
            <a:r>
              <a:rPr sz="1920" b="1" lang="he-IL">
                <a:solidFill>
                  <a:srgbClr val="191A2E"/>
                </a:solidFill>
                <a:latin typeface="Heebo"/>
                <a:ea typeface="Heebo"/>
                <a:cs typeface="Heebo"/>
              </a:rPr>
              <a:t>ידע</a:t>
            </a:r>
          </a:p>
        </p:txBody>
      </p:sp>
      <p:sp>
        <p:nvSpPr>
          <p:cNvPr id="23" name="TextBox 22"/>
          <p:cNvSpPr txBox="1"/>
          <p:nvPr/>
        </p:nvSpPr>
        <p:spPr>
          <a:xfrm>
            <a:off x="6553200" y="2484120"/>
            <a:ext cx="4724400" cy="3048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ידע</a:t>
            </a:r>
          </a:p>
        </p:txBody>
      </p:sp>
      <p:sp>
        <p:nvSpPr>
          <p:cNvPr id="24" name="TextBox 23"/>
          <p:cNvSpPr txBox="1"/>
          <p:nvPr/>
        </p:nvSpPr>
        <p:spPr>
          <a:xfrm>
            <a:off x="6553200" y="2804160"/>
            <a:ext cx="4724400" cy="457200"/>
          </a:xfrm>
          <a:prstGeom prst="rect">
            <a:avLst/>
          </a:prstGeom>
          <a:noFill/>
        </p:spPr>
        <p:txBody>
          <a:bodyPr wrap="square" lIns="0" rIns="0" tIns="0" bIns="0" anchor="t">
            <a:spAutoFit/>
          </a:bodyPr>
          <a:lstStyle/>
          <a:p>
            <a:pPr algn="r" rtl="1">
              <a:lnSpc>
                <a:spcPct val="125000"/>
              </a:lnSpc>
            </a:pPr>
            <a:r>
              <a:rPr sz="1439" b="0" lang="he-IL">
                <a:solidFill>
                  <a:srgbClr val="6B6B7B"/>
                </a:solidFill>
                <a:latin typeface="Heebo"/>
                <a:ea typeface="Heebo"/>
                <a:cs typeface="Heebo"/>
              </a:rPr>
              <a:t>המידע עצמו: מבנים ותהליכים</a:t>
            </a:r>
          </a:p>
        </p:txBody>
      </p:sp>
      <p:sp>
        <p:nvSpPr>
          <p:cNvPr id="25" name="Oval 24"/>
          <p:cNvSpPr/>
          <p:nvPr/>
        </p:nvSpPr>
        <p:spPr>
          <a:xfrm>
            <a:off x="6248400" y="2560320"/>
            <a:ext cx="167640" cy="16764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484120" y="1752600"/>
            <a:ext cx="2042160" cy="304800"/>
          </a:xfrm>
          <a:prstGeom prst="rect">
            <a:avLst/>
          </a:prstGeom>
          <a:noFill/>
        </p:spPr>
        <p:txBody>
          <a:bodyPr wrap="square" lIns="0" rIns="0" tIns="0" bIns="0" anchor="t">
            <a:spAutoFit/>
          </a:bodyPr>
          <a:lstStyle/>
          <a:p>
            <a:pPr algn="ctr" rtl="1">
              <a:lnSpc>
                <a:spcPct val="115000"/>
              </a:lnSpc>
            </a:pPr>
            <a:r>
              <a:rPr sz="1560" b="1" lang="he-IL">
                <a:solidFill>
                  <a:srgbClr val="EF55A5"/>
                </a:solidFill>
                <a:latin typeface="Heebo"/>
                <a:ea typeface="Heebo"/>
                <a:cs typeface="Heebo"/>
              </a:rPr>
              <a:t>מידע חדש ↓</a:t>
            </a:r>
          </a:p>
        </p:txBody>
      </p:sp>
      <p:sp>
        <p:nvSpPr>
          <p:cNvPr id="27" name="TextBox 26"/>
          <p:cNvSpPr txBox="1"/>
          <p:nvPr/>
        </p:nvSpPr>
        <p:spPr>
          <a:xfrm>
            <a:off x="914400" y="6019800"/>
            <a:ext cx="5334000" cy="228600"/>
          </a:xfrm>
          <a:prstGeom prst="rect">
            <a:avLst/>
          </a:prstGeom>
          <a:noFill/>
        </p:spPr>
        <p:txBody>
          <a:bodyPr wrap="square" lIns="0" rIns="0" tIns="0" bIns="0" anchor="t">
            <a:spAutoFit/>
          </a:bodyPr>
          <a:lstStyle/>
          <a:p>
            <a:pPr algn="l" rtl="1">
              <a:lnSpc>
                <a:spcPct val="115000"/>
              </a:lnSpc>
            </a:pPr>
            <a:r>
              <a:rPr sz="1080" b="1" lang="he-IL">
                <a:solidFill>
                  <a:srgbClr val="6B6B7B"/>
                </a:solidFill>
                <a:latin typeface="Heebo"/>
                <a:ea typeface="Heebo"/>
                <a:cs typeface="Heebo"/>
              </a:rPr>
              <a:t>מודל 4 המיכלים · עופר לוי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06</a:t>
            </a:r>
          </a:p>
        </p:txBody>
      </p:sp>
      <p:pic>
        <p:nvPicPr>
          <p:cNvPr id="4" name="Picture 3" descr="s30_bloom.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60220"/>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הסיפור שלי</a:t>
            </a:r>
          </a:p>
        </p:txBody>
      </p:sp>
      <p:sp>
        <p:nvSpPr>
          <p:cNvPr id="6" name="TextBox 5"/>
          <p:cNvSpPr txBox="1"/>
          <p:nvPr/>
        </p:nvSpPr>
        <p:spPr>
          <a:xfrm>
            <a:off x="5334000" y="2217420"/>
            <a:ext cx="5943600" cy="1203960"/>
          </a:xfrm>
          <a:prstGeom prst="rect">
            <a:avLst/>
          </a:prstGeom>
          <a:noFill/>
        </p:spPr>
        <p:txBody>
          <a:bodyPr wrap="square" lIns="0" rIns="0" tIns="0" bIns="0" anchor="t">
            <a:spAutoFit/>
          </a:bodyPr>
          <a:lstStyle/>
          <a:p>
            <a:pPr algn="r" rtl="1">
              <a:lnSpc>
                <a:spcPct val="110000"/>
              </a:lnSpc>
            </a:pPr>
            <a:r>
              <a:rPr sz="3600" b="1" lang="he-IL">
                <a:solidFill>
                  <a:srgbClr val="191A2E"/>
                </a:solidFill>
                <a:latin typeface="Heebo"/>
                <a:ea typeface="Heebo"/>
                <a:cs typeface="Heebo"/>
              </a:rPr>
              <a:t>”ככל שלמדתי יותר,</a:t>
            </a:r>
          </a:p>
          <a:p>
            <a:pPr algn="r" rtl="1">
              <a:lnSpc>
                <a:spcPct val="110000"/>
              </a:lnSpc>
            </a:pPr>
            <a:r>
              <a:rPr sz="3600" b="1" lang="he-IL">
                <a:solidFill>
                  <a:srgbClr val="EF55A5"/>
                </a:solidFill>
                <a:latin typeface="Heebo"/>
                <a:ea typeface="Heebo"/>
                <a:cs typeface="Heebo"/>
              </a:rPr>
              <a:t>היה לי קשה יותר לבצע.“</a:t>
            </a:r>
          </a:p>
        </p:txBody>
      </p:sp>
      <p:sp>
        <p:nvSpPr>
          <p:cNvPr id="7" name="TextBox 6"/>
          <p:cNvSpPr txBox="1"/>
          <p:nvPr/>
        </p:nvSpPr>
        <p:spPr>
          <a:xfrm>
            <a:off x="5334000" y="3573780"/>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קורס נדל״ן. קורס שוק ההון. קורס נדל״ן בחו״ל. קורס ביטקוין. ואז? כלום. עד שפשוט התחלתי.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07</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5000"/>
              </a:lnSpc>
            </a:pPr>
            <a:r>
              <a:rPr sz="3479" b="1" lang="he-IL">
                <a:solidFill>
                  <a:srgbClr val="191A2E"/>
                </a:solidFill>
                <a:latin typeface="Heebo"/>
                <a:ea typeface="Heebo"/>
                <a:cs typeface="Heebo"/>
              </a:rPr>
              <a:t>איך הליווי ממלא את כל ארבעת המיכלים</a:t>
            </a:r>
          </a:p>
        </p:txBody>
      </p:sp>
      <p:sp>
        <p:nvSpPr>
          <p:cNvPr id="5" name="Rounded Rectangle 4"/>
          <p:cNvSpPr/>
          <p:nvPr/>
        </p:nvSpPr>
        <p:spPr>
          <a:xfrm>
            <a:off x="8991600" y="1905000"/>
            <a:ext cx="2286000" cy="762000"/>
          </a:xfrm>
          <a:prstGeom prst="roundRect">
            <a:avLst>
              <a:gd name="adj" fmla="val 30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1920" rIns="121920" tIns="73152" bIns="73152"/>
          <a:lstStyle/>
          <a:p>
            <a:pPr algn="ctr" rtl="1">
              <a:lnSpc>
                <a:spcPct val="115000"/>
              </a:lnSpc>
            </a:pPr>
            <a:r>
              <a:rPr sz="2039" b="1" lang="he-IL">
                <a:solidFill>
                  <a:srgbClr val="191A2E"/>
                </a:solidFill>
                <a:latin typeface="Heebo"/>
                <a:ea typeface="Heebo"/>
                <a:cs typeface="Heebo"/>
              </a:rPr>
              <a:t>תודעה</a:t>
            </a:r>
          </a:p>
        </p:txBody>
      </p:sp>
      <p:sp>
        <p:nvSpPr>
          <p:cNvPr id="6" name="Rounded Rectangle 5"/>
          <p:cNvSpPr/>
          <p:nvPr/>
        </p:nvSpPr>
        <p:spPr>
          <a:xfrm>
            <a:off x="914400" y="1905000"/>
            <a:ext cx="7924800" cy="7620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219200" y="2118360"/>
            <a:ext cx="7467600" cy="3810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”אפשרי בעולם, אפשרי עבורי“ · החזון וסולם התודעה</a:t>
            </a:r>
          </a:p>
        </p:txBody>
      </p:sp>
      <p:sp>
        <p:nvSpPr>
          <p:cNvPr id="8" name="Rounded Rectangle 7"/>
          <p:cNvSpPr/>
          <p:nvPr/>
        </p:nvSpPr>
        <p:spPr>
          <a:xfrm>
            <a:off x="8991600" y="2834640"/>
            <a:ext cx="2286000" cy="762000"/>
          </a:xfrm>
          <a:prstGeom prst="roundRect">
            <a:avLst>
              <a:gd name="adj" fmla="val 30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1920" rIns="121920" tIns="73152" bIns="73152"/>
          <a:lstStyle/>
          <a:p>
            <a:pPr algn="ctr" rtl="1">
              <a:lnSpc>
                <a:spcPct val="115000"/>
              </a:lnSpc>
            </a:pPr>
            <a:r>
              <a:rPr sz="2039" b="1" lang="he-IL">
                <a:solidFill>
                  <a:srgbClr val="191A2E"/>
                </a:solidFill>
                <a:latin typeface="Heebo"/>
                <a:ea typeface="Heebo"/>
                <a:cs typeface="Heebo"/>
              </a:rPr>
              <a:t>אישיות</a:t>
            </a:r>
          </a:p>
        </p:txBody>
      </p:sp>
      <p:sp>
        <p:nvSpPr>
          <p:cNvPr id="9" name="Rounded Rectangle 8"/>
          <p:cNvSpPr/>
          <p:nvPr/>
        </p:nvSpPr>
        <p:spPr>
          <a:xfrm>
            <a:off x="914400" y="2834640"/>
            <a:ext cx="7924800" cy="7620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219200" y="3048000"/>
            <a:ext cx="7467600" cy="3810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מנוהל או עצמאי: מה מתאים למי שאני · הערב</a:t>
            </a:r>
          </a:p>
        </p:txBody>
      </p:sp>
      <p:sp>
        <p:nvSpPr>
          <p:cNvPr id="11" name="Rounded Rectangle 10"/>
          <p:cNvSpPr/>
          <p:nvPr/>
        </p:nvSpPr>
        <p:spPr>
          <a:xfrm>
            <a:off x="8991600" y="3764280"/>
            <a:ext cx="2286000" cy="762000"/>
          </a:xfrm>
          <a:prstGeom prst="roundRect">
            <a:avLst>
              <a:gd name="adj" fmla="val 3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1920" rIns="121920" tIns="73152" bIns="73152"/>
          <a:lstStyle/>
          <a:p>
            <a:pPr algn="ctr" rtl="1">
              <a:lnSpc>
                <a:spcPct val="115000"/>
              </a:lnSpc>
            </a:pPr>
            <a:r>
              <a:rPr sz="2039" b="1" lang="he-IL">
                <a:solidFill>
                  <a:srgbClr val="191A2E"/>
                </a:solidFill>
                <a:latin typeface="Heebo"/>
                <a:ea typeface="Heebo"/>
                <a:cs typeface="Heebo"/>
              </a:rPr>
              <a:t>מיומנויות</a:t>
            </a:r>
          </a:p>
        </p:txBody>
      </p:sp>
      <p:sp>
        <p:nvSpPr>
          <p:cNvPr id="12" name="Rounded Rectangle 11"/>
          <p:cNvSpPr/>
          <p:nvPr/>
        </p:nvSpPr>
        <p:spPr>
          <a:xfrm>
            <a:off x="914400" y="3764280"/>
            <a:ext cx="7924800" cy="7620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219200" y="3977640"/>
            <a:ext cx="7467600" cy="3810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עושות את זה ביחד, צעד אחרי צעד</a:t>
            </a:r>
          </a:p>
        </p:txBody>
      </p:sp>
      <p:sp>
        <p:nvSpPr>
          <p:cNvPr id="14" name="Rounded Rectangle 13"/>
          <p:cNvSpPr/>
          <p:nvPr/>
        </p:nvSpPr>
        <p:spPr>
          <a:xfrm>
            <a:off x="8991600" y="4693920"/>
            <a:ext cx="2286000" cy="762000"/>
          </a:xfrm>
          <a:prstGeom prst="roundRect">
            <a:avLst>
              <a:gd name="adj" fmla="val 30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1920" rIns="121920" tIns="73152" bIns="73152"/>
          <a:lstStyle/>
          <a:p>
            <a:pPr algn="ctr" rtl="1">
              <a:lnSpc>
                <a:spcPct val="115000"/>
              </a:lnSpc>
            </a:pPr>
            <a:r>
              <a:rPr sz="2039" b="1" lang="he-IL">
                <a:solidFill>
                  <a:srgbClr val="191A2E"/>
                </a:solidFill>
                <a:latin typeface="Heebo"/>
                <a:ea typeface="Heebo"/>
                <a:cs typeface="Heebo"/>
              </a:rPr>
              <a:t>ידע</a:t>
            </a:r>
          </a:p>
        </p:txBody>
      </p:sp>
      <p:sp>
        <p:nvSpPr>
          <p:cNvPr id="15" name="Rounded Rectangle 14"/>
          <p:cNvSpPr/>
          <p:nvPr/>
        </p:nvSpPr>
        <p:spPr>
          <a:xfrm>
            <a:off x="914400" y="4693920"/>
            <a:ext cx="7924800" cy="7620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219200" y="4907280"/>
            <a:ext cx="7467600" cy="38100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הערב: שוק ההון, ואיפה גר כל כד</a:t>
            </a:r>
          </a:p>
        </p:txBody>
      </p:sp>
      <p:sp>
        <p:nvSpPr>
          <p:cNvPr id="17" name="TextBox 16"/>
          <p:cNvSpPr txBox="1"/>
          <p:nvPr/>
        </p:nvSpPr>
        <p:spPr>
          <a:xfrm>
            <a:off x="914400" y="6019800"/>
            <a:ext cx="5334000" cy="228600"/>
          </a:xfrm>
          <a:prstGeom prst="rect">
            <a:avLst/>
          </a:prstGeom>
          <a:noFill/>
        </p:spPr>
        <p:txBody>
          <a:bodyPr wrap="square" lIns="0" rIns="0" tIns="0" bIns="0" anchor="t">
            <a:spAutoFit/>
          </a:bodyPr>
          <a:lstStyle/>
          <a:p>
            <a:pPr algn="l" rtl="1">
              <a:lnSpc>
                <a:spcPct val="115000"/>
              </a:lnSpc>
            </a:pPr>
            <a:r>
              <a:rPr sz="1080" b="1" lang="he-IL">
                <a:solidFill>
                  <a:srgbClr val="6B6B7B"/>
                </a:solidFill>
                <a:latin typeface="Heebo"/>
                <a:ea typeface="Heebo"/>
                <a:cs typeface="Heebo"/>
              </a:rPr>
              <a:t>מודל 4 המיכלים · עופר לוי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08</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 בצ'אט · מספר אחד: 1 תודעה · 2 אישיות · 3 מיומנויות · 4 ידע</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באיזה מיכל אני נתקעת?</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09</a:t>
            </a:r>
          </a:p>
        </p:txBody>
      </p:sp>
      <p:pic>
        <p:nvPicPr>
          <p:cNvPr id="4" name="Picture 3" descr="s21_coins.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6550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1 · למה הכסף חייב לעבוד</a:t>
            </a:r>
          </a:p>
        </p:txBody>
      </p:sp>
      <p:sp>
        <p:nvSpPr>
          <p:cNvPr id="6" name="TextBox 5"/>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כסף שלא עובד,</a:t>
            </a:r>
          </a:p>
          <a:p>
            <a:pPr algn="r" rtl="1">
              <a:lnSpc>
                <a:spcPct val="110000"/>
              </a:lnSpc>
            </a:pPr>
            <a:r>
              <a:rPr sz="4320" b="1" lang="he-IL">
                <a:solidFill>
                  <a:srgbClr val="EF55A5"/>
                </a:solidFill>
                <a:latin typeface="Heebo"/>
                <a:ea typeface="Heebo"/>
                <a:cs typeface="Heebo"/>
              </a:rPr>
              <a:t>הולך אחורה.</a:t>
            </a:r>
          </a:p>
        </p:txBody>
      </p:sp>
      <p:sp>
        <p:nvSpPr>
          <p:cNvPr id="7" name="TextBox 6"/>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מה עושים? נותנות לכל שקל בית שעובד בשבילו.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10</a:t>
            </a:r>
          </a:p>
        </p:txBody>
      </p:sp>
      <p:sp>
        <p:nvSpPr>
          <p:cNvPr id="4" name="TextBox 3"/>
          <p:cNvSpPr txBox="1"/>
          <p:nvPr/>
        </p:nvSpPr>
        <p:spPr>
          <a:xfrm>
            <a:off x="914400" y="174269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הסיפור שלי</a:t>
            </a:r>
          </a:p>
        </p:txBody>
      </p:sp>
      <p:sp>
        <p:nvSpPr>
          <p:cNvPr id="5" name="TextBox 4"/>
          <p:cNvSpPr txBox="1"/>
          <p:nvPr/>
        </p:nvSpPr>
        <p:spPr>
          <a:xfrm>
            <a:off x="914400" y="21998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שנים, החיסכון שלנו ישב בעו״ש.</a:t>
            </a:r>
          </a:p>
          <a:p>
            <a:pPr algn="r" rtl="1">
              <a:lnSpc>
                <a:spcPct val="110000"/>
              </a:lnSpc>
            </a:pPr>
            <a:r>
              <a:rPr sz="3719" b="1" lang="he-IL">
                <a:solidFill>
                  <a:srgbClr val="EF55A5"/>
                </a:solidFill>
                <a:latin typeface="Heebo"/>
                <a:ea typeface="Heebo"/>
                <a:cs typeface="Heebo"/>
              </a:rPr>
              <a:t>והרגשתי מצטיינת.</a:t>
            </a:r>
          </a:p>
        </p:txBody>
      </p:sp>
      <p:sp>
        <p:nvSpPr>
          <p:cNvPr id="6" name="TextBox 5"/>
          <p:cNvSpPr txBox="1"/>
          <p:nvPr/>
        </p:nvSpPr>
        <p:spPr>
          <a:xfrm>
            <a:off x="914400" y="359130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ידעתי שבאותו זמן בדיוק, הכסף מאבד מהערך שלו כל שנה.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11</a:t>
            </a:r>
          </a:p>
        </p:txBody>
      </p:sp>
      <p:sp>
        <p:nvSpPr>
          <p:cNvPr id="4" name="TextBox 3"/>
          <p:cNvSpPr txBox="1"/>
          <p:nvPr/>
        </p:nvSpPr>
        <p:spPr>
          <a:xfrm>
            <a:off x="914400" y="1725168"/>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הגנב השקט: אינפלציה</a:t>
            </a:r>
          </a:p>
        </p:txBody>
      </p:sp>
      <p:sp>
        <p:nvSpPr>
          <p:cNvPr id="5" name="TextBox 4"/>
          <p:cNvSpPr txBox="1"/>
          <p:nvPr/>
        </p:nvSpPr>
        <p:spPr>
          <a:xfrm>
            <a:off x="914400" y="2182368"/>
            <a:ext cx="10363200" cy="1274064"/>
          </a:xfrm>
          <a:prstGeom prst="rect">
            <a:avLst/>
          </a:prstGeom>
          <a:noFill/>
        </p:spPr>
        <p:txBody>
          <a:bodyPr wrap="square" lIns="0" rIns="0" tIns="0" bIns="0" anchor="t">
            <a:spAutoFit/>
          </a:bodyPr>
          <a:lstStyle/>
          <a:p>
            <a:pPr algn="r" rtl="1">
              <a:lnSpc>
                <a:spcPct val="110000"/>
              </a:lnSpc>
            </a:pPr>
            <a:r>
              <a:rPr sz="3840" b="1" lang="he-IL">
                <a:solidFill>
                  <a:srgbClr val="191A2E"/>
                </a:solidFill>
                <a:latin typeface="Heebo"/>
                <a:ea typeface="Heebo"/>
                <a:cs typeface="Heebo"/>
              </a:rPr>
              <a:t>₪100,000 בעו״ש, עשר שנים</a:t>
            </a:r>
          </a:p>
          <a:p>
            <a:pPr algn="r" rtl="1">
              <a:lnSpc>
                <a:spcPct val="110000"/>
              </a:lnSpc>
            </a:pPr>
            <a:r>
              <a:rPr sz="3840" b="1" lang="he-IL">
                <a:solidFill>
                  <a:srgbClr val="EF55A5"/>
                </a:solidFill>
                <a:latin typeface="Heebo"/>
                <a:ea typeface="Heebo"/>
                <a:cs typeface="Heebo"/>
              </a:rPr>
              <a:t>שווים בסוף כ-₪74,409</a:t>
            </a:r>
          </a:p>
        </p:txBody>
      </p:sp>
      <p:sp>
        <p:nvSpPr>
          <p:cNvPr id="6" name="TextBox 5"/>
          <p:cNvSpPr txBox="1"/>
          <p:nvPr/>
        </p:nvSpPr>
        <p:spPr>
          <a:xfrm>
            <a:off x="914400" y="3608832"/>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בהנחת אינפלציה של 3% בשנה, להמחשה בלבד. בחשבון לא ירד שקל, אבל הכסף איבד מהערך שלו.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12</a:t>
            </a:r>
          </a:p>
        </p:txBody>
      </p:sp>
      <p:sp>
        <p:nvSpPr>
          <p:cNvPr id="4" name="TextBox 3"/>
          <p:cNvSpPr txBox="1"/>
          <p:nvPr/>
        </p:nvSpPr>
        <p:spPr>
          <a:xfrm>
            <a:off x="914400" y="2012442"/>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המשפט של הערב</a:t>
            </a:r>
          </a:p>
        </p:txBody>
      </p:sp>
      <p:sp>
        <p:nvSpPr>
          <p:cNvPr id="5" name="TextBox 4"/>
          <p:cNvSpPr txBox="1"/>
          <p:nvPr/>
        </p:nvSpPr>
        <p:spPr>
          <a:xfrm>
            <a:off x="914400" y="2469642"/>
            <a:ext cx="10363200" cy="1309116"/>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לא ההשקעה קובעת את הטווח.</a:t>
            </a:r>
          </a:p>
          <a:p>
            <a:pPr algn="r" rtl="1">
              <a:lnSpc>
                <a:spcPct val="110000"/>
              </a:lnSpc>
            </a:pPr>
            <a:r>
              <a:rPr sz="3960" b="1" lang="he-IL">
                <a:solidFill>
                  <a:srgbClr val="EF55A5"/>
                </a:solidFill>
                <a:latin typeface="Heebo"/>
                <a:ea typeface="Heebo"/>
                <a:cs typeface="Heebo"/>
              </a:rPr>
              <a:t>הזמן של הכסף קובע את ההשקעה.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13</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ככל שהצורך בכסף רחוק יותר, אפשר להרשות לו יותר תנודתיות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זמן = סיכון</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צריכה אותו בקרוב:
שומרת עליו</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צריכה אותו בעוד כמה שנים:
קצת יותר סיכון</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לא צריכה אותו
עשר שנים ומעלה:
נותנת לו לעבוד</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גם אם השוק יורד, לכסף לטווח רחוק יש זמן לחזור.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במחברת · דקה אחת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ליד כל כד: מתי אני צריכה את הכסף הזה?</a:t>
            </a:r>
          </a:p>
        </p:txBody>
      </p:sp>
      <p:sp>
        <p:nvSpPr>
          <p:cNvPr id="6" name="Rounded Rectangle 5"/>
          <p:cNvSpPr/>
          <p:nvPr/>
        </p:nvSpPr>
        <p:spPr>
          <a:xfrm>
            <a:off x="945291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893826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999220" y="4213860"/>
            <a:ext cx="2217420" cy="754380"/>
          </a:xfrm>
          <a:prstGeom prst="roundRect">
            <a:avLst>
              <a:gd name="adj" fmla="val 12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3826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עו״ש</a:t>
            </a:r>
          </a:p>
        </p:txBody>
      </p:sp>
      <p:sp>
        <p:nvSpPr>
          <p:cNvPr id="10" name="TextBox 9"/>
          <p:cNvSpPr txBox="1"/>
          <p:nvPr/>
        </p:nvSpPr>
        <p:spPr>
          <a:xfrm>
            <a:off x="893826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כל חודש</a:t>
            </a:r>
          </a:p>
        </p:txBody>
      </p:sp>
      <p:sp>
        <p:nvSpPr>
          <p:cNvPr id="11" name="Rounded Rectangle 10"/>
          <p:cNvSpPr/>
          <p:nvPr/>
        </p:nvSpPr>
        <p:spPr>
          <a:xfrm>
            <a:off x="677829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26364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6324600" y="3585210"/>
            <a:ext cx="2217420" cy="1383030"/>
          </a:xfrm>
          <a:prstGeom prst="roundRect">
            <a:avLst>
              <a:gd name="adj" fmla="val 12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26364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כרית הבטחון</a:t>
            </a:r>
          </a:p>
        </p:txBody>
      </p:sp>
      <p:sp>
        <p:nvSpPr>
          <p:cNvPr id="15" name="TextBox 14"/>
          <p:cNvSpPr txBox="1"/>
          <p:nvPr/>
        </p:nvSpPr>
        <p:spPr>
          <a:xfrm>
            <a:off x="626364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בכל רגע,
ומקווה שלעולם לא</a:t>
            </a:r>
          </a:p>
        </p:txBody>
      </p:sp>
      <p:sp>
        <p:nvSpPr>
          <p:cNvPr id="16" name="Rounded Rectangle 15"/>
          <p:cNvSpPr/>
          <p:nvPr/>
        </p:nvSpPr>
        <p:spPr>
          <a:xfrm>
            <a:off x="410367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58902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3649980" y="3836670"/>
            <a:ext cx="2217420" cy="1131570"/>
          </a:xfrm>
          <a:prstGeom prst="roundRect">
            <a:avLst>
              <a:gd name="adj" fmla="val 12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58902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מטרות קרובות</a:t>
            </a:r>
          </a:p>
        </p:txBody>
      </p:sp>
      <p:sp>
        <p:nvSpPr>
          <p:cNvPr id="20" name="TextBox 19"/>
          <p:cNvSpPr txBox="1"/>
          <p:nvPr/>
        </p:nvSpPr>
        <p:spPr>
          <a:xfrm>
            <a:off x="358902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כל מטרה
והתאריך שלה</a:t>
            </a:r>
          </a:p>
        </p:txBody>
      </p:sp>
      <p:sp>
        <p:nvSpPr>
          <p:cNvPr id="21" name="Rounded Rectangle 20"/>
          <p:cNvSpPr/>
          <p:nvPr/>
        </p:nvSpPr>
        <p:spPr>
          <a:xfrm>
            <a:off x="142905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1440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975360" y="2830830"/>
            <a:ext cx="2217420" cy="2137410"/>
          </a:xfrm>
          <a:prstGeom prst="roundRect">
            <a:avLst>
              <a:gd name="adj" fmla="val 12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1440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טווח רחוק</a:t>
            </a:r>
          </a:p>
        </p:txBody>
      </p:sp>
      <p:sp>
        <p:nvSpPr>
          <p:cNvPr id="25" name="TextBox 24"/>
          <p:cNvSpPr txBox="1"/>
          <p:nvPr/>
        </p:nvSpPr>
        <p:spPr>
          <a:xfrm>
            <a:off x="91440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10 שנים ומעלה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המפה מלמעלה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אפשר לחלק את כל עולם ההשקעות ל-4:</a:t>
            </a:r>
          </a:p>
        </p:txBody>
      </p:sp>
      <p:sp>
        <p:nvSpPr>
          <p:cNvPr id="6" name="Rounded Rectangle 5"/>
          <p:cNvSpPr/>
          <p:nvPr/>
        </p:nvSpPr>
        <p:spPr>
          <a:xfrm>
            <a:off x="8846820" y="22479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21140" y="25527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שוק ההון</a:t>
            </a:r>
          </a:p>
        </p:txBody>
      </p:sp>
      <p:sp>
        <p:nvSpPr>
          <p:cNvPr id="8" name="TextBox 7"/>
          <p:cNvSpPr txBox="1"/>
          <p:nvPr/>
        </p:nvSpPr>
        <p:spPr>
          <a:xfrm>
            <a:off x="9121140" y="31623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מתחילות מ-50 ₪.
נזיל. יש בו בית לכל כד.</a:t>
            </a:r>
          </a:p>
        </p:txBody>
      </p:sp>
      <p:sp>
        <p:nvSpPr>
          <p:cNvPr id="9" name="Rounded Rectangle 8"/>
          <p:cNvSpPr/>
          <p:nvPr/>
        </p:nvSpPr>
        <p:spPr>
          <a:xfrm>
            <a:off x="6202680" y="22479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77000" y="25527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נדל״ן</a:t>
            </a:r>
          </a:p>
        </p:txBody>
      </p:sp>
      <p:sp>
        <p:nvSpPr>
          <p:cNvPr id="11" name="TextBox 10"/>
          <p:cNvSpPr txBox="1"/>
          <p:nvPr/>
        </p:nvSpPr>
        <p:spPr>
          <a:xfrm>
            <a:off x="6477000" y="31623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הנכס שאפשר לגעת בו.
שכירות + עליית ערך.</a:t>
            </a:r>
          </a:p>
        </p:txBody>
      </p:sp>
      <p:sp>
        <p:nvSpPr>
          <p:cNvPr id="12" name="Rounded Rectangle 11"/>
          <p:cNvSpPr/>
          <p:nvPr/>
        </p:nvSpPr>
        <p:spPr>
          <a:xfrm>
            <a:off x="3558540" y="2247900"/>
            <a:ext cx="243078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832860" y="25527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השקעות אלטרנטיביות</a:t>
            </a:r>
          </a:p>
        </p:txBody>
      </p:sp>
      <p:sp>
        <p:nvSpPr>
          <p:cNvPr id="14" name="TextBox 13"/>
          <p:cNvSpPr txBox="1"/>
          <p:nvPr/>
        </p:nvSpPr>
        <p:spPr>
          <a:xfrm>
            <a:off x="3832860" y="34671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סטארטאפים, זהב, קריפטו.
שכבת פיזור, לא מתחילות כאן.</a:t>
            </a:r>
          </a:p>
        </p:txBody>
      </p:sp>
      <p:sp>
        <p:nvSpPr>
          <p:cNvPr id="15" name="Rounded Rectangle 14"/>
          <p:cNvSpPr/>
          <p:nvPr/>
        </p:nvSpPr>
        <p:spPr>
          <a:xfrm>
            <a:off x="914400" y="22479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88720" y="25527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עסקים</a:t>
            </a:r>
          </a:p>
        </p:txBody>
      </p:sp>
      <p:sp>
        <p:nvSpPr>
          <p:cNvPr id="17" name="TextBox 16"/>
          <p:cNvSpPr txBox="1"/>
          <p:nvPr/>
        </p:nvSpPr>
        <p:spPr>
          <a:xfrm>
            <a:off x="1188720" y="31623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מנוע הכנסה
שאת בונה.</a:t>
            </a:r>
          </a:p>
        </p:txBody>
      </p:sp>
      <p:sp>
        <p:nvSpPr>
          <p:cNvPr id="18" name="TextBox 17"/>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בליווי שלנו מתמקדות בשוק ההון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16</a:t>
            </a:r>
          </a:p>
        </p:txBody>
      </p:sp>
      <p:pic>
        <p:nvPicPr>
          <p:cNvPr id="4" name="Picture 3" descr="s59_path.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4269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2 · שוק ההון בשפה פשוטה</a:t>
            </a:r>
          </a:p>
        </p:txBody>
      </p:sp>
      <p:sp>
        <p:nvSpPr>
          <p:cNvPr id="6" name="TextBox 5"/>
          <p:cNvSpPr txBox="1"/>
          <p:nvPr/>
        </p:nvSpPr>
        <p:spPr>
          <a:xfrm>
            <a:off x="5334000" y="2199894"/>
            <a:ext cx="59436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את כבר משקיעה בשוק ההון.</a:t>
            </a:r>
          </a:p>
          <a:p>
            <a:pPr algn="r" rtl="1">
              <a:lnSpc>
                <a:spcPct val="110000"/>
              </a:lnSpc>
            </a:pPr>
            <a:r>
              <a:rPr sz="3719" b="1" lang="he-IL">
                <a:solidFill>
                  <a:srgbClr val="EF55A5"/>
                </a:solidFill>
                <a:latin typeface="Heebo"/>
                <a:ea typeface="Heebo"/>
                <a:cs typeface="Heebo"/>
              </a:rPr>
              <a:t>יש לך פנסיה? את בפנים.</a:t>
            </a:r>
          </a:p>
        </p:txBody>
      </p:sp>
      <p:sp>
        <p:nvSpPr>
          <p:cNvPr id="7" name="TextBox 6"/>
          <p:cNvSpPr txBox="1"/>
          <p:nvPr/>
        </p:nvSpPr>
        <p:spPr>
          <a:xfrm>
            <a:off x="5334000" y="359130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רק שעד היום מישהו אחר החליט בשבילך איך.</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17</a:t>
            </a:r>
          </a:p>
        </p:txBody>
      </p:sp>
      <p:sp>
        <p:nvSpPr>
          <p:cNvPr id="4" name="TextBox 3"/>
          <p:cNvSpPr txBox="1"/>
          <p:nvPr/>
        </p:nvSpPr>
        <p:spPr>
          <a:xfrm>
            <a:off x="914400" y="174269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אז מה זה להשקיע בשוק ההון?</a:t>
            </a:r>
          </a:p>
        </p:txBody>
      </p:sp>
      <p:sp>
        <p:nvSpPr>
          <p:cNvPr id="5" name="TextBox 4"/>
          <p:cNvSpPr txBox="1"/>
          <p:nvPr/>
        </p:nvSpPr>
        <p:spPr>
          <a:xfrm>
            <a:off x="914400" y="21998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מניה =</a:t>
            </a:r>
          </a:p>
          <a:p>
            <a:pPr algn="r" rtl="1">
              <a:lnSpc>
                <a:spcPct val="110000"/>
              </a:lnSpc>
            </a:pPr>
            <a:r>
              <a:rPr sz="3719" b="1" lang="he-IL">
                <a:solidFill>
                  <a:srgbClr val="EF55A5"/>
                </a:solidFill>
                <a:latin typeface="Heebo"/>
                <a:ea typeface="Heebo"/>
                <a:cs typeface="Heebo"/>
              </a:rPr>
              <a:t>להיות שותפה קטנה, פיצית, בחברה.</a:t>
            </a:r>
          </a:p>
        </p:txBody>
      </p:sp>
      <p:sp>
        <p:nvSpPr>
          <p:cNvPr id="6" name="TextBox 5"/>
          <p:cNvSpPr txBox="1"/>
          <p:nvPr/>
        </p:nvSpPr>
        <p:spPr>
          <a:xfrm>
            <a:off x="914400" y="359130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אפל מוכרת יותר אייפונים, החברה שווה יותר, וגם החתיכה הקטנה שלך.</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18</a:t>
            </a:r>
          </a:p>
        </p:txBody>
      </p:sp>
      <p:sp>
        <p:nvSpPr>
          <p:cNvPr id="4" name="TextBox 3"/>
          <p:cNvSpPr txBox="1"/>
          <p:nvPr/>
        </p:nvSpPr>
        <p:spPr>
          <a:xfrm>
            <a:off x="914400" y="174269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ומה זה מדד?</a:t>
            </a:r>
          </a:p>
        </p:txBody>
      </p:sp>
      <p:sp>
        <p:nvSpPr>
          <p:cNvPr id="5" name="TextBox 4"/>
          <p:cNvSpPr txBox="1"/>
          <p:nvPr/>
        </p:nvSpPr>
        <p:spPr>
          <a:xfrm>
            <a:off x="914400" y="21998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מדד =</a:t>
            </a:r>
          </a:p>
          <a:p>
            <a:pPr algn="r" rtl="1">
              <a:lnSpc>
                <a:spcPct val="110000"/>
              </a:lnSpc>
            </a:pPr>
            <a:r>
              <a:rPr sz="3719" b="1" lang="he-IL">
                <a:solidFill>
                  <a:srgbClr val="EF55A5"/>
                </a:solidFill>
                <a:latin typeface="Heebo"/>
                <a:ea typeface="Heebo"/>
                <a:cs typeface="Heebo"/>
              </a:rPr>
              <a:t>סל אחד עם חתיכה מהרבה חברות.</a:t>
            </a:r>
          </a:p>
        </p:txBody>
      </p:sp>
      <p:sp>
        <p:nvSpPr>
          <p:cNvPr id="6" name="TextBox 5"/>
          <p:cNvSpPr txBox="1"/>
          <p:nvPr/>
        </p:nvSpPr>
        <p:spPr>
          <a:xfrm>
            <a:off x="914400" y="359130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S&amp;P 500: 500 החברות הגדולות בארה״ב בסל אחד. אחת נופלת? יש עוד 499 שממשיכות לעבוד.</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ולא מסוכן כשעושים את זה לפי 4 כללים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שוק ההון. וזה לא קזינו.</a:t>
            </a:r>
          </a:p>
        </p:txBody>
      </p:sp>
      <p:sp>
        <p:nvSpPr>
          <p:cNvPr id="6" name="Oval 5"/>
          <p:cNvSpPr/>
          <p:nvPr/>
        </p:nvSpPr>
        <p:spPr>
          <a:xfrm>
            <a:off x="10850880" y="2286000"/>
            <a:ext cx="426720" cy="42672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טווח ארוך: כסף שלא צריך ב-5 השנים הקרובות</a:t>
            </a:r>
          </a:p>
        </p:txBody>
      </p:sp>
      <p:sp>
        <p:nvSpPr>
          <p:cNvPr id="8" name="Oval 7"/>
          <p:cNvSpPr/>
          <p:nvPr/>
        </p:nvSpPr>
        <p:spPr>
          <a:xfrm>
            <a:off x="10850880" y="3162300"/>
            <a:ext cx="426720" cy="42672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פיזור: לא מניה אחת. מדד של מאות חברות</a:t>
            </a:r>
          </a:p>
        </p:txBody>
      </p:sp>
      <p:sp>
        <p:nvSpPr>
          <p:cNvPr id="10" name="Oval 9"/>
          <p:cNvSpPr/>
          <p:nvPr/>
        </p:nvSpPr>
        <p:spPr>
          <a:xfrm>
            <a:off x="10850880" y="40386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לא נוגעות: בלי מסחר, בלי לתזמן. הוראת קבע, וזהו</a:t>
            </a:r>
          </a:p>
        </p:txBody>
      </p:sp>
      <p:sp>
        <p:nvSpPr>
          <p:cNvPr id="12" name="Oval 11"/>
          <p:cNvSpPr/>
          <p:nvPr/>
        </p:nvSpPr>
        <p:spPr>
          <a:xfrm>
            <a:off x="10850880" y="4914900"/>
            <a:ext cx="426720" cy="426720"/>
          </a:xfrm>
          <a:prstGeom prst="ellipse">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על השם שלך, בגוף מפוקח</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20</a:t>
            </a:r>
          </a:p>
        </p:txBody>
      </p:sp>
      <p:sp>
        <p:nvSpPr>
          <p:cNvPr id="4" name="TextBox 3"/>
          <p:cNvSpPr txBox="1"/>
          <p:nvPr/>
        </p:nvSpPr>
        <p:spPr>
          <a:xfrm>
            <a:off x="914400" y="174269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ומה עם הנפילות? 📉</a:t>
            </a:r>
          </a:p>
        </p:txBody>
      </p:sp>
      <p:sp>
        <p:nvSpPr>
          <p:cNvPr id="5" name="TextBox 4"/>
          <p:cNvSpPr txBox="1"/>
          <p:nvPr/>
        </p:nvSpPr>
        <p:spPr>
          <a:xfrm>
            <a:off x="914400" y="21998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השוק נפל הרבה פעמים.</a:t>
            </a:r>
          </a:p>
          <a:p>
            <a:pPr algn="r" rtl="1">
              <a:lnSpc>
                <a:spcPct val="110000"/>
              </a:lnSpc>
            </a:pPr>
            <a:r>
              <a:rPr sz="3719" b="1" lang="he-IL">
                <a:solidFill>
                  <a:srgbClr val="EF55A5"/>
                </a:solidFill>
                <a:latin typeface="Heebo"/>
                <a:ea typeface="Heebo"/>
                <a:cs typeface="Heebo"/>
              </a:rPr>
              <a:t>ובכל פעם חזר, ועלה גבוה יותר.</a:t>
            </a:r>
          </a:p>
        </p:txBody>
      </p:sp>
      <p:sp>
        <p:nvSpPr>
          <p:cNvPr id="6" name="TextBox 5"/>
          <p:cNvSpPr txBox="1"/>
          <p:nvPr/>
        </p:nvSpPr>
        <p:spPr>
          <a:xfrm>
            <a:off x="914400" y="359130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2008. הקורונה. הירידה היא לא הפסד, אלא אם מכרת. זה ממוצע היסטורי, לא הבטחה.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21</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הבורסה היא מכשיר להעברת כסף מהאנשים חסרי הסבלנות לאנשים הסבלניים.</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וורן באפט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שלושה דברים, וזה כל מה שצריך להכיר</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בפועל קונים?</a:t>
            </a:r>
          </a:p>
        </p:txBody>
      </p:sp>
      <p:sp>
        <p:nvSpPr>
          <p:cNvPr id="6" name="Rounded Rectangle 5"/>
          <p:cNvSpPr/>
          <p:nvPr/>
        </p:nvSpPr>
        <p:spPr>
          <a:xfrm>
            <a:off x="7965440" y="25146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8194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קרן כספית</a:t>
            </a:r>
          </a:p>
        </p:txBody>
      </p:sp>
      <p:sp>
        <p:nvSpPr>
          <p:cNvPr id="8" name="TextBox 7"/>
          <p:cNvSpPr txBox="1"/>
          <p:nvPr/>
        </p:nvSpPr>
        <p:spPr>
          <a:xfrm>
            <a:off x="823976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שומרת על ערך הכסף.
סיכון נמוך מאוד.
יוצאות תוך יום-יומיים.</a:t>
            </a:r>
          </a:p>
        </p:txBody>
      </p:sp>
      <p:sp>
        <p:nvSpPr>
          <p:cNvPr id="9" name="Rounded Rectangle 8"/>
          <p:cNvSpPr/>
          <p:nvPr/>
        </p:nvSpPr>
        <p:spPr>
          <a:xfrm>
            <a:off x="4439920" y="25146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8194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קרן מחקה מדד</a:t>
            </a:r>
          </a:p>
        </p:txBody>
      </p:sp>
      <p:sp>
        <p:nvSpPr>
          <p:cNvPr id="11" name="TextBox 10"/>
          <p:cNvSpPr txBox="1"/>
          <p:nvPr/>
        </p:nvSpPr>
        <p:spPr>
          <a:xfrm>
            <a:off x="471424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הסל: מאות חברות ביחד.
לטווח הרחוק.</a:t>
            </a:r>
          </a:p>
        </p:txBody>
      </p:sp>
      <p:sp>
        <p:nvSpPr>
          <p:cNvPr id="12" name="Rounded Rectangle 11"/>
          <p:cNvSpPr/>
          <p:nvPr/>
        </p:nvSpPr>
        <p:spPr>
          <a:xfrm>
            <a:off x="914400" y="25146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8194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מניה בודדת</a:t>
            </a:r>
          </a:p>
        </p:txBody>
      </p:sp>
      <p:sp>
        <p:nvSpPr>
          <p:cNvPr id="14" name="TextBox 13"/>
          <p:cNvSpPr txBox="1"/>
          <p:nvPr/>
        </p:nvSpPr>
        <p:spPr>
          <a:xfrm>
            <a:off x="118872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חתיכה מחברה אחת.
מעניין, אבל לא לשם
מתחילות.</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23</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עוצרות · חלק 2</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24</a:t>
            </a:r>
          </a:p>
        </p:txBody>
      </p:sp>
      <p:sp>
        <p:nvSpPr>
          <p:cNvPr id="4" name="TextBox 3"/>
          <p:cNvSpPr txBox="1"/>
          <p:nvPr/>
        </p:nvSpPr>
        <p:spPr>
          <a:xfrm>
            <a:off x="914400" y="123444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3 · איפה גר כל כד</a:t>
            </a:r>
          </a:p>
        </p:txBody>
      </p:sp>
      <p:sp>
        <p:nvSpPr>
          <p:cNvPr id="5" name="TextBox 4"/>
          <p:cNvSpPr txBox="1"/>
          <p:nvPr/>
        </p:nvSpPr>
        <p:spPr>
          <a:xfrm>
            <a:off x="914400" y="16916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לכל כד</a:t>
            </a:r>
          </a:p>
          <a:p>
            <a:pPr algn="r" rtl="1">
              <a:lnSpc>
                <a:spcPct val="110000"/>
              </a:lnSpc>
            </a:pPr>
            <a:r>
              <a:rPr sz="7200" b="1" lang="he-IL">
                <a:solidFill>
                  <a:srgbClr val="EF55A5"/>
                </a:solidFill>
                <a:latin typeface="Heebo"/>
                <a:ea typeface="Heebo"/>
                <a:cs typeface="Heebo"/>
              </a:rPr>
              <a:t>יש בית.</a:t>
            </a:r>
          </a:p>
        </p:txBody>
      </p:sp>
      <p:sp>
        <p:nvSpPr>
          <p:cNvPr id="6" name="TextBox 5"/>
          <p:cNvSpPr txBox="1"/>
          <p:nvPr/>
        </p:nvSpPr>
        <p:spPr>
          <a:xfrm>
            <a:off x="914400" y="409956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כמה זמן יש לכסף? ככה בוחרים לו בית. אלה עקרונות, לא המלצה אישית: את ההתאמה עושים מול איש המקצוע.</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25</a:t>
            </a:r>
          </a:p>
        </p:txBody>
      </p:sp>
      <p:sp>
        <p:nvSpPr>
          <p:cNvPr id="4" name="Rounded Rectangle 3"/>
          <p:cNvSpPr/>
          <p:nvPr/>
        </p:nvSpPr>
        <p:spPr>
          <a:xfrm>
            <a:off x="1898904" y="1447800"/>
            <a:ext cx="1536192"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ounded Rectangle 4"/>
          <p:cNvSpPr/>
          <p:nvPr/>
        </p:nvSpPr>
        <p:spPr>
          <a:xfrm>
            <a:off x="1295400" y="1676400"/>
            <a:ext cx="2743200" cy="35814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a:off x="1356360" y="4122420"/>
            <a:ext cx="2621280" cy="1074420"/>
          </a:xfrm>
          <a:prstGeom prst="roundRect">
            <a:avLst>
              <a:gd name="adj" fmla="val 12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295400" y="4568190"/>
            <a:ext cx="2743200" cy="38100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1</a:t>
            </a:r>
          </a:p>
        </p:txBody>
      </p:sp>
      <p:sp>
        <p:nvSpPr>
          <p:cNvPr id="8" name="TextBox 7"/>
          <p:cNvSpPr txBox="1"/>
          <p:nvPr/>
        </p:nvSpPr>
        <p:spPr>
          <a:xfrm>
            <a:off x="4876800" y="10668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כד 1 · איפה הוא גר?</a:t>
            </a:r>
          </a:p>
        </p:txBody>
      </p:sp>
      <p:sp>
        <p:nvSpPr>
          <p:cNvPr id="9" name="TextBox 8"/>
          <p:cNvSpPr txBox="1"/>
          <p:nvPr/>
        </p:nvSpPr>
        <p:spPr>
          <a:xfrm>
            <a:off x="4876800" y="1409700"/>
            <a:ext cx="6400800" cy="685800"/>
          </a:xfrm>
          <a:prstGeom prst="rect">
            <a:avLst/>
          </a:prstGeom>
          <a:noFill/>
        </p:spPr>
        <p:txBody>
          <a:bodyPr wrap="square" lIns="0" rIns="0" tIns="0" bIns="0" anchor="t">
            <a:spAutoFit/>
          </a:bodyPr>
          <a:lstStyle/>
          <a:p>
            <a:pPr algn="r" rtl="1">
              <a:lnSpc>
                <a:spcPct val="115000"/>
              </a:lnSpc>
            </a:pPr>
            <a:r>
              <a:rPr sz="4200" b="1" lang="he-IL">
                <a:solidFill>
                  <a:srgbClr val="191A2E"/>
                </a:solidFill>
                <a:latin typeface="Heebo"/>
                <a:ea typeface="Heebo"/>
                <a:cs typeface="Heebo"/>
              </a:rPr>
              <a:t>עו״ש</a:t>
            </a:r>
          </a:p>
        </p:txBody>
      </p:sp>
      <p:sp>
        <p:nvSpPr>
          <p:cNvPr id="10" name="TextBox 9"/>
          <p:cNvSpPr txBox="1"/>
          <p:nvPr/>
        </p:nvSpPr>
        <p:spPr>
          <a:xfrm>
            <a:off x="4876800" y="2286000"/>
            <a:ext cx="6400800" cy="914400"/>
          </a:xfrm>
          <a:prstGeom prst="rect">
            <a:avLst/>
          </a:prstGeom>
          <a:noFill/>
        </p:spPr>
        <p:txBody>
          <a:bodyPr wrap="square" lIns="0" rIns="0" tIns="0" bIns="0" anchor="t">
            <a:spAutoFit/>
          </a:bodyPr>
          <a:lstStyle/>
          <a:p>
            <a:pPr algn="r" rtl="1">
              <a:lnSpc>
                <a:spcPct val="115000"/>
              </a:lnSpc>
            </a:pPr>
            <a:r>
              <a:rPr sz="3000" b="1" lang="he-IL">
                <a:solidFill>
                  <a:srgbClr val="EF55A5"/>
                </a:solidFill>
                <a:latin typeface="Heebo"/>
                <a:ea typeface="Heebo"/>
                <a:cs typeface="Heebo"/>
              </a:rPr>
              <a:t>בעו״ש. בערך חודש של הוצאות.</a:t>
            </a:r>
          </a:p>
        </p:txBody>
      </p:sp>
      <p:sp>
        <p:nvSpPr>
          <p:cNvPr id="11" name="TextBox 10"/>
          <p:cNvSpPr txBox="1"/>
          <p:nvPr/>
        </p:nvSpPr>
        <p:spPr>
          <a:xfrm>
            <a:off x="4876800" y="3276600"/>
            <a:ext cx="6400800" cy="990600"/>
          </a:xfrm>
          <a:prstGeom prst="rect">
            <a:avLst/>
          </a:prstGeom>
          <a:noFill/>
        </p:spPr>
        <p:txBody>
          <a:bodyPr wrap="square" lIns="0" rIns="0" tIns="0" bIns="0" anchor="t">
            <a:spAutoFit/>
          </a:bodyPr>
          <a:lstStyle/>
          <a:p>
            <a:pPr algn="r" rtl="1">
              <a:lnSpc>
                <a:spcPct val="140000"/>
              </a:lnSpc>
            </a:pPr>
            <a:r>
              <a:rPr sz="1800" b="0" lang="he-IL">
                <a:solidFill>
                  <a:srgbClr val="6B6B7B"/>
                </a:solidFill>
                <a:latin typeface="Heebo"/>
                <a:ea typeface="Heebo"/>
                <a:cs typeface="Heebo"/>
              </a:rPr>
              <a:t>לא פחות, שלא ניכנס למינוס.
וגם לא יותר.</a:t>
            </a:r>
          </a:p>
        </p:txBody>
      </p:sp>
      <p:sp>
        <p:nvSpPr>
          <p:cNvPr id="12" name="Rounded Rectangle 11"/>
          <p:cNvSpPr/>
          <p:nvPr/>
        </p:nvSpPr>
        <p:spPr>
          <a:xfrm>
            <a:off x="4876800" y="4495800"/>
            <a:ext cx="6400800" cy="1143000"/>
          </a:xfrm>
          <a:prstGeom prst="roundRect">
            <a:avLst>
              <a:gd name="adj" fmla="val 16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r" rtl="1">
              <a:lnSpc>
                <a:spcPct val="130000"/>
              </a:lnSpc>
            </a:pPr>
            <a:r>
              <a:rPr sz="1800" b="1" lang="he-IL">
                <a:solidFill>
                  <a:srgbClr val="191A2E"/>
                </a:solidFill>
                <a:latin typeface="Heebo"/>
                <a:ea typeface="Heebo"/>
                <a:cs typeface="Heebo"/>
              </a:rPr>
              <a:t>השבוע: </a:t>
            </a:r>
            <a:r>
              <a:rPr sz="1800" b="0" lang="he-IL">
                <a:solidFill>
                  <a:srgbClr val="191A2E"/>
                </a:solidFill>
                <a:latin typeface="Heebo"/>
                <a:ea typeface="Heebo"/>
                <a:cs typeface="Heebo"/>
              </a:rPr>
              <a:t>מה שמעל חודש הוצאות &gt; עובר לכדים הבאים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26</a:t>
            </a:r>
          </a:p>
        </p:txBody>
      </p:sp>
      <p:sp>
        <p:nvSpPr>
          <p:cNvPr id="4" name="Rounded Rectangle 3"/>
          <p:cNvSpPr/>
          <p:nvPr/>
        </p:nvSpPr>
        <p:spPr>
          <a:xfrm>
            <a:off x="1898904" y="1447800"/>
            <a:ext cx="1536192"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ounded Rectangle 4"/>
          <p:cNvSpPr/>
          <p:nvPr/>
        </p:nvSpPr>
        <p:spPr>
          <a:xfrm>
            <a:off x="1295400" y="1676400"/>
            <a:ext cx="2743200" cy="35814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a:off x="1356360" y="3227070"/>
            <a:ext cx="2621280" cy="1969770"/>
          </a:xfrm>
          <a:prstGeom prst="roundRect">
            <a:avLst>
              <a:gd name="adj" fmla="val 12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295400" y="4120515"/>
            <a:ext cx="2743200" cy="38100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2</a:t>
            </a:r>
          </a:p>
        </p:txBody>
      </p:sp>
      <p:sp>
        <p:nvSpPr>
          <p:cNvPr id="8" name="TextBox 7"/>
          <p:cNvSpPr txBox="1"/>
          <p:nvPr/>
        </p:nvSpPr>
        <p:spPr>
          <a:xfrm>
            <a:off x="4876800" y="10668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כד 2 · איפה הוא גר?</a:t>
            </a:r>
          </a:p>
        </p:txBody>
      </p:sp>
      <p:sp>
        <p:nvSpPr>
          <p:cNvPr id="9" name="TextBox 8"/>
          <p:cNvSpPr txBox="1"/>
          <p:nvPr/>
        </p:nvSpPr>
        <p:spPr>
          <a:xfrm>
            <a:off x="4876800" y="1409700"/>
            <a:ext cx="6400800" cy="685800"/>
          </a:xfrm>
          <a:prstGeom prst="rect">
            <a:avLst/>
          </a:prstGeom>
          <a:noFill/>
        </p:spPr>
        <p:txBody>
          <a:bodyPr wrap="square" lIns="0" rIns="0" tIns="0" bIns="0" anchor="t">
            <a:spAutoFit/>
          </a:bodyPr>
          <a:lstStyle/>
          <a:p>
            <a:pPr algn="r" rtl="1">
              <a:lnSpc>
                <a:spcPct val="115000"/>
              </a:lnSpc>
            </a:pPr>
            <a:r>
              <a:rPr sz="4200" b="1" lang="he-IL">
                <a:solidFill>
                  <a:srgbClr val="191A2E"/>
                </a:solidFill>
                <a:latin typeface="Heebo"/>
                <a:ea typeface="Heebo"/>
                <a:cs typeface="Heebo"/>
              </a:rPr>
              <a:t>כרית הבטחון</a:t>
            </a:r>
          </a:p>
        </p:txBody>
      </p:sp>
      <p:sp>
        <p:nvSpPr>
          <p:cNvPr id="10" name="TextBox 9"/>
          <p:cNvSpPr txBox="1"/>
          <p:nvPr/>
        </p:nvSpPr>
        <p:spPr>
          <a:xfrm>
            <a:off x="4876800" y="2286000"/>
            <a:ext cx="6400800" cy="914400"/>
          </a:xfrm>
          <a:prstGeom prst="rect">
            <a:avLst/>
          </a:prstGeom>
          <a:noFill/>
        </p:spPr>
        <p:txBody>
          <a:bodyPr wrap="square" lIns="0" rIns="0" tIns="0" bIns="0" anchor="t">
            <a:spAutoFit/>
          </a:bodyPr>
          <a:lstStyle/>
          <a:p>
            <a:pPr algn="r" rtl="1">
              <a:lnSpc>
                <a:spcPct val="115000"/>
              </a:lnSpc>
            </a:pPr>
            <a:r>
              <a:rPr sz="3000" b="1" lang="he-IL">
                <a:solidFill>
                  <a:srgbClr val="EF55A5"/>
                </a:solidFill>
                <a:latin typeface="Heebo"/>
                <a:ea typeface="Heebo"/>
                <a:cs typeface="Heebo"/>
              </a:rPr>
              <a:t>קרן כספית
או פיקדון נזיל</a:t>
            </a:r>
          </a:p>
        </p:txBody>
      </p:sp>
      <p:sp>
        <p:nvSpPr>
          <p:cNvPr id="11" name="TextBox 10"/>
          <p:cNvSpPr txBox="1"/>
          <p:nvPr/>
        </p:nvSpPr>
        <p:spPr>
          <a:xfrm>
            <a:off x="4876800" y="3276600"/>
            <a:ext cx="6400800" cy="990600"/>
          </a:xfrm>
          <a:prstGeom prst="rect">
            <a:avLst/>
          </a:prstGeom>
          <a:noFill/>
        </p:spPr>
        <p:txBody>
          <a:bodyPr wrap="square" lIns="0" rIns="0" tIns="0" bIns="0" anchor="t">
            <a:spAutoFit/>
          </a:bodyPr>
          <a:lstStyle/>
          <a:p>
            <a:pPr algn="r" rtl="1">
              <a:lnSpc>
                <a:spcPct val="140000"/>
              </a:lnSpc>
            </a:pPr>
            <a:r>
              <a:rPr sz="1800" b="0" lang="he-IL">
                <a:solidFill>
                  <a:srgbClr val="6B6B7B"/>
                </a:solidFill>
                <a:latin typeface="Heebo"/>
                <a:ea typeface="Heebo"/>
                <a:cs typeface="Heebo"/>
              </a:rPr>
              <a:t>שלושה חודשי הוצאות · בסיכון הכי נמוך שיש
נזיל תוך יום-יומיים (על פיקדון אפשר להתמקח!)</a:t>
            </a:r>
          </a:p>
        </p:txBody>
      </p:sp>
      <p:sp>
        <p:nvSpPr>
          <p:cNvPr id="12" name="Rounded Rectangle 11"/>
          <p:cNvSpPr/>
          <p:nvPr/>
        </p:nvSpPr>
        <p:spPr>
          <a:xfrm>
            <a:off x="4876800" y="4495800"/>
            <a:ext cx="6400800" cy="1143000"/>
          </a:xfrm>
          <a:prstGeom prst="roundRect">
            <a:avLst>
              <a:gd name="adj" fmla="val 16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r" rtl="1">
              <a:lnSpc>
                <a:spcPct val="130000"/>
              </a:lnSpc>
            </a:pPr>
            <a:r>
              <a:rPr sz="1800" b="1" lang="he-IL">
                <a:solidFill>
                  <a:srgbClr val="191A2E"/>
                </a:solidFill>
                <a:latin typeface="Heebo"/>
                <a:ea typeface="Heebo"/>
                <a:cs typeface="Heebo"/>
              </a:rPr>
              <a:t>השבוע: </a:t>
            </a:r>
            <a:r>
              <a:rPr sz="1800" b="0" lang="he-IL">
                <a:solidFill>
                  <a:srgbClr val="191A2E"/>
                </a:solidFill>
                <a:latin typeface="Heebo"/>
                <a:ea typeface="Heebo"/>
                <a:cs typeface="Heebo"/>
              </a:rPr>
              <a:t>בוחרות בית אחד לכרית. אחד.</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27</a:t>
            </a:r>
          </a:p>
        </p:txBody>
      </p:sp>
      <p:sp>
        <p:nvSpPr>
          <p:cNvPr id="4" name="TextBox 3"/>
          <p:cNvSpPr txBox="1"/>
          <p:nvPr/>
        </p:nvSpPr>
        <p:spPr>
          <a:xfrm>
            <a:off x="914400" y="1777746"/>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כרית הבטחון</a:t>
            </a:r>
          </a:p>
        </p:txBody>
      </p:sp>
      <p:sp>
        <p:nvSpPr>
          <p:cNvPr id="5" name="TextBox 4"/>
          <p:cNvSpPr txBox="1"/>
          <p:nvPr/>
        </p:nvSpPr>
        <p:spPr>
          <a:xfrm>
            <a:off x="914400" y="2234946"/>
            <a:ext cx="10363200" cy="1168908"/>
          </a:xfrm>
          <a:prstGeom prst="rect">
            <a:avLst/>
          </a:prstGeom>
          <a:noFill/>
        </p:spPr>
        <p:txBody>
          <a:bodyPr wrap="square" lIns="0" rIns="0" tIns="0" bIns="0" anchor="t">
            <a:spAutoFit/>
          </a:bodyPr>
          <a:lstStyle/>
          <a:p>
            <a:pPr algn="r" rtl="1">
              <a:lnSpc>
                <a:spcPct val="110000"/>
              </a:lnSpc>
            </a:pPr>
            <a:r>
              <a:rPr sz="3479" b="1" lang="he-IL">
                <a:solidFill>
                  <a:srgbClr val="191A2E"/>
                </a:solidFill>
                <a:latin typeface="Heebo"/>
                <a:ea typeface="Heebo"/>
                <a:cs typeface="Heebo"/>
              </a:rPr>
              <a:t>למה לא בשוק המניות?</a:t>
            </a:r>
          </a:p>
          <a:p>
            <a:pPr algn="r" rtl="1">
              <a:lnSpc>
                <a:spcPct val="110000"/>
              </a:lnSpc>
            </a:pPr>
            <a:r>
              <a:rPr sz="3479" b="1" lang="he-IL">
                <a:solidFill>
                  <a:srgbClr val="EF55A5"/>
                </a:solidFill>
                <a:latin typeface="Heebo"/>
                <a:ea typeface="Heebo"/>
                <a:cs typeface="Heebo"/>
              </a:rPr>
              <a:t>כי הוא יכול לרדת בדיוק כשאני צריכה את הכסף.</a:t>
            </a:r>
          </a:p>
        </p:txBody>
      </p:sp>
      <p:sp>
        <p:nvSpPr>
          <p:cNvPr id="6" name="TextBox 5"/>
          <p:cNvSpPr txBox="1"/>
          <p:nvPr/>
        </p:nvSpPr>
        <p:spPr>
          <a:xfrm>
            <a:off x="914400" y="3556254"/>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הכרית לא כאן כדי להרוויח. היא כאן כדי להיות שם.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חופשה · רכב · בת מצווה · שיפוץ</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כד 3 · המטרות הקרובות: הבית לפי התאריך</a:t>
            </a:r>
          </a:p>
        </p:txBody>
      </p:sp>
      <p:sp>
        <p:nvSpPr>
          <p:cNvPr id="6" name="Rounded Rectangle 5"/>
          <p:cNvSpPr/>
          <p:nvPr/>
        </p:nvSpPr>
        <p:spPr>
          <a:xfrm>
            <a:off x="6202680" y="22479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עד שנתיים</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כמו הכרית:
קרן כספית או פיקדון.
אין זמן לחזור מירידה.</a:t>
            </a:r>
          </a:p>
        </p:txBody>
      </p:sp>
      <p:sp>
        <p:nvSpPr>
          <p:cNvPr id="9" name="Rounded Rectangle 8"/>
          <p:cNvSpPr/>
          <p:nvPr/>
        </p:nvSpPr>
        <p:spPr>
          <a:xfrm>
            <a:off x="914400" y="22479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שנתיים עד חמש</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אפשר טיפה יותר סיכון:
למשל קופת גמל להשקעה
במסלול סיכון נמוך.</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המטרות שכתבתן בשבוע שעבר כבר יודעות לאיזה בית הן הולכות</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ביקשתן · 4 מתוך 7</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ואיפה שמים כסף לבית?</a:t>
            </a:r>
          </a:p>
        </p:txBody>
      </p:sp>
      <p:sp>
        <p:nvSpPr>
          <p:cNvPr id="6" name="Rounded Rectangle 5"/>
          <p:cNvSpPr/>
          <p:nvPr/>
        </p:nvSpPr>
        <p:spPr>
          <a:xfrm>
            <a:off x="7965440" y="25146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819400"/>
            <a:ext cx="2763520" cy="838200"/>
          </a:xfrm>
          <a:prstGeom prst="rect">
            <a:avLst/>
          </a:prstGeom>
          <a:noFill/>
        </p:spPr>
        <p:txBody>
          <a:bodyPr wrap="square" lIns="0" rIns="0" tIns="0" bIns="0" anchor="t">
            <a:spAutoFit/>
          </a:bodyPr>
          <a:lstStyle/>
          <a:p>
            <a:pPr algn="r" rtl="1">
              <a:lnSpc>
                <a:spcPct val="110000"/>
              </a:lnSpc>
            </a:pPr>
            <a:r>
              <a:rPr sz="2280" b="1" lang="he-IL">
                <a:solidFill>
                  <a:srgbClr val="191A2E"/>
                </a:solidFill>
                <a:latin typeface="Heebo"/>
                <a:ea typeface="Heebo"/>
                <a:cs typeface="Heebo"/>
              </a:rPr>
              <a:t>עוד אין דירה</a:t>
            </a:r>
          </a:p>
        </p:txBody>
      </p:sp>
      <p:sp>
        <p:nvSpPr>
          <p:cNvPr id="8" name="TextBox 7"/>
          <p:cNvSpPr txBox="1"/>
          <p:nvPr/>
        </p:nvSpPr>
        <p:spPr>
          <a:xfrm>
            <a:off x="823976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בונות הון עצמי:
בערך 25% מהדירה.
הבית לפי מתי.</a:t>
            </a:r>
          </a:p>
        </p:txBody>
      </p:sp>
      <p:sp>
        <p:nvSpPr>
          <p:cNvPr id="9" name="Rounded Rectangle 8"/>
          <p:cNvSpPr/>
          <p:nvPr/>
        </p:nvSpPr>
        <p:spPr>
          <a:xfrm>
            <a:off x="4439920" y="25146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819400"/>
            <a:ext cx="2763520" cy="838200"/>
          </a:xfrm>
          <a:prstGeom prst="rect">
            <a:avLst/>
          </a:prstGeom>
          <a:noFill/>
        </p:spPr>
        <p:txBody>
          <a:bodyPr wrap="square" lIns="0" rIns="0" tIns="0" bIns="0" anchor="t">
            <a:spAutoFit/>
          </a:bodyPr>
          <a:lstStyle/>
          <a:p>
            <a:pPr algn="r" rtl="1">
              <a:lnSpc>
                <a:spcPct val="110000"/>
              </a:lnSpc>
            </a:pPr>
            <a:r>
              <a:rPr sz="2280" b="1" lang="he-IL">
                <a:solidFill>
                  <a:srgbClr val="191A2E"/>
                </a:solidFill>
                <a:latin typeface="Heebo"/>
                <a:ea typeface="Heebo"/>
                <a:cs typeface="Heebo"/>
              </a:rPr>
              <a:t>יש דירה למגורים</a:t>
            </a:r>
          </a:p>
        </p:txBody>
      </p:sp>
      <p:sp>
        <p:nvSpPr>
          <p:cNvPr id="11" name="TextBox 10"/>
          <p:cNvSpPr txBox="1"/>
          <p:nvPr/>
        </p:nvSpPr>
        <p:spPr>
          <a:xfrm>
            <a:off x="471424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דירה שנייה = 8% מס רכישה.
לרוב: שוק ההון
או נדל״ן בחו״ל.</a:t>
            </a:r>
          </a:p>
        </p:txBody>
      </p:sp>
      <p:sp>
        <p:nvSpPr>
          <p:cNvPr id="12" name="Rounded Rectangle 11"/>
          <p:cNvSpPr/>
          <p:nvPr/>
        </p:nvSpPr>
        <p:spPr>
          <a:xfrm>
            <a:off x="914400" y="25146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819400"/>
            <a:ext cx="2763520" cy="838200"/>
          </a:xfrm>
          <a:prstGeom prst="rect">
            <a:avLst/>
          </a:prstGeom>
          <a:noFill/>
        </p:spPr>
        <p:txBody>
          <a:bodyPr wrap="square" lIns="0" rIns="0" tIns="0" bIns="0" anchor="t">
            <a:spAutoFit/>
          </a:bodyPr>
          <a:lstStyle/>
          <a:p>
            <a:pPr algn="r" rtl="1">
              <a:lnSpc>
                <a:spcPct val="110000"/>
              </a:lnSpc>
            </a:pPr>
            <a:r>
              <a:rPr sz="2280" b="1" lang="he-IL">
                <a:solidFill>
                  <a:srgbClr val="191A2E"/>
                </a:solidFill>
                <a:latin typeface="Heebo"/>
                <a:ea typeface="Heebo"/>
                <a:cs typeface="Heebo"/>
              </a:rPr>
              <a:t>יש דירה להשקעה</a:t>
            </a:r>
          </a:p>
        </p:txBody>
      </p:sp>
      <p:sp>
        <p:nvSpPr>
          <p:cNvPr id="14" name="TextBox 13"/>
          <p:cNvSpPr txBox="1"/>
          <p:nvPr/>
        </p:nvSpPr>
        <p:spPr>
          <a:xfrm>
            <a:off x="118872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דירה חליפית:
למכור, להגדיל הון עצמי,
ולשדרג.</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30</a:t>
            </a:r>
          </a:p>
        </p:txBody>
      </p:sp>
      <p:pic>
        <p:nvPicPr>
          <p:cNvPr id="4" name="Picture 3" descr="s54_leve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497330"/>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השיטה שעשירים משתמשים בה כדי להתעשר עוד יותר</a:t>
            </a:r>
          </a:p>
        </p:txBody>
      </p:sp>
      <p:sp>
        <p:nvSpPr>
          <p:cNvPr id="6" name="TextBox 5"/>
          <p:cNvSpPr txBox="1"/>
          <p:nvPr/>
        </p:nvSpPr>
        <p:spPr>
          <a:xfrm>
            <a:off x="5334000" y="1954530"/>
            <a:ext cx="5943600" cy="1729740"/>
          </a:xfrm>
          <a:prstGeom prst="rect">
            <a:avLst/>
          </a:prstGeom>
          <a:noFill/>
        </p:spPr>
        <p:txBody>
          <a:bodyPr wrap="square" lIns="0" rIns="0" tIns="0" bIns="0" anchor="t">
            <a:spAutoFit/>
          </a:bodyPr>
          <a:lstStyle/>
          <a:p>
            <a:pPr algn="r" rtl="1">
              <a:lnSpc>
                <a:spcPct val="110000"/>
              </a:lnSpc>
            </a:pPr>
            <a:r>
              <a:rPr sz="3600" b="1" lang="he-IL">
                <a:solidFill>
                  <a:srgbClr val="191A2E"/>
                </a:solidFill>
                <a:latin typeface="Heebo"/>
                <a:ea typeface="Heebo"/>
                <a:cs typeface="Heebo"/>
              </a:rPr>
              <a:t>מינוף:</a:t>
            </a:r>
          </a:p>
          <a:p>
            <a:pPr algn="r" rtl="1">
              <a:lnSpc>
                <a:spcPct val="110000"/>
              </a:lnSpc>
            </a:pPr>
            <a:r>
              <a:rPr sz="3600" b="1" lang="he-IL">
                <a:solidFill>
                  <a:srgbClr val="EF55A5"/>
                </a:solidFill>
                <a:latin typeface="Heebo"/>
                <a:ea typeface="Heebo"/>
                <a:cs typeface="Heebo"/>
              </a:rPr>
              <a:t>כסף של אחרים</a:t>
            </a:r>
          </a:p>
          <a:p>
            <a:pPr algn="r" rtl="1">
              <a:lnSpc>
                <a:spcPct val="110000"/>
              </a:lnSpc>
            </a:pPr>
            <a:r>
              <a:rPr sz="3600" b="1" lang="he-IL">
                <a:solidFill>
                  <a:srgbClr val="EF55A5"/>
                </a:solidFill>
                <a:latin typeface="Heebo"/>
                <a:ea typeface="Heebo"/>
                <a:cs typeface="Heebo"/>
              </a:rPr>
              <a:t>שעובד בשבילי.</a:t>
            </a:r>
          </a:p>
        </p:txBody>
      </p:sp>
      <p:sp>
        <p:nvSpPr>
          <p:cNvPr id="7" name="TextBox 6"/>
          <p:cNvSpPr txBox="1"/>
          <p:nvPr/>
        </p:nvSpPr>
        <p:spPr>
          <a:xfrm>
            <a:off x="5334000" y="3836670"/>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המשכנתא היא מינוף.</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מינוף במספרים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479" b="1" lang="he-IL">
                <a:solidFill>
                  <a:srgbClr val="191A2E"/>
                </a:solidFill>
                <a:latin typeface="Heebo"/>
                <a:ea typeface="Heebo"/>
                <a:cs typeface="Heebo"/>
              </a:rPr>
              <a:t>אותו כסף. אותה עליית ערך.</a:t>
            </a:r>
          </a:p>
        </p:txBody>
      </p:sp>
      <p:sp>
        <p:nvSpPr>
          <p:cNvPr id="6" name="Rounded Rectangle 5"/>
          <p:cNvSpPr/>
          <p:nvPr/>
        </p:nvSpPr>
        <p:spPr>
          <a:xfrm>
            <a:off x="4776521" y="2209800"/>
            <a:ext cx="3755441" cy="469900"/>
          </a:xfrm>
          <a:prstGeom prst="roundRect">
            <a:avLst>
              <a:gd name="adj" fmla="val 48648"/>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a:lstStyle/>
          <a:p>
            <a:pPr algn="ctr" rtl="1">
              <a:lnSpc>
                <a:spcPct val="115000"/>
              </a:lnSpc>
            </a:pPr>
            <a:r>
              <a:rPr sz="1920" b="1" lang="he-IL">
                <a:solidFill>
                  <a:srgbClr val="191A2E"/>
                </a:solidFill>
                <a:latin typeface="Heebo"/>
                <a:ea typeface="Heebo"/>
                <a:cs typeface="Heebo"/>
              </a:rPr>
              <a:t>בלי מינוף</a:t>
            </a:r>
          </a:p>
        </p:txBody>
      </p:sp>
      <p:sp>
        <p:nvSpPr>
          <p:cNvPr id="7" name="Rounded Rectangle 6"/>
          <p:cNvSpPr/>
          <p:nvPr/>
        </p:nvSpPr>
        <p:spPr>
          <a:xfrm>
            <a:off x="914400" y="2209800"/>
            <a:ext cx="3755441" cy="469900"/>
          </a:xfrm>
          <a:prstGeom prst="roundRect">
            <a:avLst>
              <a:gd name="adj" fmla="val 48648"/>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a:lstStyle/>
          <a:p>
            <a:pPr algn="ctr" rtl="1">
              <a:lnSpc>
                <a:spcPct val="115000"/>
              </a:lnSpc>
            </a:pPr>
            <a:r>
              <a:rPr sz="1920" b="1" lang="he-IL">
                <a:solidFill>
                  <a:srgbClr val="191A2E"/>
                </a:solidFill>
                <a:latin typeface="Heebo"/>
                <a:ea typeface="Heebo"/>
                <a:cs typeface="Heebo"/>
              </a:rPr>
              <a:t>עם מינוף</a:t>
            </a:r>
          </a:p>
        </p:txBody>
      </p:sp>
      <p:sp>
        <p:nvSpPr>
          <p:cNvPr id="8" name="Rounded Rectangle 7"/>
          <p:cNvSpPr/>
          <p:nvPr/>
        </p:nvSpPr>
        <p:spPr>
          <a:xfrm>
            <a:off x="8638642" y="27559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791042" y="28308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הון עצמי</a:t>
            </a:r>
          </a:p>
        </p:txBody>
      </p:sp>
      <p:sp>
        <p:nvSpPr>
          <p:cNvPr id="10" name="Rounded Rectangle 9"/>
          <p:cNvSpPr/>
          <p:nvPr/>
        </p:nvSpPr>
        <p:spPr>
          <a:xfrm>
            <a:off x="4776521" y="27559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928921" y="28308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₪200,000</a:t>
            </a:r>
          </a:p>
        </p:txBody>
      </p:sp>
      <p:sp>
        <p:nvSpPr>
          <p:cNvPr id="12" name="Rounded Rectangle 11"/>
          <p:cNvSpPr/>
          <p:nvPr/>
        </p:nvSpPr>
        <p:spPr>
          <a:xfrm>
            <a:off x="914400" y="27559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66800" y="28308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₪200,000</a:t>
            </a:r>
          </a:p>
        </p:txBody>
      </p:sp>
      <p:sp>
        <p:nvSpPr>
          <p:cNvPr id="14" name="Rounded Rectangle 13"/>
          <p:cNvSpPr/>
          <p:nvPr/>
        </p:nvSpPr>
        <p:spPr>
          <a:xfrm>
            <a:off x="8638642" y="33020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91042" y="33769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שווי הנכס</a:t>
            </a:r>
          </a:p>
        </p:txBody>
      </p:sp>
      <p:sp>
        <p:nvSpPr>
          <p:cNvPr id="16" name="Rounded Rectangle 15"/>
          <p:cNvSpPr/>
          <p:nvPr/>
        </p:nvSpPr>
        <p:spPr>
          <a:xfrm>
            <a:off x="4776521" y="33020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28921" y="33769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₪200,000</a:t>
            </a:r>
          </a:p>
        </p:txBody>
      </p:sp>
      <p:sp>
        <p:nvSpPr>
          <p:cNvPr id="18" name="Rounded Rectangle 17"/>
          <p:cNvSpPr/>
          <p:nvPr/>
        </p:nvSpPr>
        <p:spPr>
          <a:xfrm>
            <a:off x="914400" y="33020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66800" y="33769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₪800,000</a:t>
            </a:r>
          </a:p>
        </p:txBody>
      </p:sp>
      <p:sp>
        <p:nvSpPr>
          <p:cNvPr id="20" name="Rounded Rectangle 19"/>
          <p:cNvSpPr/>
          <p:nvPr/>
        </p:nvSpPr>
        <p:spPr>
          <a:xfrm>
            <a:off x="8638642" y="38481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791042" y="39230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אחרי 10 שנים (+40%)</a:t>
            </a:r>
          </a:p>
        </p:txBody>
      </p:sp>
      <p:sp>
        <p:nvSpPr>
          <p:cNvPr id="22" name="Rounded Rectangle 21"/>
          <p:cNvSpPr/>
          <p:nvPr/>
        </p:nvSpPr>
        <p:spPr>
          <a:xfrm>
            <a:off x="4776521" y="38481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28921" y="39230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₪280,000</a:t>
            </a:r>
          </a:p>
        </p:txBody>
      </p:sp>
      <p:sp>
        <p:nvSpPr>
          <p:cNvPr id="24" name="Rounded Rectangle 23"/>
          <p:cNvSpPr/>
          <p:nvPr/>
        </p:nvSpPr>
        <p:spPr>
          <a:xfrm>
            <a:off x="914400" y="38481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66800" y="39230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₪1,120,000</a:t>
            </a:r>
          </a:p>
        </p:txBody>
      </p:sp>
      <p:sp>
        <p:nvSpPr>
          <p:cNvPr id="26" name="Rounded Rectangle 25"/>
          <p:cNvSpPr/>
          <p:nvPr/>
        </p:nvSpPr>
        <p:spPr>
          <a:xfrm>
            <a:off x="8638642" y="43942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791042" y="44691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החזרת משכנתא</a:t>
            </a:r>
          </a:p>
        </p:txBody>
      </p:sp>
      <p:sp>
        <p:nvSpPr>
          <p:cNvPr id="28" name="Rounded Rectangle 27"/>
          <p:cNvSpPr/>
          <p:nvPr/>
        </p:nvSpPr>
        <p:spPr>
          <a:xfrm>
            <a:off x="4776521" y="43942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28921" y="44691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a:t>
            </a:r>
          </a:p>
        </p:txBody>
      </p:sp>
      <p:sp>
        <p:nvSpPr>
          <p:cNvPr id="30" name="Rounded Rectangle 29"/>
          <p:cNvSpPr/>
          <p:nvPr/>
        </p:nvSpPr>
        <p:spPr>
          <a:xfrm>
            <a:off x="914400" y="43942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066800" y="44691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₪600,000</a:t>
            </a:r>
          </a:p>
        </p:txBody>
      </p:sp>
      <p:sp>
        <p:nvSpPr>
          <p:cNvPr id="32" name="Rounded Rectangle 31"/>
          <p:cNvSpPr/>
          <p:nvPr/>
        </p:nvSpPr>
        <p:spPr>
          <a:xfrm>
            <a:off x="8638642" y="49403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8791042" y="50152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נשאר לך</a:t>
            </a:r>
          </a:p>
        </p:txBody>
      </p:sp>
      <p:sp>
        <p:nvSpPr>
          <p:cNvPr id="34" name="Rounded Rectangle 33"/>
          <p:cNvSpPr/>
          <p:nvPr/>
        </p:nvSpPr>
        <p:spPr>
          <a:xfrm>
            <a:off x="4776521" y="49403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928921" y="50152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₪280,000</a:t>
            </a:r>
          </a:p>
        </p:txBody>
      </p:sp>
      <p:sp>
        <p:nvSpPr>
          <p:cNvPr id="36" name="Rounded Rectangle 35"/>
          <p:cNvSpPr/>
          <p:nvPr/>
        </p:nvSpPr>
        <p:spPr>
          <a:xfrm>
            <a:off x="914400" y="49403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1066800" y="50152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₪520,000</a:t>
            </a:r>
          </a:p>
        </p:txBody>
      </p:sp>
      <p:sp>
        <p:nvSpPr>
          <p:cNvPr id="38" name="TextBox 37"/>
          <p:cNvSpPr txBox="1"/>
          <p:nvPr/>
        </p:nvSpPr>
        <p:spPr>
          <a:xfrm>
            <a:off x="914400" y="5867400"/>
            <a:ext cx="10363200" cy="304800"/>
          </a:xfrm>
          <a:prstGeom prst="rect">
            <a:avLst/>
          </a:prstGeom>
          <a:noFill/>
        </p:spPr>
        <p:txBody>
          <a:bodyPr wrap="square" lIns="0" rIns="0" tIns="0" bIns="0" anchor="t">
            <a:spAutoFit/>
          </a:bodyPr>
          <a:lstStyle/>
          <a:p>
            <a:pPr algn="r" rtl="1">
              <a:lnSpc>
                <a:spcPct val="115000"/>
              </a:lnSpc>
            </a:pPr>
            <a:r>
              <a:rPr sz="1320" b="0" lang="he-IL">
                <a:solidFill>
                  <a:srgbClr val="6B6B7B"/>
                </a:solidFill>
                <a:latin typeface="Heebo"/>
                <a:ea typeface="Heebo"/>
                <a:cs typeface="Heebo"/>
              </a:rPr>
              <a:t>להמחשה בלבד, לפני ריבית ועלויות. הרווח: ₪80,000 בלי מינוף, ₪320,000 עם מינוף.</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32</a:t>
            </a:r>
          </a:p>
        </p:txBody>
      </p:sp>
      <p:sp>
        <p:nvSpPr>
          <p:cNvPr id="4" name="TextBox 3"/>
          <p:cNvSpPr txBox="1"/>
          <p:nvPr/>
        </p:nvSpPr>
        <p:spPr>
          <a:xfrm>
            <a:off x="914400" y="1812798"/>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אותו כלי. כיוון הפוך.</a:t>
            </a:r>
          </a:p>
        </p:txBody>
      </p:sp>
      <p:sp>
        <p:nvSpPr>
          <p:cNvPr id="5" name="TextBox 4"/>
          <p:cNvSpPr txBox="1"/>
          <p:nvPr/>
        </p:nvSpPr>
        <p:spPr>
          <a:xfrm>
            <a:off x="914400" y="2269998"/>
            <a:ext cx="10363200" cy="1098804"/>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מינוף על נכס שצומח = כלי לבניית עושר.</a:t>
            </a:r>
          </a:p>
          <a:p>
            <a:pPr algn="r" rtl="1">
              <a:lnSpc>
                <a:spcPct val="110000"/>
              </a:lnSpc>
            </a:pPr>
            <a:r>
              <a:rPr sz="3240" b="1" lang="he-IL">
                <a:solidFill>
                  <a:srgbClr val="EF55A5"/>
                </a:solidFill>
                <a:latin typeface="Heebo"/>
                <a:ea typeface="Heebo"/>
                <a:cs typeface="Heebo"/>
              </a:rPr>
              <a:t>מינוף על הוצאות = כלי להרס עצמי.</a:t>
            </a:r>
          </a:p>
        </p:txBody>
      </p:sp>
      <p:sp>
        <p:nvSpPr>
          <p:cNvPr id="6" name="TextBox 5"/>
          <p:cNvSpPr txBox="1"/>
          <p:nvPr/>
        </p:nvSpPr>
        <p:spPr>
          <a:xfrm>
            <a:off x="914400" y="3521202"/>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יש הלוואה? היא נכנסת לחישוב התזרים. ואם התזרים חיובי, היא יכולה להיות כלי לצמיחה.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33</a:t>
            </a:r>
          </a:p>
        </p:txBody>
      </p:sp>
      <p:sp>
        <p:nvSpPr>
          <p:cNvPr id="4" name="Rounded Rectangle 3"/>
          <p:cNvSpPr/>
          <p:nvPr/>
        </p:nvSpPr>
        <p:spPr>
          <a:xfrm>
            <a:off x="1898904" y="1447800"/>
            <a:ext cx="1536192"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ounded Rectangle 4"/>
          <p:cNvSpPr/>
          <p:nvPr/>
        </p:nvSpPr>
        <p:spPr>
          <a:xfrm>
            <a:off x="1295400" y="1676400"/>
            <a:ext cx="2743200" cy="35814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a:off x="1356360" y="2152650"/>
            <a:ext cx="2621280" cy="3044190"/>
          </a:xfrm>
          <a:prstGeom prst="roundRect">
            <a:avLst>
              <a:gd name="adj" fmla="val 12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295400" y="3583305"/>
            <a:ext cx="2743200" cy="38100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4</a:t>
            </a:r>
          </a:p>
        </p:txBody>
      </p:sp>
      <p:sp>
        <p:nvSpPr>
          <p:cNvPr id="8" name="TextBox 7"/>
          <p:cNvSpPr txBox="1"/>
          <p:nvPr/>
        </p:nvSpPr>
        <p:spPr>
          <a:xfrm>
            <a:off x="4876800" y="10668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כד 4 · איפה הוא גר?</a:t>
            </a:r>
          </a:p>
        </p:txBody>
      </p:sp>
      <p:sp>
        <p:nvSpPr>
          <p:cNvPr id="9" name="TextBox 8"/>
          <p:cNvSpPr txBox="1"/>
          <p:nvPr/>
        </p:nvSpPr>
        <p:spPr>
          <a:xfrm>
            <a:off x="4876800" y="1409700"/>
            <a:ext cx="6400800" cy="685800"/>
          </a:xfrm>
          <a:prstGeom prst="rect">
            <a:avLst/>
          </a:prstGeom>
          <a:noFill/>
        </p:spPr>
        <p:txBody>
          <a:bodyPr wrap="square" lIns="0" rIns="0" tIns="0" bIns="0" anchor="t">
            <a:spAutoFit/>
          </a:bodyPr>
          <a:lstStyle/>
          <a:p>
            <a:pPr algn="r" rtl="1">
              <a:lnSpc>
                <a:spcPct val="115000"/>
              </a:lnSpc>
            </a:pPr>
            <a:r>
              <a:rPr sz="4200" b="1" lang="he-IL">
                <a:solidFill>
                  <a:srgbClr val="191A2E"/>
                </a:solidFill>
                <a:latin typeface="Heebo"/>
                <a:ea typeface="Heebo"/>
                <a:cs typeface="Heebo"/>
              </a:rPr>
              <a:t>טווח רחוק</a:t>
            </a:r>
          </a:p>
        </p:txBody>
      </p:sp>
      <p:sp>
        <p:nvSpPr>
          <p:cNvPr id="10" name="TextBox 9"/>
          <p:cNvSpPr txBox="1"/>
          <p:nvPr/>
        </p:nvSpPr>
        <p:spPr>
          <a:xfrm>
            <a:off x="4876800" y="2286000"/>
            <a:ext cx="6400800" cy="914400"/>
          </a:xfrm>
          <a:prstGeom prst="rect">
            <a:avLst/>
          </a:prstGeom>
          <a:noFill/>
        </p:spPr>
        <p:txBody>
          <a:bodyPr wrap="square" lIns="0" rIns="0" tIns="0" bIns="0" anchor="t">
            <a:spAutoFit/>
          </a:bodyPr>
          <a:lstStyle/>
          <a:p>
            <a:pPr algn="r" rtl="1">
              <a:lnSpc>
                <a:spcPct val="115000"/>
              </a:lnSpc>
            </a:pPr>
            <a:r>
              <a:rPr sz="3000" b="1" lang="he-IL">
                <a:solidFill>
                  <a:srgbClr val="EF55A5"/>
                </a:solidFill>
                <a:latin typeface="Heebo"/>
                <a:ea typeface="Heebo"/>
                <a:cs typeface="Heebo"/>
              </a:rPr>
              <a:t>מדדים בשוק ההון</a:t>
            </a:r>
          </a:p>
        </p:txBody>
      </p:sp>
      <p:sp>
        <p:nvSpPr>
          <p:cNvPr id="11" name="TextBox 10"/>
          <p:cNvSpPr txBox="1"/>
          <p:nvPr/>
        </p:nvSpPr>
        <p:spPr>
          <a:xfrm>
            <a:off x="4876800" y="3276600"/>
            <a:ext cx="6400800" cy="990600"/>
          </a:xfrm>
          <a:prstGeom prst="rect">
            <a:avLst/>
          </a:prstGeom>
          <a:noFill/>
        </p:spPr>
        <p:txBody>
          <a:bodyPr wrap="square" lIns="0" rIns="0" tIns="0" bIns="0" anchor="t">
            <a:spAutoFit/>
          </a:bodyPr>
          <a:lstStyle/>
          <a:p>
            <a:pPr algn="r" rtl="1">
              <a:lnSpc>
                <a:spcPct val="140000"/>
              </a:lnSpc>
            </a:pPr>
            <a:r>
              <a:rPr sz="1800" b="0" lang="he-IL">
                <a:solidFill>
                  <a:srgbClr val="6B6B7B"/>
                </a:solidFill>
                <a:latin typeface="Heebo"/>
                <a:ea typeface="Heebo"/>
                <a:cs typeface="Heebo"/>
              </a:rPr>
              <a:t>דרך: פנסיה · קרן השתלמות · קופת גמל להשקעה · תיק השקעות עצמאי
לא ניגע, לא נדבר. שם יש לכסף זמן לעבוד.</a:t>
            </a:r>
          </a:p>
        </p:txBody>
      </p:sp>
      <p:sp>
        <p:nvSpPr>
          <p:cNvPr id="12" name="Rounded Rectangle 11"/>
          <p:cNvSpPr/>
          <p:nvPr/>
        </p:nvSpPr>
        <p:spPr>
          <a:xfrm>
            <a:off x="4876800" y="4495800"/>
            <a:ext cx="6400800" cy="1143000"/>
          </a:xfrm>
          <a:prstGeom prst="roundRect">
            <a:avLst>
              <a:gd name="adj" fmla="val 16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r" rtl="1">
              <a:lnSpc>
                <a:spcPct val="130000"/>
              </a:lnSpc>
            </a:pPr>
            <a:r>
              <a:rPr sz="1800" b="1" lang="he-IL">
                <a:solidFill>
                  <a:srgbClr val="191A2E"/>
                </a:solidFill>
                <a:latin typeface="Heebo"/>
                <a:ea typeface="Heebo"/>
                <a:cs typeface="Heebo"/>
              </a:rPr>
              <a:t>השבוע: </a:t>
            </a:r>
            <a:r>
              <a:rPr sz="1800" b="0" lang="he-IL">
                <a:solidFill>
                  <a:srgbClr val="191A2E"/>
                </a:solidFill>
                <a:latin typeface="Heebo"/>
                <a:ea typeface="Heebo"/>
                <a:cs typeface="Heebo"/>
              </a:rPr>
              <a:t>לבדוק באיזה מסלול הכסף שלי היום, בפנסיה ובהשתלמות</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כד 4</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מספר אחד קטן: דמי ניהול</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דמי ניהול 0.5%</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₪1,282,888</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דמי ניהול 1.5%</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₪1,067,026</a:t>
            </a:r>
          </a:p>
        </p:txBody>
      </p:sp>
      <p:sp>
        <p:nvSpPr>
          <p:cNvPr id="12" name="Rounded Rectangle 11"/>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ההפרש:
₪215,862</a:t>
            </a:r>
          </a:p>
        </p:txBody>
      </p:sp>
      <p:sp>
        <p:nvSpPr>
          <p:cNvPr id="13" name="TextBox 12"/>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חיסכון של 1,000 ₪ בחודש
למשך 30 שנה, בתשואה של 8%
לפני דמי ניהול · להמחשה בלבד</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35</a:t>
            </a:r>
          </a:p>
        </p:txBody>
      </p:sp>
      <p:sp>
        <p:nvSpPr>
          <p:cNvPr id="4" name="TextBox 3"/>
          <p:cNvSpPr txBox="1"/>
          <p:nvPr/>
        </p:nvSpPr>
        <p:spPr>
          <a:xfrm>
            <a:off x="914400" y="1725168"/>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וגם הילדים · ביקשתן</a:t>
            </a:r>
          </a:p>
        </p:txBody>
      </p:sp>
      <p:sp>
        <p:nvSpPr>
          <p:cNvPr id="5" name="TextBox 4"/>
          <p:cNvSpPr txBox="1"/>
          <p:nvPr/>
        </p:nvSpPr>
        <p:spPr>
          <a:xfrm>
            <a:off x="914400" y="2182368"/>
            <a:ext cx="10363200" cy="1274064"/>
          </a:xfrm>
          <a:prstGeom prst="rect">
            <a:avLst/>
          </a:prstGeom>
          <a:noFill/>
        </p:spPr>
        <p:txBody>
          <a:bodyPr wrap="square" lIns="0" rIns="0" tIns="0" bIns="0" anchor="t">
            <a:spAutoFit/>
          </a:bodyPr>
          <a:lstStyle/>
          <a:p>
            <a:pPr algn="r" rtl="1">
              <a:lnSpc>
                <a:spcPct val="110000"/>
              </a:lnSpc>
            </a:pPr>
            <a:r>
              <a:rPr sz="3840" b="1" lang="he-IL">
                <a:solidFill>
                  <a:srgbClr val="191A2E"/>
                </a:solidFill>
                <a:latin typeface="Heebo"/>
                <a:ea typeface="Heebo"/>
                <a:cs typeface="Heebo"/>
              </a:rPr>
              <a:t>200 ₪ בחודש מהלידה</a:t>
            </a:r>
          </a:p>
          <a:p>
            <a:pPr algn="r" rtl="1">
              <a:lnSpc>
                <a:spcPct val="110000"/>
              </a:lnSpc>
            </a:pPr>
            <a:r>
              <a:rPr sz="3840" b="1" lang="he-IL">
                <a:solidFill>
                  <a:srgbClr val="EF55A5"/>
                </a:solidFill>
                <a:latin typeface="Heebo"/>
                <a:ea typeface="Heebo"/>
                <a:cs typeface="Heebo"/>
              </a:rPr>
              <a:t>= כ-₪93,130 בגיל 18</a:t>
            </a:r>
          </a:p>
        </p:txBody>
      </p:sp>
      <p:sp>
        <p:nvSpPr>
          <p:cNvPr id="6" name="TextBox 5"/>
          <p:cNvSpPr txBox="1"/>
          <p:nvPr/>
        </p:nvSpPr>
        <p:spPr>
          <a:xfrm>
            <a:off x="914400" y="3608832"/>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קופת גמל להשקעה, 8% בשנה להמחשה. הסיכון לפי גיל הילד: קטן = יותר סיכון. בחיסכון לכל ילד: להכפיל, ולבחור מסלול סיכון גבוה.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כל הערב על שקף אחד · תצלמו 📸</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479" b="1" lang="he-IL">
                <a:solidFill>
                  <a:srgbClr val="191A2E"/>
                </a:solidFill>
                <a:latin typeface="Heebo"/>
                <a:ea typeface="Heebo"/>
                <a:cs typeface="Heebo"/>
              </a:rPr>
              <a:t>מפת הבתים</a:t>
            </a:r>
          </a:p>
        </p:txBody>
      </p:sp>
      <p:sp>
        <p:nvSpPr>
          <p:cNvPr id="6" name="Rounded Rectangle 5"/>
          <p:cNvSpPr/>
          <p:nvPr/>
        </p:nvSpPr>
        <p:spPr>
          <a:xfrm>
            <a:off x="6082386" y="2209800"/>
            <a:ext cx="2477313" cy="579120"/>
          </a:xfrm>
          <a:prstGeom prst="roundRect">
            <a:avLst>
              <a:gd name="adj" fmla="val 39473"/>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a:lstStyle/>
          <a:p>
            <a:pPr algn="ctr" rtl="1">
              <a:lnSpc>
                <a:spcPct val="115000"/>
              </a:lnSpc>
            </a:pPr>
            <a:r>
              <a:rPr sz="1920" b="1" lang="he-IL">
                <a:solidFill>
                  <a:srgbClr val="191A2E"/>
                </a:solidFill>
                <a:latin typeface="Heebo"/>
                <a:ea typeface="Heebo"/>
                <a:cs typeface="Heebo"/>
              </a:rPr>
              <a:t>מתי צריכה אותו?</a:t>
            </a:r>
          </a:p>
        </p:txBody>
      </p:sp>
      <p:sp>
        <p:nvSpPr>
          <p:cNvPr id="7" name="Rounded Rectangle 6"/>
          <p:cNvSpPr/>
          <p:nvPr/>
        </p:nvSpPr>
        <p:spPr>
          <a:xfrm>
            <a:off x="3498393" y="2209800"/>
            <a:ext cx="2477313" cy="579120"/>
          </a:xfrm>
          <a:prstGeom prst="roundRect">
            <a:avLst>
              <a:gd name="adj" fmla="val 39473"/>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a:lstStyle/>
          <a:p>
            <a:pPr algn="ctr" rtl="1">
              <a:lnSpc>
                <a:spcPct val="115000"/>
              </a:lnSpc>
            </a:pPr>
            <a:r>
              <a:rPr sz="1920" b="1" lang="he-IL">
                <a:solidFill>
                  <a:srgbClr val="191A2E"/>
                </a:solidFill>
                <a:latin typeface="Heebo"/>
                <a:ea typeface="Heebo"/>
                <a:cs typeface="Heebo"/>
              </a:rPr>
              <a:t>סיכון</a:t>
            </a:r>
          </a:p>
        </p:txBody>
      </p:sp>
      <p:sp>
        <p:nvSpPr>
          <p:cNvPr id="8" name="Rounded Rectangle 7"/>
          <p:cNvSpPr/>
          <p:nvPr/>
        </p:nvSpPr>
        <p:spPr>
          <a:xfrm>
            <a:off x="914400" y="2209800"/>
            <a:ext cx="2477313" cy="579120"/>
          </a:xfrm>
          <a:prstGeom prst="roundRect">
            <a:avLst>
              <a:gd name="adj" fmla="val 39473"/>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a:lstStyle/>
          <a:p>
            <a:pPr algn="ctr" rtl="1">
              <a:lnSpc>
                <a:spcPct val="115000"/>
              </a:lnSpc>
            </a:pPr>
            <a:r>
              <a:rPr sz="1920" b="1" lang="he-IL">
                <a:solidFill>
                  <a:srgbClr val="191A2E"/>
                </a:solidFill>
                <a:latin typeface="Heebo"/>
                <a:ea typeface="Heebo"/>
                <a:cs typeface="Heebo"/>
              </a:rPr>
              <a:t>איפה הוא גר?</a:t>
            </a:r>
          </a:p>
        </p:txBody>
      </p:sp>
      <p:sp>
        <p:nvSpPr>
          <p:cNvPr id="9" name="Rounded Rectangle 8"/>
          <p:cNvSpPr/>
          <p:nvPr/>
        </p:nvSpPr>
        <p:spPr>
          <a:xfrm>
            <a:off x="8666378" y="2865120"/>
            <a:ext cx="2611222" cy="57912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818778" y="2994660"/>
            <a:ext cx="2306422"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עו״ש</a:t>
            </a:r>
          </a:p>
        </p:txBody>
      </p:sp>
      <p:sp>
        <p:nvSpPr>
          <p:cNvPr id="11" name="Rounded Rectangle 10"/>
          <p:cNvSpPr/>
          <p:nvPr/>
        </p:nvSpPr>
        <p:spPr>
          <a:xfrm>
            <a:off x="6082386" y="286512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234786" y="299466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כל חודש</a:t>
            </a:r>
          </a:p>
        </p:txBody>
      </p:sp>
      <p:sp>
        <p:nvSpPr>
          <p:cNvPr id="13" name="Rounded Rectangle 12"/>
          <p:cNvSpPr/>
          <p:nvPr/>
        </p:nvSpPr>
        <p:spPr>
          <a:xfrm>
            <a:off x="3498393" y="286512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650793" y="299466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בלי</a:t>
            </a:r>
          </a:p>
        </p:txBody>
      </p:sp>
      <p:sp>
        <p:nvSpPr>
          <p:cNvPr id="15" name="Rounded Rectangle 14"/>
          <p:cNvSpPr/>
          <p:nvPr/>
        </p:nvSpPr>
        <p:spPr>
          <a:xfrm>
            <a:off x="914400" y="286512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66800" y="299466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בעו״ש</a:t>
            </a:r>
          </a:p>
        </p:txBody>
      </p:sp>
      <p:sp>
        <p:nvSpPr>
          <p:cNvPr id="17" name="Rounded Rectangle 16"/>
          <p:cNvSpPr/>
          <p:nvPr/>
        </p:nvSpPr>
        <p:spPr>
          <a:xfrm>
            <a:off x="8666378" y="3520440"/>
            <a:ext cx="2611222" cy="57912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818778" y="3649980"/>
            <a:ext cx="2306422"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כרית הבטחון</a:t>
            </a:r>
          </a:p>
        </p:txBody>
      </p:sp>
      <p:sp>
        <p:nvSpPr>
          <p:cNvPr id="19" name="Rounded Rectangle 18"/>
          <p:cNvSpPr/>
          <p:nvPr/>
        </p:nvSpPr>
        <p:spPr>
          <a:xfrm>
            <a:off x="6082386" y="352044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34786" y="364998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בכל רגע</a:t>
            </a:r>
          </a:p>
        </p:txBody>
      </p:sp>
      <p:sp>
        <p:nvSpPr>
          <p:cNvPr id="21" name="Rounded Rectangle 20"/>
          <p:cNvSpPr/>
          <p:nvPr/>
        </p:nvSpPr>
        <p:spPr>
          <a:xfrm>
            <a:off x="3498393" y="352044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650793" y="364998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הכי נמוך שיש</a:t>
            </a:r>
          </a:p>
        </p:txBody>
      </p:sp>
      <p:sp>
        <p:nvSpPr>
          <p:cNvPr id="23" name="Rounded Rectangle 22"/>
          <p:cNvSpPr/>
          <p:nvPr/>
        </p:nvSpPr>
        <p:spPr>
          <a:xfrm>
            <a:off x="914400" y="352044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66800" y="364998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קרן כספית / פיקדון</a:t>
            </a:r>
          </a:p>
        </p:txBody>
      </p:sp>
      <p:sp>
        <p:nvSpPr>
          <p:cNvPr id="25" name="Rounded Rectangle 24"/>
          <p:cNvSpPr/>
          <p:nvPr/>
        </p:nvSpPr>
        <p:spPr>
          <a:xfrm>
            <a:off x="8666378" y="4175760"/>
            <a:ext cx="2611222" cy="57912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818778" y="4305300"/>
            <a:ext cx="2306422"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מטרות קרובות</a:t>
            </a:r>
          </a:p>
        </p:txBody>
      </p:sp>
      <p:sp>
        <p:nvSpPr>
          <p:cNvPr id="27" name="Rounded Rectangle 26"/>
          <p:cNvSpPr/>
          <p:nvPr/>
        </p:nvSpPr>
        <p:spPr>
          <a:xfrm>
            <a:off x="6082386" y="417576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234786" y="430530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לפי התאריך</a:t>
            </a:r>
          </a:p>
        </p:txBody>
      </p:sp>
      <p:sp>
        <p:nvSpPr>
          <p:cNvPr id="29" name="Rounded Rectangle 28"/>
          <p:cNvSpPr/>
          <p:nvPr/>
        </p:nvSpPr>
        <p:spPr>
          <a:xfrm>
            <a:off x="3498393" y="417576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650793" y="430530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נמוך עד בינוני</a:t>
            </a:r>
          </a:p>
        </p:txBody>
      </p:sp>
      <p:sp>
        <p:nvSpPr>
          <p:cNvPr id="31" name="Rounded Rectangle 30"/>
          <p:cNvSpPr/>
          <p:nvPr/>
        </p:nvSpPr>
        <p:spPr>
          <a:xfrm>
            <a:off x="914400" y="417576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066800" y="430530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לפי התאריך</a:t>
            </a:r>
          </a:p>
        </p:txBody>
      </p:sp>
      <p:sp>
        <p:nvSpPr>
          <p:cNvPr id="33" name="Rounded Rectangle 32"/>
          <p:cNvSpPr/>
          <p:nvPr/>
        </p:nvSpPr>
        <p:spPr>
          <a:xfrm>
            <a:off x="8666378" y="4831080"/>
            <a:ext cx="2611222" cy="57912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818778" y="4960620"/>
            <a:ext cx="2306422"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טווח רחוק</a:t>
            </a:r>
          </a:p>
        </p:txBody>
      </p:sp>
      <p:sp>
        <p:nvSpPr>
          <p:cNvPr id="35" name="Rounded Rectangle 34"/>
          <p:cNvSpPr/>
          <p:nvPr/>
        </p:nvSpPr>
        <p:spPr>
          <a:xfrm>
            <a:off x="6082386" y="483108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234786" y="496062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10 שנים ומעלה</a:t>
            </a:r>
          </a:p>
        </p:txBody>
      </p:sp>
      <p:sp>
        <p:nvSpPr>
          <p:cNvPr id="37" name="Rounded Rectangle 36"/>
          <p:cNvSpPr/>
          <p:nvPr/>
        </p:nvSpPr>
        <p:spPr>
          <a:xfrm>
            <a:off x="3498393" y="483108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3650793" y="496062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גבוה, ויש זמן</a:t>
            </a:r>
          </a:p>
        </p:txBody>
      </p:sp>
      <p:sp>
        <p:nvSpPr>
          <p:cNvPr id="39" name="Rounded Rectangle 38"/>
          <p:cNvSpPr/>
          <p:nvPr/>
        </p:nvSpPr>
        <p:spPr>
          <a:xfrm>
            <a:off x="914400" y="4831080"/>
            <a:ext cx="2477313" cy="57912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1066800" y="4960620"/>
            <a:ext cx="2172513"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מדדים בשוק ההון</a:t>
            </a:r>
          </a:p>
        </p:txBody>
      </p:sp>
      <p:sp>
        <p:nvSpPr>
          <p:cNvPr id="41" name="TextBox 40"/>
          <p:cNvSpPr txBox="1"/>
          <p:nvPr/>
        </p:nvSpPr>
        <p:spPr>
          <a:xfrm>
            <a:off x="914400" y="5867400"/>
            <a:ext cx="10363200" cy="304800"/>
          </a:xfrm>
          <a:prstGeom prst="rect">
            <a:avLst/>
          </a:prstGeom>
          <a:noFill/>
        </p:spPr>
        <p:txBody>
          <a:bodyPr wrap="square" lIns="0" rIns="0" tIns="0" bIns="0" anchor="t">
            <a:spAutoFit/>
          </a:bodyPr>
          <a:lstStyle/>
          <a:p>
            <a:pPr algn="r" rtl="1">
              <a:lnSpc>
                <a:spcPct val="115000"/>
              </a:lnSpc>
            </a:pPr>
            <a:r>
              <a:rPr sz="1320" b="0" lang="he-IL">
                <a:solidFill>
                  <a:srgbClr val="6B6B7B"/>
                </a:solidFill>
                <a:latin typeface="Heebo"/>
                <a:ea typeface="Heebo"/>
                <a:cs typeface="Heebo"/>
              </a:rPr>
              <a:t>עקרונות כלליים, לא המלצה אישית.</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37</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 במחברת · 3 דקות</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ליד כל כד: כמה &gt; מתי &gt; איפה הוא גר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38</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עוצרות · חלק 3</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39</a:t>
            </a:r>
          </a:p>
        </p:txBody>
      </p:sp>
      <p:pic>
        <p:nvPicPr>
          <p:cNvPr id="4" name="Picture 3" descr="s19_doo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95272"/>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4 · מנוהל או עצמאי</a:t>
            </a:r>
          </a:p>
        </p:txBody>
      </p:sp>
      <p:sp>
        <p:nvSpPr>
          <p:cNvPr id="6" name="TextBox 5"/>
          <p:cNvSpPr txBox="1"/>
          <p:nvPr/>
        </p:nvSpPr>
        <p:spPr>
          <a:xfrm>
            <a:off x="5334000" y="2252472"/>
            <a:ext cx="5943600" cy="1133856"/>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שתי דרכים להשקיע.</a:t>
            </a:r>
          </a:p>
          <a:p>
            <a:pPr algn="r" rtl="1">
              <a:lnSpc>
                <a:spcPct val="110000"/>
              </a:lnSpc>
            </a:pPr>
            <a:r>
              <a:rPr sz="3360" b="1" lang="he-IL">
                <a:solidFill>
                  <a:srgbClr val="EF55A5"/>
                </a:solidFill>
                <a:latin typeface="Heebo"/>
                <a:ea typeface="Heebo"/>
                <a:cs typeface="Heebo"/>
              </a:rPr>
              <a:t>ושתיהן אחלה.</a:t>
            </a:r>
          </a:p>
        </p:txBody>
      </p:sp>
      <p:sp>
        <p:nvSpPr>
          <p:cNvPr id="7" name="TextBox 6"/>
          <p:cNvSpPr txBox="1"/>
          <p:nvPr/>
        </p:nvSpPr>
        <p:spPr>
          <a:xfrm>
            <a:off x="5334000" y="3538728"/>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בשוק ההון: מנוהל או עצמאי. אין נכון ולא נכון, יש מה נכון לך עכשיו.</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40</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שתי דלתות לאותו שוק</a:t>
            </a:r>
          </a:p>
        </p:txBody>
      </p:sp>
      <p:sp>
        <p:nvSpPr>
          <p:cNvPr id="5" name="Rounded Rectangle 4"/>
          <p:cNvSpPr/>
          <p:nvPr/>
        </p:nvSpPr>
        <p:spPr>
          <a:xfrm>
            <a:off x="6202680" y="23241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6289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מנוהל</a:t>
            </a:r>
          </a:p>
        </p:txBody>
      </p:sp>
      <p:sp>
        <p:nvSpPr>
          <p:cNvPr id="7" name="TextBox 6"/>
          <p:cNvSpPr txBox="1"/>
          <p:nvPr/>
        </p:nvSpPr>
        <p:spPr>
          <a:xfrm>
            <a:off x="6477000" y="32385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קופת גמל להשקעה · השתלמות · פנסיה
✅ מישהו מנהל בשבילך
✅ הוראת קבע אוטומטית
✅ מפוקח · מעבר מסלול בלי מס
❌ דמי ניהול · פחות גמישות</a:t>
            </a:r>
          </a:p>
        </p:txBody>
      </p:sp>
      <p:sp>
        <p:nvSpPr>
          <p:cNvPr id="8" name="Rounded Rectangle 7"/>
          <p:cNvSpPr/>
          <p:nvPr/>
        </p:nvSpPr>
        <p:spPr>
          <a:xfrm>
            <a:off x="914400" y="23241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6289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עצמאי</a:t>
            </a:r>
          </a:p>
        </p:txBody>
      </p:sp>
      <p:sp>
        <p:nvSpPr>
          <p:cNvPr id="10" name="TextBox 9"/>
          <p:cNvSpPr txBox="1"/>
          <p:nvPr/>
        </p:nvSpPr>
        <p:spPr>
          <a:xfrm>
            <a:off x="1188720" y="32385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תיק השקעות בבית השקעות
✅ שליטה מלאה
✅ עמלות נמוכות יותר · גמישות
❌ דורש קצת יותר ידע וזמן
❌ את מקבלת את כל ההחלטות</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זוכרות את מיכל האישיות?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479" b="1" lang="he-IL">
                <a:solidFill>
                  <a:srgbClr val="191A2E"/>
                </a:solidFill>
                <a:latin typeface="Heebo"/>
                <a:ea typeface="Heebo"/>
                <a:cs typeface="Heebo"/>
              </a:rPr>
              <a:t>מה מתאים למי שאני?</a:t>
            </a:r>
          </a:p>
        </p:txBody>
      </p:sp>
      <p:sp>
        <p:nvSpPr>
          <p:cNvPr id="6" name="Rounded Rectangle 5"/>
          <p:cNvSpPr/>
          <p:nvPr/>
        </p:nvSpPr>
        <p:spPr>
          <a:xfrm>
            <a:off x="4776521" y="2209800"/>
            <a:ext cx="3755441" cy="469900"/>
          </a:xfrm>
          <a:prstGeom prst="roundRect">
            <a:avLst>
              <a:gd name="adj" fmla="val 48648"/>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a:lstStyle/>
          <a:p>
            <a:pPr algn="ctr" rtl="1">
              <a:lnSpc>
                <a:spcPct val="115000"/>
              </a:lnSpc>
            </a:pPr>
            <a:r>
              <a:rPr sz="1920" b="1" lang="he-IL">
                <a:solidFill>
                  <a:srgbClr val="191A2E"/>
                </a:solidFill>
                <a:latin typeface="Heebo"/>
                <a:ea typeface="Heebo"/>
                <a:cs typeface="Heebo"/>
              </a:rPr>
              <a:t>מנוהל</a:t>
            </a:r>
          </a:p>
        </p:txBody>
      </p:sp>
      <p:sp>
        <p:nvSpPr>
          <p:cNvPr id="7" name="Rounded Rectangle 6"/>
          <p:cNvSpPr/>
          <p:nvPr/>
        </p:nvSpPr>
        <p:spPr>
          <a:xfrm>
            <a:off x="914400" y="2209800"/>
            <a:ext cx="3755441" cy="469900"/>
          </a:xfrm>
          <a:prstGeom prst="roundRect">
            <a:avLst>
              <a:gd name="adj" fmla="val 48648"/>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a:lstStyle/>
          <a:p>
            <a:pPr algn="ctr" rtl="1">
              <a:lnSpc>
                <a:spcPct val="115000"/>
              </a:lnSpc>
            </a:pPr>
            <a:r>
              <a:rPr sz="1920" b="1" lang="he-IL">
                <a:solidFill>
                  <a:srgbClr val="191A2E"/>
                </a:solidFill>
                <a:latin typeface="Heebo"/>
                <a:ea typeface="Heebo"/>
                <a:cs typeface="Heebo"/>
              </a:rPr>
              <a:t>עצמאי</a:t>
            </a:r>
          </a:p>
        </p:txBody>
      </p:sp>
      <p:sp>
        <p:nvSpPr>
          <p:cNvPr id="8" name="Rounded Rectangle 7"/>
          <p:cNvSpPr/>
          <p:nvPr/>
        </p:nvSpPr>
        <p:spPr>
          <a:xfrm>
            <a:off x="8638642" y="27559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791042" y="28308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מי מנהל</a:t>
            </a:r>
          </a:p>
        </p:txBody>
      </p:sp>
      <p:sp>
        <p:nvSpPr>
          <p:cNvPr id="10" name="Rounded Rectangle 9"/>
          <p:cNvSpPr/>
          <p:nvPr/>
        </p:nvSpPr>
        <p:spPr>
          <a:xfrm>
            <a:off x="4776521" y="27559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928921" y="28308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גוף מקצועי</a:t>
            </a:r>
          </a:p>
        </p:txBody>
      </p:sp>
      <p:sp>
        <p:nvSpPr>
          <p:cNvPr id="12" name="Rounded Rectangle 11"/>
          <p:cNvSpPr/>
          <p:nvPr/>
        </p:nvSpPr>
        <p:spPr>
          <a:xfrm>
            <a:off x="914400" y="27559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66800" y="28308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את</a:t>
            </a:r>
          </a:p>
        </p:txBody>
      </p:sp>
      <p:sp>
        <p:nvSpPr>
          <p:cNvPr id="14" name="Rounded Rectangle 13"/>
          <p:cNvSpPr/>
          <p:nvPr/>
        </p:nvSpPr>
        <p:spPr>
          <a:xfrm>
            <a:off x="8638642" y="33020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91042" y="33769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עמלות</a:t>
            </a:r>
          </a:p>
        </p:txBody>
      </p:sp>
      <p:sp>
        <p:nvSpPr>
          <p:cNvPr id="16" name="Rounded Rectangle 15"/>
          <p:cNvSpPr/>
          <p:nvPr/>
        </p:nvSpPr>
        <p:spPr>
          <a:xfrm>
            <a:off x="4776521" y="33020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28921" y="33769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תלוי בגוף</a:t>
            </a:r>
          </a:p>
        </p:txBody>
      </p:sp>
      <p:sp>
        <p:nvSpPr>
          <p:cNvPr id="18" name="Rounded Rectangle 17"/>
          <p:cNvSpPr/>
          <p:nvPr/>
        </p:nvSpPr>
        <p:spPr>
          <a:xfrm>
            <a:off x="914400" y="33020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66800" y="33769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נמוכות</a:t>
            </a:r>
          </a:p>
        </p:txBody>
      </p:sp>
      <p:sp>
        <p:nvSpPr>
          <p:cNvPr id="20" name="Rounded Rectangle 19"/>
          <p:cNvSpPr/>
          <p:nvPr/>
        </p:nvSpPr>
        <p:spPr>
          <a:xfrm>
            <a:off x="8638642" y="38481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791042" y="39230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זמן נדרש</a:t>
            </a:r>
          </a:p>
        </p:txBody>
      </p:sp>
      <p:sp>
        <p:nvSpPr>
          <p:cNvPr id="22" name="Rounded Rectangle 21"/>
          <p:cNvSpPr/>
          <p:nvPr/>
        </p:nvSpPr>
        <p:spPr>
          <a:xfrm>
            <a:off x="4776521" y="38481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28921" y="39230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כמעט אפס</a:t>
            </a:r>
          </a:p>
        </p:txBody>
      </p:sp>
      <p:sp>
        <p:nvSpPr>
          <p:cNvPr id="24" name="Rounded Rectangle 23"/>
          <p:cNvSpPr/>
          <p:nvPr/>
        </p:nvSpPr>
        <p:spPr>
          <a:xfrm>
            <a:off x="914400" y="38481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66800" y="39230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יותר</a:t>
            </a:r>
          </a:p>
        </p:txBody>
      </p:sp>
      <p:sp>
        <p:nvSpPr>
          <p:cNvPr id="26" name="Rounded Rectangle 25"/>
          <p:cNvSpPr/>
          <p:nvPr/>
        </p:nvSpPr>
        <p:spPr>
          <a:xfrm>
            <a:off x="8638642" y="43942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791042" y="44691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סיכון לטעות</a:t>
            </a:r>
          </a:p>
        </p:txBody>
      </p:sp>
      <p:sp>
        <p:nvSpPr>
          <p:cNvPr id="28" name="Rounded Rectangle 27"/>
          <p:cNvSpPr/>
          <p:nvPr/>
        </p:nvSpPr>
        <p:spPr>
          <a:xfrm>
            <a:off x="4776521" y="43942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28921" y="44691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נמוך יותר</a:t>
            </a:r>
          </a:p>
        </p:txBody>
      </p:sp>
      <p:sp>
        <p:nvSpPr>
          <p:cNvPr id="30" name="Rounded Rectangle 29"/>
          <p:cNvSpPr/>
          <p:nvPr/>
        </p:nvSpPr>
        <p:spPr>
          <a:xfrm>
            <a:off x="914400" y="43942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066800" y="44691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גבוה יותר</a:t>
            </a:r>
          </a:p>
        </p:txBody>
      </p:sp>
      <p:sp>
        <p:nvSpPr>
          <p:cNvPr id="32" name="Rounded Rectangle 31"/>
          <p:cNvSpPr/>
          <p:nvPr/>
        </p:nvSpPr>
        <p:spPr>
          <a:xfrm>
            <a:off x="8638642" y="4940300"/>
            <a:ext cx="2638958" cy="469900"/>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8791042" y="5015230"/>
            <a:ext cx="2334158" cy="335280"/>
          </a:xfrm>
          <a:prstGeom prst="rect">
            <a:avLst/>
          </a:prstGeom>
          <a:noFill/>
        </p:spPr>
        <p:txBody>
          <a:bodyPr wrap="square" lIns="0" rIns="0" tIns="0" bIns="0" anchor="t">
            <a:spAutoFit/>
          </a:bodyPr>
          <a:lstStyle/>
          <a:p>
            <a:pPr algn="r" rtl="1">
              <a:lnSpc>
                <a:spcPct val="115000"/>
              </a:lnSpc>
            </a:pPr>
            <a:r>
              <a:rPr sz="1680" b="1" lang="he-IL">
                <a:solidFill>
                  <a:srgbClr val="191A2E"/>
                </a:solidFill>
                <a:latin typeface="Heebo"/>
                <a:ea typeface="Heebo"/>
                <a:cs typeface="Heebo"/>
              </a:rPr>
              <a:t>מתאים ל</a:t>
            </a:r>
          </a:p>
        </p:txBody>
      </p:sp>
      <p:sp>
        <p:nvSpPr>
          <p:cNvPr id="34" name="Rounded Rectangle 33"/>
          <p:cNvSpPr/>
          <p:nvPr/>
        </p:nvSpPr>
        <p:spPr>
          <a:xfrm>
            <a:off x="4776521" y="49403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928921" y="50152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מי שרוצה ”שגר ושכח“</a:t>
            </a:r>
          </a:p>
        </p:txBody>
      </p:sp>
      <p:sp>
        <p:nvSpPr>
          <p:cNvPr id="36" name="Rounded Rectangle 35"/>
          <p:cNvSpPr/>
          <p:nvPr/>
        </p:nvSpPr>
        <p:spPr>
          <a:xfrm>
            <a:off x="914400" y="4940300"/>
            <a:ext cx="3755441" cy="469900"/>
          </a:xfrm>
          <a:prstGeom prst="roundRect">
            <a:avLst>
              <a:gd name="adj" fmla="val 25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1066800" y="5015230"/>
            <a:ext cx="3450641" cy="335280"/>
          </a:xfrm>
          <a:prstGeom prst="rect">
            <a:avLst/>
          </a:prstGeom>
          <a:noFill/>
        </p:spPr>
        <p:txBody>
          <a:bodyPr wrap="square" lIns="0" rIns="0" tIns="0" bIns="0" anchor="t">
            <a:spAutoFit/>
          </a:bodyPr>
          <a:lstStyle/>
          <a:p>
            <a:pPr algn="ctr" rtl="1">
              <a:lnSpc>
                <a:spcPct val="115000"/>
              </a:lnSpc>
            </a:pPr>
            <a:r>
              <a:rPr sz="1680" b="0" lang="he-IL">
                <a:solidFill>
                  <a:srgbClr val="191A2E"/>
                </a:solidFill>
                <a:latin typeface="Heebo"/>
                <a:ea typeface="Heebo"/>
                <a:cs typeface="Heebo"/>
              </a:rPr>
              <a:t>מי שרוצה לנהל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42</a:t>
            </a:r>
          </a:p>
        </p:txBody>
      </p:sp>
      <p:sp>
        <p:nvSpPr>
          <p:cNvPr id="4" name="TextBox 3"/>
          <p:cNvSpPr txBox="1"/>
          <p:nvPr/>
        </p:nvSpPr>
        <p:spPr>
          <a:xfrm>
            <a:off x="914400" y="14097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אני עושה</a:t>
            </a:r>
          </a:p>
        </p:txBody>
      </p:sp>
      <p:sp>
        <p:nvSpPr>
          <p:cNvPr id="5" name="TextBox 4"/>
          <p:cNvSpPr txBox="1"/>
          <p:nvPr/>
        </p:nvSpPr>
        <p:spPr>
          <a:xfrm>
            <a:off x="914400" y="1866900"/>
            <a:ext cx="10363200" cy="1905000"/>
          </a:xfrm>
          <a:prstGeom prst="rect">
            <a:avLst/>
          </a:prstGeom>
          <a:noFill/>
        </p:spPr>
        <p:txBody>
          <a:bodyPr wrap="square" lIns="0" rIns="0" tIns="0" bIns="0" anchor="t">
            <a:spAutoFit/>
          </a:bodyPr>
          <a:lstStyle/>
          <a:p>
            <a:pPr algn="r" rtl="1">
              <a:lnSpc>
                <a:spcPct val="110000"/>
              </a:lnSpc>
            </a:pPr>
            <a:r>
              <a:rPr sz="6000" b="1" lang="he-IL">
                <a:solidFill>
                  <a:srgbClr val="191A2E"/>
                </a:solidFill>
                <a:latin typeface="Heebo"/>
                <a:ea typeface="Heebo"/>
                <a:cs typeface="Heebo"/>
              </a:rPr>
              <a:t>אצלנו בבית</a:t>
            </a:r>
          </a:p>
          <a:p>
            <a:pPr algn="r" rtl="1">
              <a:lnSpc>
                <a:spcPct val="110000"/>
              </a:lnSpc>
            </a:pPr>
            <a:r>
              <a:rPr sz="6000" b="1" lang="he-IL">
                <a:solidFill>
                  <a:srgbClr val="EF55A5"/>
                </a:solidFill>
                <a:latin typeface="Heebo"/>
                <a:ea typeface="Heebo"/>
                <a:cs typeface="Heebo"/>
              </a:rPr>
              <a:t>יש גם וגם.</a:t>
            </a:r>
          </a:p>
        </p:txBody>
      </p:sp>
      <p:sp>
        <p:nvSpPr>
          <p:cNvPr id="6" name="TextBox 5"/>
          <p:cNvSpPr txBox="1"/>
          <p:nvPr/>
        </p:nvSpPr>
        <p:spPr>
          <a:xfrm>
            <a:off x="914400" y="392430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קופת גמל להשקעה לבנות, שתרוץ לבד. ותיק עצמאי, שבדקתי במערכת של יועץ ההשקעות.</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43</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ועוד דבר אחד</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השקעות? לא דרך הבנק.</a:t>
            </a:r>
          </a:p>
          <a:p>
            <a:pPr algn="r" rtl="1">
              <a:lnSpc>
                <a:spcPct val="110000"/>
              </a:lnSpc>
            </a:pPr>
            <a:r>
              <a:rPr sz="4320" b="1" lang="he-IL">
                <a:solidFill>
                  <a:srgbClr val="EF55A5"/>
                </a:solidFill>
                <a:latin typeface="Heebo"/>
                <a:ea typeface="Heebo"/>
                <a:cs typeface="Heebo"/>
              </a:rPr>
              <a:t>חוץ מקרן כספית.</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על ניירות ערך הבנק לוקח עמלות גבוהות. על קרן כספית כמעט אין, אז שם זה ממש בסדר.</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בליווי שלנו</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בכל דרך, יש מי שמחזיק לכן את היד</a:t>
            </a:r>
          </a:p>
        </p:txBody>
      </p:sp>
      <p:sp>
        <p:nvSpPr>
          <p:cNvPr id="6" name="Rounded Rectangle 5"/>
          <p:cNvSpPr/>
          <p:nvPr/>
        </p:nvSpPr>
        <p:spPr>
          <a:xfrm>
            <a:off x="6202680" y="25146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8194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מנוהל</a:t>
            </a:r>
          </a:p>
        </p:txBody>
      </p:sp>
      <p:sp>
        <p:nvSpPr>
          <p:cNvPr id="8" name="TextBox 7"/>
          <p:cNvSpPr txBox="1"/>
          <p:nvPr/>
        </p:nvSpPr>
        <p:spPr>
          <a:xfrm>
            <a:off x="647700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הסוכן הפנסיוני, בפגישה האישית:
מסלולים, דמי ניהול,
ופותח את מה שצריך.</a:t>
            </a:r>
          </a:p>
        </p:txBody>
      </p:sp>
      <p:sp>
        <p:nvSpPr>
          <p:cNvPr id="9" name="Rounded Rectangle 8"/>
          <p:cNvSpPr/>
          <p:nvPr/>
        </p:nvSpPr>
        <p:spPr>
          <a:xfrm>
            <a:off x="914400" y="25146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8194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עצמאי</a:t>
            </a:r>
          </a:p>
        </p:txBody>
      </p:sp>
      <p:sp>
        <p:nvSpPr>
          <p:cNvPr id="11" name="TextBox 10"/>
          <p:cNvSpPr txBox="1"/>
          <p:nvPr/>
        </p:nvSpPr>
        <p:spPr>
          <a:xfrm>
            <a:off x="118872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יועץ ההשקעות: לייב קבוצתי
על שוק ההון + מערכת ייעוץ אישית
שתבנה עבורכן את הרכב המניות בתיק.</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45</a:t>
            </a:r>
          </a:p>
        </p:txBody>
      </p:sp>
      <p:pic>
        <p:nvPicPr>
          <p:cNvPr id="4" name="Picture 3" descr="s12_mind.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שאלון המסלול · נפתח הערב באזור האישי · 5 דקות</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מנוהל או עצמאי: מה מתאים לי?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46</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עוצרות · לפני הסיום</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47</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דברים מהשיעור:</a:t>
            </a:r>
          </a:p>
        </p:txBody>
      </p:sp>
      <p:sp>
        <p:nvSpPr>
          <p:cNvPr id="5" name="Rounded Rectangle 4"/>
          <p:cNvSpPr/>
          <p:nvPr/>
        </p:nvSpPr>
        <p:spPr>
          <a:xfrm>
            <a:off x="7965440" y="23241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6289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הזמן בוחר</a:t>
            </a:r>
          </a:p>
        </p:txBody>
      </p:sp>
      <p:sp>
        <p:nvSpPr>
          <p:cNvPr id="7" name="TextBox 6"/>
          <p:cNvSpPr txBox="1"/>
          <p:nvPr/>
        </p:nvSpPr>
        <p:spPr>
          <a:xfrm>
            <a:off x="823976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לפני כל החלטת כסף:
מתי אצטרך אותו?</a:t>
            </a:r>
          </a:p>
        </p:txBody>
      </p:sp>
      <p:sp>
        <p:nvSpPr>
          <p:cNvPr id="8" name="Rounded Rectangle 7"/>
          <p:cNvSpPr/>
          <p:nvPr/>
        </p:nvSpPr>
        <p:spPr>
          <a:xfrm>
            <a:off x="4439920" y="23241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6289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לכל כד יש בית</a:t>
            </a:r>
          </a:p>
        </p:txBody>
      </p:sp>
      <p:sp>
        <p:nvSpPr>
          <p:cNvPr id="10" name="TextBox 9"/>
          <p:cNvSpPr txBox="1"/>
          <p:nvPr/>
        </p:nvSpPr>
        <p:spPr>
          <a:xfrm>
            <a:off x="471424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עו״ש · קרן כספית ·
לפי התאריך · מדדים</a:t>
            </a:r>
          </a:p>
        </p:txBody>
      </p:sp>
      <p:sp>
        <p:nvSpPr>
          <p:cNvPr id="11" name="Rounded Rectangle 10"/>
          <p:cNvSpPr/>
          <p:nvPr/>
        </p:nvSpPr>
        <p:spPr>
          <a:xfrm>
            <a:off x="914400" y="23241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6289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מנוהל או עצמאי</a:t>
            </a:r>
          </a:p>
        </p:txBody>
      </p:sp>
      <p:sp>
        <p:nvSpPr>
          <p:cNvPr id="13" name="TextBox 12"/>
          <p:cNvSpPr txBox="1"/>
          <p:nvPr/>
        </p:nvSpPr>
        <p:spPr>
          <a:xfrm>
            <a:off x="118872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שתיהן אחלה.
מה שמתאים למי שאני.</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48</a:t>
            </a:r>
          </a:p>
        </p:txBody>
      </p:sp>
      <p:sp>
        <p:nvSpPr>
          <p:cNvPr id="4" name="TextBox 3"/>
          <p:cNvSpPr txBox="1"/>
          <p:nvPr/>
        </p:nvSpPr>
        <p:spPr>
          <a:xfrm>
            <a:off x="914400" y="123444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שאני הכי רוצה שתיקחו</a:t>
            </a:r>
          </a:p>
        </p:txBody>
      </p:sp>
      <p:sp>
        <p:nvSpPr>
          <p:cNvPr id="5" name="TextBox 4"/>
          <p:cNvSpPr txBox="1"/>
          <p:nvPr/>
        </p:nvSpPr>
        <p:spPr>
          <a:xfrm>
            <a:off x="914400" y="16916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את המנכ״לית.</a:t>
            </a:r>
          </a:p>
          <a:p>
            <a:pPr algn="r" rtl="1">
              <a:lnSpc>
                <a:spcPct val="110000"/>
              </a:lnSpc>
            </a:pPr>
            <a:r>
              <a:rPr sz="7200" b="1" lang="he-IL">
                <a:solidFill>
                  <a:srgbClr val="EF55A5"/>
                </a:solidFill>
                <a:latin typeface="Heebo"/>
                <a:ea typeface="Heebo"/>
                <a:cs typeface="Heebo"/>
              </a:rPr>
              <a:t>לא הפועל.</a:t>
            </a:r>
          </a:p>
        </p:txBody>
      </p:sp>
      <p:sp>
        <p:nvSpPr>
          <p:cNvPr id="6" name="TextBox 5"/>
          <p:cNvSpPr txBox="1"/>
          <p:nvPr/>
        </p:nvSpPr>
        <p:spPr>
          <a:xfrm>
            <a:off x="914400" y="409956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הכסף שלך. ההחלטות שלך. הביצוע: הוראת קבע ואנשי מקצוע.</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גג שעה · בעיפרון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המשימה לשבוע 🧭</a:t>
            </a:r>
          </a:p>
        </p:txBody>
      </p:sp>
      <p:sp>
        <p:nvSpPr>
          <p:cNvPr id="6" name="Oval 5"/>
          <p:cNvSpPr/>
          <p:nvPr/>
        </p:nvSpPr>
        <p:spPr>
          <a:xfrm>
            <a:off x="10850880" y="2286000"/>
            <a:ext cx="426720" cy="42672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1</a:t>
            </a:r>
          </a:p>
        </p:txBody>
      </p:sp>
      <p:sp>
        <p:nvSpPr>
          <p:cNvPr id="7" name="TextBox 6"/>
          <p:cNvSpPr txBox="1"/>
          <p:nvPr/>
        </p:nvSpPr>
        <p:spPr>
          <a:xfrm>
            <a:off x="914400" y="230124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ליד כל כד: כמה, מתי, ואיפה הוא גר</a:t>
            </a:r>
          </a:p>
        </p:txBody>
      </p:sp>
      <p:sp>
        <p:nvSpPr>
          <p:cNvPr id="8" name="Oval 7"/>
          <p:cNvSpPr/>
          <p:nvPr/>
        </p:nvSpPr>
        <p:spPr>
          <a:xfrm>
            <a:off x="10850880" y="3230880"/>
            <a:ext cx="426720" cy="42672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2</a:t>
            </a:r>
          </a:p>
        </p:txBody>
      </p:sp>
      <p:sp>
        <p:nvSpPr>
          <p:cNvPr id="9" name="TextBox 8"/>
          <p:cNvSpPr txBox="1"/>
          <p:nvPr/>
        </p:nvSpPr>
        <p:spPr>
          <a:xfrm>
            <a:off x="914400" y="3246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שאלון המסלול באזור האישי (5 דקות)</a:t>
            </a:r>
          </a:p>
        </p:txBody>
      </p:sp>
      <p:sp>
        <p:nvSpPr>
          <p:cNvPr id="10" name="Oval 9"/>
          <p:cNvSpPr/>
          <p:nvPr/>
        </p:nvSpPr>
        <p:spPr>
          <a:xfrm>
            <a:off x="10850880" y="417576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191A2E"/>
                </a:solidFill>
                <a:latin typeface="Heebo"/>
                <a:ea typeface="Heebo"/>
                <a:cs typeface="Heebo"/>
              </a:rPr>
              <a:t>3</a:t>
            </a:r>
          </a:p>
        </p:txBody>
      </p:sp>
      <p:sp>
        <p:nvSpPr>
          <p:cNvPr id="11" name="TextBox 10"/>
          <p:cNvSpPr txBox="1"/>
          <p:nvPr/>
        </p:nvSpPr>
        <p:spPr>
          <a:xfrm>
            <a:off x="914400" y="4191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מעבירות כד אחד לבית שלו. למשל: מה שמעל חודש בעו״ש &gt; לכרית</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יצא לך עצמאי? פותחת חשבון כבר השבוע. הפרטים בקבוצה.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50</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 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משהו אחד שאת לוקחת מהערב</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3 · מחלקות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51</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בשבוע הבא</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10946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9" name="TextBox 8"/>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0" name="Oval 9"/>
          <p:cNvSpPr/>
          <p:nvPr/>
        </p:nvSpPr>
        <p:spPr>
          <a:xfrm>
            <a:off x="411480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3</a:t>
            </a:r>
          </a:p>
        </p:txBody>
      </p:sp>
      <p:sp>
        <p:nvSpPr>
          <p:cNvPr id="11" name="TextBox 10"/>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3 · מחלקות</a:t>
            </a:r>
          </a:p>
        </p:txBody>
      </p:sp>
      <p:sp>
        <p:nvSpPr>
          <p:cNvPr id="12" name="Oval 11"/>
          <p:cNvSpPr/>
          <p:nvPr/>
        </p:nvSpPr>
        <p:spPr>
          <a:xfrm>
            <a:off x="102870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112014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לייב 4 · מפעילות: יישום בפועל.</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עושות את הצעד הראשון ביחד, צעד אחרי צעד. וההוראת קבע הראשונה להשקעות.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