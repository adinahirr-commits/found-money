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לכולם! שבוע עבר מאז שנפגשנו, ואני יודעת שהוא לא היה שבוע רגיל.</a:t>
            </a:r>
          </a:p>
          <a:p>
            <a:r>
              <a:t>פתחתם אפליקציות של בנק שלא פתחתם שנים. ספרתם. גיליתם. חלק מכם כתבו לי באמצע השבוע, ואני אתייחס לזה הערב.</a:t>
            </a:r>
          </a:p>
          <a:p>
            <a:r>
              <a:t>ובדיוק בגלל זה הערב הוא הערב שחיכיתי לו. כי הערב כל מספר שספרתם מקבל משמעות, וכל שקל מקבל תפקיד. יאללה, מתחילים.</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סדר, בשביל מי שפספס ובשביל כולנו.</a:t>
            </a:r>
          </a:p>
          <a:p>
            <a:r>
              <a:t>בלייב הראשון למדנו את שיטת המצפן: חזון, מטרות, נקודת מוצא, אסטרטגיה.</a:t>
            </a:r>
          </a:p>
          <a:p>
            <a:r>
              <a:t>פתחנו את החזון ואת לוח החזון. קיבלנו שלושה כלים לחיים: מעגל התודעה, סולם התודעה, ו"איך אפשר?".</a:t>
            </a:r>
          </a:p>
          <a:p>
            <a:r>
              <a:t>וירדנו לקרקע: נקודת המוצא. השווי הנקי, התזרים, וכמה הרמנו מהרצפה.</a:t>
            </a:r>
          </a:p>
          <a:p>
            <a:r>
              <a:t>הערב ממשיכים בדיוק מאותה נקודה.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בנוי הערב, שלושה חלקים, ואחרי כל חלק עוצרים לשאלות. אל תשמרו שאלות לסוף, תשאלו כשזה עולה.</a:t>
            </a:r>
          </a:p>
          <a:p>
            <a:r>
              <a:t>אחת, המספרים שגיליתם. מה עושים איתם, ומה עושים עם מה שמצאתם בדרך.</a:t>
            </a:r>
          </a:p>
          <a:p>
            <a:r>
              <a:t>שתיים, איך יוצרים תזרים יציב. גם כשהחודשים לא יציבים.</a:t>
            </a:r>
          </a:p>
          <a:p>
            <a:r>
              <a:t>ושלוש, הלב של הערב: שיטת הכדים. כמה לשים בכל כד.</a:t>
            </a:r>
          </a:p>
          <a:p>
            <a:r>
              <a:t>ובשבוע הבא, איפה כל כד גר. היום רק כמה. בסדר? יאללה.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ראשון. אני יודעת שלחלק מכם השבוע הזה היה כבד. ראיתם מספרים שלא הסתכלתם עליהם הרבה זמן.</a:t>
            </a:r>
          </a:p>
          <a:p>
            <a:r>
              <a:t>חלק סיימו את הכלי, חלק באמצע, וחלק עוד לא התחילו. כולם במקום הנכון, ואני אגיד למה.</a:t>
            </a:r>
          </a:p>
          <a:p>
            <a:r>
              <a:t>המספרים האלה הם לא ציון. הם נקודת מוצא. ואי אפשר לצאת לדרך בלי לדעת מאיפה יוצאים.</a:t>
            </a:r>
          </a:p>
          <a:p>
            <a:r>
              <a:t>אז בואו נראה מה בעצם גיליתם, ומה עושים עם זה.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מספרים ביקשתי שתביאו.</a:t>
            </a:r>
          </a:p>
          <a:p>
            <a:r>
              <a:t>השווי הנקי: כל מה שיש לכם, פחות כל מה שאתם חייבים. זה צילום. תמונה של רגע אחד.</a:t>
            </a:r>
          </a:p>
          <a:p>
            <a:r>
              <a:t>והתזרים: כמה נכנס בחודש, פחות כמה יוצא. זה כבר לא תמונה. זה סרט. הוא זז כל חודש.</a:t>
            </a:r>
          </a:p>
          <a:p>
            <a:r>
              <a:t>ועכשיו המשפט שאני רוצה שתיקחו הביתה: התמונה מספרת לכם איפה אתם היום. הסרט מספר לכם לאן אתם הולכים.</a:t>
            </a:r>
          </a:p>
          <a:p>
            <a:r>
              <a:t>אפשר להיות עם תמונה יפה וסרט שהולך אחורה. ואפשר להיות עם תמונה צנועה וסרט שעולה כל חודש.</a:t>
            </a:r>
          </a:p>
          <a:p>
            <a:r>
              <a:t>בליווי הזה אנחנו עובדים בעיקר על הסרט. כי הסרט הוא מה שמשנה את התמונה.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עובדים עם שני המספרים האלה?</a:t>
            </a:r>
          </a:p>
          <a:p>
            <a:r>
              <a:t>השווי הנקי הוא נקודת המוצא במצפן. אתם לא צריכים לעשות איתו כלום הערב. רק לדעת אותו, ולחזור אליו פעם בכמה חודשים כדי לראות שהוא עולה.</a:t>
            </a:r>
          </a:p>
          <a:p>
            <a:r>
              <a:t>התזרים הוא הכיוון. הוא אומר אם אתם זזים קדימה או אחורה.</a:t>
            </a:r>
          </a:p>
          <a:p>
            <a:r>
              <a:t>והפער בתזרים, מה שנשאר אחרי שכל ההוצאות יצאו, הוא הכסף שבונה את כל השאר. 50 שקל, 500, 5,000. זה הכסף שנדבר עליו הערב.</a:t>
            </a:r>
          </a:p>
          <a:p>
            <a:r>
              <a:t>ואם הפער שלילי, או שהוא קופץ מחודש לחודש? אז זה בדיוק השקף הבא.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כמה מכם כתבו לי השבוע: "עדי, הסתכלתי על החודשים האחרונים וזה לא יציב. חודש אחד פלוס, חודש אחד מינוס. ההוצאות קופצות, ההכנסות משתנות."</a:t>
            </a:r>
          </a:p>
          <a:p>
            <a:r>
              <a:t>ואני רוצה להגיד לכם: נכון. זה תקין וזה טבעי.</a:t>
            </a:r>
          </a:p>
          <a:p>
            <a:r>
              <a:t>חודש של חגים לא דומה לחודש רגיל. יש חודש שהרכב בטיפול, חודש שהילד חולה ולא עבדתם, חודש שעצמאית לא גבתה, חודש עם בונוס. חודש עם חמישה שבועות.</a:t>
            </a:r>
          </a:p>
          <a:p>
            <a:r>
              <a:t>אין משפחה שהחודשים שלה זהים. אז קודם כל, להוריד את האשמה. לא עשיתם משהו לא נכון. ככה חיים נראים.</a:t>
            </a:r>
          </a:p>
          <a:p>
            <a:r>
              <a:t>ועם זאת.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ועם זאת, ופה הכל מתחיל: אנחנו לא רוצים שהתזרים שלנו יתערער מכל שינוי כזה.</a:t>
            </a:r>
          </a:p>
          <a:p>
            <a:r>
              <a:t>תחשבו על בית. בחוץ יש גשם, חמסין, סופה. הבית לא מתערער מכל גשם. למה? כי מי שבנה אותו ידע שיהיה גשם.</a:t>
            </a:r>
          </a:p>
          <a:p>
            <a:r>
              <a:t>זה כל הפער בין משפחה שכל חודש מחדש בלחץ, למשפחה שבדיוק אותם דברים קורים לה, הרכב, החגים, החודש החלש, והיא רגועה.</a:t>
            </a:r>
          </a:p>
          <a:p>
            <a:r>
              <a:t>לא כי יש להם יותר כסף. כי יש להם תוכנית שכבר ראתה את זה מראש.</a:t>
            </a:r>
          </a:p>
          <a:p>
            <a:r>
              <a:t>בדיוק את התוכנית הזאת בונים הערב. אבל לפני שבונים, מנקים.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בשבוע שעבר קראתי לזה נזילות. והשבוע חלק מכם מצאו אותן, וזה היה שוק.</a:t>
            </a:r>
          </a:p>
          <a:p>
            <a:r>
              <a:t>אז יש שני סוגים.</a:t>
            </a:r>
          </a:p>
          <a:p>
            <a:r>
              <a:t>הסוג הראשון: כסף שיוצא בלי שבכלל ידענו. מינוי שהתחיל כחודש ניסיון לפני שנתיים. חיוב כפול. עמלות בבנק. ביטוח על טלפון שכבר אין לכם.</a:t>
            </a:r>
          </a:p>
          <a:p>
            <a:r>
              <a:t>הכסף הזה לא קנה לכם כלום. לא חייתם טוב יותר איתו, ולא תחיו פחות טוב בלעדיו. זה פשוט חור בכד.</a:t>
            </a:r>
          </a:p>
          <a:p>
            <a:r>
              <a:t>והסוג השני: כסף שידעתם שיוצא, אבל כשראיתם את הסכום החודשי הייתם בהלם. האוכל בחוץ. ההזמנות. הקפה בדרך. הקניות הקטנות שכל אחת "זה כלום".</a:t>
            </a:r>
          </a:p>
          <a:p>
            <a:r>
              <a:t>פה זה לא חור. זו בחירה. והשאלה היא רק אם זו בחירה שאתם עומדים מאחוריה.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עוברים על ההוצאות בלי להיכנס לדיאטה? שלוש שאלות, לכל שורה בתזרים.</a:t>
            </a:r>
          </a:p>
          <a:p>
            <a:r>
              <a:t>שאלה ראשונה: ידעתי שזה יוצא? אם לא, אוטמים. בלי דיון. זה הסוג הראשון.</a:t>
            </a:r>
          </a:p>
          <a:p>
            <a:r>
              <a:t>שאלה שנייה: זה מוסיף לי לחיים? מינוי שלא פתחתם חצי שנה לא מוסיף. מורידים.</a:t>
            </a:r>
          </a:p>
          <a:p>
            <a:r>
              <a:t>ושאלה שלישית: זה שווה לי את המחיר הזה? אם כן, נשאר. ולא רק נשאר. נשאר בלי אשמה.</a:t>
            </a:r>
          </a:p>
          <a:p>
            <a:r>
              <a:t>אני לא רוצה שתורידו את הדבר שעושה לכם טוב. אני רוצה שתורידו את מה שלא.</a:t>
            </a:r>
          </a:p>
          <a:p>
            <a:r>
              <a:t>כל ההבדל בין צמצום לבין סדר הוא השאלה השלישית. צמצום מוריד הכל. סדר מוריד את מה שלא שווה לכם, ומשאיר את מה שכן.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ורק שתראו מה זה שווה. דוגמה מהשבוע שעבר: הוזלתם אינטרנט ב-70 שקל. סלולר ב-100. ומצאתם מינוי של 40 שקל ששכחתם ממנו.</a:t>
            </a:r>
          </a:p>
          <a:p>
            <a:r>
              <a:t>210 שקל בחודש. 2,520 שקל בשנה. בלי לוותר על שום דבר. אותה רמת חיים בדיוק, אותו אינטרנט, אותו טלפון.</a:t>
            </a:r>
          </a:p>
          <a:p>
            <a:r>
              <a:t>תחזיקו את ה-210 האלה בראש. בעוד כמה דקות תראו מה הם עושים ב-20 שנה.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המספרים, על הנזילות, על מה שגיליתם.</a:t>
            </a:r>
          </a:p>
          <a:p>
            <a:r>
              <a:t>(2-3 שאלות, לא יותר מ-4 דקות. אם עולה "איפה לשים" או "באיזה מסלול": "זה בדיוק לייב 3, אני שומרת לכם את זה." אם מישהי מתלבטת אם הוצאה מסוימת מוצדקת: לחזור לשאלה השלישית, "זה שווה לך את המחיר?", ולא להכריע בשבילה.)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שני. איך יוצרים תזרים יציב.</a:t>
            </a:r>
          </a:p>
          <a:p>
            <a:r>
              <a:t>ההגדרה פשוטה: תזרים יציב זה שיותר נכנס ממה שיוצא. כל חודש. כולל בחודש הקשה.</a:t>
            </a:r>
          </a:p>
          <a:p>
            <a:r>
              <a:t>לא "בממוצע". לא "בחודשים הטובים". כל חודש. ואיך עושים את זה, יש בדיוק שני כיוונים.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כיוון אחד: לצמצם הוצאות. וזה עובד, ראינו הרגע 210 שקל. אבל יש לו רצפה. יש גבול כמה אפשר להוריד. אי אפשר לבטל את שכר הדירה. אי אפשר להוריד את האוכל לאפס. ומתחת לרצפה הזאת זה כבר לא חיים, זו הישרדות.</a:t>
            </a:r>
          </a:p>
          <a:p>
            <a:r>
              <a:t>כיוון שני: להגדיל הכנסות. ולזה אין תקרה. אפשר להכניס עוד 500, עוד 5,000, עוד 50,000. אין רצפה ואין תקרה.</a:t>
            </a:r>
          </a:p>
          <a:p>
            <a:r>
              <a:t>אז לכאורה התשובה ברורה: תרוויחו יותר. נכון? אז לא בדיוק. ואני אראה לכם למה.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הנה המלכודת, וזה קרה לי אישית. עשר שנים הייתי שכירה בעסק של עצמי, הרווחתי יפה, ועדיין רדפתי אחרי כסף.</a:t>
            </a:r>
          </a:p>
          <a:p>
            <a:r>
              <a:t>כי אם אני מכניסה יותר, ולא שולטת על ההוצאות, אני פשוט מוציאה יותר. הרכב משתדרג. החופשה מתארכת. הסופר נהיה יקר יותר. רמת החיים עולה ביחד עם המשכורת.</a:t>
            </a:r>
          </a:p>
          <a:p>
            <a:r>
              <a:t>והתזרים? נשאר בדיוק אותו תזרים. אותו פער. ואם הפער לא השתנה, רשת הביטחון שלי לא השתנתה. הרווחתי יותר, ואני באותו מקום בדיוק.</a:t>
            </a:r>
          </a:p>
          <a:p>
            <a:r>
              <a:t>יש לזה אפילו שם. חוק פרקינסון: ההוצאות עולות עד שהן פוגשות את ההכנסה. אם לא עוצרים אותן, הן תמיד ישיגו.</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תכירו את דנה ואת רוני. שתיהן מרוויחות עשרת אלפים שקל בחודש. אותה עיר, אותו בנק, אותה משכורת.</a:t>
            </a:r>
          </a:p>
          <a:p>
            <a:r>
              <a:t>רוני: רכב חדש, חו"ל שלוש פעמים בשנה, בגדים יפים. דנה: רכב רגיל, חופשה פעם בשנה.</a:t>
            </a:r>
          </a:p>
          <a:p>
            <a:r>
              <a:t>מי מהן עשירה יותר? תחזיקו תשובה בראש. לא בצ'אט, בראש.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הנה מה שאף אחד לא רואה.</a:t>
            </a:r>
          </a:p>
          <a:p>
            <a:r>
              <a:t>מאחורי דנה יש מיליון שקל בנכסים. מאחורי רוני יש עשרים אלף. וזה הכל.</a:t>
            </a:r>
          </a:p>
          <a:p>
            <a:r>
              <a:t>כשאנחנו רואים אנשים עם רכב יקר וטיסות, זה לא אומר שהם עשירים. זה אומר שרמת החיים שלהם גבוהה.</a:t>
            </a:r>
          </a:p>
          <a:p>
            <a:r>
              <a:t>רמת חיים זה כמה אתם מוציאים. עושר זה כמה יש לכם. ושני הדברים האלה הרבה פעמים בכלל לא נפגשים.</a:t>
            </a:r>
          </a:p>
          <a:p>
            <a:r>
              <a:t>מורגן האוסל כתב את זה במשפט אחד בספר "הפסיכולוגיה של הכסף": עושר הוא מה שלא רואים.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האידיאל? לא צמצום, ולא התנפחות. יציבות.</a:t>
            </a:r>
          </a:p>
          <a:p>
            <a:r>
              <a:t>מגיעים לרמת חיים טובה. טובה באמת, לא נזירות. רמת חיים שאתם חיים בה בכיף.</a:t>
            </a:r>
          </a:p>
          <a:p>
            <a:r>
              <a:t>ואז נשארים בה. זה החלק הקשה, וזה החלק שאף אחד לא מלמד.</a:t>
            </a:r>
          </a:p>
          <a:p>
            <a:r>
              <a:t>ומשם, כל הפוקוס הולך לכיוון שאין לו תקרה: להגדיל הכנסות.</a:t>
            </a:r>
          </a:p>
          <a:p>
            <a:r>
              <a:t>וכל שקל נוסף שנכנס לא הולך לשדרג את הרכב. הוא הולך לכדים. ההכנסה גדלה, רמת החיים נשארת, והפער הוא מה שגדל. זה כל הסוד.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ובואו נראה את זה במספרים, כי אצלי זה נפל רק כשראיתי מספרים.</a:t>
            </a:r>
          </a:p>
          <a:p>
            <a:r>
              <a:t>ניקח את דנה ואת רוני עשרים שנה קדימה. שתיהן מכניסות שתים עשרה אלף נטו. בלי ירושה, בלי קידום. נקודת מוצא זהה.</a:t>
            </a:r>
          </a:p>
          <a:p>
            <a:r>
              <a:t>רוני: שתים עשרה נכנס, שתים עשרה יוצא. כל העלאה הפכה לעוד קצת רמת חיים. אחרי עשרים שנה: אפס נכסים. והמשכורת חייבת להיכנס, לנצח.</a:t>
            </a:r>
          </a:p>
          <a:p>
            <a:r>
              <a:t>דנה: ביום שהמשכורת נכנסת, אלף וחמש מאות עוברים ראשונים לכד הארוך. על עשרת אלפים וחמש מאות היא חיה. חיים טובים.</a:t>
            </a:r>
          </a:p>
          <a:p>
            <a:r>
              <a:t>אחרי עשרים שנה, בתשואה ממוצעת של שבעה אחוז, להמחשה בלבד: בערך שבע מאות ושמונים אלף. אחרי שלושים: בערך מיליון ושמונה מאות אלף.</a:t>
            </a:r>
          </a:p>
          <a:p>
            <a:r>
              <a:t>(לעצור. שנייה של שקט.)</a:t>
            </a:r>
          </a:p>
          <a:p>
            <a:r>
              <a:t>אותה משכורת. אף אחת לא קיבלה קידום. ההבדל כולו: אלף וחמש מאות שקל שקיבלו תפקיד. וזוכרים את ה-210 מהנזילות? גם הם, ב-20 שנה, הם בערך 110 אלף שקל.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ורגע לפני שבונים, שאלה שבטח עולה לכם: "עדי, אבל איך אני יוצרת יציבות כשכל הזמן קורה משהו לא צפוי?"</a:t>
            </a:r>
          </a:p>
          <a:p>
            <a:r>
              <a:t>אז הנה האמת: הלא צפוי הוא הדבר הכי צפוי שיש.</a:t>
            </a:r>
          </a:p>
          <a:p>
            <a:r>
              <a:t>המקרר יתקלקל. הרכב יצטרך טיפול. יהיה חודש בלי הכנסה. שן תכאב. לא יודעים מתי. יודעים שכן.</a:t>
            </a:r>
          </a:p>
          <a:p>
            <a:r>
              <a:t>ומי שמתכננת כאילו זה לא יקרה, מופתעת כל פעם מחדש. ומי שמתכננת שזה יקרה, רגועה כשזה קורה.</a:t>
            </a:r>
          </a:p>
          <a:p>
            <a:r>
              <a:t>ובדיוק בשביל זה אנחנו לא שמים את כל הכסף בערימה אחת. אנחנו מחלקים אותו לכמה כדים, כדי להיות מוכנים לכל תרחיש. וזה החלק השלישי.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החלק הזה. על היציבות, על רמת החיים, על דנה ורוני.</a:t>
            </a:r>
          </a:p>
          <a:p>
            <a:r>
              <a:t>(2-3 שאלות, עד 3 דקות. אם עולה "אבל אני לא יכולה להגדיל הכנסות עכשיו": "לא חייבים עכשיו. היציבות קודמת. קודם קובעים רמת חיים ונשארים בה, ההכנסה זה השלב הבא.")</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שלישי. שיטת הכדים. לכל שקל תפקיד וטווח.</a:t>
            </a:r>
          </a:p>
          <a:p>
            <a:r>
              <a:t>זה המשפט של הערב. אם תזכרו רק דבר אחד, תזכרו את זה.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ארבעה כדים. ראיתם אותם לרגע בלייב הקודם, הערב נכנסים לכל אחד, ובעיקר: כמה שמים בכל אחד.</a:t>
            </a:r>
          </a:p>
          <a:p>
            <a:r>
              <a:t>כד ראשון, העו"ש: הכסף של החיים של החודש.</a:t>
            </a:r>
          </a:p>
          <a:p>
            <a:r>
              <a:t>כד שני, כרית הביטחון: השקט. לתרחישים שדיברנו עליהם הרגע.</a:t>
            </a:r>
          </a:p>
          <a:p>
            <a:r>
              <a:t>כד שלישי, המטרות הקרובות: הכסף לדברים של השנים הקרובות.</a:t>
            </a:r>
          </a:p>
          <a:p>
            <a:r>
              <a:t>וכד רביעי, טווח ארוך: כל מה שלא צריך את שאר הכדים. הכסף שעובד בשבילכם שנים.</a:t>
            </a:r>
          </a:p>
          <a:p>
            <a:r>
              <a:t>וזה נכון גם לכסף שעוד לא הגיע: המשכורת של חודש הבא, בונוס, החזר מס. ברגע שיש ארבעה כדים, כל שקל שנכנס כבר יודע לאן הוא הולך. בלי להתלבט כל פעם מחדש.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ראשון, העו"ש. כמה שמים שם? בערך חודש של הוצאות.</a:t>
            </a:r>
          </a:p>
          <a:p>
            <a:r>
              <a:t>זה הבמפר: בתחילת החודש הרבה הוצאות יורדות עד שנכנסת המשכורת, ואני רוצה את המרחב הזה, כדי לא להיכנס למינוס ולא להיות ברשימה השחורה של הבנק.</a:t>
            </a:r>
          </a:p>
          <a:p>
            <a:r>
              <a:t>מי שיודע שבחודשים הקרובים יהיו יותר הוצאות או פחות הכנסות, קצת יותר.</a:t>
            </a:r>
          </a:p>
          <a:p>
            <a:r>
              <a:t>אני מפסידה על הכסף הזה באינפלציה, אני לא מרוויחה עליו. ועדיין, הוא חייב להיות שם. העו"ש הוא תחנת מעבר, לא מקום לגור בו.</a:t>
            </a:r>
          </a:p>
          <a:p>
            <a:r>
              <a:t>וכל שקל מעבר לזה שיושב בעו"ש הוא שקל שלא עובד. אז השאלה היא רק לאן מנתבים אותו.</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שני. כרית הביטחון. השקט שלכם.</a:t>
            </a:r>
          </a:p>
          <a:p>
            <a:r>
              <a:t>בשביל מה היא? חופשת לידה. תקופה בין עבודות. הרכב שנתקע, השיניים, המקרר. כל ה"לא צפוי" שהוא כל כך צפוי.</a:t>
            </a:r>
          </a:p>
          <a:p>
            <a:r>
              <a:t>ובעיקר, בשביל דבר אחד שאולי לא חשבתם עליו: כדי שההשקעות שלכם לא ייגעו. כי ביום שאין כרית ויש מקרה, מאיפה לוקחים? מההשקעה. בדיוק ביום הלא נכון, כשהשוק למטה, ומוכרים בהפסד.</a:t>
            </a:r>
          </a:p>
          <a:p>
            <a:r>
              <a:t>בשאלוני הכניסה שלכם, כמעט לאף אחד אין כרית מוגדרת. יש "כסף בצד", יש "משהו בפיקדון", אבל מספר, אין. הערב כל אחד ואחת יוצאים עם מספר.</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וכמה? שלושה חודשי הוצאות. זה המספר שלי, וזה המספר שאני ממליצה לכם להתחיל ממנו.</a:t>
            </a:r>
          </a:p>
          <a:p>
            <a:r>
              <a:t>איך מחשבים? ההוצאות החיוניות שלכם בחודש, רק מה שחייבים: דיור, מזון, חשבונות, ביטוחים, תחבורה, חינוך. בכלי של שבוע שעבר סימנתם את זה כ"חובה". בלי בילויים, בלי קניות.</a:t>
            </a:r>
          </a:p>
          <a:p>
            <a:r>
              <a:t>כפול שלוש.</a:t>
            </a:r>
          </a:p>
          <a:p>
            <a:r>
              <a:t>מי שמוציא עשרת אלפים בחודש: שלושים אלף. מי שמוציא עשרים: שישים אלף. מי שיודע שמחכה לו תקופה של פחות הכנסות, לידה, לימודים, מעבר: קצת יותר משלושה. אבל שלושה זה הבסיס.</a:t>
            </a:r>
          </a:p>
          <a:p>
            <a:r>
              <a:t>יש לכם כבר ארבעה עשר אלף בפיקדון ישן? מעולה. הפער שלכם הוא שישה עשר אלף. עכשיו יש מספר, יש פער, ואפשר לתכנן.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ואיפה היא גרה? רק את העיקרון הערב, כי ה"איפה בדיוק" זה כל לייב 3.</a:t>
            </a:r>
          </a:p>
          <a:p>
            <a:r>
              <a:t>העיקרון: התפקיד של הכרית הוא לא להרוויח. התפקיד שלה הוא לשמור.</a:t>
            </a:r>
          </a:p>
          <a:p>
            <a:r>
              <a:t>לכן היא לא בעו"ש ולא בחזיר, כי שם היא מפסידה שלושה אחוז בשנה לאינפלציה. אבל היא גם לא בהשקעה. היא במסלול של סיכון נמוך מאוד, שהמטרה שלו היא רק לשמור על ערך הכסף.</a:t>
            </a:r>
          </a:p>
          <a:p>
            <a:r>
              <a:t>נזילה, מופרדת מהעו"ש, לא בסיכון. אם אני צריכה אותה מחר, היא אצלי מחר, באותו סכום.</a:t>
            </a:r>
          </a:p>
          <a:p>
            <a:r>
              <a:t>איפה בפועל, פיקדון, קרן כספית, מסלול סולידי, ומה ההבדלים: שבוע הבא.</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הדבר שאני הכי רוצה שתשמעו, כי אני יודעת מה קרה לחלק מכם בשקף הקודם. חישבתם, ראיתם שלושים או שישים אלף, ואמרתם "אוקיי, אז עד שיהיה לי את זה אני לא מתחילה כלום."</a:t>
            </a:r>
          </a:p>
          <a:p>
            <a:r>
              <a:t>לא. לא נעצרים על הכרית.</a:t>
            </a:r>
          </a:p>
          <a:p>
            <a:r>
              <a:t>אם היא עוד לא שם, בונים אותה במינון. חלק מהכסף הפנוי הולך לכרית, וחלק הולך לטווח הארוך. למשל: יש לכם אלף שקל פער בחודש? שש מאות לכרית, ארבע מאות לכד הארוך.</a:t>
            </a:r>
          </a:p>
          <a:p>
            <a:r>
              <a:t>ככה שני הערוצים נבנים במקביל. הביטחון גדל כל חודש, וההרגל להשקיע נבנה כבר מהחודש הראשון, לא בעוד שנתיים.</a:t>
            </a:r>
          </a:p>
          <a:p>
            <a:r>
              <a:t>כי לא צריך להיות עשירים כדי להשקיע. צריך להשקיע כדי להיות עשירים. הכרית לא חוסמת את הדרך. היא נבנית תוך כדי.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שלישי. המטרות הקרובות.</a:t>
            </a:r>
          </a:p>
          <a:p>
            <a:r>
              <a:t>מה נכנס לשם? כל מה שתצטרכו בשלוש השנים הקרובות. רכב, חופשה, אירוע משפחתי, מקדמה לקורס, שיפוץ קטן.</a:t>
            </a:r>
          </a:p>
          <a:p>
            <a:r>
              <a:t>וכמה שמים? פה המטרה עושה את העבודה בשבילכם: מטרה זה סכום ותאריך. חופשה של חמישה עשר אלף בעוד שנה? חמישה עשר אלף חלקי שנים עשר. אלף מאתיים וחמישים בחודש. זה המספר.</a:t>
            </a:r>
          </a:p>
          <a:p>
            <a:r>
              <a:t>ואיך הכסף הזה מרגיש? הוא נשאר זמין ויציב. לא מסתכן. התאריך קרוב מדי בשביל להסתכן. </a:t>
            </a:r>
          </a:p>
          <a:p>
            <a:r>
              <a:t>בכלי באזור האישי הטווח הקרוב מתחלק לשניים, קרוב עד שלוש שנים, ובינוני עד שמונה, מקדמה לדירה, לימודים. ככה יותר מדויק.</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ודוגמה קטנה מהחיים, כי ככה זה נראה בפועל.</a:t>
            </a:r>
          </a:p>
          <a:p>
            <a:r>
              <a:t>אותה חופשה של חמישה עשר אלף. בלי כד: הלוואה, חמש מאות שקל כפול שלושים ושישה חודשים. שילמתם שמונה עשר אלף. שלושת אלפים הלכו על כלום, ושלוש שנים אחרי החופשה אתם עוד משלמים עליה. זו האשמה.</a:t>
            </a:r>
          </a:p>
          <a:p>
            <a:r>
              <a:t>עם כד קרוב: אלף מאתיים וחמישים בחודש, שנה אחת, וחמישה עשר אלף מוכנים. אפס ריבית, אפס חובות, אפס אשמה. אותה חופשה בדיוק.</a:t>
            </a:r>
          </a:p>
          <a:p>
            <a:r>
              <a:t>ההבדל הוא לא בכמה הרווחתם. ההבדל הוא שלכסף היה תפקיד שנה קודם.</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וכד רביעי. טווח ארוך.</a:t>
            </a:r>
          </a:p>
          <a:p>
            <a:r>
              <a:t>כמה שמים שם? הכלל הכי פשוט שיש: כל מה שלא צריך את שאר הכדים.</a:t>
            </a:r>
          </a:p>
          <a:p>
            <a:r>
              <a:t>אחרי שהעו"ש מלא, הכרית מוגדרת ונבנית, והמטרות הקרובות קיבלו את שלהן. כל מה שנשאר, לכאן.</a:t>
            </a:r>
          </a:p>
          <a:p>
            <a:r>
              <a:t>הכד הזה מנותק מהתזרים החודשי. לא נוגעים בו בשביל החודש. הוא צומח, ובעזרתו בונים את החופש.</a:t>
            </a:r>
          </a:p>
          <a:p>
            <a:r>
              <a:t>ולמה הטווח כל כך משנה? כי כסף שצריך בעוד שנה חייב להישאר יציב. כסף שצריך בעוד עשרים שנה יכול לעבוד קשה. לא ההשקעה קובעת את הטווח. הטווח קובע את ההשקעה. ואיזו השקעה לאיזה כד, זה לייב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ואיך זה עובד בפועל, כל חודש? זוכרים "קודם אני" מהלייב הקודם?</a:t>
            </a:r>
          </a:p>
          <a:p>
            <a:r>
              <a:t>ההעברה לכדים היא ההוצאה הקבועה הראשונה. לא מה שנשאר בסוף החודש. כי מה שנשאר בסוף החודש, אנחנו יודעים מה קורה לו. הוא לא נשאר.</a:t>
            </a:r>
          </a:p>
          <a:p>
            <a:r>
              <a:t>וורן באפט ניסח את זה במשפט אחד: אל תחסכו את מה שנשאר אחרי ההוצאות. תוציאו את מה שנשאר אחרי החיסכון.</a:t>
            </a:r>
          </a:p>
          <a:p>
            <a:r>
              <a:t>זה בדיוק מה שדנה עשתה. ביום שהמשכורת נכנסת, הכדים מקבלים ראשונים.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כמה לכל כד, כל חודש? הנה הכלל, ואחר כך המספרים שלכם.</a:t>
            </a:r>
          </a:p>
          <a:p>
            <a:r>
              <a:t>בעולם קוראים לזה חמישים, שלושים, עשרים. אצלנו זה הולך לפי הכדים.</a:t>
            </a:r>
          </a:p>
          <a:p>
            <a:r>
              <a:t>חמישים עד שישים אחוז מההכנסה: החיים של החודש. כד אחד. דיור, אוכל, חשבונות, וגם הבילויים.</a:t>
            </a:r>
          </a:p>
          <a:p>
            <a:r>
              <a:t>עשרים עד שלושים אחוז: ביטחון ומטרות קרובות. קודם כד שתיים, הכרית, עד שהיא מלאה. ואז כד שלוש.</a:t>
            </a:r>
          </a:p>
          <a:p>
            <a:r>
              <a:t>ועשרה עד עשרים אחוז: טווח ארוך. כד ארבע. החלק מההכנסה שעובד בשבילכם, ולא בשביל החודש.</a:t>
            </a:r>
          </a:p>
          <a:p>
            <a:r>
              <a:t>תסתכלו על דנה: אלף וחמש מאות משתים עשרה אלף זה שתים עשרה וחצי אחוז. היא בטווח.</a:t>
            </a:r>
          </a:p>
          <a:p>
            <a:r>
              <a:t>ואלה אחוזים של התחלה. אם היום אתם על חמישה אחוז, זה המספר שלכם, והיעד הוא לטפס. ואם הכרית עוד לא מלאה, זוכרים: במינון. חלק לשתיים, חלק לארבע.</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ומה שנשאר, אחרי שכל הכדים קיבלו את שלהם? שלכם. לבזבז. בלי אשמה.</a:t>
            </a:r>
          </a:p>
          <a:p>
            <a:r>
              <a:t>ואני מתכוונת לזה. חופשה, מסעדה, הנעליים, הקפה בבוקר. מה שעושה לכם טוב.</a:t>
            </a:r>
          </a:p>
          <a:p>
            <a:r>
              <a:t>כי תשמעו משהו שלקח לי שנים להבין: רגשות אשמה על כסף הם לא סימן שהוצאתם יותר מדי. הם סימן שלא הייתה תוכנית.</a:t>
            </a:r>
          </a:p>
          <a:p>
            <a:r>
              <a:t>כשאין תוכנית, כל הוצאה מתחרה עם העתיד. כל מסעדה היא "במקום" משהו. כשיש כדים, ההוצאה כבר לא מתחרה עם כלום. העתיד קיבל את שלו, ראשון.</a:t>
            </a:r>
          </a:p>
          <a:p>
            <a:r>
              <a:t>רמית סתי אומר את זה ככה: תוציאו בשפע על מה שאתם אוהבים, ותחתכו בלי רחמים את מה שלא. לא צמצום. לא דיאטת קפה. תוכנית.</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ולאן כל זה הולך? אני רוצה לתת לכם מפה, שתדעו איפה אתם ולאן מטפסים.</a:t>
            </a:r>
          </a:p>
          <a:p>
            <a:r>
              <a:t>מדרגה אחת, תלות. ממשכורת למשכורת. הרבה מכם מיפו השבוע ומצאו את עצמם פה. זו נקודת מוצא, לא ציון.</a:t>
            </a:r>
          </a:p>
          <a:p>
            <a:r>
              <a:t>מדרגה שתיים, יציבות. כד אחד מלא, תזרים חיובי. החודש כבר לא מפחיד. זה חלק שתיים של הערב.</a:t>
            </a:r>
          </a:p>
          <a:p>
            <a:r>
              <a:t>מדרגה שלוש, ביטחון. כד שתיים מלא, שלושה חודשים. פה נגמר הפחד.</a:t>
            </a:r>
          </a:p>
          <a:p>
            <a:r>
              <a:t>מדרגה ארבע, צמיחה. כד ארבע גדל כל חודש. חלק מההכנסה עובד בשבילכם.</a:t>
            </a:r>
          </a:p>
          <a:p>
            <a:r>
              <a:t>ומדרגה חמש, חופש. כד ארבע מממן את החיים. עובדים כי רוצים.</a:t>
            </a:r>
          </a:p>
          <a:p>
            <a:r>
              <a:t>אין פה קסם ואין סוד של עשירים. ארבעה כדים, ממלאים אותם, והמדרגות באות לבד.</a:t>
            </a:r>
          </a:p>
          <a:p>
            <a:r>
              <a:t>[[עדי: על איזו מדרגה את היום, במשפט אחד.]]</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הכדים. על הכמה, על הכרית, על המינון.</a:t>
            </a:r>
          </a:p>
          <a:p>
            <a:r>
              <a:t>(עד 4 דקות. "איפה שמים" ו"איזה מסלול": "שבוע הבא, זה כל הלייב." אם מישהי אומרת שאין לה פער בכלל: "אז מספר אחד הערב: הכרית, גם 100 שקל בחודש. והמשימה של השבוע היא לחזור לנזילות.")</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המשימה, שלושה כלים מהערב. לא לשיעור. לחיים.</a:t>
            </a:r>
          </a:p>
          <a:p>
            <a:r>
              <a:t>"שלוש השאלות": ידעתי? מוסיף לי? שווה לי את המחיר? לכל שורה בתזרים, מהיום.</a:t>
            </a:r>
          </a:p>
          <a:p>
            <a:r>
              <a:t>"קודם אני": הכדים מקבלים ראשונים. מה שנשאר, שלכם.</a:t>
            </a:r>
          </a:p>
          <a:p>
            <a:r>
              <a:t>ו"הטווח קובע": לפני כל החלטת כסף, שאלה אחת. מתי אצטרך אותו?</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משהו, לפני המשימה. אין פה מרוץ.</a:t>
            </a:r>
          </a:p>
          <a:p>
            <a:r>
              <a:t>יש מי שיצא הערב עם כרית מלאה, שלוש מטרות וכדים מסודרים. ויש מי שיצא עם מספר אחד: כמה הכרית שלו.</a:t>
            </a:r>
          </a:p>
          <a:p>
            <a:r>
              <a:t>שניהם במקום הנכון. כל אחד מתחיל מנקודה אחרת, ומה שהבנתם הערב, אף אחד לא לוקח מכם.</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 תוצר אחד: כמה בכל כד, לפי המספרים שלכם.</a:t>
            </a:r>
          </a:p>
          <a:p>
            <a:r>
              <a:t>מי שעוד לא סיים את נקודת המוצא: זה קודם. בלי המספרים אין כדים. ועכשיו אתם יודעים בשביל מה.</a:t>
            </a:r>
          </a:p>
          <a:p>
            <a:r>
              <a:t>ואז שלוש תחנות, בערך עשרים דקות: כרית הביטחון, ההוצאות החיוניות כפול שלוש. עד שלוש מטרות קרובות עם סכום ותאריך. ושלושת הכדים.</a:t>
            </a:r>
          </a:p>
          <a:p>
            <a:r>
              <a:t>בעיפרון. לא מושלם. כל מספר הוא גרסה ראשונה, מותר לשנות, חובה להתחיל.</a:t>
            </a:r>
          </a:p>
          <a:p>
            <a:r>
              <a:t>ומי שעוד לא אישר את הבדיקה הפנסיונית בכרטיס עם המגן, שתי דקות, בלי קשר לשיעור.</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ולסיום, מילה אחת בצ'אט: מה אתם לוקחים מהערב.</a:t>
            </a:r>
          </a:p>
          <a:p>
            <a:r>
              <a:t>(להקריא את כולן, לאט. זה השיא. לא למהר.)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3, מחלקות.</a:t>
            </a:r>
          </a:p>
          <a:p>
            <a:r>
              <a:t>עכשיו, כשלכל שקל יש כד, נדבר על איפה שמים כל כד. בבנק, בתיק השקעות עצמאי, במוצרים מנוהלים, ומה ההבדלים ביניהם. ואיך בשוק ההון עושים בפועל את החלוקה הזאת, בשפה פשוטה.</a:t>
            </a:r>
          </a:p>
          <a:p>
            <a:r>
              <a:t>נתראה ביום שני. גאה בכל אחד ואחת מכם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ברוכים</a:t>
            </a:r>
          </a:p>
          <a:p>
            <a:pPr algn="r" rtl="1">
              <a:lnSpc>
                <a:spcPct val="95000"/>
              </a:lnSpc>
            </a:pPr>
            <a:r>
              <a:rPr sz="6959" b="1" lang="he-IL">
                <a:solidFill>
                  <a:srgbClr val="EF55A5"/>
                </a:solidFill>
                <a:latin typeface="Heebo"/>
                <a:ea typeface="Heebo"/>
                <a:cs typeface="Heebo"/>
              </a:rPr>
              <a:t>השבים!</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2 · מגינות · לכל שקל תפקיד וטווח</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בלייב 1</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המצפן: חזון, מטרות, נקודת מוצא, אסטרטגיה</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החזון ולוח החזון</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שלושה כלים לחיים: מעגל, סולם, ו”איך אפשר?“</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נקודת המוצא: שווי נקי, תזרים, וכמה הרמתי מהרצפה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שלושה חלקים · ושאלות אחרי כל חלק</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המספרים שגיליתם: מה עושים איתם, ומה עושים עם מה שמצאתם בדרך</a:t>
            </a:r>
          </a:p>
        </p:txBody>
      </p:sp>
      <p:sp>
        <p:nvSpPr>
          <p:cNvPr id="8" name="Oval 7"/>
          <p:cNvSpPr/>
          <p:nvPr/>
        </p:nvSpPr>
        <p:spPr>
          <a:xfrm>
            <a:off x="10850880" y="3230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איך יוצרים תזרים יציב, גם כשהחודשים לא יציבים</a:t>
            </a:r>
          </a:p>
        </p:txBody>
      </p:sp>
      <p:sp>
        <p:nvSpPr>
          <p:cNvPr id="10" name="Oval 9"/>
          <p:cNvSpPr/>
          <p:nvPr/>
        </p:nvSpPr>
        <p:spPr>
          <a:xfrm>
            <a:off x="10850880" y="4175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הכדים: כמה לשים בכל כד</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הערב: כמה. בשבוע הבא: איפה.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pic>
        <p:nvPicPr>
          <p:cNvPr id="4" name="Picture 3" descr="s21_coins.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65376"/>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המספרים שגיליתם</a:t>
            </a:r>
          </a:p>
        </p:txBody>
      </p:sp>
      <p:sp>
        <p:nvSpPr>
          <p:cNvPr id="6" name="TextBox 5"/>
          <p:cNvSpPr txBox="1"/>
          <p:nvPr/>
        </p:nvSpPr>
        <p:spPr>
          <a:xfrm>
            <a:off x="5334000" y="2322576"/>
            <a:ext cx="5943600" cy="993648"/>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השבוע ספרתם.</a:t>
            </a:r>
          </a:p>
          <a:p>
            <a:pPr algn="r" rtl="1">
              <a:lnSpc>
                <a:spcPct val="110000"/>
              </a:lnSpc>
            </a:pPr>
            <a:r>
              <a:rPr sz="2879" b="1" lang="he-IL">
                <a:solidFill>
                  <a:srgbClr val="EF55A5"/>
                </a:solidFill>
                <a:latin typeface="Heebo"/>
                <a:ea typeface="Heebo"/>
                <a:cs typeface="Heebo"/>
              </a:rPr>
              <a:t>הערב המספרים מקבלים משמעות.</a:t>
            </a:r>
          </a:p>
        </p:txBody>
      </p:sp>
      <p:sp>
        <p:nvSpPr>
          <p:cNvPr id="7" name="TextBox 6"/>
          <p:cNvSpPr txBox="1"/>
          <p:nvPr/>
        </p:nvSpPr>
        <p:spPr>
          <a:xfrm>
            <a:off x="5334000" y="3468624"/>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סיימתם, באמצע, או עוד לא התחלתם: כולם במקום הנכון. המספרים הם נקודת מוצא, לא ציון.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הבאתם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מספרים. שני סיפורים.</a:t>
            </a:r>
          </a:p>
        </p:txBody>
      </p:sp>
      <p:sp>
        <p:nvSpPr>
          <p:cNvPr id="6" name="Rounded Rectangle 5"/>
          <p:cNvSpPr/>
          <p:nvPr/>
        </p:nvSpPr>
        <p:spPr>
          <a:xfrm>
            <a:off x="6202680" y="22479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השווי הנקי</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מה שיש לי, פחות מה שאני חייבת.
צילום של רגע אחד.</a:t>
            </a:r>
          </a:p>
        </p:txBody>
      </p:sp>
      <p:sp>
        <p:nvSpPr>
          <p:cNvPr id="9" name="Rounded Rectangle 8"/>
          <p:cNvSpPr/>
          <p:nvPr/>
        </p:nvSpPr>
        <p:spPr>
          <a:xfrm>
            <a:off x="914400" y="22479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התזרים</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מה נכנס בחודש, פחות מה יוצא.
זז כל חודש.</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השווי הנקי הוא תמונה. התזרים הוא הסרט. והסרט הוא מה שמשנה את התמונה.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 צריך לעשות איתם כלום הערב. רק להבין מה כל אחד אומר</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איך עובדים עם שני המספרים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השווי הנקי:
נקודת המוצא</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התזרים:
הכיוון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הפער בתזרים:
הכסף שבונה הכל</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כל מה שנעשה מהערב ועד סוף הליווי נשען על הפער הזה. 50 ₪, 500 ₪, 5,000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מכם כתבו לי השבוע</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”גיליתי שהתקציב לא יציב.“</a:t>
            </a:r>
          </a:p>
          <a:p>
            <a:pPr algn="r" rtl="1">
              <a:lnSpc>
                <a:spcPct val="110000"/>
              </a:lnSpc>
            </a:pPr>
            <a:r>
              <a:rPr sz="3719" b="1" lang="he-IL">
                <a:solidFill>
                  <a:srgbClr val="EF55A5"/>
                </a:solidFill>
                <a:latin typeface="Heebo"/>
                <a:ea typeface="Heebo"/>
                <a:cs typeface="Heebo"/>
              </a:rPr>
              <a:t>נכון. ככה חיים נראים.</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חגים. חודש של חמישה שבועות. הרכב בטיפול. חודש בלי לקוחות. בונוס. אין משפחה שהחודשים שלה זהים.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914400" y="176022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ועם זאת</a:t>
            </a:r>
          </a:p>
        </p:txBody>
      </p:sp>
      <p:sp>
        <p:nvSpPr>
          <p:cNvPr id="5" name="TextBox 4"/>
          <p:cNvSpPr txBox="1"/>
          <p:nvPr/>
        </p:nvSpPr>
        <p:spPr>
          <a:xfrm>
            <a:off x="914400" y="2217420"/>
            <a:ext cx="10363200" cy="1203960"/>
          </a:xfrm>
          <a:prstGeom prst="rect">
            <a:avLst/>
          </a:prstGeom>
          <a:noFill/>
        </p:spPr>
        <p:txBody>
          <a:bodyPr wrap="square" lIns="0" rIns="0" tIns="0" bIns="0" anchor="t">
            <a:spAutoFit/>
          </a:bodyPr>
          <a:lstStyle/>
          <a:p>
            <a:pPr algn="r" rtl="1">
              <a:lnSpc>
                <a:spcPct val="110000"/>
              </a:lnSpc>
            </a:pPr>
            <a:r>
              <a:rPr sz="3600" b="1" lang="he-IL">
                <a:solidFill>
                  <a:srgbClr val="191A2E"/>
                </a:solidFill>
                <a:latin typeface="Heebo"/>
                <a:ea typeface="Heebo"/>
                <a:cs typeface="Heebo"/>
              </a:rPr>
              <a:t>החודשים משתנים.</a:t>
            </a:r>
          </a:p>
          <a:p>
            <a:pPr algn="r" rtl="1">
              <a:lnSpc>
                <a:spcPct val="110000"/>
              </a:lnSpc>
            </a:pPr>
            <a:r>
              <a:rPr sz="3600" b="1" lang="he-IL">
                <a:solidFill>
                  <a:srgbClr val="EF55A5"/>
                </a:solidFill>
                <a:latin typeface="Heebo"/>
                <a:ea typeface="Heebo"/>
                <a:cs typeface="Heebo"/>
              </a:rPr>
              <a:t>התזרים שלכם לא חייב להתערער מכל שינוי.</a:t>
            </a:r>
          </a:p>
        </p:txBody>
      </p:sp>
      <p:sp>
        <p:nvSpPr>
          <p:cNvPr id="6" name="TextBox 5"/>
          <p:cNvSpPr txBox="1"/>
          <p:nvPr/>
        </p:nvSpPr>
        <p:spPr>
          <a:xfrm>
            <a:off x="914400" y="357378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מזג האוויר משתנה. הבית לא. כי מי שבנה אותו ידע שיהיה גשם. ההבדל: תוכנית שראתה את השינוי מראש.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מכם מצאו אותן השבוע</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שני סוגים של נזילות</a:t>
            </a:r>
          </a:p>
        </p:txBody>
      </p:sp>
      <p:sp>
        <p:nvSpPr>
          <p:cNvPr id="7" name="Oval 6"/>
          <p:cNvSpPr/>
          <p:nvPr/>
        </p:nvSpPr>
        <p:spPr>
          <a:xfrm>
            <a:off x="10850880" y="267462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68986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שיוצא בלי שידענו: מינוי שנשכח, חיוב כפול, עמלות, ביטוח שכבר לא רלוונטי</a:t>
            </a:r>
          </a:p>
        </p:txBody>
      </p:sp>
      <p:sp>
        <p:nvSpPr>
          <p:cNvPr id="9" name="Oval 8"/>
          <p:cNvSpPr/>
          <p:nvPr/>
        </p:nvSpPr>
        <p:spPr>
          <a:xfrm>
            <a:off x="10850880" y="36195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363474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שידענו, אבל יותר מדי: ראינו את הסכום החודשי ונדהמנו</a:t>
            </a:r>
          </a:p>
        </p:txBody>
      </p:sp>
      <p:sp>
        <p:nvSpPr>
          <p:cNvPr id="11" name="TextBox 10"/>
          <p:cNvSpPr txBox="1"/>
          <p:nvPr/>
        </p:nvSpPr>
        <p:spPr>
          <a:xfrm>
            <a:off x="4876800" y="5562600"/>
            <a:ext cx="64008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לאטום נזילה מהסוג הראשון לא מוריד רמת חיים.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השיטה: עוברים על ההוצאות שורה-שורה</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שלוש השאלות לכל שורה</a:t>
            </a:r>
          </a:p>
        </p:txBody>
      </p:sp>
      <p:sp>
        <p:nvSpPr>
          <p:cNvPr id="6" name="Rounded Rectangle 5"/>
          <p:cNvSpPr/>
          <p:nvPr/>
        </p:nvSpPr>
        <p:spPr>
          <a:xfrm>
            <a:off x="805688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ידעתי שזה יוצא?</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זה מוסיף לי לחיים?</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זה שווה לי את המחיר?</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ידעתי: אוטמים. ידעתי ולא מוסיף: מורידים. ידעתי, מוסיף ושווה לי: נשאר. בלי אשמה. זה ההבדל בין צמצום לסדר.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דוגמה מהשבוע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שלוש נזילות קטנות</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אינטרנט</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70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סלולר</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 ₪</a:t>
            </a:r>
          </a:p>
        </p:txBody>
      </p:sp>
      <p:sp>
        <p:nvSpPr>
          <p:cNvPr id="12" name="Rounded Rectangle 11"/>
          <p:cNvSpPr/>
          <p:nvPr/>
        </p:nvSpPr>
        <p:spPr>
          <a:xfrm>
            <a:off x="4876800" y="348996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181600" y="359664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מינוי שנשכח</a:t>
            </a:r>
          </a:p>
        </p:txBody>
      </p:sp>
      <p:sp>
        <p:nvSpPr>
          <p:cNvPr id="14" name="TextBox 13"/>
          <p:cNvSpPr txBox="1"/>
          <p:nvPr/>
        </p:nvSpPr>
        <p:spPr>
          <a:xfrm>
            <a:off x="5181600" y="359664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40 ₪</a:t>
            </a:r>
          </a:p>
        </p:txBody>
      </p:sp>
      <p:sp>
        <p:nvSpPr>
          <p:cNvPr id="15" name="Rounded Rectangle 14"/>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210 ₪ בחודש</a:t>
            </a:r>
          </a:p>
          <a:p>
            <a:pPr algn="ctr" rtl="1">
              <a:lnSpc>
                <a:spcPct val="115000"/>
              </a:lnSpc>
            </a:pPr>
            <a:r>
              <a:rPr sz="3000" b="1" lang="he-IL">
                <a:solidFill>
                  <a:srgbClr val="EF55A5"/>
                </a:solidFill>
                <a:latin typeface="Heebo"/>
                <a:ea typeface="Heebo"/>
                <a:cs typeface="Heebo"/>
              </a:rPr>
              <a:t>2,520 ₪ בשנה</a:t>
            </a:r>
          </a:p>
        </p:txBody>
      </p:sp>
      <p:sp>
        <p:nvSpPr>
          <p:cNvPr id="16" name="TextBox 15"/>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בלי לוותר על כלום. אותה רמת חיים בדיוק. תחזיקו את ה-210: עוד כמה דקות תראו מה הם עושים ב-20 שנה.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ראשונה · על המספרים ועל הנזילות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איך יוצרים תזרים יציב</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תזרים יציב =</a:t>
            </a:r>
          </a:p>
          <a:p>
            <a:pPr algn="r" rtl="1">
              <a:lnSpc>
                <a:spcPct val="110000"/>
              </a:lnSpc>
            </a:pPr>
            <a:r>
              <a:rPr sz="4320" b="1" lang="he-IL">
                <a:solidFill>
                  <a:srgbClr val="EF55A5"/>
                </a:solidFill>
                <a:latin typeface="Heebo"/>
                <a:ea typeface="Heebo"/>
                <a:cs typeface="Heebo"/>
              </a:rPr>
              <a:t>יותר נכנס ממה שיוצא. כל חודש.</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גם בחודש הקשה. לא ”בממוצע“. לא ”בחודשים הטובים“.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כיוונים לפער</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לצמצם הוצאות</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יש רצפה.
יש גבול כמה אפשר להוריד. ומתחתיו זה כבר לא חיים.</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להגדיל הכנסות</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אין תקרה.
עוד 500, עוד 5,000, עוד 50,000.</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אז למה לא פשוט להרוויח יותר?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קורה בלי שליטה על ההוצאות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המלכודת</a:t>
            </a:r>
          </a:p>
        </p:txBody>
      </p:sp>
      <p:sp>
        <p:nvSpPr>
          <p:cNvPr id="6" name="Rounded Rectangle 5"/>
          <p:cNvSpPr/>
          <p:nvPr/>
        </p:nvSpPr>
        <p:spPr>
          <a:xfrm>
            <a:off x="894969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מכניסים יותר</a:t>
            </a:r>
          </a:p>
        </p:txBody>
      </p:sp>
      <p:sp>
        <p:nvSpPr>
          <p:cNvPr id="7" name="TextBox 6"/>
          <p:cNvSpPr txBox="1"/>
          <p:nvPr/>
        </p:nvSpPr>
        <p:spPr>
          <a:xfrm>
            <a:off x="859917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627126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מוציאים יותר</a:t>
            </a:r>
          </a:p>
        </p:txBody>
      </p:sp>
      <p:sp>
        <p:nvSpPr>
          <p:cNvPr id="9" name="TextBox 8"/>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359283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אותו תזרים</a:t>
            </a:r>
          </a:p>
        </p:txBody>
      </p:sp>
      <p:sp>
        <p:nvSpPr>
          <p:cNvPr id="11" name="TextBox 10"/>
          <p:cNvSpPr txBox="1"/>
          <p:nvPr/>
        </p:nvSpPr>
        <p:spPr>
          <a:xfrm>
            <a:off x="324231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91440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אותה רשת ביטחון</a:t>
            </a:r>
          </a:p>
        </p:txBody>
      </p:sp>
      <p:sp>
        <p:nvSpPr>
          <p:cNvPr id="13" name="TextBox 12"/>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”ההוצאות עולות עד שהן פוגשות את ההכנסה.“ · חוק פרקינסון. רמת החיים עולה עם המשכורת, והפער נשאר אותו פער.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תחזיקו תשובה בראש</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מי מהן עשירה יותר?</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רגיל. חופשה פעם בשנה.</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חדש. חו"ל שלוש פעמים בשנה. בגדים יפים.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שאף אחד לא רואה</a:t>
            </a:r>
          </a:p>
        </p:txBody>
      </p:sp>
      <p:sp>
        <p:nvSpPr>
          <p:cNvPr id="5" name="Rounded Rectangle 4"/>
          <p:cNvSpPr/>
          <p:nvPr/>
        </p:nvSpPr>
        <p:spPr>
          <a:xfrm>
            <a:off x="620268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1,000,000 ₪ בנכסים</a:t>
            </a:r>
          </a:p>
        </p:txBody>
      </p:sp>
      <p:sp>
        <p:nvSpPr>
          <p:cNvPr id="8" name="Rounded Rectangle 7"/>
          <p:cNvSpPr/>
          <p:nvPr/>
        </p:nvSpPr>
        <p:spPr>
          <a:xfrm>
            <a:off x="91440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20,000 ₪</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רמת חיים = כמה מוציאים. עושר = כמה יש. ”עושר הוא מה שלא רואים“ · מורגן האוסל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 צמצום. לא התנפחות. יציבות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האידיאל</a:t>
            </a:r>
          </a:p>
        </p:txBody>
      </p:sp>
      <p:sp>
        <p:nvSpPr>
          <p:cNvPr id="6" name="Rounded Rectangle 5"/>
          <p:cNvSpPr/>
          <p:nvPr/>
        </p:nvSpPr>
        <p:spPr>
          <a:xfrm>
            <a:off x="8949690" y="2895600"/>
            <a:ext cx="232791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רמת חיים
טובה ויציבה</a:t>
            </a:r>
          </a:p>
        </p:txBody>
      </p:sp>
      <p:sp>
        <p:nvSpPr>
          <p:cNvPr id="7" name="TextBox 6"/>
          <p:cNvSpPr txBox="1"/>
          <p:nvPr/>
        </p:nvSpPr>
        <p:spPr>
          <a:xfrm>
            <a:off x="859917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6271260" y="2895600"/>
            <a:ext cx="232791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נשארים בה</a:t>
            </a:r>
          </a:p>
        </p:txBody>
      </p:sp>
      <p:sp>
        <p:nvSpPr>
          <p:cNvPr id="9" name="TextBox 8"/>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3592830" y="2895600"/>
            <a:ext cx="232791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כל הפוקוס:
להגדיל הכנסות</a:t>
            </a:r>
          </a:p>
        </p:txBody>
      </p:sp>
      <p:sp>
        <p:nvSpPr>
          <p:cNvPr id="11" name="TextBox 10"/>
          <p:cNvSpPr txBox="1"/>
          <p:nvPr/>
        </p:nvSpPr>
        <p:spPr>
          <a:xfrm>
            <a:off x="324231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914400" y="2895600"/>
            <a:ext cx="232791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וכל שקל נוסף:
לכדים</a:t>
            </a:r>
          </a:p>
        </p:txBody>
      </p:sp>
      <p:sp>
        <p:nvSpPr>
          <p:cNvPr id="13" name="TextBox 12"/>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ההכנסה גדלה, רמת החיים נשארת, והפער הוא מה שגדל. זה כל הסוד.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בלי ירושה, בלי קידום. נקודת מוצא זהה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משכורת. 20 שנה קדימה.</a:t>
            </a:r>
          </a:p>
        </p:txBody>
      </p:sp>
      <p:sp>
        <p:nvSpPr>
          <p:cNvPr id="6" name="Rounded Rectangle 5"/>
          <p:cNvSpPr/>
          <p:nvPr/>
        </p:nvSpPr>
        <p:spPr>
          <a:xfrm>
            <a:off x="6202680" y="22479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רוני</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12,000 נכנס. 12,000 יוצא.
אחרי 20 שנה: 0 ₪ בנכסים.
המשכורת חייבת להיכנס. לנצח.</a:t>
            </a:r>
          </a:p>
        </p:txBody>
      </p:sp>
      <p:sp>
        <p:nvSpPr>
          <p:cNvPr id="9" name="Rounded Rectangle 8"/>
          <p:cNvSpPr/>
          <p:nvPr/>
        </p:nvSpPr>
        <p:spPr>
          <a:xfrm>
            <a:off x="91440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דנה</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1,500 ₪ ראשונים לכד הארוך. חיה על 10,500.
אחרי 20 שנה: כ-780,000 ₪.
אחרי 30 שנה: כ-1,830,000 ₪.</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כולו: 1,500 ₪ שקיבלו תפקיד. וה-210 מהנזילות? כ-110,000 ₪. (7% בשנה, להמחשה בלבד, ללא הבטחת תשואה)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6550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ורגע לפני שבונים</a:t>
            </a:r>
          </a:p>
        </p:txBody>
      </p:sp>
      <p:sp>
        <p:nvSpPr>
          <p:cNvPr id="6" name="TextBox 5"/>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הלא צפוי</a:t>
            </a:r>
          </a:p>
          <a:p>
            <a:pPr algn="r" rtl="1">
              <a:lnSpc>
                <a:spcPct val="110000"/>
              </a:lnSpc>
            </a:pPr>
            <a:r>
              <a:rPr sz="4320" b="1" lang="he-IL">
                <a:solidFill>
                  <a:srgbClr val="EF55A5"/>
                </a:solidFill>
                <a:latin typeface="Heebo"/>
                <a:ea typeface="Heebo"/>
                <a:cs typeface="Heebo"/>
              </a:rPr>
              <a:t>הוא הדבר הכי צפוי שיש.</a:t>
            </a:r>
          </a:p>
        </p:txBody>
      </p:sp>
      <p:sp>
        <p:nvSpPr>
          <p:cNvPr id="7" name="TextBox 6"/>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המקרר. הרכב. חודש בלי הכנסה. שן. לא יודעים מתי, יודעים שכן. ובדיוק בשביל זה מחלקים את הכסף לכדים.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שנייה · על היציבות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sp>
        <p:nvSpPr>
          <p:cNvPr id="4" name="TextBox 3"/>
          <p:cNvSpPr txBox="1"/>
          <p:nvPr/>
        </p:nvSpPr>
        <p:spPr>
          <a:xfrm>
            <a:off x="914400" y="145161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שיטת הכדים</a:t>
            </a:r>
          </a:p>
        </p:txBody>
      </p:sp>
      <p:sp>
        <p:nvSpPr>
          <p:cNvPr id="5" name="TextBox 4"/>
          <p:cNvSpPr txBox="1"/>
          <p:nvPr/>
        </p:nvSpPr>
        <p:spPr>
          <a:xfrm>
            <a:off x="914400" y="19088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לכל שקל</a:t>
            </a:r>
          </a:p>
          <a:p>
            <a:pPr algn="r" rtl="1">
              <a:lnSpc>
                <a:spcPct val="110000"/>
              </a:lnSpc>
            </a:pPr>
            <a:r>
              <a:rPr sz="7800" b="1" lang="he-IL">
                <a:solidFill>
                  <a:srgbClr val="EF55A5"/>
                </a:solidFill>
                <a:latin typeface="Heebo"/>
                <a:ea typeface="Heebo"/>
                <a:cs typeface="Heebo"/>
              </a:rPr>
              <a:t>תפקיד וטווח.</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לכל שקל יש כד. גם לשקל שעוד לא הגיע</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ארבעת הכדים</a:t>
            </a:r>
          </a:p>
        </p:txBody>
      </p:sp>
      <p:sp>
        <p:nvSpPr>
          <p:cNvPr id="6" name="Rounded Rectangle 5"/>
          <p:cNvSpPr/>
          <p:nvPr/>
        </p:nvSpPr>
        <p:spPr>
          <a:xfrm>
            <a:off x="945291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893826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999220" y="3962400"/>
            <a:ext cx="2217420" cy="1005840"/>
          </a:xfrm>
          <a:prstGeom prst="roundRect">
            <a:avLst>
              <a:gd name="adj" fmla="val 12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3826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1 · עו"ש</a:t>
            </a:r>
          </a:p>
        </p:txBody>
      </p:sp>
      <p:sp>
        <p:nvSpPr>
          <p:cNvPr id="10" name="TextBox 9"/>
          <p:cNvSpPr txBox="1"/>
          <p:nvPr/>
        </p:nvSpPr>
        <p:spPr>
          <a:xfrm>
            <a:off x="893826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החיים של החודש</a:t>
            </a:r>
          </a:p>
        </p:txBody>
      </p:sp>
      <p:sp>
        <p:nvSpPr>
          <p:cNvPr id="11" name="Rounded Rectangle 10"/>
          <p:cNvSpPr/>
          <p:nvPr/>
        </p:nvSpPr>
        <p:spPr>
          <a:xfrm>
            <a:off x="677829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26364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324600" y="3409188"/>
            <a:ext cx="2217420" cy="1559052"/>
          </a:xfrm>
          <a:prstGeom prst="roundRect">
            <a:avLst>
              <a:gd name="adj" fmla="val 12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6364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2 · כרית הביטחון</a:t>
            </a:r>
          </a:p>
        </p:txBody>
      </p:sp>
      <p:sp>
        <p:nvSpPr>
          <p:cNvPr id="15" name="TextBox 14"/>
          <p:cNvSpPr txBox="1"/>
          <p:nvPr/>
        </p:nvSpPr>
        <p:spPr>
          <a:xfrm>
            <a:off x="626364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השקט. 3 חודשי הוצאות</a:t>
            </a:r>
          </a:p>
        </p:txBody>
      </p:sp>
      <p:sp>
        <p:nvSpPr>
          <p:cNvPr id="16" name="Rounded Rectangle 15"/>
          <p:cNvSpPr/>
          <p:nvPr/>
        </p:nvSpPr>
        <p:spPr>
          <a:xfrm>
            <a:off x="410367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58902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3649980" y="3710940"/>
            <a:ext cx="2217420" cy="1257300"/>
          </a:xfrm>
          <a:prstGeom prst="roundRect">
            <a:avLst>
              <a:gd name="adj" fmla="val 12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58902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3 · מטרות קרובות</a:t>
            </a:r>
          </a:p>
        </p:txBody>
      </p:sp>
      <p:sp>
        <p:nvSpPr>
          <p:cNvPr id="20" name="TextBox 19"/>
          <p:cNvSpPr txBox="1"/>
          <p:nvPr/>
        </p:nvSpPr>
        <p:spPr>
          <a:xfrm>
            <a:off x="358902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מה שצריך בשנים הקרובות</a:t>
            </a:r>
          </a:p>
        </p:txBody>
      </p:sp>
      <p:sp>
        <p:nvSpPr>
          <p:cNvPr id="21" name="Rounded Rectangle 20"/>
          <p:cNvSpPr/>
          <p:nvPr/>
        </p:nvSpPr>
        <p:spPr>
          <a:xfrm>
            <a:off x="142905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1440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975360" y="2805684"/>
            <a:ext cx="2217420" cy="2162556"/>
          </a:xfrm>
          <a:prstGeom prst="roundRect">
            <a:avLst>
              <a:gd name="adj" fmla="val 12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1440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4 · טווח ארוך</a:t>
            </a:r>
          </a:p>
        </p:txBody>
      </p:sp>
      <p:sp>
        <p:nvSpPr>
          <p:cNvPr id="25" name="TextBox 24"/>
          <p:cNvSpPr txBox="1"/>
          <p:nvPr/>
        </p:nvSpPr>
        <p:spPr>
          <a:xfrm>
            <a:off x="91440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כל מה שלא צריך את השאר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בעו"ש</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כד 1 · העו"ש</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הכסף של החיים של החודש</a:t>
            </a:r>
          </a:p>
        </p:txBody>
      </p:sp>
      <p:sp>
        <p:nvSpPr>
          <p:cNvPr id="9" name="Oval 8"/>
          <p:cNvSpPr/>
          <p:nvPr/>
        </p:nvSpPr>
        <p:spPr>
          <a:xfrm>
            <a:off x="11155680" y="31661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0289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כמה? בערך חודש של הוצאות: הבמפר של תחילת החודש</a:t>
            </a:r>
          </a:p>
        </p:txBody>
      </p:sp>
      <p:sp>
        <p:nvSpPr>
          <p:cNvPr id="11" name="Oval 10"/>
          <p:cNvSpPr/>
          <p:nvPr/>
        </p:nvSpPr>
        <p:spPr>
          <a:xfrm>
            <a:off x="11155680" y="3909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37719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יותר הוצאות או פחות הכנסות בקרוב? קצת יותר</a:t>
            </a:r>
          </a:p>
        </p:txBody>
      </p:sp>
      <p:sp>
        <p:nvSpPr>
          <p:cNvPr id="13" name="Oval 12"/>
          <p:cNvSpPr/>
          <p:nvPr/>
        </p:nvSpPr>
        <p:spPr>
          <a:xfrm>
            <a:off x="11155680" y="46520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5148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תחנת מעבר, לא מקום לגור בו</a:t>
            </a:r>
          </a:p>
        </p:txBody>
      </p:sp>
      <p:sp>
        <p:nvSpPr>
          <p:cNvPr id="15" name="TextBox 14"/>
          <p:cNvSpPr txBox="1"/>
          <p:nvPr/>
        </p:nvSpPr>
        <p:spPr>
          <a:xfrm>
            <a:off x="4876800" y="5562600"/>
            <a:ext cx="64008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כל שקל מעבר לזה בעו"ש, הוא שקל שלא עובד.</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sp>
        <p:nvSpPr>
          <p:cNvPr id="4" name="TextBox 3"/>
          <p:cNvSpPr txBox="1"/>
          <p:nvPr/>
        </p:nvSpPr>
        <p:spPr>
          <a:xfrm>
            <a:off x="914400" y="1549908"/>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לידה · בין עבודות · הרכב, השיניים, המקרר · ובעיקר: שההשקעות לא ייגעו</a:t>
            </a:r>
          </a:p>
        </p:txBody>
      </p:sp>
      <p:sp>
        <p:nvSpPr>
          <p:cNvPr id="5" name="TextBox 4"/>
          <p:cNvSpPr txBox="1"/>
          <p:nvPr/>
        </p:nvSpPr>
        <p:spPr>
          <a:xfrm>
            <a:off x="914400" y="2007108"/>
            <a:ext cx="10363200" cy="1624584"/>
          </a:xfrm>
          <a:prstGeom prst="rect">
            <a:avLst/>
          </a:prstGeom>
          <a:noFill/>
        </p:spPr>
        <p:txBody>
          <a:bodyPr wrap="square" lIns="0" rIns="0" tIns="0" bIns="0" anchor="t">
            <a:spAutoFit/>
          </a:bodyPr>
          <a:lstStyle/>
          <a:p>
            <a:pPr algn="r" rtl="1">
              <a:lnSpc>
                <a:spcPct val="110000"/>
              </a:lnSpc>
            </a:pPr>
            <a:r>
              <a:rPr sz="5040" b="1" lang="he-IL">
                <a:solidFill>
                  <a:srgbClr val="191A2E"/>
                </a:solidFill>
                <a:latin typeface="Heebo"/>
                <a:ea typeface="Heebo"/>
                <a:cs typeface="Heebo"/>
              </a:rPr>
              <a:t>כד 2 · כרית הביטחון:</a:t>
            </a:r>
          </a:p>
          <a:p>
            <a:pPr algn="r" rtl="1">
              <a:lnSpc>
                <a:spcPct val="110000"/>
              </a:lnSpc>
            </a:pPr>
            <a:r>
              <a:rPr sz="5040" b="1" lang="he-IL">
                <a:solidFill>
                  <a:srgbClr val="EF55A5"/>
                </a:solidFill>
                <a:latin typeface="Heebo"/>
                <a:ea typeface="Heebo"/>
                <a:cs typeface="Heebo"/>
              </a:rPr>
              <a:t>השקט שלכם.</a:t>
            </a:r>
          </a:p>
        </p:txBody>
      </p:sp>
      <p:sp>
        <p:nvSpPr>
          <p:cNvPr id="6" name="TextBox 5"/>
          <p:cNvSpPr txBox="1"/>
          <p:nvPr/>
        </p:nvSpPr>
        <p:spPr>
          <a:xfrm>
            <a:off x="914400" y="3784092"/>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בשאלוני הכניסה: כמעט לאף אחד אין מספר. הערב לכולם יש.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בכרית · חשבון של שורה אחת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שלושה חודשי הוצאות</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הוצאות החודש (ה”חובה“)</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10,000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חודשים</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 3</a:t>
            </a:r>
          </a:p>
        </p:txBody>
      </p:sp>
      <p:sp>
        <p:nvSpPr>
          <p:cNvPr id="12" name="Rounded Rectangle 11"/>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30,000 ₪</a:t>
            </a:r>
          </a:p>
          <a:p>
            <a:pPr algn="ctr" rtl="1">
              <a:lnSpc>
                <a:spcPct val="115000"/>
              </a:lnSpc>
            </a:pPr>
            <a:r>
              <a:rPr sz="3000" b="1" lang="he-IL">
                <a:solidFill>
                  <a:srgbClr val="EF55A5"/>
                </a:solidFill>
                <a:latin typeface="Heebo"/>
                <a:ea typeface="Heebo"/>
                <a:cs typeface="Heebo"/>
              </a:rPr>
              <a:t>כרית הביטחון שלי</a:t>
            </a:r>
          </a:p>
        </p:txBody>
      </p:sp>
      <p:sp>
        <p:nvSpPr>
          <p:cNvPr id="13" name="TextBox 12"/>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מוציאים 20,000? 60,000 ₪. תקופה של פחות הכנסות בקרוב? קצת יותר. יש כבר 14,000 בפיקדון ישן? הפער 16,000.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162001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איפה היא גרה · רק העיקרון</a:t>
            </a:r>
          </a:p>
        </p:txBody>
      </p:sp>
      <p:sp>
        <p:nvSpPr>
          <p:cNvPr id="5" name="TextBox 4"/>
          <p:cNvSpPr txBox="1"/>
          <p:nvPr/>
        </p:nvSpPr>
        <p:spPr>
          <a:xfrm>
            <a:off x="914400" y="2077212"/>
            <a:ext cx="10363200" cy="1484376"/>
          </a:xfrm>
          <a:prstGeom prst="rect">
            <a:avLst/>
          </a:prstGeom>
          <a:noFill/>
        </p:spPr>
        <p:txBody>
          <a:bodyPr wrap="square" lIns="0" rIns="0" tIns="0" bIns="0" anchor="t">
            <a:spAutoFit/>
          </a:bodyPr>
          <a:lstStyle/>
          <a:p>
            <a:pPr algn="r" rtl="1">
              <a:lnSpc>
                <a:spcPct val="110000"/>
              </a:lnSpc>
            </a:pPr>
            <a:r>
              <a:rPr sz="4560" b="1" lang="he-IL">
                <a:solidFill>
                  <a:srgbClr val="191A2E"/>
                </a:solidFill>
                <a:latin typeface="Heebo"/>
                <a:ea typeface="Heebo"/>
                <a:cs typeface="Heebo"/>
              </a:rPr>
              <a:t>התפקיד של הכרית:</a:t>
            </a:r>
          </a:p>
          <a:p>
            <a:pPr algn="r" rtl="1">
              <a:lnSpc>
                <a:spcPct val="110000"/>
              </a:lnSpc>
            </a:pPr>
            <a:r>
              <a:rPr sz="4560" b="1" lang="he-IL">
                <a:solidFill>
                  <a:srgbClr val="EF55A5"/>
                </a:solidFill>
                <a:latin typeface="Heebo"/>
                <a:ea typeface="Heebo"/>
                <a:cs typeface="Heebo"/>
              </a:rPr>
              <a:t>לא להרוויח. לשמור.</a:t>
            </a:r>
          </a:p>
        </p:txBody>
      </p:sp>
      <p:sp>
        <p:nvSpPr>
          <p:cNvPr id="6" name="TextBox 5"/>
          <p:cNvSpPr txBox="1"/>
          <p:nvPr/>
        </p:nvSpPr>
        <p:spPr>
          <a:xfrm>
            <a:off x="914400" y="3713988"/>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סיכון נמוך מאוד · נזילה · מופרדת מהעו"ש. לא בעו"ש ולא בחזיר: שם היא מפסידה 3% בשנה. איפה בדיוק? לייב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הכרית לא חוסמת את הדרך. היא נבנית תוך כדי</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עוד לא שם? בונים במינון</a:t>
            </a:r>
          </a:p>
        </p:txBody>
      </p:sp>
      <p:sp>
        <p:nvSpPr>
          <p:cNvPr id="6" name="Rounded Rectangle 5"/>
          <p:cNvSpPr/>
          <p:nvPr/>
        </p:nvSpPr>
        <p:spPr>
          <a:xfrm>
            <a:off x="796544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לא נעצרים על הכרית</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אין סיבה להקפיא את כל השאר עד שהיא מלאה.</a:t>
            </a:r>
          </a:p>
        </p:txBody>
      </p:sp>
      <p:sp>
        <p:nvSpPr>
          <p:cNvPr id="9" name="Rounded Rectangle 8"/>
          <p:cNvSpPr/>
          <p:nvPr/>
        </p:nvSpPr>
        <p:spPr>
          <a:xfrm>
            <a:off x="443992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מחלקים את הפער</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למשל: 1,000 ₪ פער בחודש.
600 לכרית, 400 לטווח ארוך.</a:t>
            </a:r>
          </a:p>
        </p:txBody>
      </p:sp>
      <p:sp>
        <p:nvSpPr>
          <p:cNvPr id="12" name="Rounded Rectangle 11"/>
          <p:cNvSpPr/>
          <p:nvPr/>
        </p:nvSpPr>
        <p:spPr>
          <a:xfrm>
            <a:off x="914400" y="22479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שני ערוצים במקביל</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הביטחון גדל, וההרגל להשקיע נבנה מהחודש הראשון.</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 צריך להיות עשירים כדי להשקיע. צריך להשקיע כדי להיות עשירים.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למטרות הקרובות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כד 3 · המטרות הקרובות</a:t>
            </a:r>
          </a:p>
        </p:txBody>
      </p:sp>
      <p:sp>
        <p:nvSpPr>
          <p:cNvPr id="6" name="Rounded Rectangle 5"/>
          <p:cNvSpPr/>
          <p:nvPr/>
        </p:nvSpPr>
        <p:spPr>
          <a:xfrm>
            <a:off x="796544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מה נכנס</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כל מה שתצטרכו בשלוש השנים הקרובות: רכב, חופשה, אירוע, שיפוץ.</a:t>
            </a:r>
          </a:p>
        </p:txBody>
      </p:sp>
      <p:sp>
        <p:nvSpPr>
          <p:cNvPr id="9" name="Rounded Rectangle 8"/>
          <p:cNvSpPr/>
          <p:nvPr/>
        </p:nvSpPr>
        <p:spPr>
          <a:xfrm>
            <a:off x="4439920" y="22479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כמה</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מטרה = סכום ותאריך.
הסכום חלקי מספר החודשים = כמה בחודש.</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איך הוא מרגיש</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זמין ויציב. לא מסתכן.
התאריך קרוב מדי.</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בכלי באזור האישי: קרוב (עד 3 שנים) ובינוני (3 עד 8). ככה יותר מדויק.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חופשה. 15,000 ₪</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בלי כד</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הלוואה: 500 ₪ × 36 חודשים.
שילמתם 18,000 ₪.
3,000 ₪ הלכו על כלום, ושלוש שנים אחרי החופשה עוד משלמים.</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עם כד קרוב</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1,250 ₪ × 12 חודשים.
15,000 מוכנים.
אפס ריבית. אפס חובות. אפס אשמה.</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הוא לא בכמה הרווחתם. לכסף היה תפקיד שנה קודם.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167259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לטווח ארוך</a:t>
            </a:r>
          </a:p>
        </p:txBody>
      </p:sp>
      <p:sp>
        <p:nvSpPr>
          <p:cNvPr id="5" name="TextBox 4"/>
          <p:cNvSpPr txBox="1"/>
          <p:nvPr/>
        </p:nvSpPr>
        <p:spPr>
          <a:xfrm>
            <a:off x="914400" y="2129790"/>
            <a:ext cx="10363200" cy="1379220"/>
          </a:xfrm>
          <a:prstGeom prst="rect">
            <a:avLst/>
          </a:prstGeom>
          <a:noFill/>
        </p:spPr>
        <p:txBody>
          <a:bodyPr wrap="square" lIns="0" rIns="0" tIns="0" bIns="0" anchor="t">
            <a:spAutoFit/>
          </a:bodyPr>
          <a:lstStyle/>
          <a:p>
            <a:pPr algn="r" rtl="1">
              <a:lnSpc>
                <a:spcPct val="110000"/>
              </a:lnSpc>
            </a:pPr>
            <a:r>
              <a:rPr sz="4200" b="1" lang="he-IL">
                <a:solidFill>
                  <a:srgbClr val="191A2E"/>
                </a:solidFill>
                <a:latin typeface="Heebo"/>
                <a:ea typeface="Heebo"/>
                <a:cs typeface="Heebo"/>
              </a:rPr>
              <a:t>כד 4 · טווח ארוך =</a:t>
            </a:r>
          </a:p>
          <a:p>
            <a:pPr algn="r" rtl="1">
              <a:lnSpc>
                <a:spcPct val="110000"/>
              </a:lnSpc>
            </a:pPr>
            <a:r>
              <a:rPr sz="4200" b="1" lang="he-IL">
                <a:solidFill>
                  <a:srgbClr val="EF55A5"/>
                </a:solidFill>
                <a:latin typeface="Heebo"/>
                <a:ea typeface="Heebo"/>
                <a:cs typeface="Heebo"/>
              </a:rPr>
              <a:t>כל מה שלא צריך את שאר הכדים.</a:t>
            </a:r>
          </a:p>
        </p:txBody>
      </p:sp>
      <p:sp>
        <p:nvSpPr>
          <p:cNvPr id="6" name="TextBox 5"/>
          <p:cNvSpPr txBox="1"/>
          <p:nvPr/>
        </p:nvSpPr>
        <p:spPr>
          <a:xfrm>
            <a:off x="914400" y="366141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מנותק מהתזרים החודשי. צומח, ובעזרתו בונים את החופש. לא ההשקעה קובעת את הטווח. הטווח קובע את ההשקעה. איזו השקעה לאיזה כד? לייב 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ההעברה לכדים היא ההוצאה הקבועה הראשונה. ”אל תחסכו את מה שנשאר אחרי ההוצאות. תוציאו את מה שנשאר אחרי החיסכון.“ · וורן באפט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לכל כד, כל חודש · בעולם: 50 / 30 / 20. אצלנו: לפי הכדים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איך מחלקים את החודש</a:t>
            </a:r>
          </a:p>
        </p:txBody>
      </p:sp>
      <p:sp>
        <p:nvSpPr>
          <p:cNvPr id="6" name="Rounded Rectangle 5"/>
          <p:cNvSpPr/>
          <p:nvPr/>
        </p:nvSpPr>
        <p:spPr>
          <a:xfrm>
            <a:off x="7965440" y="22479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50% עד 60%</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החיים של החודש
כד 1. דיור, אוכל, חשבונות, וגם בילויים.</a:t>
            </a:r>
          </a:p>
        </p:txBody>
      </p:sp>
      <p:sp>
        <p:nvSpPr>
          <p:cNvPr id="9" name="Rounded Rectangle 8"/>
          <p:cNvSpPr/>
          <p:nvPr/>
        </p:nvSpPr>
        <p:spPr>
          <a:xfrm>
            <a:off x="443992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20% עד 30%</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ביטחון ומטרות קרובות
קודם כד 2, עד שהכרית מלאה. ואז כד 3.</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10% עד 20%</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טווח ארוך
כד 4. הכסף שעובד בשבילכם.</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אחוזים של התחלה. דנה: 1,500 מתוך 12,000 = 12.5%. על 5% היום? זה המספר שלכם, והיעד לטפס.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pic>
        <p:nvPicPr>
          <p:cNvPr id="4" name="Picture 3" descr="s27_light.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1279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אחרי שכל הכדים קיבלו את שלהם</a:t>
            </a:r>
          </a:p>
        </p:txBody>
      </p:sp>
      <p:sp>
        <p:nvSpPr>
          <p:cNvPr id="6" name="TextBox 5"/>
          <p:cNvSpPr txBox="1"/>
          <p:nvPr/>
        </p:nvSpPr>
        <p:spPr>
          <a:xfrm>
            <a:off x="5334000" y="2269998"/>
            <a:ext cx="5943600" cy="1098804"/>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ומה שנשאר?</a:t>
            </a:r>
          </a:p>
          <a:p>
            <a:pPr algn="r" rtl="1">
              <a:lnSpc>
                <a:spcPct val="110000"/>
              </a:lnSpc>
            </a:pPr>
            <a:r>
              <a:rPr sz="3240" b="1" lang="he-IL">
                <a:solidFill>
                  <a:srgbClr val="EF55A5"/>
                </a:solidFill>
                <a:latin typeface="Heebo"/>
                <a:ea typeface="Heebo"/>
                <a:cs typeface="Heebo"/>
              </a:rPr>
              <a:t>שלכם. לבזבז. בלי אשמה.</a:t>
            </a:r>
          </a:p>
        </p:txBody>
      </p:sp>
      <p:sp>
        <p:nvSpPr>
          <p:cNvPr id="7" name="TextBox 6"/>
          <p:cNvSpPr txBox="1"/>
          <p:nvPr/>
        </p:nvSpPr>
        <p:spPr>
          <a:xfrm>
            <a:off x="5334000" y="3521202"/>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אשמה על כסף היא לא סימן שהוצאתם יותר מדי. היא סימן שלא הייתה תוכנית. ”תוציאו בשפע על מה שאתם אוהבים, ותחתכו בלי רחמים את מה שלא.“ · רמית סתי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הכדים הם המדרגות. לאן זה הולך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סולם החופש הכלכלי</a:t>
            </a:r>
          </a:p>
        </p:txBody>
      </p:sp>
      <p:sp>
        <p:nvSpPr>
          <p:cNvPr id="6" name="Rounded Rectangle 5"/>
          <p:cNvSpPr/>
          <p:nvPr/>
        </p:nvSpPr>
        <p:spPr>
          <a:xfrm>
            <a:off x="9372600" y="4495800"/>
            <a:ext cx="1905000" cy="152400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1 · תלות</a:t>
            </a:r>
          </a:p>
          <a:p>
            <a:pPr algn="ctr" rtl="1">
              <a:lnSpc>
                <a:spcPct val="115000"/>
              </a:lnSpc>
              <a:spcBef>
                <a:spcPts val="480"/>
              </a:spcBef>
            </a:pPr>
            <a:r>
              <a:rPr sz="1680" b="0" lang="he-IL">
                <a:solidFill>
                  <a:srgbClr val="6B6B7B"/>
                </a:solidFill>
                <a:latin typeface="Heebo"/>
                <a:ea typeface="Heebo"/>
                <a:cs typeface="Heebo"/>
              </a:rPr>
              <a:t>ממשכורת למשכורת. כל חודש מאפס</a:t>
            </a:r>
          </a:p>
        </p:txBody>
      </p:sp>
      <p:sp>
        <p:nvSpPr>
          <p:cNvPr id="7" name="Rounded Rectangle 6"/>
          <p:cNvSpPr/>
          <p:nvPr/>
        </p:nvSpPr>
        <p:spPr>
          <a:xfrm>
            <a:off x="7261860" y="3947160"/>
            <a:ext cx="1905000" cy="2072640"/>
          </a:xfrm>
          <a:prstGeom prst="roundRect">
            <a:avLst>
              <a:gd name="adj" fmla="val 1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2 · יציבות</a:t>
            </a:r>
          </a:p>
          <a:p>
            <a:pPr algn="ctr" rtl="1">
              <a:lnSpc>
                <a:spcPct val="115000"/>
              </a:lnSpc>
              <a:spcBef>
                <a:spcPts val="480"/>
              </a:spcBef>
            </a:pPr>
            <a:r>
              <a:rPr sz="1680" b="0" lang="he-IL">
                <a:solidFill>
                  <a:srgbClr val="6B6B7B"/>
                </a:solidFill>
                <a:latin typeface="Heebo"/>
                <a:ea typeface="Heebo"/>
                <a:cs typeface="Heebo"/>
              </a:rPr>
              <a:t>כד 1 מלא. תזרים חיובי</a:t>
            </a:r>
          </a:p>
        </p:txBody>
      </p:sp>
      <p:sp>
        <p:nvSpPr>
          <p:cNvPr id="8" name="Rounded Rectangle 7"/>
          <p:cNvSpPr/>
          <p:nvPr/>
        </p:nvSpPr>
        <p:spPr>
          <a:xfrm>
            <a:off x="5151120" y="3398520"/>
            <a:ext cx="1905000" cy="2621280"/>
          </a:xfrm>
          <a:prstGeom prst="roundRect">
            <a:avLst>
              <a:gd name="adj" fmla="val 1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3 · ביטחון</a:t>
            </a:r>
          </a:p>
          <a:p>
            <a:pPr algn="ctr" rtl="1">
              <a:lnSpc>
                <a:spcPct val="115000"/>
              </a:lnSpc>
              <a:spcBef>
                <a:spcPts val="480"/>
              </a:spcBef>
            </a:pPr>
            <a:r>
              <a:rPr sz="1680" b="0" lang="he-IL">
                <a:solidFill>
                  <a:srgbClr val="6B6B7B"/>
                </a:solidFill>
                <a:latin typeface="Heebo"/>
                <a:ea typeface="Heebo"/>
                <a:cs typeface="Heebo"/>
              </a:rPr>
              <a:t>כד 2 מלא. 3 חודשים</a:t>
            </a:r>
          </a:p>
        </p:txBody>
      </p:sp>
      <p:sp>
        <p:nvSpPr>
          <p:cNvPr id="9" name="Rounded Rectangle 8"/>
          <p:cNvSpPr/>
          <p:nvPr/>
        </p:nvSpPr>
        <p:spPr>
          <a:xfrm>
            <a:off x="3040380" y="2849880"/>
            <a:ext cx="1905000" cy="316992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4 · צמיחה</a:t>
            </a:r>
          </a:p>
          <a:p>
            <a:pPr algn="ctr" rtl="1">
              <a:lnSpc>
                <a:spcPct val="115000"/>
              </a:lnSpc>
              <a:spcBef>
                <a:spcPts val="480"/>
              </a:spcBef>
            </a:pPr>
            <a:r>
              <a:rPr sz="1680" b="0" lang="he-IL">
                <a:solidFill>
                  <a:srgbClr val="6B6B7B"/>
                </a:solidFill>
                <a:latin typeface="Heebo"/>
                <a:ea typeface="Heebo"/>
                <a:cs typeface="Heebo"/>
              </a:rPr>
              <a:t>כד 4 גדל כל חודש</a:t>
            </a:r>
          </a:p>
        </p:txBody>
      </p:sp>
      <p:sp>
        <p:nvSpPr>
          <p:cNvPr id="10" name="Rounded Rectangle 9"/>
          <p:cNvSpPr/>
          <p:nvPr/>
        </p:nvSpPr>
        <p:spPr>
          <a:xfrm>
            <a:off x="929640" y="2301240"/>
            <a:ext cx="1905000" cy="3718560"/>
          </a:xfrm>
          <a:prstGeom prst="roundRect">
            <a:avLst>
              <a:gd name="adj" fmla="val 1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5 · חופש</a:t>
            </a:r>
          </a:p>
          <a:p>
            <a:pPr algn="ctr" rtl="1">
              <a:lnSpc>
                <a:spcPct val="115000"/>
              </a:lnSpc>
              <a:spcBef>
                <a:spcPts val="480"/>
              </a:spcBef>
            </a:pPr>
            <a:r>
              <a:rPr sz="1680" b="0" lang="he-IL">
                <a:solidFill>
                  <a:srgbClr val="191A2E"/>
                </a:solidFill>
                <a:latin typeface="Heebo"/>
                <a:ea typeface="Heebo"/>
                <a:cs typeface="Heebo"/>
              </a:rPr>
              <a:t>כד 4 מממן את החיים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שלישית · על הכדים</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3241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שלוש השאלות</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ידעתי? מוסיף לי? שווה לי את המחיר? לכל שורה בתזרים.</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קודם אני</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הכדים מקבלים ראשונים. מה שנשאר, שלכם.</a:t>
            </a:r>
          </a:p>
        </p:txBody>
      </p:sp>
      <p:sp>
        <p:nvSpPr>
          <p:cNvPr id="11" name="Rounded Rectangle 10"/>
          <p:cNvSpPr/>
          <p:nvPr/>
        </p:nvSpPr>
        <p:spPr>
          <a:xfrm>
            <a:off x="914400" y="23241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הטווח קובע</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כל החלטת כסף: מתי אצטרך אותו?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אין פה</a:t>
            </a:r>
          </a:p>
          <a:p>
            <a:pPr algn="r" rtl="1">
              <a:lnSpc>
                <a:spcPct val="110000"/>
              </a:lnSpc>
            </a:pPr>
            <a:r>
              <a:rPr sz="8400" b="1" lang="he-IL">
                <a:solidFill>
                  <a:srgbClr val="EF55A5"/>
                </a:solidFill>
                <a:latin typeface="Heebo"/>
                <a:ea typeface="Heebo"/>
                <a:cs typeface="Heebo"/>
              </a:rPr>
              <a:t>מרוץ.</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יש מי שיצא עם כרית מלאה ושלוש מטרות, ויש מי שיצא עם מספר אחד: כמה הכרית שלו. שניהם במקום הנכון.</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לפי המספרים שלי · באזור האישי · 3 תחנות, ~20 דקות · בעיפרון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 כמה בכל כד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עוד לא סיימתם את נקודת המוצא? זה קודם. בלי המספרים אין כדים</a:t>
            </a:r>
          </a:p>
        </p:txBody>
      </p:sp>
      <p:sp>
        <p:nvSpPr>
          <p:cNvPr id="8" name="Oval 7"/>
          <p:cNvSpPr/>
          <p:nvPr/>
        </p:nvSpPr>
        <p:spPr>
          <a:xfrm>
            <a:off x="10850880" y="3230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כרית הביטחון: ההוצאות החיוניות × 3</a:t>
            </a:r>
          </a:p>
        </p:txBody>
      </p:sp>
      <p:sp>
        <p:nvSpPr>
          <p:cNvPr id="10" name="Oval 9"/>
          <p:cNvSpPr/>
          <p:nvPr/>
        </p:nvSpPr>
        <p:spPr>
          <a:xfrm>
            <a:off x="10850880" y="4175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עד 3 מטרות קרובות עם סכום ותאריך, ושלושת הכדים</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ואם עוד לא: אישור הבדיקה הפנסיונית בכרטיס 🛡️. שתי דקות.</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שאתם לוקחים מהערב</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10946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9" name="TextBox 8"/>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0" name="Oval 9"/>
          <p:cNvSpPr/>
          <p:nvPr/>
        </p:nvSpPr>
        <p:spPr>
          <a:xfrm>
            <a:off x="402336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411480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3 · מחלקות: איפה שמים כל כד.</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בבנק, בתיק השקעות עצמאי, במוצרים מנוהלים, ומה ההבדלים ביניהם. ואיך בשוק ההון עושים בפועל את החלוקה הזאת, בשפה פשוטה.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