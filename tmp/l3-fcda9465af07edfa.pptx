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01</a:t>
            </a:r>
          </a:p>
        </p:txBody>
      </p:sp>
      <p:pic>
        <p:nvPicPr>
          <p:cNvPr id="4" name="Picture 3" descr="s56_hammo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38200"/>
            <a:ext cx="4876800" cy="48768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6248400" y="1143000"/>
            <a:ext cx="5029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הרצאה 2 · מעיסוק &gt;&gt; לעסק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1524000"/>
            <a:ext cx="5029200" cy="259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8000"/>
              </a:lnSpc>
            </a:pPr>
            <a:r>
              <a:rPr sz="72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מהמרדף</a:t>
            </a:r>
          </a:p>
          <a:p>
            <a:pPr algn="r" rtl="1">
              <a:lnSpc>
                <a:spcPct val="98000"/>
              </a:lnSpc>
            </a:pPr>
            <a:r>
              <a:rPr sz="72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לחופש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3962400"/>
            <a:ext cx="50292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איך בונים חופש אמיתי, ולא רק חיים של מרדף אחרי כסף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50880" y="5379720"/>
            <a:ext cx="426720" cy="45720"/>
          </a:xfrm>
          <a:prstGeom prst="roundRect">
            <a:avLst>
              <a:gd name="adj" fmla="val 50000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0" y="5273040"/>
            <a:ext cx="44500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39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עדי סומך · מנכ״לית ומייסדת אמא משקיעה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24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רגע לפני שמתחילים · כל אחד בתורו, במצלמה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05000"/>
            <a:ext cx="1036320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84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היי :) נעים להכיר!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4000" y="3657600"/>
            <a:ext cx="9753600" cy="1676400"/>
          </a:xfrm>
          <a:prstGeom prst="roundRect">
            <a:avLst>
              <a:gd name="adj" fmla="val 13636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35280" rIns="335280" tIns="201168" bIns="201168"/>
          <a:lstStyle/>
          <a:p>
            <a:pPr algn="r" rtl="1">
              <a:lnSpc>
                <a:spcPct val="115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ספרו לנו: מי אתם, יש לכם פנסיה או קרן השתלמות? ואתם משקיעים? איפה?</a:t>
            </a:r>
          </a:p>
          <a:p>
            <a:pPr algn="r" rtl="1">
              <a:lnSpc>
                <a:spcPct val="115000"/>
              </a:lnSpc>
              <a:spcBef>
                <a:spcPts val="840"/>
              </a:spcBef>
            </a:pPr>
            <a:r>
              <a:rPr sz="2039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הערב בלי צ׳אט. מדברים, שואלים, מתערבים :)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03</a:t>
            </a:r>
          </a:p>
        </p:txBody>
      </p:sp>
      <p:pic>
        <p:nvPicPr>
          <p:cNvPr id="4" name="Picture 3" descr="ad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3352800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800" y="1143000"/>
            <a:ext cx="64008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ועכשיו קצת עליי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0" y="1485900"/>
            <a:ext cx="64008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55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עדי סומך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0" y="2400300"/>
            <a:ext cx="64008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מנכ״לית ומייסדת אמא משקיעה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0" y="2781300"/>
            <a:ext cx="640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נשואה למני ואמא של אלה ואביב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0" y="3276600"/>
            <a:ext cx="6400800" cy="1524000"/>
          </a:xfrm>
          <a:prstGeom prst="roundRect">
            <a:avLst>
              <a:gd name="adj" fmla="val 15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43840" rIns="243840" tIns="146304" bIns="146304"/>
          <a:lstStyle/>
          <a:p>
            <a:pPr algn="r" rtl="1">
              <a:lnSpc>
                <a:spcPct val="140000"/>
              </a:lnSpc>
            </a:pPr>
            <a:r>
              <a:rPr sz="14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אמא משקיעה =</a:t>
            </a:r>
          </a:p>
          <a:p>
            <a:pPr algn="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אמא שלא משאירה את העתיד ליד המקרה. משקיעה ובונה את המשפחה בלי לוותר על עצמה בדרך.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04</a:t>
            </a:r>
          </a:p>
        </p:txBody>
      </p:sp>
      <p:pic>
        <p:nvPicPr>
          <p:cNvPr id="4" name="Picture 3" descr="s06_c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95400"/>
            <a:ext cx="3810000" cy="3810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5334000" y="1655064"/>
            <a:ext cx="59436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הסיפור שלי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2112264"/>
            <a:ext cx="5943600" cy="141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432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10 שנים</a:t>
            </a:r>
            <a:r>
              <a:rPr sz="4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 הייתי שכירה</a:t>
            </a:r>
          </a:p>
          <a:p>
            <a:pPr algn="r" rtl="1">
              <a:lnSpc>
                <a:spcPct val="110000"/>
              </a:lnSpc>
            </a:pPr>
            <a:r>
              <a:rPr sz="4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בעסק של עצמי.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3678936"/>
            <a:ext cx="5943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מאפרת. יוצרת, בדיוק כמוכם. העסק הכניס, הרוויח יפה. והכל היה עליי: הלקוחות, השיווק, הגבייה. יום בלי עבודה היה יום בלי הכנסה.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44752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ואז הבנתי משהו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10363200" cy="1834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575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הרווחתי יפה.</a:t>
            </a:r>
          </a:p>
          <a:p>
            <a:pPr algn="r" rtl="1">
              <a:lnSpc>
                <a:spcPct val="110000"/>
              </a:lnSpc>
            </a:pPr>
            <a:r>
              <a:rPr sz="575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ועדיין </a:t>
            </a:r>
            <a:r>
              <a:rPr sz="5759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רדפתי אחרי כסף</a:t>
            </a:r>
            <a:r>
              <a:rPr sz="575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9248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ככל שהכנסתי יותר, גם ההוצאות גדלו. ובכל חודש התחלתי מאפס.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״אבא עשיר, אבא עני״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11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מרוץ העכברים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2209800"/>
            <a:ext cx="2362200" cy="198120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13520" y="243840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עובדים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520" y="3009900"/>
            <a:ext cx="196596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עוד לקוחות, עוד שעות, עוד עבודה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0600" y="30099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400" y="2209800"/>
            <a:ext cx="2362200" cy="1981200"/>
          </a:xfrm>
          <a:prstGeom prst="roundRect">
            <a:avLst>
              <a:gd name="adj" fmla="val 8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43840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מרוויחים יותר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009900"/>
            <a:ext cx="196596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ההכנסה עולה. סוף סוף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0099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1400" y="2209800"/>
            <a:ext cx="2362200" cy="19812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9520" y="243840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מוציאים יותר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520" y="3009900"/>
            <a:ext cx="196596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רמת החיים עולה איתה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6600" y="30099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209800"/>
            <a:ext cx="2362200" cy="198120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2520" y="243840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חוזרים להתחלה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20" y="3009900"/>
            <a:ext cx="196596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ושוב צריך לעבוד יותר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9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אפשר לרוץ ככה כל החיים, </a:t>
            </a:r>
            <a:r>
              <a:rPr sz="192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ולהישאר באותו מקום.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34000"/>
            <a:ext cx="1036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השאלה היא לא איך מרוויחים יותר. השאלה היא איך יוצאים מהמרוץ.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65885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מה שהבנתי בדרך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3085"/>
            <a:ext cx="10363200" cy="1992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42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לא משנה אם מרוויחים</a:t>
            </a:r>
          </a:p>
          <a:p>
            <a:pPr algn="r" rtl="1">
              <a:lnSpc>
                <a:spcPct val="110000"/>
              </a:lnSpc>
            </a:pPr>
            <a:r>
              <a:rPr sz="42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10,000 או 40,000 בחודש.</a:t>
            </a:r>
          </a:p>
          <a:p>
            <a:pPr algn="r" rtl="1">
              <a:lnSpc>
                <a:spcPct val="110000"/>
              </a:lnSpc>
            </a:pPr>
            <a:r>
              <a:rPr sz="42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 שמשנה: </a:t>
            </a:r>
            <a:r>
              <a:rPr sz="42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תזרים חיובי</a:t>
            </a:r>
            <a:r>
              <a:rPr sz="42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68115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גם ב־50 או 60 אלף בחודש, בלי נכס שצומח רודפים אחרי כסף כל החיים. אז למדתי, חקרתי, והשקעתי מעל 200,000 ₪ בלימודים ובליווי. ואני כאן כדי לקצר לכם את הדרך.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משחק · כולם מוציאים את הטלפון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הדרך הכי מהירה לתזרים חיובי: על מה אתם משלמים סתם?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65440" y="2133600"/>
            <a:ext cx="3312160" cy="2895600"/>
          </a:xfrm>
          <a:prstGeom prst="roundRect">
            <a:avLst>
              <a:gd name="adj" fmla="val 8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0240" y="2438400"/>
            <a:ext cx="2702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אייפון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0240" y="3124200"/>
            <a:ext cx="270256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הגדרות ← השם שלכם ← מינויים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9920" y="2133600"/>
            <a:ext cx="3312160" cy="28956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4720" y="2438400"/>
            <a:ext cx="2702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אנדרואיד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4720" y="3124200"/>
            <a:ext cx="270256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Google Play ← התמונה שלכם ← תשלומים ומינויים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133600"/>
            <a:ext cx="3312160" cy="28956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9200" y="2438400"/>
            <a:ext cx="2702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כרטיס האשראי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3124200"/>
            <a:ext cx="270256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פירוט החיובים של החודש האחרון. כל חיוב קבוע שלא זיהיתם, מסמנים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34000"/>
            <a:ext cx="10363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מי מצא מינוי שהוא כבר לא צריך? </a:t>
            </a:r>
            <a:r>
              <a:rPr sz="2039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ספרו לנו כמה חסכתם בדקה אחת :)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24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המספר הכי חשוב בעסק, ובבית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36320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60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תזרים</a:t>
            </a:r>
            <a:r>
              <a:rPr sz="6000" b="0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  =  </a:t>
            </a:r>
            <a:r>
              <a:rPr sz="60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הכנסות</a:t>
            </a:r>
            <a:r>
              <a:rPr sz="6000" b="0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  פחות  </a:t>
            </a:r>
            <a:r>
              <a:rPr sz="60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הוצאות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10000"/>
            <a:ext cx="103632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sz="192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פלוס בסוף החודש? יש לכם דלק לבנות נכסים. מינוס? אף נכס לא יחזיק. ולכן הכל מתחיל מכאן: לדעת כמה נכנס, כמה יוצא, וכמה נשאר.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השיעור הכי חשוב מ״אבא עשיר, אבא עני״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7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נכס או התחייבות?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400" y="2057400"/>
            <a:ext cx="5029200" cy="3810000"/>
          </a:xfrm>
          <a:prstGeom prst="roundRect">
            <a:avLst>
              <a:gd name="adj" fmla="val 6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324100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התחייבות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933700"/>
            <a:ext cx="4267200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מוציאה כסף מהכיס שלכם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עוד מנוי, עוד הלוואה, עוד הוצאה קבועה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כסף ששוכב בעו״ש ונשחק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גורמת לכם לעבוד יותר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5029200" cy="3810000"/>
          </a:xfrm>
          <a:prstGeom prst="roundRect">
            <a:avLst>
              <a:gd name="adj" fmla="val 6000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5400" y="2324100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נכס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2933700"/>
            <a:ext cx="4267200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מכניס כסף לכיס שלכם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השקעה שצומחת, קרן, נדל״ן, מוצר שנמכר לבד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עובד גם כשאתם ישנים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קונה לכם זמן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143000"/>
            <a:ext cx="76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80000"/>
              </a:lnSpc>
            </a:pPr>
            <a:r>
              <a:rPr sz="102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3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37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״העשירים קונים נכסים.</a:t>
            </a:r>
          </a:p>
          <a:p>
            <a:pPr algn="r" rtl="1">
              <a:lnSpc>
                <a:spcPct val="130000"/>
              </a:lnSpc>
            </a:pPr>
            <a:r>
              <a:rPr sz="37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כולם קונים התחייבויות,</a:t>
            </a:r>
          </a:p>
          <a:p>
            <a:pPr algn="r" rtl="1">
              <a:lnSpc>
                <a:spcPct val="130000"/>
              </a:lnSpc>
            </a:pPr>
            <a:r>
              <a:rPr sz="37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וחושבים שהן נכסים.״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42320" y="5029200"/>
            <a:ext cx="335280" cy="30480"/>
          </a:xfrm>
          <a:prstGeom prst="roundRect">
            <a:avLst>
              <a:gd name="adj" fmla="val 50000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48400" y="4892040"/>
            <a:ext cx="454152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רוברט קיוסאקי · אבא עשיר, אבא עני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הדרך החוצה מהמרוץ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11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מהכנסה, לנכס שעובד בשבילכם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2209800"/>
            <a:ext cx="2362200" cy="198120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13520" y="243840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הכנסה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520" y="3009900"/>
            <a:ext cx="196596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כמה נכנס. לבד, זה עוד לא אומר כלום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0600" y="30099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400" y="2209800"/>
            <a:ext cx="2362200" cy="1981200"/>
          </a:xfrm>
          <a:prstGeom prst="roundRect">
            <a:avLst>
              <a:gd name="adj" fmla="val 8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43840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תזרים חיובי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009900"/>
            <a:ext cx="196596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 שנשאר בסוף החודש. זה הדלק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0099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1400" y="2209800"/>
            <a:ext cx="2362200" cy="19812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9520" y="243840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נכסים שצומחים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520" y="3009900"/>
            <a:ext cx="196596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כסף שעובד ומכפיל את עצמו, גם כשאתם ישנים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6600" y="30099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209800"/>
            <a:ext cx="2362200" cy="19812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2520" y="243840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חופש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20" y="3009900"/>
            <a:ext cx="196596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זמן, בחירה ושקט. בלי לרדוף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9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אצלנו בבית: </a:t>
            </a:r>
            <a:r>
              <a:rPr sz="19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השקענו הכל, וההון המשפחתי צמח פי 8. </a:t>
            </a:r>
            <a:r>
              <a:rPr sz="192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נסענו לחצי שנה לתאילנד, והכסף עבד בשבילנו.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34000"/>
            <a:ext cx="1036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לא צריך להרוויח יותר. צריך שמה שנשאר יהפוך לנכס.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13</a:t>
            </a:r>
          </a:p>
        </p:txBody>
      </p:sp>
      <p:pic>
        <p:nvPicPr>
          <p:cNvPr id="4" name="Picture 3" descr="s30_bl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95400"/>
            <a:ext cx="3810000" cy="3810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5334000" y="1655064"/>
            <a:ext cx="59436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Pay Yourself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2112264"/>
            <a:ext cx="5943600" cy="141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4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קודם משלמים</a:t>
            </a:r>
          </a:p>
          <a:p>
            <a:pPr algn="r" rtl="1">
              <a:lnSpc>
                <a:spcPct val="110000"/>
              </a:lnSpc>
            </a:pPr>
            <a:r>
              <a:rPr sz="4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</a:t>
            </a:r>
            <a:r>
              <a:rPr sz="432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עצמכם</a:t>
            </a:r>
            <a:r>
              <a:rPr sz="4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3678936"/>
            <a:ext cx="5943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ביום שהכסף נכנס, חלק ממנו עובר אוטומטית להשקעה. לא ממה שנשאר בסוף החודש, כי בסוף החודש אף פעם לא נשאר. מנגנון אחד, וכל שקל יודע לאן הוא הולך.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097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הגנב השקט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66900"/>
            <a:ext cx="103632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60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כסף שלא מושקע,</a:t>
            </a:r>
          </a:p>
          <a:p>
            <a:pPr algn="r" rtl="1">
              <a:lnSpc>
                <a:spcPct val="110000"/>
              </a:lnSpc>
            </a:pPr>
            <a:r>
              <a:rPr sz="60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מפסיד</a:t>
            </a:r>
            <a:r>
              <a:rPr sz="60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. בטוח.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24300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הכסף מאבד מערכו בגלל האינפלציה. 100,000 ₪ שיושבים בצד, יקנו בעוד 20 שנה הרבה פחות ממה שהם קונים היום.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96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״הפלא השמיני של הטבע״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1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ומהצד השני: ריבית דריבית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5900"/>
            <a:ext cx="1036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רווחים שמצטברים על הרווחים · לדוגמה: 1,000 ₪ בחודש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2400" y="1943100"/>
            <a:ext cx="7315200" cy="472440"/>
          </a:xfrm>
          <a:prstGeom prst="roundRect">
            <a:avLst>
              <a:gd name="adj" fmla="val 15000"/>
            </a:avLst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0" y="2049780"/>
            <a:ext cx="121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שנה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8600" y="2049780"/>
            <a:ext cx="1981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סה״כ הפקדות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049780"/>
            <a:ext cx="3657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2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אותו סכום אבל עם ריבית דריבית (10% בשנה)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62400" y="2491740"/>
            <a:ext cx="7315200" cy="472440"/>
          </a:xfrm>
          <a:prstGeom prst="roundRect">
            <a:avLst>
              <a:gd name="adj" fmla="val 15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2598420"/>
            <a:ext cx="121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8600" y="2598420"/>
            <a:ext cx="1981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60,000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598420"/>
            <a:ext cx="3657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77,470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62400" y="3040380"/>
            <a:ext cx="7315200" cy="472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6000" y="3147060"/>
            <a:ext cx="121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3147060"/>
            <a:ext cx="1981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120,000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147060"/>
            <a:ext cx="3657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204,840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2400" y="3589020"/>
            <a:ext cx="7315200" cy="472440"/>
          </a:xfrm>
          <a:prstGeom prst="roundRect">
            <a:avLst>
              <a:gd name="adj" fmla="val 15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6000" y="3695700"/>
            <a:ext cx="121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8600" y="3695700"/>
            <a:ext cx="1981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180,000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695700"/>
            <a:ext cx="3657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417,924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62400" y="4137660"/>
            <a:ext cx="7315200" cy="472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6000" y="4244340"/>
            <a:ext cx="121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8600" y="4244340"/>
            <a:ext cx="1981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240,000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244340"/>
            <a:ext cx="3657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765,700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62400" y="4686300"/>
            <a:ext cx="7315200" cy="472440"/>
          </a:xfrm>
          <a:prstGeom prst="roundRect">
            <a:avLst>
              <a:gd name="adj" fmla="val 15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6000" y="4792980"/>
            <a:ext cx="121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8600" y="4792980"/>
            <a:ext cx="1981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300,000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792980"/>
            <a:ext cx="3657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1,346,790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62400" y="5234940"/>
            <a:ext cx="7315200" cy="472440"/>
          </a:xfrm>
          <a:prstGeom prst="roundRect">
            <a:avLst>
              <a:gd name="adj" fmla="val 15000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06000" y="5341620"/>
            <a:ext cx="121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8600" y="5341620"/>
            <a:ext cx="1981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360,000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341620"/>
            <a:ext cx="3657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2,279,325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2209800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59080" rIns="259080" tIns="155448" bIns="155448"/>
          <a:lstStyle/>
          <a:p>
            <a:pPr algn="r" rtl="1">
              <a:lnSpc>
                <a:spcPct val="130000"/>
              </a:lnSpc>
            </a:pPr>
            <a:r>
              <a:rPr sz="2039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פי 7!!!!!!</a:t>
            </a:r>
          </a:p>
          <a:p>
            <a:pPr algn="r" rtl="1">
              <a:lnSpc>
                <a:spcPct val="130000"/>
              </a:lnSpc>
            </a:pPr>
            <a:r>
              <a:rPr sz="20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אותה הפקדה.</a:t>
            </a:r>
          </a:p>
          <a:p>
            <a:pPr algn="r" rtl="1">
              <a:lnSpc>
                <a:spcPct val="130000"/>
              </a:lnSpc>
            </a:pPr>
            <a:r>
              <a:rPr sz="20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רק נתנו לזמן לעבוד.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67400"/>
            <a:ext cx="1036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19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להמחשה בלבד, לא תחזית ולא המלצה. תשואת עבר אינה מבטיחה תשואה עתידית.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וזה נכון גם בעסק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7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פלוסים או כפולות?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400" y="2057400"/>
            <a:ext cx="5029200" cy="3810000"/>
          </a:xfrm>
          <a:prstGeom prst="roundRect">
            <a:avLst>
              <a:gd name="adj" fmla="val 6000"/>
            </a:avLst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324100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פלוסים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933700"/>
            <a:ext cx="4267200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עוד לקוחה = עוד הכנסה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עוד שעה = עוד שקל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כל חודש מתחיל מאפס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עוצרים? הכל נעצר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5029200" cy="3810000"/>
          </a:xfrm>
          <a:prstGeom prst="roundRect">
            <a:avLst>
              <a:gd name="adj" fmla="val 6000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5400" y="2324100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כפולות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2933700"/>
            <a:ext cx="4267200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כל פעולה מתווספת למה שכבר עשיתי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כסף שהושקע ממשיך לגדול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כל חודש מתחיל ממה שכבר נבנה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עוצרים? זה ממשיך לצמוח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37538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מאחורי הקלעים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94738"/>
            <a:ext cx="10363200" cy="1449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44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לקח לי 5 שנים לפתוח פנסיה,</a:t>
            </a:r>
          </a:p>
          <a:p>
            <a:pPr algn="r" rtl="1">
              <a:lnSpc>
                <a:spcPct val="110000"/>
              </a:lnSpc>
            </a:pPr>
            <a:r>
              <a:rPr sz="44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אפילו שידעתי שצריך.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96462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כל פעם שהתיישבתי מול הטופס, קפצה שאלה שלא ידעתי לענות עליה. ודחיתי. 5 שנים של תשואה שאף אחד לא יחזיר לי.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הנכס הראשון של כל עצמאי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573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פנסיה לעצמאים: חובה, וגם הטבת מס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2209800"/>
            <a:ext cx="3322320" cy="22860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24384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4.45%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124200"/>
            <a:ext cx="277368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מההכנסה, עד 82,614 ₪ בשנה (מחצית השכר הממוצע)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09800"/>
            <a:ext cx="3322320" cy="22860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4384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12.55%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124200"/>
            <a:ext cx="277368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מהחלק שמעל, עד 165,228 ₪ בשנה (השכר הממוצע)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209800"/>
            <a:ext cx="3322320" cy="22860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4384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עד 16.5%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24200"/>
            <a:ext cx="277368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מההכנסה מקבלים עליהם הטבת מס: חלק כניכוי וחלק כזיכוי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244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וכל אחוז של דמי ניהול מוכפל לאורך עשרות שנים.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38800"/>
            <a:ext cx="1036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14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פטורים: עד גיל 21, מגיל 60, ובחצי השנה הראשונה מפתיחת העסק. כדי לקבל את ההטבה לשנה, מפקידים עד 31.12. מקור: רשות המסים, סכומים לשנת 2026.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הכפולה שהמדינה נותנת לבעלי עסק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קרן השתלמות: ריבית דריבית, בלי מס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2057400"/>
            <a:ext cx="3322320" cy="25146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22860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4.5%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971800"/>
            <a:ext cx="277368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מההכנסה מוכרים כהוצאה, עד הכנסה של 293,397 ₪ בשנה. כלומר פחות מס כבר היום.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57400"/>
            <a:ext cx="3322320" cy="25146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860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פטור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971800"/>
            <a:ext cx="277368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ממס רווחי הון על הרווחים, על הפקדה של עד 20,566 ₪ בשנה. הכפולות נשארות אצלכם.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057400"/>
            <a:ext cx="3322320" cy="25146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2860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6 שנים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71800"/>
            <a:ext cx="277368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ואז הכסף נזיל. אפשר למשוך, או להשאיר אותו להמשיך להכפיל.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76800"/>
            <a:ext cx="1036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8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מקור: רשות המסים, סכומים לשנת 2026. הסכומים מתעדכנים כל שנה.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כסף שמחכה לכם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עד כמה אתם מנצלים את מה שכבר מגיע לכם?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34960" y="2057400"/>
            <a:ext cx="3342640" cy="2971800"/>
          </a:xfrm>
          <a:prstGeom prst="roundRect">
            <a:avLst>
              <a:gd name="adj" fmla="val 7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48320" y="2255520"/>
            <a:ext cx="291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2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הר הכסף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48320" y="2718816"/>
            <a:ext cx="29159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אתר ממשלתי שמראה את כל הקופות שעל שמכם. כולל כאלה ששכחתם. עשר דקות, חינם.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4680" y="2057400"/>
            <a:ext cx="3342640" cy="2971800"/>
          </a:xfrm>
          <a:prstGeom prst="roundRect">
            <a:avLst>
              <a:gd name="adj" fmla="val 7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8040" y="2255520"/>
            <a:ext cx="291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2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דמי ניהול ומסלול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8040" y="2718816"/>
            <a:ext cx="29159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לבדוק כמה משלמים, ושהמסלול מתאים לגיל ולטווח שלכם.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057400"/>
            <a:ext cx="3342640" cy="2971800"/>
          </a:xfrm>
          <a:prstGeom prst="roundRect">
            <a:avLst>
              <a:gd name="adj" fmla="val 7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7760" y="2255520"/>
            <a:ext cx="291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2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ביטוחים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60" y="2718816"/>
            <a:ext cx="29159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לבדוק שאין כפילויות ושאין חורים. במיוחד אובדן כושר עבודה.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363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ואת זה אני לא עושה לבד. בודקת איתי </a:t>
            </a:r>
            <a:r>
              <a:rPr sz="168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רות, היועצת הפנסיונית מהצוות שלי</a:t>
            </a: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. אני לא רואת חשבון ולא יועצת, ואני לא צריכה להיות. אני צריכה לדעת מי כן.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השורה התחתונה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63200" cy="2255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4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חופש אמיתי =</a:t>
            </a:r>
          </a:p>
          <a:p>
            <a:pPr algn="r" rtl="1">
              <a:lnSpc>
                <a:spcPct val="110000"/>
              </a:lnSpc>
            </a:pPr>
            <a:r>
              <a:rPr sz="4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כשהנכסים שלכם </a:t>
            </a:r>
            <a:r>
              <a:rPr sz="48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מכניסים</a:t>
            </a:r>
          </a:p>
          <a:p>
            <a:pPr algn="r" rtl="1">
              <a:lnSpc>
                <a:spcPct val="110000"/>
              </a:lnSpc>
            </a:pPr>
            <a:r>
              <a:rPr sz="4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יותר ממה שאתם צריכים.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99560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לא עוד שעות. לא עוד מרדף. תזרים חיובי, נכסים שצומחים, וזמן שהופך לכפולות.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ולסיום, שתי מתנות ממני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1100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7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כדי שזה לא יישאר רק ידע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400" y="2133600"/>
            <a:ext cx="5029200" cy="3200400"/>
          </a:xfrm>
          <a:prstGeom prst="roundRect">
            <a:avLst>
              <a:gd name="adj" fmla="val 7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4160" y="24384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2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מתנה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4160" y="2781300"/>
            <a:ext cx="429768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פגישה עם רות, היועצת הפנסיונית מהצוות שלי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4160" y="3924300"/>
            <a:ext cx="429768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עוברת איתכם על התיק הפנסיוני והביטוחי, ונותנת לכם המלצות קונקרטיות. בלי עלות.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33600"/>
            <a:ext cx="5029200" cy="3200400"/>
          </a:xfrm>
          <a:prstGeom prst="roundRect">
            <a:avLst>
              <a:gd name="adj" fmla="val 7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4384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2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מתנה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81300"/>
            <a:ext cx="429768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העובדת הראשונה שלכם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924300"/>
            <a:ext cx="429768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פרומפט אחד שמוצא את המשימה שהכי גוזלת לכם זמן, ובונה איתכם צעד אחרי צעד את העובדת הדיגיטלית הראשונה בעסק.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62600"/>
            <a:ext cx="1036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6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את שתי המתנות תקבלו בקבוצת הווטסאפ, מיד בסוף ההרצאה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990600"/>
            <a:ext cx="59436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ומה עכשיו? שלושה צעדים לשבוע הקרוב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1333500"/>
            <a:ext cx="59436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החופש מתחיל</a:t>
            </a:r>
          </a:p>
          <a:p>
            <a:pPr algn="r" rtl="1">
              <a:lnSpc>
                <a:spcPct val="110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בצעד אחד</a:t>
            </a:r>
          </a:p>
        </p:txBody>
      </p:sp>
      <p:sp>
        <p:nvSpPr>
          <p:cNvPr id="6" name="Oval 5"/>
          <p:cNvSpPr/>
          <p:nvPr/>
        </p:nvSpPr>
        <p:spPr>
          <a:xfrm>
            <a:off x="10911840" y="2819400"/>
            <a:ext cx="365760" cy="36576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32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2834640"/>
            <a:ext cx="5410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לבטל לפחות מינוי אחד מיותר, ולהעביר את הסכום להשקעה</a:t>
            </a:r>
          </a:p>
        </p:txBody>
      </p:sp>
      <p:sp>
        <p:nvSpPr>
          <p:cNvPr id="8" name="Oval 7"/>
          <p:cNvSpPr/>
          <p:nvPr/>
        </p:nvSpPr>
        <p:spPr>
          <a:xfrm>
            <a:off x="10911840" y="3657600"/>
            <a:ext cx="365760" cy="36576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32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3672840"/>
            <a:ext cx="5410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לבדוק תזרים: כמה נכנס, כמה יצא, וכמה נשאר בחודש האחרון</a:t>
            </a:r>
          </a:p>
        </p:txBody>
      </p:sp>
      <p:sp>
        <p:nvSpPr>
          <p:cNvPr id="10" name="Oval 9"/>
          <p:cNvSpPr/>
          <p:nvPr/>
        </p:nvSpPr>
        <p:spPr>
          <a:xfrm>
            <a:off x="10911840" y="4495800"/>
            <a:ext cx="365760" cy="36576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32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0" y="4511040"/>
            <a:ext cx="5410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להיכנס להר הכסף, ולקבוע את הפגישה עם רות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143000"/>
            <a:ext cx="3962400" cy="3733800"/>
          </a:xfrm>
          <a:prstGeom prst="roundRect">
            <a:avLst>
              <a:gd name="adj" fmla="val 8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1371600"/>
            <a:ext cx="350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קהילת הווטסאפ של אמא משקיעה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645920"/>
            <a:ext cx="350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שתי המתנות מחכות לכם שם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057400"/>
            <a:ext cx="3505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וגם המדריכים החינמיים, ישר אליכם</a:t>
            </a:r>
          </a:p>
        </p:txBody>
      </p:sp>
      <p:pic>
        <p:nvPicPr>
          <p:cNvPr id="16" name="Picture 15" descr="qr_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438400"/>
            <a:ext cx="1905000" cy="1905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43000" y="4457700"/>
            <a:ext cx="350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8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סרקו עם המצלמה להצטרפות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BEE0F2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BEE0F2"/>
                </a:solidFill>
                <a:latin typeface="Heebo"/>
                <a:ea typeface="Heebo"/>
                <a:cs typeface="Heebo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981200"/>
            <a:ext cx="594360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840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תודה 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3352800"/>
            <a:ext cx="59436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0" lang="he-IL">
                <a:solidFill>
                  <a:srgbClr val="BEE0F2"/>
                </a:solidFill>
                <a:latin typeface="Heebo"/>
                <a:ea typeface="Heebo"/>
                <a:cs typeface="Heebo"/>
              </a:rPr>
              <a:t>שאלות?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50880" y="4267200"/>
            <a:ext cx="426720" cy="45720"/>
          </a:xfrm>
          <a:prstGeom prst="roundRect">
            <a:avLst>
              <a:gd name="adj" fmla="val 50000"/>
            </a:avLst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0" y="41529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6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@adi_somech_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295400"/>
            <a:ext cx="3962400" cy="3733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524000"/>
            <a:ext cx="350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קהילת הווטסאפ של אמא משקיעה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98320"/>
            <a:ext cx="350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שתי המתנות מחכות לכם שם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09800"/>
            <a:ext cx="3505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וגם המדריכים החינמיים, ישר אליכם</a:t>
            </a:r>
          </a:p>
        </p:txBody>
      </p:sp>
      <p:pic>
        <p:nvPicPr>
          <p:cNvPr id="12" name="Picture 11" descr="qr_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590800"/>
            <a:ext cx="1905000" cy="1905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3000" y="4610100"/>
            <a:ext cx="350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8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סרקו עם המצלמה להצטרפות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